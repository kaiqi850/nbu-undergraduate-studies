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1"/>
  </p:notesMasterIdLst>
  <p:sldIdLst>
    <p:sldId id="256" r:id="rId2"/>
    <p:sldId id="257" r:id="rId3"/>
    <p:sldId id="258" r:id="rId4"/>
    <p:sldId id="259" r:id="rId5"/>
    <p:sldId id="260" r:id="rId6"/>
    <p:sldId id="360" r:id="rId7"/>
    <p:sldId id="261" r:id="rId8"/>
    <p:sldId id="262" r:id="rId9"/>
    <p:sldId id="263" r:id="rId10"/>
    <p:sldId id="264" r:id="rId11"/>
    <p:sldId id="265" r:id="rId12"/>
    <p:sldId id="266" r:id="rId13"/>
    <p:sldId id="358" r:id="rId14"/>
    <p:sldId id="267" r:id="rId15"/>
    <p:sldId id="268" r:id="rId16"/>
    <p:sldId id="270" r:id="rId17"/>
    <p:sldId id="455" r:id="rId18"/>
    <p:sldId id="456" r:id="rId19"/>
    <p:sldId id="269" r:id="rId20"/>
    <p:sldId id="457" r:id="rId21"/>
    <p:sldId id="271" r:id="rId22"/>
    <p:sldId id="273" r:id="rId23"/>
    <p:sldId id="274" r:id="rId24"/>
    <p:sldId id="275" r:id="rId25"/>
    <p:sldId id="276" r:id="rId26"/>
    <p:sldId id="277" r:id="rId27"/>
    <p:sldId id="278" r:id="rId28"/>
    <p:sldId id="279" r:id="rId29"/>
    <p:sldId id="282" r:id="rId30"/>
    <p:sldId id="280" r:id="rId31"/>
    <p:sldId id="283" r:id="rId32"/>
    <p:sldId id="284" r:id="rId33"/>
    <p:sldId id="458" r:id="rId34"/>
    <p:sldId id="285" r:id="rId35"/>
    <p:sldId id="459" r:id="rId36"/>
    <p:sldId id="286" r:id="rId37"/>
    <p:sldId id="460" r:id="rId38"/>
    <p:sldId id="287" r:id="rId39"/>
    <p:sldId id="289" r:id="rId40"/>
    <p:sldId id="461" r:id="rId41"/>
    <p:sldId id="290" r:id="rId42"/>
    <p:sldId id="292" r:id="rId43"/>
    <p:sldId id="293" r:id="rId44"/>
    <p:sldId id="462" r:id="rId45"/>
    <p:sldId id="294" r:id="rId46"/>
    <p:sldId id="295" r:id="rId47"/>
    <p:sldId id="296" r:id="rId48"/>
    <p:sldId id="297" r:id="rId49"/>
    <p:sldId id="298" r:id="rId50"/>
    <p:sldId id="299" r:id="rId51"/>
    <p:sldId id="464" r:id="rId52"/>
    <p:sldId id="465" r:id="rId53"/>
    <p:sldId id="466" r:id="rId54"/>
    <p:sldId id="467" r:id="rId55"/>
    <p:sldId id="468" r:id="rId56"/>
    <p:sldId id="469" r:id="rId57"/>
    <p:sldId id="470" r:id="rId58"/>
    <p:sldId id="471" r:id="rId59"/>
    <p:sldId id="472" r:id="rId60"/>
    <p:sldId id="473" r:id="rId61"/>
    <p:sldId id="474" r:id="rId62"/>
    <p:sldId id="475" r:id="rId63"/>
    <p:sldId id="476" r:id="rId64"/>
    <p:sldId id="477" r:id="rId65"/>
    <p:sldId id="478" r:id="rId66"/>
    <p:sldId id="479" r:id="rId67"/>
    <p:sldId id="480" r:id="rId68"/>
    <p:sldId id="481" r:id="rId69"/>
    <p:sldId id="482" r:id="rId70"/>
    <p:sldId id="463" r:id="rId71"/>
    <p:sldId id="300" r:id="rId72"/>
    <p:sldId id="301" r:id="rId73"/>
    <p:sldId id="302" r:id="rId74"/>
    <p:sldId id="303" r:id="rId75"/>
    <p:sldId id="304" r:id="rId76"/>
    <p:sldId id="305" r:id="rId77"/>
    <p:sldId id="306" r:id="rId78"/>
    <p:sldId id="307" r:id="rId79"/>
    <p:sldId id="308" r:id="rId80"/>
    <p:sldId id="309" r:id="rId81"/>
    <p:sldId id="310" r:id="rId82"/>
    <p:sldId id="311" r:id="rId83"/>
    <p:sldId id="312" r:id="rId84"/>
    <p:sldId id="313" r:id="rId85"/>
    <p:sldId id="314" r:id="rId86"/>
    <p:sldId id="336" r:id="rId87"/>
    <p:sldId id="337" r:id="rId88"/>
    <p:sldId id="483" r:id="rId89"/>
    <p:sldId id="338" r:id="rId90"/>
    <p:sldId id="342" r:id="rId91"/>
    <p:sldId id="339" r:id="rId92"/>
    <p:sldId id="340"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547" r:id="rId107"/>
    <p:sldId id="548" r:id="rId108"/>
    <p:sldId id="359" r:id="rId109"/>
    <p:sldId id="357" r:id="rId11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1pPr>
    <a:lvl2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2pPr>
    <a:lvl3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3pPr>
    <a:lvl4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4pPr>
    <a:lvl5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5pPr>
    <a:lvl6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6pPr>
    <a:lvl7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7pPr>
    <a:lvl8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8pPr>
    <a:lvl9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55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8" name="Shape 118"/>
          <p:cNvSpPr>
            <a:spLocks noGrp="1" noRot="1" noChangeAspect="1"/>
          </p:cNvSpPr>
          <p:nvPr>
            <p:ph type="sldImg"/>
          </p:nvPr>
        </p:nvSpPr>
        <p:spPr>
          <a:xfrm>
            <a:off x="1143000" y="685800"/>
            <a:ext cx="4572000" cy="3429000"/>
          </a:xfrm>
          <a:prstGeom prst="rect">
            <a:avLst/>
          </a:prstGeom>
        </p:spPr>
        <p:txBody>
          <a:bodyPr/>
          <a:lstStyle/>
          <a:p>
            <a:endParaRPr/>
          </a:p>
        </p:txBody>
      </p:sp>
      <p:sp>
        <p:nvSpPr>
          <p:cNvPr id="119" name="Shape 11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300480" latinLnBrk="0">
      <a:defRPr sz="1600">
        <a:latin typeface="+mj-lt"/>
        <a:ea typeface="+mj-ea"/>
        <a:cs typeface="+mj-cs"/>
        <a:sym typeface="Calibri" panose="020F0502020204030204"/>
      </a:defRPr>
    </a:lvl1pPr>
    <a:lvl2pPr indent="228600" defTabSz="1300480" latinLnBrk="0">
      <a:defRPr sz="1600">
        <a:latin typeface="+mj-lt"/>
        <a:ea typeface="+mj-ea"/>
        <a:cs typeface="+mj-cs"/>
        <a:sym typeface="Calibri" panose="020F0502020204030204"/>
      </a:defRPr>
    </a:lvl2pPr>
    <a:lvl3pPr indent="457200" defTabSz="1300480" latinLnBrk="0">
      <a:defRPr sz="1600">
        <a:latin typeface="+mj-lt"/>
        <a:ea typeface="+mj-ea"/>
        <a:cs typeface="+mj-cs"/>
        <a:sym typeface="Calibri" panose="020F0502020204030204"/>
      </a:defRPr>
    </a:lvl3pPr>
    <a:lvl4pPr indent="685800" defTabSz="1300480" latinLnBrk="0">
      <a:defRPr sz="1600">
        <a:latin typeface="+mj-lt"/>
        <a:ea typeface="+mj-ea"/>
        <a:cs typeface="+mj-cs"/>
        <a:sym typeface="Calibri" panose="020F0502020204030204"/>
      </a:defRPr>
    </a:lvl4pPr>
    <a:lvl5pPr indent="914400" defTabSz="1300480" latinLnBrk="0">
      <a:defRPr sz="1600">
        <a:latin typeface="+mj-lt"/>
        <a:ea typeface="+mj-ea"/>
        <a:cs typeface="+mj-cs"/>
        <a:sym typeface="Calibri" panose="020F0502020204030204"/>
      </a:defRPr>
    </a:lvl5pPr>
    <a:lvl6pPr indent="1143000" defTabSz="1300480" latinLnBrk="0">
      <a:defRPr sz="1600">
        <a:latin typeface="+mj-lt"/>
        <a:ea typeface="+mj-ea"/>
        <a:cs typeface="+mj-cs"/>
        <a:sym typeface="Calibri" panose="020F0502020204030204"/>
      </a:defRPr>
    </a:lvl6pPr>
    <a:lvl7pPr indent="1371600" defTabSz="1300480" latinLnBrk="0">
      <a:defRPr sz="1600">
        <a:latin typeface="+mj-lt"/>
        <a:ea typeface="+mj-ea"/>
        <a:cs typeface="+mj-cs"/>
        <a:sym typeface="Calibri" panose="020F0502020204030204"/>
      </a:defRPr>
    </a:lvl7pPr>
    <a:lvl8pPr indent="1600200" defTabSz="1300480" latinLnBrk="0">
      <a:defRPr sz="1600">
        <a:latin typeface="+mj-lt"/>
        <a:ea typeface="+mj-ea"/>
        <a:cs typeface="+mj-cs"/>
        <a:sym typeface="Calibri" panose="020F0502020204030204"/>
      </a:defRPr>
    </a:lvl8pPr>
    <a:lvl9pPr indent="1828800" defTabSz="1300480" latinLnBrk="0">
      <a:defRPr sz="1600">
        <a:latin typeface="+mj-lt"/>
        <a:ea typeface="+mj-ea"/>
        <a:cs typeface="+mj-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1" name="标题文本"/>
          <p:cNvSpPr txBox="1">
            <a:spLocks noGrp="1"/>
          </p:cNvSpPr>
          <p:nvPr>
            <p:ph type="title" hasCustomPrompt="1"/>
          </p:nvPr>
        </p:nvSpPr>
        <p:spPr>
          <a:xfrm>
            <a:off x="1625599" y="2416386"/>
            <a:ext cx="9753604" cy="2546776"/>
          </a:xfrm>
          <a:prstGeom prst="rect">
            <a:avLst/>
          </a:prstGeom>
        </p:spPr>
        <p:txBody>
          <a:bodyPr anchor="b"/>
          <a:lstStyle>
            <a:lvl1pPr algn="ctr">
              <a:defRPr sz="8400"/>
            </a:lvl1pPr>
          </a:lstStyle>
          <a:p>
            <a:r>
              <a:t>标题文本</a:t>
            </a:r>
          </a:p>
        </p:txBody>
      </p:sp>
      <p:sp>
        <p:nvSpPr>
          <p:cNvPr id="12" name="正文级别 1…"/>
          <p:cNvSpPr txBox="1">
            <a:spLocks noGrp="1"/>
          </p:cNvSpPr>
          <p:nvPr>
            <p:ph type="body" sz="quarter" idx="1" hasCustomPrompt="1"/>
          </p:nvPr>
        </p:nvSpPr>
        <p:spPr>
          <a:xfrm>
            <a:off x="1625599" y="5061372"/>
            <a:ext cx="9753604" cy="1766151"/>
          </a:xfrm>
          <a:prstGeom prst="rect">
            <a:avLst/>
          </a:prstGeom>
        </p:spPr>
        <p:txBody>
          <a:bodyPr/>
          <a:lstStyle>
            <a:lvl1pPr marL="0" indent="0" algn="ctr">
              <a:buSzTx/>
              <a:buFontTx/>
              <a:buNone/>
              <a:defRPr sz="3400"/>
            </a:lvl1pPr>
            <a:lvl2pPr marL="0" indent="0" algn="ctr">
              <a:buSzTx/>
              <a:buFontTx/>
              <a:buNone/>
              <a:defRPr sz="3400"/>
            </a:lvl2pPr>
            <a:lvl3pPr marL="0" indent="0" algn="ctr">
              <a:buSzTx/>
              <a:buFontTx/>
              <a:buNone/>
              <a:defRPr sz="3400"/>
            </a:lvl3pPr>
            <a:lvl4pPr marL="0" indent="0" algn="ctr">
              <a:buSzTx/>
              <a:buFontTx/>
              <a:buNone/>
              <a:defRPr sz="3400"/>
            </a:lvl4pPr>
            <a:lvl5pPr marL="0" indent="0" algn="ctr">
              <a:buSzTx/>
              <a:buFontTx/>
              <a:buNone/>
              <a:defRPr sz="34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0" name="标题文本"/>
          <p:cNvSpPr txBox="1">
            <a:spLocks noGrp="1"/>
          </p:cNvSpPr>
          <p:nvPr>
            <p:ph type="title" hasCustomPrompt="1"/>
          </p:nvPr>
        </p:nvSpPr>
        <p:spPr>
          <a:prstGeom prst="rect">
            <a:avLst/>
          </a:prstGeom>
        </p:spPr>
        <p:txBody>
          <a:bodyPr/>
          <a:lstStyle/>
          <a:p>
            <a:r>
              <a:t>标题文本</a:t>
            </a:r>
          </a:p>
        </p:txBody>
      </p:sp>
      <p:sp>
        <p:nvSpPr>
          <p:cNvPr id="21"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2"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29" name="标题文本"/>
          <p:cNvSpPr txBox="1">
            <a:spLocks noGrp="1"/>
          </p:cNvSpPr>
          <p:nvPr>
            <p:ph type="title" hasCustomPrompt="1"/>
          </p:nvPr>
        </p:nvSpPr>
        <p:spPr>
          <a:xfrm>
            <a:off x="887306" y="3042920"/>
            <a:ext cx="11216642" cy="3042925"/>
          </a:xfrm>
          <a:prstGeom prst="rect">
            <a:avLst/>
          </a:prstGeom>
        </p:spPr>
        <p:txBody>
          <a:bodyPr anchor="b"/>
          <a:lstStyle>
            <a:lvl1pPr>
              <a:defRPr sz="8400"/>
            </a:lvl1pPr>
          </a:lstStyle>
          <a:p>
            <a:r>
              <a:t>标题文本</a:t>
            </a:r>
          </a:p>
        </p:txBody>
      </p:sp>
      <p:sp>
        <p:nvSpPr>
          <p:cNvPr id="30" name="正文级别 1…"/>
          <p:cNvSpPr txBox="1">
            <a:spLocks noGrp="1"/>
          </p:cNvSpPr>
          <p:nvPr>
            <p:ph type="body" sz="quarter" idx="1" hasCustomPrompt="1"/>
          </p:nvPr>
        </p:nvSpPr>
        <p:spPr>
          <a:xfrm>
            <a:off x="887306" y="6114624"/>
            <a:ext cx="11216642" cy="1600220"/>
          </a:xfrm>
          <a:prstGeom prst="rect">
            <a:avLst/>
          </a:prstGeom>
        </p:spPr>
        <p:txBody>
          <a:bodyPr/>
          <a:lstStyle>
            <a:lvl1pPr marL="0" indent="0">
              <a:buSzTx/>
              <a:buFontTx/>
              <a:buNone/>
              <a:defRPr sz="3400">
                <a:solidFill>
                  <a:srgbClr val="888888"/>
                </a:solidFill>
              </a:defRPr>
            </a:lvl1pPr>
            <a:lvl2pPr marL="0" indent="0">
              <a:buSzTx/>
              <a:buFontTx/>
              <a:buNone/>
              <a:defRPr sz="3400">
                <a:solidFill>
                  <a:srgbClr val="888888"/>
                </a:solidFill>
              </a:defRPr>
            </a:lvl2pPr>
            <a:lvl3pPr marL="0" indent="0">
              <a:buSzTx/>
              <a:buFontTx/>
              <a:buNone/>
              <a:defRPr sz="3400">
                <a:solidFill>
                  <a:srgbClr val="888888"/>
                </a:solidFill>
              </a:defRPr>
            </a:lvl3pPr>
            <a:lvl4pPr marL="0" indent="0">
              <a:buSzTx/>
              <a:buFontTx/>
              <a:buNone/>
              <a:defRPr sz="3400">
                <a:solidFill>
                  <a:srgbClr val="888888"/>
                </a:solidFill>
              </a:defRPr>
            </a:lvl4pPr>
            <a:lvl5pPr marL="0" indent="0">
              <a:buSzTx/>
              <a:buFontTx/>
              <a:buNone/>
              <a:defRPr sz="3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38" name="标题文本"/>
          <p:cNvSpPr txBox="1">
            <a:spLocks noGrp="1"/>
          </p:cNvSpPr>
          <p:nvPr>
            <p:ph type="title" hasCustomPrompt="1"/>
          </p:nvPr>
        </p:nvSpPr>
        <p:spPr>
          <a:prstGeom prst="rect">
            <a:avLst/>
          </a:prstGeom>
        </p:spPr>
        <p:txBody>
          <a:bodyPr/>
          <a:lstStyle/>
          <a:p>
            <a:r>
              <a:t>标题文本</a:t>
            </a:r>
          </a:p>
        </p:txBody>
      </p:sp>
      <p:sp>
        <p:nvSpPr>
          <p:cNvPr id="39" name="正文级别 1…"/>
          <p:cNvSpPr txBox="1">
            <a:spLocks noGrp="1"/>
          </p:cNvSpPr>
          <p:nvPr>
            <p:ph type="body" sz="half" idx="1" hasCustomPrompt="1"/>
          </p:nvPr>
        </p:nvSpPr>
        <p:spPr>
          <a:xfrm>
            <a:off x="894077" y="3166533"/>
            <a:ext cx="5527046" cy="4641430"/>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47" name="标题文本"/>
          <p:cNvSpPr txBox="1">
            <a:spLocks noGrp="1"/>
          </p:cNvSpPr>
          <p:nvPr>
            <p:ph type="title" hasCustomPrompt="1"/>
          </p:nvPr>
        </p:nvSpPr>
        <p:spPr>
          <a:xfrm>
            <a:off x="895771" y="1608664"/>
            <a:ext cx="11216645" cy="1413940"/>
          </a:xfrm>
          <a:prstGeom prst="rect">
            <a:avLst/>
          </a:prstGeom>
        </p:spPr>
        <p:txBody>
          <a:bodyPr/>
          <a:lstStyle/>
          <a:p>
            <a:r>
              <a:t>标题文本</a:t>
            </a:r>
          </a:p>
        </p:txBody>
      </p:sp>
      <p:sp>
        <p:nvSpPr>
          <p:cNvPr id="48" name="正文级别 1…"/>
          <p:cNvSpPr txBox="1">
            <a:spLocks noGrp="1"/>
          </p:cNvSpPr>
          <p:nvPr>
            <p:ph type="body" sz="quarter" idx="1" hasCustomPrompt="1"/>
          </p:nvPr>
        </p:nvSpPr>
        <p:spPr>
          <a:xfrm>
            <a:off x="895771" y="3012438"/>
            <a:ext cx="5501646" cy="878846"/>
          </a:xfrm>
          <a:prstGeom prst="rect">
            <a:avLst/>
          </a:prstGeom>
        </p:spPr>
        <p:txBody>
          <a:bodyPr anchor="b"/>
          <a:lstStyle>
            <a:lvl1pPr marL="0" indent="0">
              <a:buSzTx/>
              <a:buFontTx/>
              <a:buNone/>
              <a:defRPr sz="3400" b="1"/>
            </a:lvl1pPr>
            <a:lvl2pPr marL="0" indent="0">
              <a:buSzTx/>
              <a:buFontTx/>
              <a:buNone/>
              <a:defRPr sz="3400" b="1"/>
            </a:lvl2pPr>
            <a:lvl3pPr marL="0" indent="0">
              <a:buSzTx/>
              <a:buFontTx/>
              <a:buNone/>
              <a:defRPr sz="3400" b="1"/>
            </a:lvl3pPr>
            <a:lvl4pPr marL="0" indent="0">
              <a:buSzTx/>
              <a:buFontTx/>
              <a:buNone/>
              <a:defRPr sz="3400" b="1"/>
            </a:lvl4pPr>
            <a:lvl5pPr marL="0" indent="0">
              <a:buSzTx/>
              <a:buFontTx/>
              <a:buNone/>
              <a:defRPr sz="3400" b="1"/>
            </a:lvl5pPr>
          </a:lstStyle>
          <a:p>
            <a:r>
              <a:t>正文级别 1</a:t>
            </a:r>
          </a:p>
          <a:p>
            <a:pPr lvl="1"/>
            <a:r>
              <a:t>正文级别 2</a:t>
            </a:r>
          </a:p>
          <a:p>
            <a:pPr lvl="2"/>
            <a:r>
              <a:t>正文级别 3</a:t>
            </a:r>
          </a:p>
          <a:p>
            <a:pPr lvl="3"/>
            <a:r>
              <a:t>正文级别 4</a:t>
            </a:r>
          </a:p>
          <a:p>
            <a:pPr lvl="4"/>
            <a:r>
              <a:t>正文级别 5</a:t>
            </a:r>
          </a:p>
        </p:txBody>
      </p:sp>
      <p:sp>
        <p:nvSpPr>
          <p:cNvPr id="49" name="矩形"/>
          <p:cNvSpPr>
            <a:spLocks noGrp="1"/>
          </p:cNvSpPr>
          <p:nvPr>
            <p:ph type="body" sz="quarter" idx="13"/>
          </p:nvPr>
        </p:nvSpPr>
        <p:spPr>
          <a:xfrm>
            <a:off x="6583680" y="3012438"/>
            <a:ext cx="5528751" cy="878843"/>
          </a:xfrm>
          <a:prstGeom prst="rect">
            <a:avLst/>
          </a:prstGeom>
        </p:spPr>
        <p:txBody>
          <a:bodyPr anchor="b"/>
          <a:lstStyle/>
          <a:p>
            <a:endParaRPr/>
          </a:p>
        </p:txBody>
      </p:sp>
      <p:sp>
        <p:nvSpPr>
          <p:cNvPr id="5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57" name="标题文本"/>
          <p:cNvSpPr txBox="1">
            <a:spLocks noGrp="1"/>
          </p:cNvSpPr>
          <p:nvPr>
            <p:ph type="title" hasCustomPrompt="1"/>
          </p:nvPr>
        </p:nvSpPr>
        <p:spPr>
          <a:prstGeom prst="rect">
            <a:avLst/>
          </a:prstGeom>
        </p:spPr>
        <p:txBody>
          <a:bodyPr/>
          <a:lstStyle/>
          <a:p>
            <a:r>
              <a:t>标题文本</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6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2" name="标题文本"/>
          <p:cNvSpPr txBox="1">
            <a:spLocks noGrp="1"/>
          </p:cNvSpPr>
          <p:nvPr>
            <p:ph type="title" hasCustomPrompt="1"/>
          </p:nvPr>
        </p:nvSpPr>
        <p:spPr>
          <a:xfrm>
            <a:off x="895771" y="1706877"/>
            <a:ext cx="4194393" cy="1706885"/>
          </a:xfrm>
          <a:prstGeom prst="rect">
            <a:avLst/>
          </a:prstGeom>
        </p:spPr>
        <p:txBody>
          <a:bodyPr anchor="b"/>
          <a:lstStyle>
            <a:lvl1pPr>
              <a:defRPr sz="4400"/>
            </a:lvl1pPr>
          </a:lstStyle>
          <a:p>
            <a:r>
              <a:t>标题文本</a:t>
            </a:r>
          </a:p>
        </p:txBody>
      </p:sp>
      <p:sp>
        <p:nvSpPr>
          <p:cNvPr id="73" name="正文级别 1…"/>
          <p:cNvSpPr txBox="1">
            <a:spLocks noGrp="1"/>
          </p:cNvSpPr>
          <p:nvPr>
            <p:ph type="body" sz="half" idx="1" hasCustomPrompt="1"/>
          </p:nvPr>
        </p:nvSpPr>
        <p:spPr>
          <a:xfrm>
            <a:off x="5528731" y="2272451"/>
            <a:ext cx="6583686" cy="5198537"/>
          </a:xfrm>
          <a:prstGeom prst="rect">
            <a:avLst/>
          </a:prstGeom>
        </p:spPr>
        <p:txBody>
          <a:bodyPr/>
          <a:lstStyle>
            <a:lvl1pPr marL="314325" indent="-314325">
              <a:defRPr sz="4400"/>
            </a:lvl1pPr>
            <a:lvl2pPr marL="816610" indent="-359410">
              <a:defRPr sz="4400"/>
            </a:lvl2pPr>
            <a:lvl3pPr marL="1333500" indent="-419100">
              <a:defRPr sz="4400"/>
            </a:lvl3pPr>
            <a:lvl4pPr marL="1874520" indent="-502920">
              <a:defRPr sz="4400"/>
            </a:lvl4pPr>
            <a:lvl5pPr marL="2331720" indent="-502920">
              <a:defRPr sz="4400"/>
            </a:lvl5pPr>
          </a:lstStyle>
          <a:p>
            <a:r>
              <a:t>正文级别 1</a:t>
            </a:r>
          </a:p>
          <a:p>
            <a:pPr lvl="1"/>
            <a:r>
              <a:t>正文级别 2</a:t>
            </a:r>
          </a:p>
          <a:p>
            <a:pPr lvl="2"/>
            <a:r>
              <a:t>正文级别 3</a:t>
            </a:r>
          </a:p>
          <a:p>
            <a:pPr lvl="3"/>
            <a:r>
              <a:t>正文级别 4</a:t>
            </a:r>
          </a:p>
          <a:p>
            <a:pPr lvl="4"/>
            <a:r>
              <a:t>正文级别 5</a:t>
            </a:r>
          </a:p>
        </p:txBody>
      </p:sp>
      <p:sp>
        <p:nvSpPr>
          <p:cNvPr id="74" name="矩形"/>
          <p:cNvSpPr>
            <a:spLocks noGrp="1"/>
          </p:cNvSpPr>
          <p:nvPr>
            <p:ph type="body" sz="quarter" idx="13"/>
          </p:nvPr>
        </p:nvSpPr>
        <p:spPr>
          <a:xfrm>
            <a:off x="895771" y="3413759"/>
            <a:ext cx="4194393" cy="4065695"/>
          </a:xfrm>
          <a:prstGeom prst="rect">
            <a:avLst/>
          </a:prstGeom>
        </p:spPr>
        <p:txBody>
          <a:bodyPr/>
          <a:lstStyle/>
          <a:p>
            <a:endParaRPr/>
          </a:p>
        </p:txBody>
      </p:sp>
      <p:sp>
        <p:nvSpPr>
          <p:cNvPr id="7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2" name="标题文本"/>
          <p:cNvSpPr txBox="1">
            <a:spLocks noGrp="1"/>
          </p:cNvSpPr>
          <p:nvPr>
            <p:ph type="title" hasCustomPrompt="1"/>
          </p:nvPr>
        </p:nvSpPr>
        <p:spPr>
          <a:xfrm>
            <a:off x="895771" y="1706877"/>
            <a:ext cx="4194393" cy="1706885"/>
          </a:xfrm>
          <a:prstGeom prst="rect">
            <a:avLst/>
          </a:prstGeom>
        </p:spPr>
        <p:txBody>
          <a:bodyPr anchor="b"/>
          <a:lstStyle>
            <a:lvl1pPr>
              <a:defRPr sz="4400"/>
            </a:lvl1pPr>
          </a:lstStyle>
          <a:p>
            <a:r>
              <a:t>标题文本</a:t>
            </a:r>
          </a:p>
        </p:txBody>
      </p:sp>
      <p:sp>
        <p:nvSpPr>
          <p:cNvPr id="83" name="图像"/>
          <p:cNvSpPr>
            <a:spLocks noGrp="1"/>
          </p:cNvSpPr>
          <p:nvPr>
            <p:ph type="pic" sz="half" idx="13"/>
          </p:nvPr>
        </p:nvSpPr>
        <p:spPr>
          <a:xfrm>
            <a:off x="5528731" y="2272451"/>
            <a:ext cx="6583686" cy="5198537"/>
          </a:xfrm>
          <a:prstGeom prst="rect">
            <a:avLst/>
          </a:prstGeom>
        </p:spPr>
        <p:txBody>
          <a:bodyPr lIns="91439" tIns="45719" rIns="91439" bIns="45719">
            <a:noAutofit/>
          </a:bodyPr>
          <a:lstStyle/>
          <a:p>
            <a:endParaRPr/>
          </a:p>
        </p:txBody>
      </p:sp>
      <p:sp>
        <p:nvSpPr>
          <p:cNvPr id="84" name="正文级别 1…"/>
          <p:cNvSpPr txBox="1">
            <a:spLocks noGrp="1"/>
          </p:cNvSpPr>
          <p:nvPr>
            <p:ph type="body" sz="quarter" idx="1" hasCustomPrompt="1"/>
          </p:nvPr>
        </p:nvSpPr>
        <p:spPr>
          <a:xfrm>
            <a:off x="895771" y="3413759"/>
            <a:ext cx="4194393" cy="4065695"/>
          </a:xfrm>
          <a:prstGeom prst="rect">
            <a:avLst/>
          </a:prstGeom>
        </p:spPr>
        <p:txBody>
          <a:bodyPr/>
          <a:lstStyle>
            <a:lvl1pPr marL="0" indent="0">
              <a:buSzTx/>
              <a:buFontTx/>
              <a:buNone/>
              <a:defRPr sz="2200"/>
            </a:lvl1pPr>
            <a:lvl2pPr marL="0" indent="0">
              <a:buSzTx/>
              <a:buFontTx/>
              <a:buNone/>
              <a:defRPr sz="2200"/>
            </a:lvl2pPr>
            <a:lvl3pPr marL="0" indent="0">
              <a:buSzTx/>
              <a:buFontTx/>
              <a:buNone/>
              <a:defRPr sz="2200"/>
            </a:lvl3pPr>
            <a:lvl4pPr marL="0" indent="0">
              <a:buSzTx/>
              <a:buFontTx/>
              <a:buNone/>
              <a:defRPr sz="2200"/>
            </a:lvl4pPr>
            <a:lvl5pPr marL="0" indent="0">
              <a:buSzTx/>
              <a:buFontTx/>
              <a:buNone/>
              <a:defRPr sz="2200"/>
            </a:lvl5pPr>
          </a:lstStyle>
          <a:p>
            <a:r>
              <a:t>正文级别 1</a:t>
            </a:r>
          </a:p>
          <a:p>
            <a:pPr lvl="1"/>
            <a:r>
              <a:t>正文级别 2</a:t>
            </a:r>
          </a:p>
          <a:p>
            <a:pPr lvl="2"/>
            <a:r>
              <a:t>正文级别 3</a:t>
            </a:r>
          </a:p>
          <a:p>
            <a:pPr lvl="3"/>
            <a:r>
              <a:t>正文级别 4</a:t>
            </a:r>
          </a:p>
          <a:p>
            <a:pPr lvl="4"/>
            <a:r>
              <a:t>正文级别 5</a:t>
            </a:r>
          </a:p>
        </p:txBody>
      </p:sp>
      <p:sp>
        <p:nvSpPr>
          <p:cNvPr id="8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标题和竖排文字">
    <p:spTree>
      <p:nvGrpSpPr>
        <p:cNvPr id="1" name=""/>
        <p:cNvGrpSpPr/>
        <p:nvPr/>
      </p:nvGrpSpPr>
      <p:grpSpPr>
        <a:xfrm>
          <a:off x="0" y="0"/>
          <a:ext cx="0" cy="0"/>
          <a:chOff x="0" y="0"/>
          <a:chExt cx="0" cy="0"/>
        </a:xfrm>
      </p:grpSpPr>
      <p:sp>
        <p:nvSpPr>
          <p:cNvPr id="92" name="标题文本"/>
          <p:cNvSpPr txBox="1">
            <a:spLocks noGrp="1"/>
          </p:cNvSpPr>
          <p:nvPr>
            <p:ph type="title" hasCustomPrompt="1"/>
          </p:nvPr>
        </p:nvSpPr>
        <p:spPr>
          <a:prstGeom prst="rect">
            <a:avLst/>
          </a:prstGeom>
        </p:spPr>
        <p:txBody>
          <a:bodyPr/>
          <a:lstStyle/>
          <a:p>
            <a:r>
              <a:t>标题文本</a:t>
            </a:r>
          </a:p>
        </p:txBody>
      </p:sp>
      <p:sp>
        <p:nvSpPr>
          <p:cNvPr id="93"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9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垂直排列标题与&#10;文本">
    <p:spTree>
      <p:nvGrpSpPr>
        <p:cNvPr id="1" name=""/>
        <p:cNvGrpSpPr/>
        <p:nvPr/>
      </p:nvGrpSpPr>
      <p:grpSpPr>
        <a:xfrm>
          <a:off x="0" y="0"/>
          <a:ext cx="0" cy="0"/>
          <a:chOff x="0" y="0"/>
          <a:chExt cx="0" cy="0"/>
        </a:xfrm>
      </p:grpSpPr>
      <p:sp>
        <p:nvSpPr>
          <p:cNvPr id="101" name="标题文本"/>
          <p:cNvSpPr txBox="1">
            <a:spLocks noGrp="1"/>
          </p:cNvSpPr>
          <p:nvPr>
            <p:ph type="title" hasCustomPrompt="1"/>
          </p:nvPr>
        </p:nvSpPr>
        <p:spPr>
          <a:xfrm>
            <a:off x="9306559" y="1608664"/>
            <a:ext cx="2804164" cy="6199298"/>
          </a:xfrm>
          <a:prstGeom prst="rect">
            <a:avLst/>
          </a:prstGeom>
        </p:spPr>
        <p:txBody>
          <a:bodyPr/>
          <a:lstStyle/>
          <a:p>
            <a:r>
              <a:t>标题文本</a:t>
            </a:r>
          </a:p>
        </p:txBody>
      </p:sp>
      <p:sp>
        <p:nvSpPr>
          <p:cNvPr id="102" name="正文级别 1…"/>
          <p:cNvSpPr txBox="1">
            <a:spLocks noGrp="1"/>
          </p:cNvSpPr>
          <p:nvPr>
            <p:ph type="body" idx="1" hasCustomPrompt="1"/>
          </p:nvPr>
        </p:nvSpPr>
        <p:spPr>
          <a:xfrm>
            <a:off x="894077" y="1608664"/>
            <a:ext cx="8249926" cy="619929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sp>
        <p:nvSpPr>
          <p:cNvPr id="110" name="标题文本"/>
          <p:cNvSpPr txBox="1">
            <a:spLocks noGrp="1"/>
          </p:cNvSpPr>
          <p:nvPr>
            <p:ph type="title" hasCustomPrompt="1"/>
          </p:nvPr>
        </p:nvSpPr>
        <p:spPr>
          <a:xfrm>
            <a:off x="1625599" y="2416386"/>
            <a:ext cx="9753603" cy="2546776"/>
          </a:xfrm>
          <a:prstGeom prst="rect">
            <a:avLst/>
          </a:prstGeom>
        </p:spPr>
        <p:txBody>
          <a:bodyPr anchor="b"/>
          <a:lstStyle>
            <a:lvl1pPr algn="ctr">
              <a:defRPr sz="8400"/>
            </a:lvl1pPr>
          </a:lstStyle>
          <a:p>
            <a:r>
              <a:t>标题文本</a:t>
            </a:r>
          </a:p>
        </p:txBody>
      </p:sp>
      <p:sp>
        <p:nvSpPr>
          <p:cNvPr id="111" name="正文级别 1…"/>
          <p:cNvSpPr txBox="1">
            <a:spLocks noGrp="1"/>
          </p:cNvSpPr>
          <p:nvPr>
            <p:ph type="body" sz="quarter" idx="1" hasCustomPrompt="1"/>
          </p:nvPr>
        </p:nvSpPr>
        <p:spPr>
          <a:xfrm>
            <a:off x="1625599" y="5061372"/>
            <a:ext cx="9753603" cy="1766156"/>
          </a:xfrm>
          <a:prstGeom prst="rect">
            <a:avLst/>
          </a:prstGeom>
        </p:spPr>
        <p:txBody>
          <a:bodyPr/>
          <a:lstStyle>
            <a:lvl1pPr marL="0" indent="0" algn="ctr">
              <a:buSzTx/>
              <a:buFontTx/>
              <a:buNone/>
              <a:defRPr sz="3400"/>
            </a:lvl1pPr>
            <a:lvl2pPr marL="0" indent="0" algn="ctr">
              <a:buSzTx/>
              <a:buFontTx/>
              <a:buNone/>
              <a:defRPr sz="3400"/>
            </a:lvl2pPr>
            <a:lvl3pPr marL="0" indent="0" algn="ctr">
              <a:buSzTx/>
              <a:buFontTx/>
              <a:buNone/>
              <a:defRPr sz="3400"/>
            </a:lvl3pPr>
            <a:lvl4pPr marL="0" indent="0" algn="ctr">
              <a:buSzTx/>
              <a:buFontTx/>
              <a:buNone/>
              <a:defRPr sz="3400"/>
            </a:lvl4pPr>
            <a:lvl5pPr marL="0" indent="0" algn="ctr">
              <a:buSzTx/>
              <a:buFontTx/>
              <a:buNone/>
              <a:defRPr sz="3400"/>
            </a:lvl5pPr>
          </a:lstStyle>
          <a:p>
            <a:r>
              <a:t>正文级别 1</a:t>
            </a:r>
          </a:p>
          <a:p>
            <a:pPr lvl="1"/>
            <a:r>
              <a:t>正文级别 2</a:t>
            </a:r>
          </a:p>
          <a:p>
            <a:pPr lvl="2"/>
            <a:r>
              <a:t>正文级别 3</a:t>
            </a:r>
          </a:p>
          <a:p>
            <a:pPr lvl="3"/>
            <a:r>
              <a:t>正文级别 4</a:t>
            </a:r>
          </a:p>
          <a:p>
            <a:pPr lvl="4"/>
            <a:r>
              <a:t>正文级别 5</a:t>
            </a:r>
          </a:p>
        </p:txBody>
      </p:sp>
      <p:sp>
        <p:nvSpPr>
          <p:cNvPr id="112" name="幻灯片编号"/>
          <p:cNvSpPr txBox="1">
            <a:spLocks noGrp="1"/>
          </p:cNvSpPr>
          <p:nvPr>
            <p:ph type="sldNum" sz="quarter" idx="2"/>
          </p:nvPr>
        </p:nvSpPr>
        <p:spPr>
          <a:xfrm>
            <a:off x="11787370" y="8024625"/>
            <a:ext cx="323353" cy="33883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894077" y="1608664"/>
            <a:ext cx="11216645" cy="1413940"/>
          </a:xfrm>
          <a:prstGeom prst="rect">
            <a:avLst/>
          </a:prstGeom>
          <a:ln w="12700">
            <a:miter lim="400000"/>
          </a:ln>
        </p:spPr>
        <p:txBody>
          <a:bodyPr lIns="48765" tIns="48765" rIns="48765" bIns="48765" anchor="ctr">
            <a:normAutofit/>
          </a:bodyPr>
          <a:lstStyle/>
          <a:p>
            <a:r>
              <a:t>标题文本</a:t>
            </a:r>
          </a:p>
        </p:txBody>
      </p:sp>
      <p:sp>
        <p:nvSpPr>
          <p:cNvPr id="3" name="正文级别 1…"/>
          <p:cNvSpPr txBox="1">
            <a:spLocks noGrp="1"/>
          </p:cNvSpPr>
          <p:nvPr>
            <p:ph type="body" idx="1"/>
          </p:nvPr>
        </p:nvSpPr>
        <p:spPr>
          <a:xfrm>
            <a:off x="894077" y="3166533"/>
            <a:ext cx="11216645" cy="4641430"/>
          </a:xfrm>
          <a:prstGeom prst="rect">
            <a:avLst/>
          </a:prstGeom>
          <a:ln w="12700">
            <a:miter lim="400000"/>
          </a:ln>
        </p:spPr>
        <p:txBody>
          <a:bodyPr lIns="48765" tIns="48765" rIns="48765" bIns="48765">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11787370" y="8024625"/>
            <a:ext cx="323353" cy="338831"/>
          </a:xfrm>
          <a:prstGeom prst="rect">
            <a:avLst/>
          </a:prstGeom>
          <a:ln w="12700">
            <a:miter lim="400000"/>
          </a:ln>
        </p:spPr>
        <p:txBody>
          <a:bodyPr wrap="none" lIns="48765" tIns="48765" rIns="48765" bIns="48765" anchor="ctr">
            <a:spAutoFit/>
          </a:bodyPr>
          <a:lstStyle>
            <a:lvl1pPr algn="r">
              <a:defRPr sz="1600">
                <a:solidFill>
                  <a:srgbClr val="888888"/>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310515" marR="0" indent="-310515"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1pPr>
      <a:lvl2pPr marL="819150" marR="0" indent="-36195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2pPr>
      <a:lvl3pPr marL="1348740" marR="0" indent="-43434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3pPr>
      <a:lvl4pPr marL="18542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4pPr>
      <a:lvl5pPr marL="23114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5pPr>
      <a:lvl6pPr marL="27686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6pPr>
      <a:lvl7pPr marL="32258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7pPr>
      <a:lvl8pPr marL="36830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8pPr>
      <a:lvl9pPr marL="41402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9pPr>
    </p:bodyStyle>
    <p:otherStyle>
      <a:lvl1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1pPr>
      <a:lvl2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2pPr>
      <a:lvl3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3pPr>
      <a:lvl4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4pPr>
      <a:lvl5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5pPr>
      <a:lvl6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6pPr>
      <a:lvl7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7pPr>
      <a:lvl8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8pPr>
      <a:lvl9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ppt/media/media1.mp4" TargetMode="External"/><Relationship Id="rId1" Type="http://schemas.microsoft.com/office/2007/relationships/media" Target="ppt/media/media1.mp4" TargetMode="Externa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hyperlink" Target="https://www.bilibili.com/bangumi/play/ss12539?bsource=baidu_aladdin"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ppt/media/media2.mp4" TargetMode="External"/><Relationship Id="rId1" Type="http://schemas.microsoft.com/office/2007/relationships/media" Target="ppt/media/media2.mp4" TargetMode="Externa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ppt/media/media1.mp4" TargetMode="External"/><Relationship Id="rId1" Type="http://schemas.microsoft.com/office/2007/relationships/media" Target="ppt/media/media1.mp4" TargetMode="External"/><Relationship Id="rId4" Type="http://schemas.openxmlformats.org/officeDocument/2006/relationships/image" Target="../media/image10.png"/></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2584064467.jpg" descr="p2584064467.jpg"/>
          <p:cNvPicPr>
            <a:picLocks noChangeAspect="1"/>
          </p:cNvPicPr>
          <p:nvPr/>
        </p:nvPicPr>
        <p:blipFill>
          <a:blip r:embed="rId2"/>
          <a:stretch>
            <a:fillRect/>
          </a:stretch>
        </p:blipFill>
        <p:spPr>
          <a:xfrm>
            <a:off x="-1163037" y="-85726"/>
            <a:ext cx="17345086" cy="9925247"/>
          </a:xfrm>
          <a:prstGeom prst="rect">
            <a:avLst/>
          </a:prstGeom>
          <a:ln w="12700">
            <a:miter lim="400000"/>
            <a:headEnd/>
            <a:tailEnd/>
          </a:ln>
        </p:spPr>
      </p:pic>
      <p:sp>
        <p:nvSpPr>
          <p:cNvPr id="122" name="矩形"/>
          <p:cNvSpPr/>
          <p:nvPr/>
        </p:nvSpPr>
        <p:spPr>
          <a:xfrm>
            <a:off x="35515" y="6686822"/>
            <a:ext cx="4658444" cy="1615915"/>
          </a:xfrm>
          <a:prstGeom prst="rect">
            <a:avLst/>
          </a:prstGeom>
          <a:solidFill>
            <a:schemeClr val="accent1">
              <a:alpha val="80000"/>
            </a:schemeClr>
          </a:solidFill>
          <a:ln w="12700">
            <a:miter lim="400000"/>
          </a:ln>
        </p:spPr>
        <p:txBody>
          <a:bodyPr lIns="48765" tIns="48765" rIns="48765" bIns="48765" anchor="ctr"/>
          <a:lstStyle/>
          <a:p>
            <a:pPr algn="ctr">
              <a:defRPr>
                <a:solidFill>
                  <a:srgbClr val="FF9300"/>
                </a:solidFill>
              </a:defRPr>
            </a:pPr>
            <a:endParaRPr/>
          </a:p>
        </p:txBody>
      </p:sp>
      <p:sp>
        <p:nvSpPr>
          <p:cNvPr id="123" name="矩形"/>
          <p:cNvSpPr/>
          <p:nvPr/>
        </p:nvSpPr>
        <p:spPr>
          <a:xfrm>
            <a:off x="4700056" y="6686822"/>
            <a:ext cx="8403999" cy="1615915"/>
          </a:xfrm>
          <a:prstGeom prst="rect">
            <a:avLst/>
          </a:prstGeom>
          <a:solidFill>
            <a:srgbClr val="FFFFFF">
              <a:alpha val="51332"/>
            </a:srgbClr>
          </a:solidFill>
          <a:ln w="12700">
            <a:miter lim="400000"/>
          </a:ln>
        </p:spPr>
        <p:txBody>
          <a:bodyPr lIns="48765" tIns="48765" rIns="48765" bIns="48765" anchor="ctr"/>
          <a:lstStyle/>
          <a:p>
            <a:pPr algn="ctr">
              <a:defRPr>
                <a:solidFill>
                  <a:srgbClr val="FFFFFF"/>
                </a:solidFill>
              </a:defRPr>
            </a:pPr>
            <a:endParaRPr/>
          </a:p>
        </p:txBody>
      </p:sp>
      <p:sp>
        <p:nvSpPr>
          <p:cNvPr id="124" name="手机摄影"/>
          <p:cNvSpPr txBox="1"/>
          <p:nvPr/>
        </p:nvSpPr>
        <p:spPr>
          <a:xfrm>
            <a:off x="268798" y="6950709"/>
            <a:ext cx="4543202" cy="1088131"/>
          </a:xfrm>
          <a:prstGeom prst="rect">
            <a:avLst/>
          </a:prstGeom>
          <a:ln w="12700">
            <a:miter lim="400000"/>
          </a:ln>
        </p:spPr>
        <p:txBody>
          <a:bodyPr lIns="48765" tIns="48765" rIns="48765" bIns="48765">
            <a:spAutoFit/>
          </a:bodyPr>
          <a:lstStyle>
            <a:lvl1pPr algn="ctr">
              <a:defRPr sz="5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  视  鉴  赏</a:t>
            </a:r>
          </a:p>
        </p:txBody>
      </p:sp>
      <p:sp>
        <p:nvSpPr>
          <p:cNvPr id="125" name="宁波大学潘天寿艺术学院  涂慧"/>
          <p:cNvSpPr txBox="1"/>
          <p:nvPr/>
        </p:nvSpPr>
        <p:spPr>
          <a:xfrm>
            <a:off x="499875" y="7830908"/>
            <a:ext cx="4081049" cy="415031"/>
          </a:xfrm>
          <a:prstGeom prst="rect">
            <a:avLst/>
          </a:prstGeom>
          <a:ln w="12700">
            <a:miter lim="400000"/>
          </a:ln>
        </p:spPr>
        <p:txBody>
          <a:bodyPr lIns="48765" tIns="48765" rIns="48765" bIns="48765">
            <a:spAutoFit/>
          </a:bodyPr>
          <a:lstStyle>
            <a:lvl1pPr>
              <a:defRPr sz="1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宁波大学潘天寿建筑与艺术学院  涂慧</a:t>
            </a:r>
          </a:p>
        </p:txBody>
      </p:sp>
      <p:sp>
        <p:nvSpPr>
          <p:cNvPr id="126" name="20190326"/>
          <p:cNvSpPr txBox="1"/>
          <p:nvPr/>
        </p:nvSpPr>
        <p:spPr>
          <a:xfrm>
            <a:off x="3354749" y="7393678"/>
            <a:ext cx="3803182" cy="846831"/>
          </a:xfrm>
          <a:prstGeom prst="rect">
            <a:avLst/>
          </a:prstGeom>
          <a:ln w="12700">
            <a:miter lim="400000"/>
          </a:ln>
        </p:spPr>
        <p:txBody>
          <a:bodyPr lIns="48765" tIns="48765" rIns="48765" bIns="48765">
            <a:spAutoFit/>
          </a:bodyPr>
          <a:lstStyle/>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       202001-202007</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122"/>
                                        </p:tgtEl>
                                        <p:attrNameLst>
                                          <p:attrName>style.visibility</p:attrName>
                                        </p:attrNameLst>
                                      </p:cBhvr>
                                      <p:to>
                                        <p:strVal val="visible"/>
                                      </p:to>
                                    </p:set>
                                    <p:animEffect transition="in" filter="wipe(right)">
                                      <p:cBhvr>
                                        <p:cTn id="7" dur="1000"/>
                                        <p:tgtEl>
                                          <p:spTgt spid="122"/>
                                        </p:tgtEl>
                                      </p:cBhvr>
                                    </p:animEffect>
                                  </p:childTnLst>
                                </p:cTn>
                              </p:par>
                            </p:childTnLst>
                          </p:cTn>
                        </p:par>
                        <p:par>
                          <p:cTn id="8" fill="hold">
                            <p:stCondLst>
                              <p:cond delay="1000"/>
                            </p:stCondLst>
                            <p:childTnLst>
                              <p:par>
                                <p:cTn id="9" presetID="22" presetClass="entr" presetSubtype="8" fill="hold" grpId="2" nodeType="afterEffect">
                                  <p:stCondLst>
                                    <p:cond delay="0"/>
                                  </p:stCondLst>
                                  <p:childTnLst>
                                    <p:set>
                                      <p:cBhvr>
                                        <p:cTn id="10" dur="indefinite" fill="hold"/>
                                        <p:tgtEl>
                                          <p:spTgt spid="123"/>
                                        </p:tgtEl>
                                        <p:attrNameLst>
                                          <p:attrName>style.visibility</p:attrName>
                                        </p:attrNameLst>
                                      </p:cBhvr>
                                      <p:to>
                                        <p:strVal val="visible"/>
                                      </p:to>
                                    </p:set>
                                    <p:animEffect transition="in" filter="wipe(left)">
                                      <p:cBhvr>
                                        <p:cTn id="11" dur="1000"/>
                                        <p:tgtEl>
                                          <p:spTgt spid="123"/>
                                        </p:tgtEl>
                                      </p:cBhvr>
                                    </p:animEffect>
                                  </p:childTnLst>
                                </p:cTn>
                              </p:par>
                            </p:childTnLst>
                          </p:cTn>
                        </p:par>
                        <p:par>
                          <p:cTn id="12" fill="hold">
                            <p:stCondLst>
                              <p:cond delay="2000"/>
                            </p:stCondLst>
                            <p:childTnLst>
                              <p:par>
                                <p:cTn id="13" presetID="9" presetClass="entr" presetSubtype="0" fill="hold" grpId="3" nodeType="afterEffect">
                                  <p:stCondLst>
                                    <p:cond delay="0"/>
                                  </p:stCondLst>
                                  <p:childTnLst>
                                    <p:set>
                                      <p:cBhvr>
                                        <p:cTn id="14" dur="indefinite" fill="hold"/>
                                        <p:tgtEl>
                                          <p:spTgt spid="124"/>
                                        </p:tgtEl>
                                        <p:attrNameLst>
                                          <p:attrName>style.visibility</p:attrName>
                                        </p:attrNameLst>
                                      </p:cBhvr>
                                      <p:to>
                                        <p:strVal val="visible"/>
                                      </p:to>
                                    </p:set>
                                    <p:animEffect transition="in" filter="dissolve">
                                      <p:cBhvr>
                                        <p:cTn id="15" dur="1000"/>
                                        <p:tgtEl>
                                          <p:spTgt spid="124"/>
                                        </p:tgtEl>
                                      </p:cBhvr>
                                    </p:animEffect>
                                  </p:childTnLst>
                                </p:cTn>
                              </p:par>
                            </p:childTnLst>
                          </p:cTn>
                        </p:par>
                        <p:par>
                          <p:cTn id="16" fill="hold">
                            <p:stCondLst>
                              <p:cond delay="3000"/>
                            </p:stCondLst>
                            <p:childTnLst>
                              <p:par>
                                <p:cTn id="17" presetID="9" presetClass="entr" presetSubtype="0" fill="hold" grpId="4" nodeType="afterEffect">
                                  <p:stCondLst>
                                    <p:cond delay="0"/>
                                  </p:stCondLst>
                                  <p:childTnLst>
                                    <p:set>
                                      <p:cBhvr>
                                        <p:cTn id="18" dur="indefinite" fill="hold"/>
                                        <p:tgtEl>
                                          <p:spTgt spid="125"/>
                                        </p:tgtEl>
                                        <p:attrNameLst>
                                          <p:attrName>style.visibility</p:attrName>
                                        </p:attrNameLst>
                                      </p:cBhvr>
                                      <p:to>
                                        <p:strVal val="visible"/>
                                      </p:to>
                                    </p:set>
                                    <p:animEffect transition="in" filter="dissolve">
                                      <p:cBhvr>
                                        <p:cTn id="19" dur="1000"/>
                                        <p:tgtEl>
                                          <p:spTgt spid="125"/>
                                        </p:tgtEl>
                                      </p:cBhvr>
                                    </p:animEffect>
                                  </p:childTnLst>
                                </p:cTn>
                              </p:par>
                            </p:childTnLst>
                          </p:cTn>
                        </p:par>
                        <p:par>
                          <p:cTn id="20" fill="hold">
                            <p:stCondLst>
                              <p:cond delay="4000"/>
                            </p:stCondLst>
                            <p:childTnLst>
                              <p:par>
                                <p:cTn id="21" presetID="2" presetClass="entr" presetSubtype="2" fill="hold" grpId="5" nodeType="afterEffect">
                                  <p:stCondLst>
                                    <p:cond delay="0"/>
                                  </p:stCondLst>
                                  <p:childTnLst>
                                    <p:set>
                                      <p:cBhvr>
                                        <p:cTn id="22" dur="indefinite" fill="hold"/>
                                        <p:tgtEl>
                                          <p:spTgt spid="126"/>
                                        </p:tgtEl>
                                        <p:attrNameLst>
                                          <p:attrName>style.visibility</p:attrName>
                                        </p:attrNameLst>
                                      </p:cBhvr>
                                      <p:to>
                                        <p:strVal val="visible"/>
                                      </p:to>
                                    </p:set>
                                    <p:anim calcmode="lin" valueType="num">
                                      <p:cBhvr>
                                        <p:cTn id="23" dur="1000" fill="hold"/>
                                        <p:tgtEl>
                                          <p:spTgt spid="126"/>
                                        </p:tgtEl>
                                        <p:attrNameLst>
                                          <p:attrName>ppt_x</p:attrName>
                                        </p:attrNameLst>
                                      </p:cBhvr>
                                      <p:tavLst>
                                        <p:tav tm="0">
                                          <p:val>
                                            <p:strVal val="1+#ppt_w/2"/>
                                          </p:val>
                                        </p:tav>
                                        <p:tav tm="100000">
                                          <p:val>
                                            <p:strVal val="#ppt_x"/>
                                          </p:val>
                                        </p:tav>
                                      </p:tavLst>
                                    </p:anim>
                                    <p:anim calcmode="lin" valueType="num">
                                      <p:cBhvr>
                                        <p:cTn id="24" dur="1000" fill="hold"/>
                                        <p:tgtEl>
                                          <p:spTgt spid="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1" animBg="1" advAuto="0"/>
      <p:bldP spid="123" grpId="2" animBg="1" advAuto="0"/>
      <p:bldP spid="124" grpId="3" animBg="1" advAuto="0"/>
      <p:bldP spid="125" grpId="4" animBg="1" advAuto="0"/>
      <p:bldP spid="126" grpId="5"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屏幕快照 2020-02-24 23.24.04.psd" descr="屏幕快照 2020-02-24 23.24.04.psd"/>
          <p:cNvPicPr>
            <a:picLocks noChangeAspect="1"/>
          </p:cNvPicPr>
          <p:nvPr/>
        </p:nvPicPr>
        <p:blipFill>
          <a:blip r:embed="rId2"/>
          <a:srcRect t="26140" r="5604" b="48647"/>
          <a:stretch>
            <a:fillRect/>
          </a:stretch>
        </p:blipFill>
        <p:spPr>
          <a:xfrm>
            <a:off x="262858" y="748736"/>
            <a:ext cx="12415718" cy="1794831"/>
          </a:xfrm>
          <a:prstGeom prst="rect">
            <a:avLst/>
          </a:prstGeom>
          <a:ln w="12700">
            <a:miter lim="400000"/>
            <a:headEnd/>
            <a:tailEnd/>
          </a:ln>
        </p:spPr>
      </p:pic>
      <p:sp>
        <p:nvSpPr>
          <p:cNvPr id="129" name="个人简介"/>
          <p:cNvSpPr txBox="1"/>
          <p:nvPr/>
        </p:nvSpPr>
        <p:spPr>
          <a:xfrm>
            <a:off x="-306406" y="1574996"/>
            <a:ext cx="4045660"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130" name="第四章   影视鉴赏的声画元素…"/>
          <p:cNvSpPr txBox="1"/>
          <p:nvPr/>
        </p:nvSpPr>
        <p:spPr>
          <a:xfrm>
            <a:off x="4358134" y="3409392"/>
            <a:ext cx="4227818" cy="3970312"/>
          </a:xfrm>
          <a:prstGeom prst="rect">
            <a:avLst/>
          </a:prstGeom>
          <a:ln w="12700">
            <a:miter lim="400000"/>
          </a:ln>
        </p:spPr>
        <p:txBody>
          <a:bodyPr wrap="none" lIns="48765" tIns="48765" rIns="48765" bIns="48765">
            <a:spAutoFit/>
          </a:bodyPr>
          <a:lstStyle/>
          <a:p>
            <a:pPr defTabSz="457200">
              <a:lnSpc>
                <a:spcPct val="120000"/>
              </a:lnSpc>
              <a:spcBef>
                <a:spcPts val="1200"/>
              </a:spcBef>
              <a:defRPr sz="2800">
                <a:solidFill>
                  <a:srgbClr val="333333"/>
                </a:solidFill>
                <a:latin typeface="Times"/>
                <a:ea typeface="Times"/>
                <a:cs typeface="Times"/>
                <a:sym typeface="Times"/>
              </a:defRPr>
            </a:pPr>
            <a:r>
              <a:rPr dirty="0"/>
              <a:t>第</a:t>
            </a:r>
            <a:r>
              <a:rPr lang="zh-CN" dirty="0">
                <a:ea typeface="宋体" panose="02010600030101010101" pitchFamily="2" charset="-122"/>
              </a:rPr>
              <a:t>三</a:t>
            </a:r>
            <a:r>
              <a:rPr dirty="0"/>
              <a:t>章   </a:t>
            </a:r>
            <a:r>
              <a:rPr dirty="0" err="1"/>
              <a:t>影视艺术语言</a:t>
            </a:r>
            <a:endParaRPr dirty="0"/>
          </a:p>
          <a:p>
            <a:pPr defTabSz="457200">
              <a:lnSpc>
                <a:spcPct val="120000"/>
              </a:lnSpc>
              <a:spcBef>
                <a:spcPts val="1200"/>
              </a:spcBef>
              <a:defRPr sz="2800">
                <a:solidFill>
                  <a:srgbClr val="333333"/>
                </a:solidFill>
                <a:latin typeface="Times"/>
                <a:ea typeface="Times"/>
                <a:cs typeface="Times"/>
                <a:sym typeface="Times"/>
              </a:defRPr>
            </a:pPr>
            <a:r>
              <a:rPr dirty="0"/>
              <a:t>               </a:t>
            </a:r>
            <a:r>
              <a:rPr sz="2100" dirty="0"/>
              <a:t>       </a:t>
            </a:r>
            <a:r>
              <a:rPr sz="2100" b="1" dirty="0"/>
              <a:t>（12课时）</a:t>
            </a:r>
          </a:p>
          <a:p>
            <a:pPr defTabSz="457200">
              <a:lnSpc>
                <a:spcPct val="120000"/>
              </a:lnSpc>
              <a:spcBef>
                <a:spcPts val="1200"/>
              </a:spcBef>
              <a:defRPr sz="2800">
                <a:latin typeface="Times"/>
                <a:ea typeface="Times"/>
                <a:cs typeface="Times"/>
                <a:sym typeface="Times"/>
              </a:defRPr>
            </a:pPr>
            <a:r>
              <a:rPr lang="en-US" dirty="0"/>
              <a:t>3</a:t>
            </a:r>
            <a:r>
              <a:rPr dirty="0">
                <a:solidFill>
                  <a:srgbClr val="333333"/>
                </a:solidFill>
              </a:rPr>
              <a:t>.1影视镜</a:t>
            </a:r>
            <a:r>
              <a:rPr dirty="0"/>
              <a:t>头语言</a:t>
            </a:r>
          </a:p>
          <a:p>
            <a:pPr defTabSz="457200">
              <a:lnSpc>
                <a:spcPct val="120000"/>
              </a:lnSpc>
              <a:spcBef>
                <a:spcPts val="1200"/>
              </a:spcBef>
              <a:defRPr sz="2800">
                <a:latin typeface="Times"/>
                <a:ea typeface="Times"/>
                <a:cs typeface="Times"/>
                <a:sym typeface="Times"/>
              </a:defRPr>
            </a:pPr>
            <a:r>
              <a:rPr lang="en-US" dirty="0"/>
              <a:t>3</a:t>
            </a:r>
            <a:r>
              <a:rPr dirty="0"/>
              <a:t>.2影视光影、色彩与声音 </a:t>
            </a:r>
          </a:p>
          <a:p>
            <a:pPr defTabSz="457200">
              <a:lnSpc>
                <a:spcPct val="120000"/>
              </a:lnSpc>
              <a:spcBef>
                <a:spcPts val="1200"/>
              </a:spcBef>
              <a:defRPr sz="2800">
                <a:latin typeface="Times"/>
                <a:ea typeface="Times"/>
                <a:cs typeface="Times"/>
                <a:sym typeface="Times"/>
              </a:defRPr>
            </a:pPr>
            <a:r>
              <a:rPr lang="en-US" dirty="0"/>
              <a:t>3</a:t>
            </a:r>
            <a:r>
              <a:rPr dirty="0"/>
              <a:t>.3蒙太奇</a:t>
            </a:r>
          </a:p>
          <a:p>
            <a:pPr defTabSz="457200">
              <a:lnSpc>
                <a:spcPct val="120000"/>
              </a:lnSpc>
              <a:spcBef>
                <a:spcPts val="1200"/>
              </a:spcBef>
              <a:defRPr sz="2800">
                <a:latin typeface="Times"/>
                <a:ea typeface="Times"/>
                <a:cs typeface="Times"/>
                <a:sym typeface="Times"/>
              </a:defRPr>
            </a:pPr>
            <a:r>
              <a:rPr lang="en-US" dirty="0"/>
              <a:t>3</a:t>
            </a:r>
            <a:r>
              <a:rPr dirty="0"/>
              <a:t>.4长镜头</a:t>
            </a:r>
          </a:p>
        </p:txBody>
      </p:sp>
      <p:sp>
        <p:nvSpPr>
          <p:cNvPr id="131"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135" name="成组"/>
          <p:cNvGrpSpPr/>
          <p:nvPr/>
        </p:nvGrpSpPr>
        <p:grpSpPr>
          <a:xfrm>
            <a:off x="11279725" y="8512683"/>
            <a:ext cx="1214954" cy="757973"/>
            <a:chOff x="-1" y="0"/>
            <a:chExt cx="1214953" cy="757971"/>
          </a:xfrm>
        </p:grpSpPr>
        <p:sp>
          <p:nvSpPr>
            <p:cNvPr id="132"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3"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134"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129"/>
                                        </p:tgtEl>
                                        <p:attrNameLst>
                                          <p:attrName>style.visibility</p:attrName>
                                        </p:attrNameLst>
                                      </p:cBhvr>
                                      <p:to>
                                        <p:strVal val="visible"/>
                                      </p:to>
                                    </p:set>
                                    <p:animEffect transition="in" filter="dissolve">
                                      <p:cBhvr>
                                        <p:cTn id="7" dur="1000"/>
                                        <p:tgtEl>
                                          <p:spTgt spid="129"/>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135"/>
                                        </p:tgtEl>
                                        <p:attrNameLst>
                                          <p:attrName>style.visibility</p:attrName>
                                        </p:attrNameLst>
                                      </p:cBhvr>
                                      <p:to>
                                        <p:strVal val="visible"/>
                                      </p:to>
                                    </p:set>
                                    <p:anim calcmode="lin" valueType="num">
                                      <p:cBhvr>
                                        <p:cTn id="11" dur="750" fill="hold"/>
                                        <p:tgtEl>
                                          <p:spTgt spid="135"/>
                                        </p:tgtEl>
                                        <p:attrNameLst>
                                          <p:attrName>ppt_x</p:attrName>
                                        </p:attrNameLst>
                                      </p:cBhvr>
                                      <p:tavLst>
                                        <p:tav tm="0">
                                          <p:val>
                                            <p:strVal val="1+#ppt_w/2"/>
                                          </p:val>
                                        </p:tav>
                                        <p:tav tm="100000">
                                          <p:val>
                                            <p:strVal val="#ppt_x"/>
                                          </p:val>
                                        </p:tav>
                                      </p:tavLst>
                                    </p:anim>
                                    <p:anim calcmode="lin" valueType="num">
                                      <p:cBhvr>
                                        <p:cTn id="12" dur="750" fill="hold"/>
                                        <p:tgtEl>
                                          <p:spTgt spid="135"/>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131"/>
                                        </p:tgtEl>
                                        <p:attrNameLst>
                                          <p:attrName>style.visibility</p:attrName>
                                        </p:attrNameLst>
                                      </p:cBhvr>
                                      <p:to>
                                        <p:strVal val="visible"/>
                                      </p:to>
                                    </p:set>
                                    <p:animEffect transition="in" filter="wipe(right)">
                                      <p:cBhvr>
                                        <p:cTn id="16"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1" animBg="1" advAuto="0"/>
      <p:bldP spid="131" grpId="3" animBg="1" advAuto="0"/>
      <p:bldP spid="135" grpId="2"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 name="成组"/>
          <p:cNvGrpSpPr/>
          <p:nvPr/>
        </p:nvGrpSpPr>
        <p:grpSpPr>
          <a:xfrm>
            <a:off x="11101925" y="8248376"/>
            <a:ext cx="1214954" cy="757973"/>
            <a:chOff x="-1" y="0"/>
            <a:chExt cx="1214953" cy="757971"/>
          </a:xfrm>
        </p:grpSpPr>
        <p:sp>
          <p:nvSpPr>
            <p:cNvPr id="137"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8"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139"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143" name="成组"/>
          <p:cNvGrpSpPr/>
          <p:nvPr/>
        </p:nvGrpSpPr>
        <p:grpSpPr>
          <a:xfrm>
            <a:off x="139669" y="752796"/>
            <a:ext cx="5462070" cy="567431"/>
            <a:chOff x="-1" y="0"/>
            <a:chExt cx="5462068" cy="567429"/>
          </a:xfrm>
        </p:grpSpPr>
        <p:sp>
          <p:nvSpPr>
            <p:cNvPr id="141"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142"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144" name="DAU不是一部影像，而是一场视觉呈现，取材自上述那个“前苏联社会”复制品历时三年的资料记录。…"/>
          <p:cNvSpPr txBox="1"/>
          <p:nvPr/>
        </p:nvSpPr>
        <p:spPr>
          <a:xfrm>
            <a:off x="5331311" y="960880"/>
            <a:ext cx="2155328" cy="973831"/>
          </a:xfrm>
          <a:prstGeom prst="rect">
            <a:avLst/>
          </a:prstGeom>
          <a:ln w="12700">
            <a:miter lim="400000"/>
          </a:ln>
        </p:spPr>
        <p:txBody>
          <a:bodyPr lIns="48765" tIns="48765" rIns="48765" bIns="48765">
            <a:spAutoFit/>
          </a:bodyPr>
          <a:lstStyle>
            <a:lvl1pPr>
              <a:defRPr sz="4900">
                <a:solidFill>
                  <a:srgbClr val="FF2600"/>
                </a:solidFill>
              </a:defRPr>
            </a:lvl1pPr>
          </a:lstStyle>
          <a:p>
            <a:r>
              <a:t>拉  片</a:t>
            </a:r>
          </a:p>
        </p:txBody>
      </p:sp>
      <p:pic>
        <p:nvPicPr>
          <p:cNvPr id="145" name="bd315c6034a85edfa4a4ae1146540923dd5475d3.jpeg" descr="bd315c6034a85edfa4a4ae1146540923dd5475d3.jpeg"/>
          <p:cNvPicPr>
            <a:picLocks noChangeAspect="1"/>
          </p:cNvPicPr>
          <p:nvPr/>
        </p:nvPicPr>
        <p:blipFill>
          <a:blip r:embed="rId2"/>
          <a:stretch>
            <a:fillRect/>
          </a:stretch>
        </p:blipFill>
        <p:spPr>
          <a:xfrm>
            <a:off x="6998816" y="2177966"/>
            <a:ext cx="4188387" cy="6204437"/>
          </a:xfrm>
          <a:prstGeom prst="rect">
            <a:avLst/>
          </a:prstGeom>
          <a:ln w="12700">
            <a:miter lim="400000"/>
            <a:headEnd/>
            <a:tailEnd/>
          </a:ln>
        </p:spPr>
      </p:pic>
      <p:pic>
        <p:nvPicPr>
          <p:cNvPr id="146" name="9521582601834_.pic_hd.jpg" descr="9521582601834_.pic_hd.jpg"/>
          <p:cNvPicPr>
            <a:picLocks noChangeAspect="1"/>
          </p:cNvPicPr>
          <p:nvPr/>
        </p:nvPicPr>
        <p:blipFill>
          <a:blip r:embed="rId3"/>
          <a:stretch>
            <a:fillRect/>
          </a:stretch>
        </p:blipFill>
        <p:spPr>
          <a:xfrm>
            <a:off x="977775" y="2027932"/>
            <a:ext cx="4564559" cy="6504504"/>
          </a:xfrm>
          <a:prstGeom prst="rect">
            <a:avLst/>
          </a:prstGeom>
          <a:ln w="12700">
            <a:miter lim="400000"/>
            <a:headEnd/>
            <a:tailEnd/>
          </a:ln>
        </p:spPr>
      </p:pic>
      <p:sp>
        <p:nvSpPr>
          <p:cNvPr id="147" name="2019年 托德·菲利普斯"/>
          <p:cNvSpPr txBox="1"/>
          <p:nvPr/>
        </p:nvSpPr>
        <p:spPr>
          <a:xfrm>
            <a:off x="7285508" y="8991348"/>
            <a:ext cx="1609154" cy="313431"/>
          </a:xfrm>
          <a:prstGeom prst="rect">
            <a:avLst/>
          </a:prstGeom>
          <a:ln w="12700">
            <a:miter lim="400000"/>
          </a:ln>
        </p:spPr>
        <p:txBody>
          <a:bodyPr wrap="none" lIns="48765" tIns="48765" rIns="48765" bIns="48765">
            <a:spAutoFit/>
          </a:bodyPr>
          <a:lstStyle>
            <a:lvl1pPr defTabSz="457200">
              <a:defRPr sz="1200">
                <a:solidFill>
                  <a:srgbClr val="333333"/>
                </a:solidFill>
                <a:latin typeface="Arial" panose="020B0604020202020204"/>
                <a:ea typeface="Arial" panose="020B0604020202020204"/>
                <a:cs typeface="Arial" panose="020B0604020202020204"/>
                <a:sym typeface="Arial" panose="020B0604020202020204"/>
              </a:defRPr>
            </a:lvl1pPr>
          </a:lstStyle>
          <a:p>
            <a:r>
              <a:t>2019年 托德·菲利普斯</a:t>
            </a:r>
          </a:p>
        </p:txBody>
      </p:sp>
      <p:sp>
        <p:nvSpPr>
          <p:cNvPr id="148" name="2019年 奉俊昊"/>
          <p:cNvSpPr txBox="1"/>
          <p:nvPr/>
        </p:nvSpPr>
        <p:spPr>
          <a:xfrm>
            <a:off x="2129122" y="8991348"/>
            <a:ext cx="1101204" cy="313431"/>
          </a:xfrm>
          <a:prstGeom prst="rect">
            <a:avLst/>
          </a:prstGeom>
          <a:ln w="12700">
            <a:miter lim="400000"/>
          </a:ln>
        </p:spPr>
        <p:txBody>
          <a:bodyPr wrap="none" lIns="48765" tIns="48765" rIns="48765" bIns="48765">
            <a:spAutoFit/>
          </a:bodyPr>
          <a:lstStyle>
            <a:lvl1pPr defTabSz="457200">
              <a:defRPr sz="1200">
                <a:solidFill>
                  <a:srgbClr val="333333"/>
                </a:solidFill>
                <a:latin typeface="Arial" panose="020B0604020202020204"/>
                <a:ea typeface="Arial" panose="020B0604020202020204"/>
                <a:cs typeface="Arial" panose="020B0604020202020204"/>
                <a:sym typeface="Arial" panose="020B0604020202020204"/>
              </a:defRPr>
            </a:lvl1pPr>
          </a:lstStyle>
          <a:p>
            <a:r>
              <a:t>2019年 奉俊昊</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140"/>
                                        </p:tgtEl>
                                        <p:attrNameLst>
                                          <p:attrName>style.visibility</p:attrName>
                                        </p:attrNameLst>
                                      </p:cBhvr>
                                      <p:to>
                                        <p:strVal val="visible"/>
                                      </p:to>
                                    </p:set>
                                    <p:anim calcmode="lin" valueType="num">
                                      <p:cBhvr>
                                        <p:cTn id="7" dur="750" fill="hold"/>
                                        <p:tgtEl>
                                          <p:spTgt spid="140"/>
                                        </p:tgtEl>
                                        <p:attrNameLst>
                                          <p:attrName>ppt_x</p:attrName>
                                        </p:attrNameLst>
                                      </p:cBhvr>
                                      <p:tavLst>
                                        <p:tav tm="0">
                                          <p:val>
                                            <p:strVal val="1+#ppt_w/2"/>
                                          </p:val>
                                        </p:tav>
                                        <p:tav tm="100000">
                                          <p:val>
                                            <p:strVal val="#ppt_x"/>
                                          </p:val>
                                        </p:tav>
                                      </p:tavLst>
                                    </p:anim>
                                    <p:anim calcmode="lin" valueType="num">
                                      <p:cBhvr>
                                        <p:cTn id="8" dur="750" fill="hold"/>
                                        <p:tgtEl>
                                          <p:spTgt spid="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1"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光圈"/>
          <p:cNvSpPr txBox="1"/>
          <p:nvPr/>
        </p:nvSpPr>
        <p:spPr>
          <a:xfrm>
            <a:off x="4872678" y="8048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154" name="成组"/>
          <p:cNvGrpSpPr/>
          <p:nvPr/>
        </p:nvGrpSpPr>
        <p:grpSpPr>
          <a:xfrm>
            <a:off x="11089225" y="7959283"/>
            <a:ext cx="1214954" cy="757973"/>
            <a:chOff x="-1" y="0"/>
            <a:chExt cx="1214953" cy="757971"/>
          </a:xfrm>
        </p:grpSpPr>
        <p:sp>
          <p:nvSpPr>
            <p:cNvPr id="151"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52"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153"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155" name="第三章   影视鉴赏的声画元素…"/>
          <p:cNvSpPr txBox="1"/>
          <p:nvPr/>
        </p:nvSpPr>
        <p:spPr>
          <a:xfrm>
            <a:off x="3517838" y="3458085"/>
            <a:ext cx="7563035" cy="3945631"/>
          </a:xfrm>
          <a:prstGeom prst="rect">
            <a:avLst/>
          </a:prstGeom>
          <a:ln w="12700">
            <a:miter lim="400000"/>
          </a:ln>
        </p:spPr>
        <p:txBody>
          <a:bodyPr lIns="48765" tIns="48765" rIns="48765" bIns="48765">
            <a:spAutoFit/>
          </a:bodyPr>
          <a:lstStyle/>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一、从电影艺术谈</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       </a:t>
            </a:r>
            <a:r>
              <a:rPr sz="2700"/>
              <a:t>镜头、场面、声音、剪辑、风格</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二、故事</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       </a:t>
            </a:r>
            <a:r>
              <a:rPr sz="2700"/>
              <a:t>剧情、角色、场景、意义</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三、受众</a:t>
            </a:r>
          </a:p>
        </p:txBody>
      </p:sp>
      <p:grpSp>
        <p:nvGrpSpPr>
          <p:cNvPr id="158" name="成组"/>
          <p:cNvGrpSpPr/>
          <p:nvPr/>
        </p:nvGrpSpPr>
        <p:grpSpPr>
          <a:xfrm>
            <a:off x="139669" y="752796"/>
            <a:ext cx="5462070" cy="567431"/>
            <a:chOff x="-1" y="0"/>
            <a:chExt cx="5462068" cy="567429"/>
          </a:xfrm>
        </p:grpSpPr>
        <p:sp>
          <p:nvSpPr>
            <p:cNvPr id="156"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157"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159" name="三、影视艺术的特征"/>
          <p:cNvSpPr txBox="1"/>
          <p:nvPr/>
        </p:nvSpPr>
        <p:spPr>
          <a:xfrm>
            <a:off x="5093091" y="2117199"/>
            <a:ext cx="2749803" cy="946562"/>
          </a:xfrm>
          <a:prstGeom prst="rect">
            <a:avLst/>
          </a:prstGeom>
          <a:ln w="12700">
            <a:miter lim="400000"/>
          </a:ln>
        </p:spPr>
        <p:txBody>
          <a:bodyPr wrap="none" lIns="48765" tIns="48765" rIns="48765" bIns="48765">
            <a:spAutoFit/>
          </a:bodyPr>
          <a:lstStyle>
            <a:lvl1pPr defTabSz="457200">
              <a:lnSpc>
                <a:spcPts val="6900"/>
              </a:lnSpc>
              <a:spcBef>
                <a:spcPts val="1200"/>
              </a:spcBef>
              <a:defRPr sz="43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t>如 何 拉 片</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154"/>
                                        </p:tgtEl>
                                        <p:attrNameLst>
                                          <p:attrName>style.visibility</p:attrName>
                                        </p:attrNameLst>
                                      </p:cBhvr>
                                      <p:to>
                                        <p:strVal val="visible"/>
                                      </p:to>
                                    </p:set>
                                    <p:anim calcmode="lin" valueType="num">
                                      <p:cBhvr>
                                        <p:cTn id="7" dur="750" fill="hold"/>
                                        <p:tgtEl>
                                          <p:spTgt spid="154"/>
                                        </p:tgtEl>
                                        <p:attrNameLst>
                                          <p:attrName>ppt_x</p:attrName>
                                        </p:attrNameLst>
                                      </p:cBhvr>
                                      <p:tavLst>
                                        <p:tav tm="0">
                                          <p:val>
                                            <p:strVal val="1+#ppt_w/2"/>
                                          </p:val>
                                        </p:tav>
                                        <p:tav tm="100000">
                                          <p:val>
                                            <p:strVal val="#ppt_x"/>
                                          </p:val>
                                        </p:tav>
                                      </p:tavLst>
                                    </p:anim>
                                    <p:anim calcmode="lin" valueType="num">
                                      <p:cBhvr>
                                        <p:cTn id="8" dur="750" fill="hold"/>
                                        <p:tgtEl>
                                          <p:spTgt spid="15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150"/>
                                        </p:tgtEl>
                                        <p:attrNameLst>
                                          <p:attrName>style.visibility</p:attrName>
                                        </p:attrNameLst>
                                      </p:cBhvr>
                                      <p:to>
                                        <p:strVal val="visible"/>
                                      </p:to>
                                    </p:set>
                                    <p:animEffect transition="in" filter="wipe(right)">
                                      <p:cBhvr>
                                        <p:cTn id="12" dur="10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2" animBg="1" advAuto="0"/>
      <p:bldP spid="154" grpId="1"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基本镜头类型"/>
          <p:cNvSpPr txBox="1">
            <a:spLocks noGrp="1"/>
          </p:cNvSpPr>
          <p:nvPr>
            <p:ph type="title"/>
          </p:nvPr>
        </p:nvSpPr>
        <p:spPr>
          <a:xfrm>
            <a:off x="1625598" y="2330872"/>
            <a:ext cx="9753604" cy="2546777"/>
          </a:xfrm>
          <a:prstGeom prst="rect">
            <a:avLst/>
          </a:prstGeom>
        </p:spPr>
        <p:txBody>
          <a:bodyPr/>
          <a:lstStyle>
            <a:lvl1pPr>
              <a:defRPr sz="4500"/>
            </a:lvl1pPr>
          </a:lstStyle>
          <a:p>
            <a:r>
              <a:t>主  题 ：贫富差距</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基本镜头类型"/>
          <p:cNvSpPr txBox="1">
            <a:spLocks noGrp="1"/>
          </p:cNvSpPr>
          <p:nvPr>
            <p:ph type="title"/>
          </p:nvPr>
        </p:nvSpPr>
        <p:spPr>
          <a:xfrm>
            <a:off x="1625598" y="3368462"/>
            <a:ext cx="9753604" cy="2546777"/>
          </a:xfrm>
          <a:prstGeom prst="rect">
            <a:avLst/>
          </a:prstGeom>
        </p:spPr>
        <p:txBody>
          <a:bodyPr>
            <a:normAutofit fontScale="90000"/>
          </a:bodyPr>
          <a:lstStyle>
            <a:lvl1pPr>
              <a:defRPr sz="4500"/>
            </a:lvl1pPr>
          </a:lstStyle>
          <a:p>
            <a:pPr algn="ctr">
              <a:lnSpc>
                <a:spcPct val="150000"/>
              </a:lnSpc>
            </a:pPr>
            <a:r>
              <a:rPr lang="zh-CN">
                <a:ea typeface="宋体" panose="02010600030101010101" pitchFamily="2" charset="-122"/>
              </a:rPr>
              <a:t>描写低层人生活状况的推荐电影：</a:t>
            </a:r>
            <a:br>
              <a:rPr lang="zh-CN">
                <a:ea typeface="宋体" panose="02010600030101010101" pitchFamily="2" charset="-122"/>
              </a:rPr>
            </a:br>
            <a:br>
              <a:rPr lang="zh-CN">
                <a:ea typeface="宋体" panose="02010600030101010101" pitchFamily="2" charset="-122"/>
              </a:rPr>
            </a:br>
            <a:r>
              <a:rPr lang="zh-CN" sz="3110">
                <a:ea typeface="宋体" panose="02010600030101010101" pitchFamily="2" charset="-122"/>
              </a:rPr>
              <a:t>《偷自行车的人》</a:t>
            </a:r>
            <a:br>
              <a:rPr lang="zh-CN" sz="3110">
                <a:ea typeface="宋体" panose="02010600030101010101" pitchFamily="2" charset="-122"/>
              </a:rPr>
            </a:br>
            <a:r>
              <a:rPr lang="zh-CN" sz="3110">
                <a:ea typeface="宋体" panose="02010600030101010101" pitchFamily="2" charset="-122"/>
              </a:rPr>
              <a:t>《小偷家族》</a:t>
            </a:r>
            <a:br>
              <a:rPr lang="zh-CN" sz="3110">
                <a:ea typeface="宋体" panose="02010600030101010101" pitchFamily="2" charset="-122"/>
              </a:rPr>
            </a:br>
            <a:r>
              <a:rPr lang="zh-CN" sz="3110">
                <a:ea typeface="宋体" panose="02010600030101010101" pitchFamily="2" charset="-122"/>
              </a:rPr>
              <a:t>《何以为家》</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光圈"/>
          <p:cNvSpPr txBox="1"/>
          <p:nvPr/>
        </p:nvSpPr>
        <p:spPr>
          <a:xfrm>
            <a:off x="4872678" y="8048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167" name="成组"/>
          <p:cNvGrpSpPr/>
          <p:nvPr/>
        </p:nvGrpSpPr>
        <p:grpSpPr>
          <a:xfrm>
            <a:off x="11089225" y="7959283"/>
            <a:ext cx="1214954" cy="757973"/>
            <a:chOff x="-1" y="0"/>
            <a:chExt cx="1214953" cy="757971"/>
          </a:xfrm>
        </p:grpSpPr>
        <p:sp>
          <p:nvSpPr>
            <p:cNvPr id="16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6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16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pic>
        <p:nvPicPr>
          <p:cNvPr id="168" name="图像" descr="图像"/>
          <p:cNvPicPr>
            <a:picLocks noChangeAspect="1"/>
          </p:cNvPicPr>
          <p:nvPr/>
        </p:nvPicPr>
        <p:blipFill>
          <a:blip r:embed="rId2"/>
          <a:stretch>
            <a:fillRect/>
          </a:stretch>
        </p:blipFill>
        <p:spPr>
          <a:xfrm>
            <a:off x="7022574" y="4982280"/>
            <a:ext cx="5648392" cy="3671455"/>
          </a:xfrm>
          <a:prstGeom prst="rect">
            <a:avLst/>
          </a:prstGeom>
          <a:ln w="12700">
            <a:miter lim="400000"/>
            <a:headEnd/>
            <a:tailEnd/>
          </a:ln>
        </p:spPr>
      </p:pic>
      <p:grpSp>
        <p:nvGrpSpPr>
          <p:cNvPr id="171" name="成组"/>
          <p:cNvGrpSpPr/>
          <p:nvPr/>
        </p:nvGrpSpPr>
        <p:grpSpPr>
          <a:xfrm>
            <a:off x="139669" y="752796"/>
            <a:ext cx="5462070" cy="567431"/>
            <a:chOff x="-1" y="0"/>
            <a:chExt cx="5462068" cy="567429"/>
          </a:xfrm>
        </p:grpSpPr>
        <p:sp>
          <p:nvSpPr>
            <p:cNvPr id="169"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170"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172" name="三、影视艺术的特征"/>
          <p:cNvSpPr txBox="1"/>
          <p:nvPr/>
        </p:nvSpPr>
        <p:spPr>
          <a:xfrm>
            <a:off x="1228021" y="1752073"/>
            <a:ext cx="5010081" cy="1005886"/>
          </a:xfrm>
          <a:prstGeom prst="rect">
            <a:avLst/>
          </a:prstGeom>
          <a:ln w="12700">
            <a:miter lim="400000"/>
          </a:ln>
        </p:spPr>
        <p:txBody>
          <a:bodyPr wrap="none" lIns="48765" tIns="48765" rIns="48765" bIns="48765">
            <a:spAutoFit/>
          </a:bodyPr>
          <a:lstStyle/>
          <a:p>
            <a:pPr algn="just" defTabSz="457200">
              <a:defRPr sz="3700">
                <a:solidFill>
                  <a:srgbClr val="333333"/>
                </a:solidFill>
                <a:latin typeface="Helvetica Neue"/>
                <a:ea typeface="Helvetica Neue"/>
                <a:cs typeface="Helvetica Neue"/>
                <a:sym typeface="Helvetica Neue"/>
              </a:defRPr>
            </a:pPr>
            <a:r>
              <a:rPr dirty="0"/>
              <a:t>《</a:t>
            </a:r>
            <a:r>
              <a:rPr dirty="0" err="1"/>
              <a:t>寄生虫</a:t>
            </a:r>
            <a:r>
              <a:rPr dirty="0"/>
              <a:t>》</a:t>
            </a:r>
          </a:p>
          <a:p>
            <a:pPr algn="just" defTabSz="457200">
              <a:defRPr sz="1700">
                <a:solidFill>
                  <a:srgbClr val="333333"/>
                </a:solidFill>
                <a:latin typeface="Helvetica Neue"/>
                <a:ea typeface="Helvetica Neue"/>
                <a:cs typeface="Helvetica Neue"/>
                <a:sym typeface="Helvetica Neue"/>
              </a:defRPr>
            </a:pPr>
            <a:r>
              <a:rPr dirty="0"/>
              <a:t>https://www.youtube.com/watch?v=vS6Vuy5dV1Q</a:t>
            </a:r>
          </a:p>
        </p:txBody>
      </p:sp>
      <p:sp>
        <p:nvSpPr>
          <p:cNvPr id="173" name="韩国导演奉俊昊作品《寄生虫》…"/>
          <p:cNvSpPr txBox="1"/>
          <p:nvPr/>
        </p:nvSpPr>
        <p:spPr>
          <a:xfrm>
            <a:off x="1228021" y="2745037"/>
            <a:ext cx="5421699" cy="6423291"/>
          </a:xfrm>
          <a:prstGeom prst="rect">
            <a:avLst/>
          </a:prstGeom>
          <a:ln w="12700">
            <a:miter lim="400000"/>
          </a:ln>
        </p:spPr>
        <p:txBody>
          <a:bodyPr wrap="square" lIns="48765" tIns="48765" rIns="48765" bIns="48765">
            <a:spAutoFit/>
          </a:bodyPr>
          <a:lstStyle/>
          <a:p>
            <a:pPr algn="just" defTabSz="457200">
              <a:defRPr sz="1500">
                <a:solidFill>
                  <a:srgbClr val="333333"/>
                </a:solidFill>
                <a:latin typeface="Helvetica Neue"/>
                <a:ea typeface="Helvetica Neue"/>
                <a:cs typeface="Helvetica Neue"/>
                <a:sym typeface="Helvetica Neue"/>
              </a:defRPr>
            </a:pPr>
            <a:endParaRPr dirty="0"/>
          </a:p>
          <a:p>
            <a:pPr algn="just" defTabSz="457200">
              <a:lnSpc>
                <a:spcPct val="150000"/>
              </a:lnSpc>
              <a:defRPr sz="1500">
                <a:solidFill>
                  <a:srgbClr val="333333"/>
                </a:solidFill>
                <a:latin typeface="Helvetica Neue"/>
                <a:ea typeface="Helvetica Neue"/>
                <a:cs typeface="Helvetica Neue"/>
                <a:sym typeface="Helvetica Neue"/>
              </a:defRPr>
            </a:pPr>
            <a:r>
              <a:rPr sz="2400" dirty="0" err="1"/>
              <a:t>韩国导演奉俊昊作品《寄生虫</a:t>
            </a:r>
            <a:r>
              <a:rPr sz="2400" dirty="0"/>
              <a:t>》</a:t>
            </a:r>
          </a:p>
          <a:p>
            <a:pPr algn="just" defTabSz="457200">
              <a:lnSpc>
                <a:spcPct val="150000"/>
              </a:lnSpc>
              <a:defRPr sz="1500">
                <a:solidFill>
                  <a:srgbClr val="333333"/>
                </a:solidFill>
                <a:latin typeface="Helvetica Neue"/>
                <a:ea typeface="Helvetica Neue"/>
                <a:cs typeface="Helvetica Neue"/>
                <a:sym typeface="Helvetica Neue"/>
              </a:defRPr>
            </a:pPr>
            <a:r>
              <a:rPr sz="2400" dirty="0"/>
              <a:t>奥斯卡</a:t>
            </a:r>
            <a:r>
              <a:rPr sz="2400" b="1" dirty="0"/>
              <a:t>最佳影片</a:t>
            </a:r>
            <a:r>
              <a:rPr sz="2400" dirty="0"/>
              <a:t>、</a:t>
            </a:r>
            <a:r>
              <a:rPr sz="2400" b="1" dirty="0"/>
              <a:t>最佳导演</a:t>
            </a:r>
            <a:r>
              <a:rPr sz="2400" dirty="0"/>
              <a:t>、</a:t>
            </a:r>
            <a:r>
              <a:rPr sz="2400" b="1" dirty="0"/>
              <a:t>最佳原创剧本</a:t>
            </a:r>
            <a:r>
              <a:rPr sz="2400" dirty="0"/>
              <a:t>、</a:t>
            </a:r>
            <a:r>
              <a:rPr sz="2400" b="1" dirty="0"/>
              <a:t>最佳国际电影</a:t>
            </a:r>
            <a:r>
              <a:rPr sz="2400" dirty="0"/>
              <a:t>四项大奖，</a:t>
            </a:r>
            <a:r>
              <a:rPr sz="2400" b="1" dirty="0">
                <a:solidFill>
                  <a:srgbClr val="FFA900"/>
                </a:solidFill>
              </a:rPr>
              <a:t>这是奥斯卡92年历史上第一部拿到奥斯卡最佳影片的非英语片</a:t>
            </a:r>
            <a:r>
              <a:rPr sz="2400" dirty="0"/>
              <a:t>。</a:t>
            </a:r>
          </a:p>
          <a:p>
            <a:pPr algn="just" defTabSz="457200">
              <a:lnSpc>
                <a:spcPct val="150000"/>
              </a:lnSpc>
              <a:defRPr sz="1500">
                <a:solidFill>
                  <a:srgbClr val="333333"/>
                </a:solidFill>
                <a:latin typeface="Helvetica Neue"/>
                <a:ea typeface="Helvetica Neue"/>
                <a:cs typeface="Helvetica Neue"/>
                <a:sym typeface="Helvetica Neue"/>
              </a:defRPr>
            </a:pPr>
            <a:endParaRPr sz="2400" dirty="0"/>
          </a:p>
          <a:p>
            <a:pPr algn="just" defTabSz="457200">
              <a:lnSpc>
                <a:spcPct val="150000"/>
              </a:lnSpc>
              <a:defRPr sz="1500">
                <a:solidFill>
                  <a:srgbClr val="333333"/>
                </a:solidFill>
                <a:latin typeface="Helvetica Neue"/>
                <a:ea typeface="Helvetica Neue"/>
                <a:cs typeface="Helvetica Neue"/>
                <a:sym typeface="Helvetica Neue"/>
              </a:defRPr>
            </a:pPr>
            <a:r>
              <a:rPr sz="2400" dirty="0"/>
              <a:t>第72届戛纳国际电影节最佳影片金棕榈（</a:t>
            </a:r>
            <a:r>
              <a:rPr sz="2400" b="1" dirty="0">
                <a:solidFill>
                  <a:srgbClr val="FFA900"/>
                </a:solidFill>
              </a:rPr>
              <a:t>这是韩国电影的第一座金棕榈</a:t>
            </a:r>
            <a:r>
              <a:rPr sz="2400" dirty="0"/>
              <a:t>）</a:t>
            </a:r>
            <a:r>
              <a:rPr lang="zh-CN" sz="2400" dirty="0"/>
              <a:t>。</a:t>
            </a:r>
          </a:p>
          <a:p>
            <a:pPr algn="just" defTabSz="457200">
              <a:lnSpc>
                <a:spcPct val="150000"/>
              </a:lnSpc>
              <a:defRPr sz="1500">
                <a:solidFill>
                  <a:srgbClr val="333333"/>
                </a:solidFill>
                <a:latin typeface="Helvetica Neue"/>
                <a:ea typeface="Helvetica Neue"/>
                <a:cs typeface="Helvetica Neue"/>
                <a:sym typeface="Helvetica Neue"/>
              </a:defRPr>
            </a:pPr>
            <a:endParaRPr sz="2400" dirty="0"/>
          </a:p>
          <a:p>
            <a:pPr algn="just" defTabSz="457200">
              <a:lnSpc>
                <a:spcPct val="150000"/>
              </a:lnSpc>
              <a:defRPr sz="1500">
                <a:solidFill>
                  <a:srgbClr val="333333"/>
                </a:solidFill>
                <a:latin typeface="Helvetica Neue"/>
                <a:ea typeface="Helvetica Neue"/>
                <a:cs typeface="Helvetica Neue"/>
                <a:sym typeface="Helvetica Neue"/>
              </a:defRPr>
            </a:pPr>
            <a:r>
              <a:rPr sz="2400" dirty="0"/>
              <a:t>第77届金球奖最佳外语片奖等众多国际大奖。</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167"/>
                                        </p:tgtEl>
                                        <p:attrNameLst>
                                          <p:attrName>style.visibility</p:attrName>
                                        </p:attrNameLst>
                                      </p:cBhvr>
                                      <p:to>
                                        <p:strVal val="visible"/>
                                      </p:to>
                                    </p:set>
                                    <p:anim calcmode="lin" valueType="num">
                                      <p:cBhvr>
                                        <p:cTn id="7" dur="750" fill="hold"/>
                                        <p:tgtEl>
                                          <p:spTgt spid="167"/>
                                        </p:tgtEl>
                                        <p:attrNameLst>
                                          <p:attrName>ppt_x</p:attrName>
                                        </p:attrNameLst>
                                      </p:cBhvr>
                                      <p:tavLst>
                                        <p:tav tm="0">
                                          <p:val>
                                            <p:strVal val="1+#ppt_w/2"/>
                                          </p:val>
                                        </p:tav>
                                        <p:tav tm="100000">
                                          <p:val>
                                            <p:strVal val="#ppt_x"/>
                                          </p:val>
                                        </p:tav>
                                      </p:tavLst>
                                    </p:anim>
                                    <p:anim calcmode="lin" valueType="num">
                                      <p:cBhvr>
                                        <p:cTn id="8" dur="750" fill="hold"/>
                                        <p:tgtEl>
                                          <p:spTgt spid="16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163"/>
                                        </p:tgtEl>
                                        <p:attrNameLst>
                                          <p:attrName>style.visibility</p:attrName>
                                        </p:attrNameLst>
                                      </p:cBhvr>
                                      <p:to>
                                        <p:strVal val="visible"/>
                                      </p:to>
                                    </p:set>
                                    <p:animEffect transition="in" filter="wipe(right)">
                                      <p:cBhvr>
                                        <p:cTn id="12" dur="10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2" animBg="1" advAuto="0"/>
      <p:bldP spid="167" grpId="1"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光圈"/>
          <p:cNvSpPr txBox="1"/>
          <p:nvPr/>
        </p:nvSpPr>
        <p:spPr>
          <a:xfrm>
            <a:off x="4872678" y="8324597"/>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179" name="成组"/>
          <p:cNvGrpSpPr/>
          <p:nvPr/>
        </p:nvGrpSpPr>
        <p:grpSpPr>
          <a:xfrm>
            <a:off x="11101925" y="8248376"/>
            <a:ext cx="1214954" cy="757973"/>
            <a:chOff x="-1" y="0"/>
            <a:chExt cx="1214953" cy="757971"/>
          </a:xfrm>
        </p:grpSpPr>
        <p:sp>
          <p:nvSpPr>
            <p:cNvPr id="176"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77"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178"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182" name="成组"/>
          <p:cNvGrpSpPr/>
          <p:nvPr/>
        </p:nvGrpSpPr>
        <p:grpSpPr>
          <a:xfrm>
            <a:off x="139669" y="752796"/>
            <a:ext cx="5462070" cy="567431"/>
            <a:chOff x="-1" y="0"/>
            <a:chExt cx="5462068" cy="567429"/>
          </a:xfrm>
        </p:grpSpPr>
        <p:sp>
          <p:nvSpPr>
            <p:cNvPr id="18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18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183" name="三、影视艺术的特征"/>
          <p:cNvSpPr txBox="1"/>
          <p:nvPr/>
        </p:nvSpPr>
        <p:spPr>
          <a:xfrm>
            <a:off x="1890785" y="2046719"/>
            <a:ext cx="8756904" cy="946562"/>
          </a:xfrm>
          <a:prstGeom prst="rect">
            <a:avLst/>
          </a:prstGeom>
          <a:ln w="12700">
            <a:miter lim="400000"/>
          </a:ln>
        </p:spPr>
        <p:txBody>
          <a:bodyPr wrap="none" lIns="48765" tIns="48765" rIns="48765" bIns="48765">
            <a:spAutoFit/>
          </a:bodyPr>
          <a:lstStyle>
            <a:lvl1pPr defTabSz="457200">
              <a:lnSpc>
                <a:spcPts val="6900"/>
              </a:lnSpc>
              <a:spcBef>
                <a:spcPts val="1200"/>
              </a:spcBef>
              <a:defRPr sz="43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t>   这部电影的创作背景和灵感来源？</a:t>
            </a:r>
          </a:p>
        </p:txBody>
      </p:sp>
      <p:sp>
        <p:nvSpPr>
          <p:cNvPr id="184" name="第三章   影视鉴赏的声画元素…"/>
          <p:cNvSpPr txBox="1"/>
          <p:nvPr/>
        </p:nvSpPr>
        <p:spPr>
          <a:xfrm>
            <a:off x="1612550" y="3377169"/>
            <a:ext cx="9314961" cy="4559300"/>
          </a:xfrm>
          <a:prstGeom prst="rect">
            <a:avLst/>
          </a:prstGeom>
          <a:ln w="12700">
            <a:miter lim="400000"/>
          </a:ln>
        </p:spPr>
        <p:txBody>
          <a:bodyPr lIns="48765" tIns="48765" rIns="48765" bIns="48765">
            <a:spAutoFit/>
          </a:bodyPr>
          <a:lstStyle/>
          <a:p>
            <a:pPr marL="200660" indent="-200660" defTabSz="457200">
              <a:lnSpc>
                <a:spcPts val="4800"/>
              </a:lnSpc>
              <a:spcBef>
                <a:spcPts val="1200"/>
              </a:spcBef>
              <a:buSzPct val="60000"/>
              <a:buBlip>
                <a:blip r:embed="rId2"/>
              </a:buBlip>
              <a:defRPr sz="2000">
                <a:latin typeface="Times"/>
                <a:ea typeface="Times"/>
                <a:cs typeface="Times"/>
                <a:sym typeface="Times"/>
              </a:defRPr>
            </a:pPr>
            <a:r>
              <a:t>  是关于两个家庭的电影。每个家庭有四个成员，很富有</a:t>
            </a:r>
            <a:r>
              <a:rPr lang="zh-CN">
                <a:ea typeface="宋体" panose="02010600030101010101" pitchFamily="2" charset="-122"/>
              </a:rPr>
              <a:t>的朴家</a:t>
            </a:r>
            <a:r>
              <a:t>，很贫穷</a:t>
            </a:r>
            <a:r>
              <a:rPr lang="zh-CN">
                <a:ea typeface="宋体" panose="02010600030101010101" pitchFamily="2" charset="-122"/>
              </a:rPr>
              <a:t>金家</a:t>
            </a:r>
            <a:r>
              <a:t>。</a:t>
            </a:r>
          </a:p>
          <a:p>
            <a:pPr marL="200660" indent="-200660" defTabSz="457200">
              <a:lnSpc>
                <a:spcPts val="4800"/>
              </a:lnSpc>
              <a:spcBef>
                <a:spcPts val="1200"/>
              </a:spcBef>
              <a:buSzPct val="60000"/>
              <a:buBlip>
                <a:blip r:embed="rId2"/>
              </a:buBlip>
              <a:defRPr sz="2000">
                <a:solidFill>
                  <a:srgbClr val="0433FF"/>
                </a:solidFill>
                <a:latin typeface="Times"/>
                <a:ea typeface="Times"/>
                <a:cs typeface="Times"/>
                <a:sym typeface="Times"/>
              </a:defRPr>
            </a:pPr>
            <a:r>
              <a:t>“我”的灵感来自于一个叫</a:t>
            </a:r>
            <a:r>
              <a:rPr>
                <a:solidFill>
                  <a:srgbClr val="FF2600"/>
                </a:solidFill>
              </a:rPr>
              <a:t>“</a:t>
            </a:r>
            <a:r>
              <a:rPr b="1">
                <a:solidFill>
                  <a:srgbClr val="FF2600"/>
                </a:solidFill>
              </a:rPr>
              <a:t>誊印法</a:t>
            </a:r>
            <a:r>
              <a:rPr>
                <a:solidFill>
                  <a:srgbClr val="FF2600"/>
                </a:solidFill>
              </a:rPr>
              <a:t>”</a:t>
            </a:r>
            <a:r>
              <a:t>的艺术概念。</a:t>
            </a:r>
            <a:r>
              <a:rPr>
                <a:solidFill>
                  <a:srgbClr val="000000"/>
                </a:solidFill>
              </a:rPr>
              <a:t>它的意思是，用墨水或其他东西在纸上制造一个图像，然后折叠纸张，这样图像就会印到另一边。这个概念启发了我，其实这部电影最初的名字就是《誊印》。当你看一幅誊印法的作品时，第一眼会觉得两边是一样的。但如果你仔细观察，会发现它们其实并不完全相同。就像我电影中的两个家庭，它们看起来很相似，甚至可能一模一样，但实际上并不是。</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179"/>
                                        </p:tgtEl>
                                        <p:attrNameLst>
                                          <p:attrName>style.visibility</p:attrName>
                                        </p:attrNameLst>
                                      </p:cBhvr>
                                      <p:to>
                                        <p:strVal val="visible"/>
                                      </p:to>
                                    </p:set>
                                    <p:anim calcmode="lin" valueType="num">
                                      <p:cBhvr>
                                        <p:cTn id="7" dur="750" fill="hold"/>
                                        <p:tgtEl>
                                          <p:spTgt spid="179"/>
                                        </p:tgtEl>
                                        <p:attrNameLst>
                                          <p:attrName>ppt_x</p:attrName>
                                        </p:attrNameLst>
                                      </p:cBhvr>
                                      <p:tavLst>
                                        <p:tav tm="0">
                                          <p:val>
                                            <p:strVal val="1+#ppt_w/2"/>
                                          </p:val>
                                        </p:tav>
                                        <p:tav tm="100000">
                                          <p:val>
                                            <p:strVal val="#ppt_x"/>
                                          </p:val>
                                        </p:tav>
                                      </p:tavLst>
                                    </p:anim>
                                    <p:anim calcmode="lin" valueType="num">
                                      <p:cBhvr>
                                        <p:cTn id="8" dur="750" fill="hold"/>
                                        <p:tgtEl>
                                          <p:spTgt spid="17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175"/>
                                        </p:tgtEl>
                                        <p:attrNameLst>
                                          <p:attrName>style.visibility</p:attrName>
                                        </p:attrNameLst>
                                      </p:cBhvr>
                                      <p:to>
                                        <p:strVal val="visible"/>
                                      </p:to>
                                    </p:set>
                                    <p:animEffect transition="in" filter="wipe(right)">
                                      <p:cBhvr>
                                        <p:cTn id="12" dur="10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2" animBg="1" advAuto="0"/>
      <p:bldP spid="179" grpId="1"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光圈"/>
          <p:cNvSpPr txBox="1"/>
          <p:nvPr/>
        </p:nvSpPr>
        <p:spPr>
          <a:xfrm>
            <a:off x="6685353" y="7739363"/>
            <a:ext cx="8261272" cy="1011931"/>
          </a:xfrm>
          <a:prstGeom prst="rect">
            <a:avLst/>
          </a:prstGeom>
          <a:ln w="12700">
            <a:miter lim="400000"/>
          </a:ln>
        </p:spPr>
        <p:txBody>
          <a:bodyPr lIns="48765" tIns="48765" rIns="48765" bIns="48765">
            <a:spAutoFit/>
          </a:bodyPr>
          <a:lstStyle/>
          <a:p>
            <a: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pPr>
            <a:r>
              <a:t>《寄生虫》</a:t>
            </a:r>
          </a:p>
          <a:p>
            <a:pPr algn="ctr">
              <a:defRPr sz="1100">
                <a:latin typeface="微软雅黑" panose="020B0503020204020204" charset="-122"/>
                <a:ea typeface="微软雅黑" panose="020B0503020204020204" charset="-122"/>
                <a:cs typeface="微软雅黑" panose="020B0503020204020204" charset="-122"/>
                <a:sym typeface="微软雅黑" panose="020B0503020204020204" charset="-122"/>
              </a:defRPr>
            </a:pPr>
            <a:r>
              <a:t>导演：奉俊昊</a:t>
            </a:r>
          </a:p>
          <a:p>
            <a:pPr algn="ctr">
              <a:defRPr sz="1100">
                <a:latin typeface="微软雅黑" panose="020B0503020204020204" charset="-122"/>
                <a:ea typeface="微软雅黑" panose="020B0503020204020204" charset="-122"/>
                <a:cs typeface="微软雅黑" panose="020B0503020204020204" charset="-122"/>
                <a:sym typeface="微软雅黑" panose="020B0503020204020204" charset="-122"/>
              </a:defRPr>
            </a:pPr>
            <a:r>
              <a:t>韩国出品</a:t>
            </a:r>
          </a:p>
        </p:txBody>
      </p:sp>
      <p:sp>
        <p:nvSpPr>
          <p:cNvPr id="187" name="“如果提前了解了你所要面对的人生，你是否还会有勇气前来？”…"/>
          <p:cNvSpPr txBox="1"/>
          <p:nvPr/>
        </p:nvSpPr>
        <p:spPr>
          <a:xfrm>
            <a:off x="3049102" y="3372894"/>
            <a:ext cx="7292800" cy="778251"/>
          </a:xfrm>
          <a:prstGeom prst="rect">
            <a:avLst/>
          </a:prstGeom>
          <a:ln w="12700">
            <a:miter lim="400000"/>
          </a:ln>
        </p:spPr>
        <p:txBody>
          <a:bodyPr wrap="none" lIns="48765" tIns="48765" rIns="48765" bIns="48765">
            <a:spAutoFit/>
          </a:bodyPr>
          <a:lstStyle/>
          <a:p>
            <a:pPr defTabSz="457200">
              <a:lnSpc>
                <a:spcPct val="120000"/>
              </a:lnSpc>
              <a:defRPr sz="2000" b="1">
                <a:solidFill>
                  <a:srgbClr val="111111"/>
                </a:solidFill>
                <a:latin typeface="+mn-lt"/>
                <a:ea typeface="+mn-ea"/>
                <a:cs typeface="+mn-cs"/>
                <a:sym typeface="Helvetica"/>
              </a:defRPr>
            </a:pPr>
            <a:r>
              <a:t>“</a:t>
            </a:r>
            <a:r>
              <a:rPr>
                <a:solidFill>
                  <a:srgbClr val="FFFFFF"/>
                </a:solidFill>
              </a:rPr>
              <a:t>如果提前了解了你所要面对的人生，你是否还会有勇气前来？”</a:t>
            </a:r>
          </a:p>
          <a:p>
            <a:pPr algn="r" defTabSz="457200">
              <a:lnSpc>
                <a:spcPct val="120000"/>
              </a:lnSpc>
              <a:defRPr sz="1400">
                <a:solidFill>
                  <a:srgbClr val="FFFFFF"/>
                </a:solidFill>
                <a:latin typeface="+mn-lt"/>
                <a:ea typeface="+mn-ea"/>
                <a:cs typeface="+mn-cs"/>
                <a:sym typeface="Helvetica"/>
              </a:defRPr>
            </a:pPr>
            <a:r>
              <a:t>这是《无问西东》电影中的开篇之问。</a:t>
            </a:r>
          </a:p>
        </p:txBody>
      </p:sp>
      <p:grpSp>
        <p:nvGrpSpPr>
          <p:cNvPr id="190" name="成组"/>
          <p:cNvGrpSpPr/>
          <p:nvPr/>
        </p:nvGrpSpPr>
        <p:grpSpPr>
          <a:xfrm>
            <a:off x="-17647" y="-46893"/>
            <a:ext cx="5462070" cy="567431"/>
            <a:chOff x="-1" y="0"/>
            <a:chExt cx="5462068" cy="567429"/>
          </a:xfrm>
        </p:grpSpPr>
        <p:sp>
          <p:nvSpPr>
            <p:cNvPr id="18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18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191" name="9541582601836_.pic_hd.jpg" descr="9541582601836_.pic_hd.jpg"/>
          <p:cNvPicPr>
            <a:picLocks noChangeAspect="1"/>
          </p:cNvPicPr>
          <p:nvPr/>
        </p:nvPicPr>
        <p:blipFill>
          <a:blip r:embed="rId2"/>
          <a:stretch>
            <a:fillRect/>
          </a:stretch>
        </p:blipFill>
        <p:spPr>
          <a:xfrm>
            <a:off x="3160428" y="0"/>
            <a:ext cx="6683944" cy="9753601"/>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186"/>
                                        </p:tgtEl>
                                        <p:attrNameLst>
                                          <p:attrName>style.visibility</p:attrName>
                                        </p:attrNameLst>
                                      </p:cBhvr>
                                      <p:to>
                                        <p:strVal val="visible"/>
                                      </p:to>
                                    </p:set>
                                    <p:animEffect transition="in" filter="wipe(right)">
                                      <p:cBhvr>
                                        <p:cTn id="7" dur="10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1"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光圈"/>
          <p:cNvSpPr txBox="1"/>
          <p:nvPr/>
        </p:nvSpPr>
        <p:spPr>
          <a:xfrm>
            <a:off x="4872678" y="8048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197" name="成组"/>
          <p:cNvGrpSpPr/>
          <p:nvPr/>
        </p:nvGrpSpPr>
        <p:grpSpPr>
          <a:xfrm>
            <a:off x="11089225" y="7959283"/>
            <a:ext cx="1214954" cy="757973"/>
            <a:chOff x="-1" y="0"/>
            <a:chExt cx="1214953" cy="757971"/>
          </a:xfrm>
        </p:grpSpPr>
        <p:sp>
          <p:nvSpPr>
            <p:cNvPr id="19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9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19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198" name="第三章   影视鉴赏的声画元素…"/>
          <p:cNvSpPr txBox="1"/>
          <p:nvPr/>
        </p:nvSpPr>
        <p:spPr>
          <a:xfrm>
            <a:off x="3517838" y="3458085"/>
            <a:ext cx="7563035" cy="3945631"/>
          </a:xfrm>
          <a:prstGeom prst="rect">
            <a:avLst/>
          </a:prstGeom>
          <a:ln w="12700">
            <a:miter lim="400000"/>
          </a:ln>
        </p:spPr>
        <p:txBody>
          <a:bodyPr lIns="48765" tIns="48765" rIns="48765" bIns="48765">
            <a:spAutoFit/>
          </a:bodyPr>
          <a:lstStyle/>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一、从电影艺术谈</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       </a:t>
            </a:r>
            <a:r>
              <a:rPr sz="2700"/>
              <a:t>镜头、场面、声音、剪辑、风格</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二、故事</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       </a:t>
            </a:r>
            <a:r>
              <a:rPr sz="2700"/>
              <a:t>剧情、角色、场景、意义</a:t>
            </a:r>
          </a:p>
          <a:p>
            <a:pPr defTabSz="457200">
              <a:spcBef>
                <a:spcPts val="1200"/>
              </a:spcBef>
              <a:defRPr sz="3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三、受众</a:t>
            </a:r>
          </a:p>
        </p:txBody>
      </p:sp>
      <p:grpSp>
        <p:nvGrpSpPr>
          <p:cNvPr id="201" name="成组"/>
          <p:cNvGrpSpPr/>
          <p:nvPr/>
        </p:nvGrpSpPr>
        <p:grpSpPr>
          <a:xfrm>
            <a:off x="139669" y="752796"/>
            <a:ext cx="5462070" cy="567431"/>
            <a:chOff x="-1" y="0"/>
            <a:chExt cx="5462068" cy="567429"/>
          </a:xfrm>
        </p:grpSpPr>
        <p:sp>
          <p:nvSpPr>
            <p:cNvPr id="199"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00"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202" name="三、影视艺术的特征"/>
          <p:cNvSpPr txBox="1"/>
          <p:nvPr/>
        </p:nvSpPr>
        <p:spPr>
          <a:xfrm>
            <a:off x="5093091" y="2117199"/>
            <a:ext cx="2749803" cy="946562"/>
          </a:xfrm>
          <a:prstGeom prst="rect">
            <a:avLst/>
          </a:prstGeom>
          <a:ln w="12700">
            <a:miter lim="400000"/>
          </a:ln>
        </p:spPr>
        <p:txBody>
          <a:bodyPr wrap="none" lIns="48765" tIns="48765" rIns="48765" bIns="48765">
            <a:spAutoFit/>
          </a:bodyPr>
          <a:lstStyle>
            <a:lvl1pPr defTabSz="457200">
              <a:lnSpc>
                <a:spcPts val="6900"/>
              </a:lnSpc>
              <a:spcBef>
                <a:spcPts val="1200"/>
              </a:spcBef>
              <a:defRPr sz="43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t>如 何 拉 片</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197"/>
                                        </p:tgtEl>
                                        <p:attrNameLst>
                                          <p:attrName>style.visibility</p:attrName>
                                        </p:attrNameLst>
                                      </p:cBhvr>
                                      <p:to>
                                        <p:strVal val="visible"/>
                                      </p:to>
                                    </p:set>
                                    <p:anim calcmode="lin" valueType="num">
                                      <p:cBhvr>
                                        <p:cTn id="7" dur="750" fill="hold"/>
                                        <p:tgtEl>
                                          <p:spTgt spid="197"/>
                                        </p:tgtEl>
                                        <p:attrNameLst>
                                          <p:attrName>ppt_x</p:attrName>
                                        </p:attrNameLst>
                                      </p:cBhvr>
                                      <p:tavLst>
                                        <p:tav tm="0">
                                          <p:val>
                                            <p:strVal val="1+#ppt_w/2"/>
                                          </p:val>
                                        </p:tav>
                                        <p:tav tm="100000">
                                          <p:val>
                                            <p:strVal val="#ppt_x"/>
                                          </p:val>
                                        </p:tav>
                                      </p:tavLst>
                                    </p:anim>
                                    <p:anim calcmode="lin" valueType="num">
                                      <p:cBhvr>
                                        <p:cTn id="8" dur="750" fill="hold"/>
                                        <p:tgtEl>
                                          <p:spTgt spid="19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193"/>
                                        </p:tgtEl>
                                        <p:attrNameLst>
                                          <p:attrName>style.visibility</p:attrName>
                                        </p:attrNameLst>
                                      </p:cBhvr>
                                      <p:to>
                                        <p:strVal val="visible"/>
                                      </p:to>
                                    </p:set>
                                    <p:animEffect transition="in" filter="wipe(right)">
                                      <p:cBhvr>
                                        <p:cTn id="12" dur="10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2" animBg="1" advAuto="0"/>
      <p:bldP spid="197" grpId="1"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光圈"/>
          <p:cNvSpPr txBox="1"/>
          <p:nvPr/>
        </p:nvSpPr>
        <p:spPr>
          <a:xfrm>
            <a:off x="4872678" y="8048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08" name="成组"/>
          <p:cNvGrpSpPr/>
          <p:nvPr/>
        </p:nvGrpSpPr>
        <p:grpSpPr>
          <a:xfrm>
            <a:off x="11089225" y="7959283"/>
            <a:ext cx="1214954" cy="757973"/>
            <a:chOff x="-1" y="0"/>
            <a:chExt cx="1214953" cy="757971"/>
          </a:xfrm>
        </p:grpSpPr>
        <p:sp>
          <p:nvSpPr>
            <p:cNvPr id="20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0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0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09" name="第三章   影视鉴赏的声画元素…"/>
          <p:cNvSpPr txBox="1"/>
          <p:nvPr/>
        </p:nvSpPr>
        <p:spPr>
          <a:xfrm>
            <a:off x="1873434" y="2253744"/>
            <a:ext cx="9499736" cy="5246112"/>
          </a:xfrm>
          <a:prstGeom prst="rect">
            <a:avLst/>
          </a:prstGeom>
          <a:ln w="12700">
            <a:miter lim="400000"/>
          </a:ln>
        </p:spPr>
        <p:txBody>
          <a:bodyPr lIns="48765" tIns="48765" rIns="48765" bIns="48765">
            <a:spAutoFit/>
          </a:bodyPr>
          <a:lstStyle/>
          <a:p>
            <a:pPr defTabSz="457200">
              <a:lnSpc>
                <a:spcPts val="4800"/>
              </a:lnSpc>
              <a:spcBef>
                <a:spcPts val="1200"/>
              </a:spcBef>
              <a:defRPr sz="2800">
                <a:solidFill>
                  <a:srgbClr val="0433FF"/>
                </a:solidFill>
                <a:latin typeface="华文楷体" panose="02010600040101010101" charset="-122"/>
                <a:ea typeface="华文楷体" panose="02010600040101010101" charset="-122"/>
                <a:cs typeface="华文楷体" panose="02010600040101010101" charset="-122"/>
                <a:sym typeface="华文楷体" panose="02010600040101010101" charset="-122"/>
              </a:defRPr>
            </a:pPr>
            <a:r>
              <a:rPr dirty="0"/>
              <a:t>《寄生虫》的拍摄过程比较集中就像是用显微镜在观察故事中的人物和事件。大约80%到90%的戏发生在富人和穷人的房子里。所以它对细节要求很高，设计这些房子对我来说也很有趣。简单来说，《</a:t>
            </a:r>
            <a:r>
              <a:rPr dirty="0" err="1"/>
              <a:t>寄生虫》是这样一部电影：像是用显微镜来观察家庭，然后你在看的过程中，玻璃片上的细胞受到了生物学家的干扰</a:t>
            </a:r>
            <a:r>
              <a:rPr dirty="0"/>
              <a:t>。</a:t>
            </a:r>
          </a:p>
          <a:p>
            <a:pPr defTabSz="457200">
              <a:lnSpc>
                <a:spcPts val="4800"/>
              </a:lnSpc>
              <a:spcBef>
                <a:spcPts val="1200"/>
              </a:spcBef>
              <a:defRPr sz="2800">
                <a:solidFill>
                  <a:srgbClr val="0433FF"/>
                </a:solidFill>
                <a:latin typeface="华文楷体" panose="02010600040101010101" charset="-122"/>
                <a:ea typeface="华文楷体" panose="02010600040101010101" charset="-122"/>
                <a:cs typeface="华文楷体" panose="02010600040101010101" charset="-122"/>
                <a:sym typeface="华文楷体" panose="02010600040101010101" charset="-122"/>
              </a:defRPr>
            </a:pPr>
            <a:r>
              <a:rPr dirty="0"/>
              <a:t>                                                             </a:t>
            </a:r>
            <a:r>
              <a:rPr b="1" dirty="0">
                <a:latin typeface="Times"/>
                <a:ea typeface="Times"/>
                <a:cs typeface="Times"/>
                <a:sym typeface="Times"/>
              </a:rPr>
              <a:t>         ——</a:t>
            </a:r>
            <a:r>
              <a:rPr dirty="0" err="1">
                <a:latin typeface="Times"/>
                <a:ea typeface="Times"/>
                <a:cs typeface="Times"/>
                <a:sym typeface="Times"/>
              </a:rPr>
              <a:t>奉俊昊</a:t>
            </a:r>
            <a:endParaRPr dirty="0">
              <a:solidFill>
                <a:srgbClr val="333333"/>
              </a:solidFill>
              <a:latin typeface="Times"/>
              <a:ea typeface="Times"/>
              <a:cs typeface="Times"/>
              <a:sym typeface="Times"/>
            </a:endParaRPr>
          </a:p>
          <a:p>
            <a:pPr defTabSz="457200">
              <a:lnSpc>
                <a:spcPts val="4800"/>
              </a:lnSpc>
              <a:spcBef>
                <a:spcPts val="1200"/>
              </a:spcBef>
              <a:defRPr sz="2800">
                <a:latin typeface="Times"/>
                <a:ea typeface="Times"/>
                <a:cs typeface="Times"/>
                <a:sym typeface="Times"/>
              </a:defRPr>
            </a:pPr>
            <a:r>
              <a:rPr dirty="0"/>
              <a:t>          </a:t>
            </a:r>
          </a:p>
        </p:txBody>
      </p:sp>
      <p:grpSp>
        <p:nvGrpSpPr>
          <p:cNvPr id="212" name="成组"/>
          <p:cNvGrpSpPr/>
          <p:nvPr/>
        </p:nvGrpSpPr>
        <p:grpSpPr>
          <a:xfrm>
            <a:off x="139669" y="752796"/>
            <a:ext cx="5462070" cy="567431"/>
            <a:chOff x="-1" y="0"/>
            <a:chExt cx="5462068" cy="567429"/>
          </a:xfrm>
        </p:grpSpPr>
        <p:sp>
          <p:nvSpPr>
            <p:cNvPr id="21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1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08"/>
                                        </p:tgtEl>
                                        <p:attrNameLst>
                                          <p:attrName>style.visibility</p:attrName>
                                        </p:attrNameLst>
                                      </p:cBhvr>
                                      <p:to>
                                        <p:strVal val="visible"/>
                                      </p:to>
                                    </p:set>
                                    <p:anim calcmode="lin" valueType="num">
                                      <p:cBhvr>
                                        <p:cTn id="7" dur="750" fill="hold"/>
                                        <p:tgtEl>
                                          <p:spTgt spid="208"/>
                                        </p:tgtEl>
                                        <p:attrNameLst>
                                          <p:attrName>ppt_x</p:attrName>
                                        </p:attrNameLst>
                                      </p:cBhvr>
                                      <p:tavLst>
                                        <p:tav tm="0">
                                          <p:val>
                                            <p:strVal val="1+#ppt_w/2"/>
                                          </p:val>
                                        </p:tav>
                                        <p:tav tm="100000">
                                          <p:val>
                                            <p:strVal val="#ppt_x"/>
                                          </p:val>
                                        </p:tav>
                                      </p:tavLst>
                                    </p:anim>
                                    <p:anim calcmode="lin" valueType="num">
                                      <p:cBhvr>
                                        <p:cTn id="8" dur="750" fill="hold"/>
                                        <p:tgtEl>
                                          <p:spTgt spid="20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04"/>
                                        </p:tgtEl>
                                        <p:attrNameLst>
                                          <p:attrName>style.visibility</p:attrName>
                                        </p:attrNameLst>
                                      </p:cBhvr>
                                      <p:to>
                                        <p:strVal val="visible"/>
                                      </p:to>
                                    </p:set>
                                    <p:animEffect transition="in" filter="wipe(right)">
                                      <p:cBhvr>
                                        <p:cTn id="12" dur="10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2" animBg="1" advAuto="0"/>
      <p:bldP spid="208" grpId="1"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4872678" y="8324597"/>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18" name="成组"/>
          <p:cNvGrpSpPr/>
          <p:nvPr/>
        </p:nvGrpSpPr>
        <p:grpSpPr>
          <a:xfrm>
            <a:off x="11101925" y="8248376"/>
            <a:ext cx="1214954" cy="757973"/>
            <a:chOff x="-1" y="0"/>
            <a:chExt cx="1214953" cy="757971"/>
          </a:xfrm>
        </p:grpSpPr>
        <p:sp>
          <p:nvSpPr>
            <p:cNvPr id="21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1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1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19" name="第三章   影视鉴赏的声画元素…"/>
          <p:cNvSpPr txBox="1"/>
          <p:nvPr/>
        </p:nvSpPr>
        <p:spPr>
          <a:xfrm>
            <a:off x="2004621" y="2971243"/>
            <a:ext cx="8995558" cy="4949190"/>
          </a:xfrm>
          <a:prstGeom prst="rect">
            <a:avLst/>
          </a:prstGeom>
          <a:ln w="12700">
            <a:miter lim="400000"/>
          </a:ln>
        </p:spPr>
        <p:txBody>
          <a:bodyPr lIns="48765" tIns="48765" rIns="48765" bIns="48765">
            <a:spAutoFit/>
          </a:bodyPr>
          <a:lstStyle/>
          <a:p>
            <a:pPr marL="203200" marR="660400" indent="-203200" algn="just" defTabSz="457200">
              <a:lnSpc>
                <a:spcPct val="200000"/>
              </a:lnSpc>
              <a:spcBef>
                <a:spcPts val="1600"/>
              </a:spcBef>
              <a:defRPr sz="2600">
                <a:solidFill>
                  <a:srgbClr val="007AAA"/>
                </a:solidFill>
                <a:latin typeface="Times"/>
                <a:ea typeface="Times"/>
                <a:cs typeface="Times"/>
                <a:sym typeface="Times"/>
              </a:defRPr>
            </a:pPr>
            <a:r>
              <a:t> </a:t>
            </a:r>
            <a:r>
              <a:rPr sz="1700">
                <a:solidFill>
                  <a:srgbClr val="333333"/>
                </a:solidFill>
                <a:latin typeface="Helvetica Neue"/>
                <a:ea typeface="Helvetica Neue"/>
                <a:cs typeface="Helvetica Neue"/>
                <a:sym typeface="Helvetica Neue"/>
              </a:rPr>
              <a:t>      “</a:t>
            </a:r>
            <a:r>
              <a:rPr sz="2000">
                <a:latin typeface="Helvetica Neue"/>
                <a:ea typeface="Helvetica Neue"/>
                <a:cs typeface="Helvetica Neue"/>
                <a:sym typeface="Helvetica Neue"/>
              </a:rPr>
              <a:t>阶级之间的冲突，或者说贫富两极分化，本来就是世界性的问题，在韩国也一样存在。电影就是尽力去反映他或她所处的时代。”</a:t>
            </a:r>
          </a:p>
          <a:p>
            <a:pPr marL="203200" marR="660400" indent="-203200" algn="just" defTabSz="457200">
              <a:lnSpc>
                <a:spcPct val="150000"/>
              </a:lnSpc>
              <a:spcBef>
                <a:spcPts val="1600"/>
              </a:spcBef>
              <a:defRPr sz="2000">
                <a:solidFill>
                  <a:srgbClr val="333333"/>
                </a:solidFill>
                <a:latin typeface="Helvetica Neue"/>
                <a:ea typeface="Helvetica Neue"/>
                <a:cs typeface="Helvetica Neue"/>
                <a:sym typeface="Helvetica Neue"/>
              </a:defRPr>
            </a:pPr>
            <a:r>
              <a:t>       在影片中，穷人的儿子找到了一份工作，就是在富人的家庭里做家教。于是，两个家庭开始了互动，怪异的事情就随之发生了。实际上，现在富人和穷人能处在一起的机会很少了，因为他们生活在不同的轨道上。但如果你是一个在富人家庭做家教的穷人，那你就有机会看到这两个世界。这是一个很好的故事起点。虽然这部电影讨论了贫富差距这样严肃的问题，但它其实是一部犯罪惊悚片，也是一部黑色喜剧。是一部</a:t>
            </a:r>
            <a:r>
              <a:rPr>
                <a:solidFill>
                  <a:srgbClr val="000000"/>
                </a:solidFill>
              </a:rPr>
              <a:t>类型片</a:t>
            </a:r>
            <a:r>
              <a:t>，所以你能在里面找到很多电影的乐趣。</a:t>
            </a:r>
          </a:p>
        </p:txBody>
      </p:sp>
      <p:grpSp>
        <p:nvGrpSpPr>
          <p:cNvPr id="222" name="成组"/>
          <p:cNvGrpSpPr/>
          <p:nvPr/>
        </p:nvGrpSpPr>
        <p:grpSpPr>
          <a:xfrm>
            <a:off x="139669" y="752796"/>
            <a:ext cx="5462070" cy="567431"/>
            <a:chOff x="-1" y="0"/>
            <a:chExt cx="5462068" cy="567429"/>
          </a:xfrm>
        </p:grpSpPr>
        <p:sp>
          <p:nvSpPr>
            <p:cNvPr id="22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2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223" name="三、影视艺术的特征"/>
          <p:cNvSpPr txBox="1"/>
          <p:nvPr/>
        </p:nvSpPr>
        <p:spPr>
          <a:xfrm>
            <a:off x="1830052" y="1665722"/>
            <a:ext cx="10319699" cy="901820"/>
          </a:xfrm>
          <a:prstGeom prst="rect">
            <a:avLst/>
          </a:prstGeom>
          <a:ln w="12700">
            <a:miter lim="400000"/>
          </a:ln>
        </p:spPr>
        <p:txBody>
          <a:bodyPr lIns="48765" tIns="48765" rIns="48765" bIns="48765">
            <a:spAutoFit/>
          </a:bodyPr>
          <a:lstStyle>
            <a:lvl1pPr defTabSz="457200">
              <a:lnSpc>
                <a:spcPts val="6900"/>
              </a:lnSpc>
              <a:spcBef>
                <a:spcPts val="1200"/>
              </a:spcBef>
              <a:defRPr sz="30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t>通过怎样的结构来解决贫富差距这个时代的核心症结之一？</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18"/>
                                        </p:tgtEl>
                                        <p:attrNameLst>
                                          <p:attrName>style.visibility</p:attrName>
                                        </p:attrNameLst>
                                      </p:cBhvr>
                                      <p:to>
                                        <p:strVal val="visible"/>
                                      </p:to>
                                    </p:set>
                                    <p:anim calcmode="lin" valueType="num">
                                      <p:cBhvr>
                                        <p:cTn id="7" dur="750" fill="hold"/>
                                        <p:tgtEl>
                                          <p:spTgt spid="218"/>
                                        </p:tgtEl>
                                        <p:attrNameLst>
                                          <p:attrName>ppt_x</p:attrName>
                                        </p:attrNameLst>
                                      </p:cBhvr>
                                      <p:tavLst>
                                        <p:tav tm="0">
                                          <p:val>
                                            <p:strVal val="1+#ppt_w/2"/>
                                          </p:val>
                                        </p:tav>
                                        <p:tav tm="100000">
                                          <p:val>
                                            <p:strVal val="#ppt_x"/>
                                          </p:val>
                                        </p:tav>
                                      </p:tavLst>
                                    </p:anim>
                                    <p:anim calcmode="lin" valueType="num">
                                      <p:cBhvr>
                                        <p:cTn id="8" dur="750" fill="hold"/>
                                        <p:tgtEl>
                                          <p:spTgt spid="21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2" animBg="1" advAuto="0"/>
      <p:bldP spid="218" grpId="1"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296" name="个人简介"/>
          <p:cNvSpPr txBox="1"/>
          <p:nvPr/>
        </p:nvSpPr>
        <p:spPr>
          <a:xfrm>
            <a:off x="-408005" y="11723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297"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301" name="成组"/>
          <p:cNvGrpSpPr/>
          <p:nvPr/>
        </p:nvGrpSpPr>
        <p:grpSpPr>
          <a:xfrm>
            <a:off x="11279725" y="8512683"/>
            <a:ext cx="1214954" cy="757973"/>
            <a:chOff x="-1" y="0"/>
            <a:chExt cx="1214953" cy="757971"/>
          </a:xfrm>
        </p:grpSpPr>
        <p:sp>
          <p:nvSpPr>
            <p:cNvPr id="29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9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30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302" name="电影如何讲故事"/>
          <p:cNvSpPr txBox="1"/>
          <p:nvPr/>
        </p:nvSpPr>
        <p:spPr>
          <a:xfrm>
            <a:off x="4548634" y="4090372"/>
            <a:ext cx="4110731" cy="897631"/>
          </a:xfrm>
          <a:prstGeom prst="rect">
            <a:avLst/>
          </a:prstGeom>
          <a:ln w="12700">
            <a:miter lim="400000"/>
          </a:ln>
        </p:spPr>
        <p:txBody>
          <a:bodyPr wrap="none" lIns="48765" tIns="48765" rIns="48765" bIns="48765">
            <a:spAutoFit/>
          </a:bodyPr>
          <a:lstStyle>
            <a:lvl1pPr algn="ctr">
              <a:lnSpc>
                <a:spcPct val="90000"/>
              </a:lnSpc>
              <a:defRPr sz="4500">
                <a:latin typeface="Calibri Light" panose="020F0302020204030204"/>
                <a:ea typeface="Calibri Light" panose="020F0302020204030204"/>
                <a:cs typeface="Calibri Light" panose="020F0302020204030204"/>
                <a:sym typeface="Calibri Light" panose="020F0302020204030204"/>
              </a:defRPr>
            </a:lvl1pPr>
          </a:lstStyle>
          <a:p>
            <a:r>
              <a:t>电影如何讲故事</a:t>
            </a:r>
          </a:p>
        </p:txBody>
      </p:sp>
      <p:sp>
        <p:nvSpPr>
          <p:cNvPr id="303" name="镜  头"/>
          <p:cNvSpPr txBox="1"/>
          <p:nvPr/>
        </p:nvSpPr>
        <p:spPr>
          <a:xfrm>
            <a:off x="5634578" y="5420895"/>
            <a:ext cx="1938845" cy="846831"/>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lvl1pPr>
          </a:lstStyle>
          <a:p>
            <a:r>
              <a:t> 镜  头</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296"/>
                                        </p:tgtEl>
                                        <p:attrNameLst>
                                          <p:attrName>style.visibility</p:attrName>
                                        </p:attrNameLst>
                                      </p:cBhvr>
                                      <p:to>
                                        <p:strVal val="visible"/>
                                      </p:to>
                                    </p:set>
                                    <p:animEffect transition="in" filter="dissolve">
                                      <p:cBhvr>
                                        <p:cTn id="7" dur="1000"/>
                                        <p:tgtEl>
                                          <p:spTgt spid="296"/>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301"/>
                                        </p:tgtEl>
                                        <p:attrNameLst>
                                          <p:attrName>style.visibility</p:attrName>
                                        </p:attrNameLst>
                                      </p:cBhvr>
                                      <p:to>
                                        <p:strVal val="visible"/>
                                      </p:to>
                                    </p:set>
                                    <p:anim calcmode="lin" valueType="num">
                                      <p:cBhvr>
                                        <p:cTn id="11" dur="750" fill="hold"/>
                                        <p:tgtEl>
                                          <p:spTgt spid="301"/>
                                        </p:tgtEl>
                                        <p:attrNameLst>
                                          <p:attrName>ppt_x</p:attrName>
                                        </p:attrNameLst>
                                      </p:cBhvr>
                                      <p:tavLst>
                                        <p:tav tm="0">
                                          <p:val>
                                            <p:strVal val="1+#ppt_w/2"/>
                                          </p:val>
                                        </p:tav>
                                        <p:tav tm="100000">
                                          <p:val>
                                            <p:strVal val="#ppt_x"/>
                                          </p:val>
                                        </p:tav>
                                      </p:tavLst>
                                    </p:anim>
                                    <p:anim calcmode="lin" valueType="num">
                                      <p:cBhvr>
                                        <p:cTn id="12" dur="750" fill="hold"/>
                                        <p:tgtEl>
                                          <p:spTgt spid="30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297"/>
                                        </p:tgtEl>
                                        <p:attrNameLst>
                                          <p:attrName>style.visibility</p:attrName>
                                        </p:attrNameLst>
                                      </p:cBhvr>
                                      <p:to>
                                        <p:strVal val="visible"/>
                                      </p:to>
                                    </p:set>
                                    <p:animEffect transition="in" filter="wipe(right)">
                                      <p:cBhvr>
                                        <p:cTn id="16" dur="10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 grpId="1" animBg="1" advAuto="0"/>
      <p:bldP spid="297" grpId="3" animBg="1" advAuto="0"/>
      <p:bldP spid="301" grpId="2" bldLvl="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基本镜头类型"/>
          <p:cNvSpPr txBox="1">
            <a:spLocks noGrp="1"/>
          </p:cNvSpPr>
          <p:nvPr>
            <p:ph type="title"/>
          </p:nvPr>
        </p:nvSpPr>
        <p:spPr>
          <a:xfrm>
            <a:off x="3870325" y="3373120"/>
            <a:ext cx="5616575" cy="5241290"/>
          </a:xfrm>
          <a:prstGeom prst="rect">
            <a:avLst/>
          </a:prstGeom>
        </p:spPr>
        <p:txBody>
          <a:bodyPr>
            <a:normAutofit fontScale="90000"/>
          </a:bodyPr>
          <a:lstStyle/>
          <a:p>
            <a:pPr algn="l">
              <a:defRPr sz="5800"/>
            </a:pPr>
            <a:r>
              <a:rPr lang="en-US" dirty="0"/>
              <a:t>    </a:t>
            </a:r>
            <a:r>
              <a:rPr dirty="0" err="1"/>
              <a:t>第一节</a:t>
            </a:r>
            <a:r>
              <a:rPr dirty="0"/>
              <a:t>  </a:t>
            </a:r>
            <a:r>
              <a:rPr dirty="0" err="1"/>
              <a:t>镜头语言</a:t>
            </a:r>
            <a:endParaRPr dirty="0"/>
          </a:p>
          <a:p>
            <a:pPr>
              <a:defRPr sz="4500"/>
            </a:pPr>
            <a:endParaRPr dirty="0"/>
          </a:p>
          <a:p>
            <a:pPr marL="451485" indent="-451485" algn="ctr">
              <a:lnSpc>
                <a:spcPct val="200000"/>
              </a:lnSpc>
              <a:buSzPct val="60000"/>
              <a:defRPr sz="3400"/>
            </a:pPr>
            <a:r>
              <a:rPr dirty="0" err="1"/>
              <a:t>一、场面调度</a:t>
            </a:r>
            <a:endParaRPr dirty="0"/>
          </a:p>
          <a:p>
            <a:pPr marL="451485" indent="-451485" algn="ctr">
              <a:lnSpc>
                <a:spcPct val="200000"/>
              </a:lnSpc>
              <a:buSzPct val="60000"/>
              <a:defRPr sz="3400"/>
            </a:pPr>
            <a:r>
              <a:rPr dirty="0" err="1"/>
              <a:t>二、镜头景别</a:t>
            </a:r>
            <a:endParaRPr dirty="0"/>
          </a:p>
          <a:p>
            <a:pPr marL="451485" indent="-451485" algn="ctr">
              <a:lnSpc>
                <a:spcPct val="200000"/>
              </a:lnSpc>
              <a:buSzPct val="60000"/>
              <a:defRPr sz="3400"/>
            </a:pPr>
            <a:r>
              <a:rPr dirty="0" err="1"/>
              <a:t>三、镜头角度</a:t>
            </a:r>
            <a:endParaRPr dirty="0"/>
          </a:p>
          <a:p>
            <a:pPr marL="451485" indent="-451485" algn="ctr">
              <a:lnSpc>
                <a:spcPct val="200000"/>
              </a:lnSpc>
              <a:buSzPct val="60000"/>
              <a:defRPr sz="3400"/>
            </a:pPr>
            <a:r>
              <a:rPr dirty="0" err="1"/>
              <a:t>四、镜头构图</a:t>
            </a:r>
            <a:endParaRPr dirty="0"/>
          </a:p>
          <a:p>
            <a:pPr marL="451485" indent="-451485" algn="ctr">
              <a:lnSpc>
                <a:spcPct val="200000"/>
              </a:lnSpc>
              <a:buSzPct val="60000"/>
              <a:defRPr sz="3400"/>
            </a:pPr>
            <a:r>
              <a:rPr dirty="0" err="1"/>
              <a:t>五、镜头运动</a:t>
            </a:r>
            <a:endParaRPr dirty="0"/>
          </a:p>
          <a:p>
            <a:pPr marL="451485" indent="-451485" algn="ctr">
              <a:lnSpc>
                <a:spcPct val="200000"/>
              </a:lnSpc>
              <a:buSzPct val="60000"/>
              <a:defRPr sz="3400"/>
            </a:pPr>
            <a:r>
              <a:rPr dirty="0" err="1"/>
              <a:t>六、几种特殊镜头</a:t>
            </a:r>
            <a:endParaRPr dirty="0"/>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基本镜头类型"/>
          <p:cNvSpPr txBox="1">
            <a:spLocks noGrp="1"/>
          </p:cNvSpPr>
          <p:nvPr>
            <p:ph type="title"/>
          </p:nvPr>
        </p:nvSpPr>
        <p:spPr>
          <a:xfrm>
            <a:off x="1625598" y="2991299"/>
            <a:ext cx="9753604" cy="2546776"/>
          </a:xfrm>
          <a:prstGeom prst="rect">
            <a:avLst/>
          </a:prstGeom>
        </p:spPr>
        <p:txBody>
          <a:bodyPr/>
          <a:lstStyle>
            <a:lvl1pPr>
              <a:defRPr sz="4500"/>
            </a:lvl1pPr>
          </a:lstStyle>
          <a:p>
            <a:r>
              <a:rPr dirty="0" err="1">
                <a:latin typeface="Arial Black" panose="020B0A04020102020204" pitchFamily="34" charset="0"/>
              </a:rPr>
              <a:t>导演精心设计每一个镜头</a:t>
            </a:r>
            <a:r>
              <a:rPr lang="zh-CN" dirty="0">
                <a:latin typeface="黑体" panose="02010609060101010101" pitchFamily="49" charset="-122"/>
                <a:ea typeface="黑体" panose="02010609060101010101" pitchFamily="49" charset="-122"/>
              </a:rPr>
              <a:t>语言</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 name="成组"/>
          <p:cNvGrpSpPr/>
          <p:nvPr/>
        </p:nvGrpSpPr>
        <p:grpSpPr>
          <a:xfrm>
            <a:off x="139669" y="752796"/>
            <a:ext cx="5462070" cy="567431"/>
            <a:chOff x="-1" y="0"/>
            <a:chExt cx="5462068" cy="567429"/>
          </a:xfrm>
        </p:grpSpPr>
        <p:sp>
          <p:nvSpPr>
            <p:cNvPr id="234"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35"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37" name="9911585817468_.pic.jpg" descr="9911585817468_.pic.jpg"/>
          <p:cNvPicPr>
            <a:picLocks noChangeAspect="1"/>
          </p:cNvPicPr>
          <p:nvPr/>
        </p:nvPicPr>
        <p:blipFill>
          <a:blip r:embed="rId2"/>
          <a:stretch>
            <a:fillRect/>
          </a:stretch>
        </p:blipFill>
        <p:spPr>
          <a:xfrm>
            <a:off x="3692119" y="451197"/>
            <a:ext cx="7311547" cy="9753601"/>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4872678" y="8324597"/>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18" name="成组"/>
          <p:cNvGrpSpPr/>
          <p:nvPr/>
        </p:nvGrpSpPr>
        <p:grpSpPr>
          <a:xfrm>
            <a:off x="11101925" y="8248376"/>
            <a:ext cx="1214954" cy="757973"/>
            <a:chOff x="-1" y="0"/>
            <a:chExt cx="1214953" cy="757971"/>
          </a:xfrm>
        </p:grpSpPr>
        <p:sp>
          <p:nvSpPr>
            <p:cNvPr id="21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1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1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19" name="第三章   影视鉴赏的声画元素…"/>
          <p:cNvSpPr txBox="1"/>
          <p:nvPr/>
        </p:nvSpPr>
        <p:spPr>
          <a:xfrm>
            <a:off x="2089150" y="3441700"/>
            <a:ext cx="9273540" cy="3461385"/>
          </a:xfrm>
          <a:prstGeom prst="rect">
            <a:avLst/>
          </a:prstGeom>
          <a:ln w="12700">
            <a:miter lim="400000"/>
          </a:ln>
        </p:spPr>
        <p:txBody>
          <a:bodyPr wrap="square" lIns="48765" tIns="48765" rIns="48765" bIns="48765">
            <a:spAutoFit/>
          </a:bodyPr>
          <a:lstStyle/>
          <a:p>
            <a:pPr marL="203200" marR="660400" indent="-203200" algn="just" defTabSz="457200">
              <a:lnSpc>
                <a:spcPct val="200000"/>
              </a:lnSpc>
              <a:spcBef>
                <a:spcPts val="1600"/>
              </a:spcBef>
              <a:defRPr sz="2600">
                <a:solidFill>
                  <a:srgbClr val="007AAA"/>
                </a:solidFill>
                <a:latin typeface="Times"/>
                <a:ea typeface="Times"/>
                <a:cs typeface="Times"/>
                <a:sym typeface="Times"/>
              </a:defRPr>
            </a:pPr>
            <a:r>
              <a:rPr lang="en-US" sz="2400"/>
              <a:t> 1</a:t>
            </a:r>
            <a:r>
              <a:rPr lang="zh-CN" altLang="en-US" sz="2400">
                <a:ea typeface="宋体" panose="02010600030101010101" pitchFamily="2" charset="-122"/>
              </a:rPr>
              <a:t>、镜头是指安装在摄影机上的光学镜头（</a:t>
            </a:r>
            <a:r>
              <a:rPr lang="en-US" altLang="zh-CN" sz="2400">
                <a:ea typeface="宋体" panose="02010600030101010101" pitchFamily="2" charset="-122"/>
              </a:rPr>
              <a:t>LENS</a:t>
            </a:r>
            <a:r>
              <a:rPr lang="zh-CN" altLang="en-US" sz="2400">
                <a:ea typeface="宋体" panose="02010600030101010101" pitchFamily="2" charset="-122"/>
              </a:rPr>
              <a:t>）</a:t>
            </a:r>
          </a:p>
          <a:p>
            <a:pPr marL="203200" marR="660400" indent="-203200" algn="just" defTabSz="457200">
              <a:lnSpc>
                <a:spcPct val="200000"/>
              </a:lnSpc>
              <a:spcBef>
                <a:spcPts val="1600"/>
              </a:spcBef>
              <a:defRPr sz="2600">
                <a:solidFill>
                  <a:srgbClr val="007AAA"/>
                </a:solidFill>
                <a:latin typeface="Times"/>
                <a:ea typeface="Times"/>
                <a:cs typeface="Times"/>
                <a:sym typeface="Times"/>
              </a:defRPr>
            </a:pPr>
            <a:r>
              <a:rPr lang="en-US" altLang="zh-CN" sz="2400">
                <a:ea typeface="宋体" panose="02010600030101010101" pitchFamily="2" charset="-122"/>
              </a:rPr>
              <a:t> 2</a:t>
            </a:r>
            <a:r>
              <a:rPr lang="zh-CN" altLang="en-US" sz="2400">
                <a:ea typeface="宋体" panose="02010600030101010101" pitchFamily="2" charset="-122"/>
              </a:rPr>
              <a:t>、指摄影机从开机到停机的一次性连续拍摄的画面（</a:t>
            </a:r>
            <a:r>
              <a:rPr lang="en-US" altLang="zh-CN" sz="2400">
                <a:ea typeface="宋体" panose="02010600030101010101" pitchFamily="2" charset="-122"/>
              </a:rPr>
              <a:t>TAKE</a:t>
            </a:r>
            <a:r>
              <a:rPr lang="zh-CN" altLang="en-US" sz="2400">
                <a:ea typeface="宋体" panose="02010600030101010101" pitchFamily="2" charset="-122"/>
              </a:rPr>
              <a:t>）</a:t>
            </a:r>
          </a:p>
          <a:p>
            <a:pPr marL="203200" marR="660400" indent="-203200" algn="just" defTabSz="457200">
              <a:lnSpc>
                <a:spcPct val="200000"/>
              </a:lnSpc>
              <a:spcBef>
                <a:spcPts val="1600"/>
              </a:spcBef>
              <a:defRPr sz="2600">
                <a:solidFill>
                  <a:srgbClr val="007AAA"/>
                </a:solidFill>
                <a:latin typeface="Times"/>
                <a:ea typeface="Times"/>
                <a:cs typeface="Times"/>
                <a:sym typeface="Times"/>
              </a:defRPr>
            </a:pPr>
            <a:r>
              <a:rPr lang="en-US" altLang="zh-CN" sz="2400">
                <a:ea typeface="宋体" panose="02010600030101010101" pitchFamily="2" charset="-122"/>
              </a:rPr>
              <a:t> 3</a:t>
            </a:r>
            <a:r>
              <a:rPr lang="zh-CN" altLang="en-US" sz="2400">
                <a:ea typeface="宋体" panose="02010600030101010101" pitchFamily="2" charset="-122"/>
              </a:rPr>
              <a:t>、是指在完成剪辑的影片中，一个没有经过再次裁剪的，包含时空连续画面的片断（</a:t>
            </a:r>
            <a:r>
              <a:rPr lang="en-US" altLang="zh-CN" sz="2400">
                <a:ea typeface="宋体" panose="02010600030101010101" pitchFamily="2" charset="-122"/>
              </a:rPr>
              <a:t>SHOT</a:t>
            </a:r>
            <a:r>
              <a:rPr lang="zh-CN" altLang="en-US" sz="2400">
                <a:ea typeface="宋体" panose="02010600030101010101" pitchFamily="2" charset="-122"/>
              </a:rPr>
              <a:t>）</a:t>
            </a:r>
          </a:p>
        </p:txBody>
      </p:sp>
      <p:grpSp>
        <p:nvGrpSpPr>
          <p:cNvPr id="222" name="成组"/>
          <p:cNvGrpSpPr/>
          <p:nvPr/>
        </p:nvGrpSpPr>
        <p:grpSpPr>
          <a:xfrm>
            <a:off x="139669" y="752796"/>
            <a:ext cx="5462070" cy="567431"/>
            <a:chOff x="-1" y="0"/>
            <a:chExt cx="5462068" cy="567429"/>
          </a:xfrm>
        </p:grpSpPr>
        <p:sp>
          <p:nvSpPr>
            <p:cNvPr id="22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2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sp>
        <p:nvSpPr>
          <p:cNvPr id="223" name="三、影视艺术的特征"/>
          <p:cNvSpPr txBox="1"/>
          <p:nvPr/>
        </p:nvSpPr>
        <p:spPr>
          <a:xfrm>
            <a:off x="2245977" y="2256907"/>
            <a:ext cx="10319699" cy="981075"/>
          </a:xfrm>
          <a:prstGeom prst="rect">
            <a:avLst/>
          </a:prstGeom>
          <a:ln w="12700">
            <a:miter lim="400000"/>
          </a:ln>
        </p:spPr>
        <p:txBody>
          <a:bodyPr lIns="48765" tIns="48765" rIns="48765" bIns="48765">
            <a:spAutoFit/>
          </a:bodyPr>
          <a:lstStyle>
            <a:lvl1pPr defTabSz="457200">
              <a:lnSpc>
                <a:spcPts val="6900"/>
              </a:lnSpc>
              <a:spcBef>
                <a:spcPts val="1200"/>
              </a:spcBef>
              <a:defRPr sz="30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rPr lang="zh-CN"/>
              <a:t>镜头语言</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18"/>
                                        </p:tgtEl>
                                        <p:attrNameLst>
                                          <p:attrName>style.visibility</p:attrName>
                                        </p:attrNameLst>
                                      </p:cBhvr>
                                      <p:to>
                                        <p:strVal val="visible"/>
                                      </p:to>
                                    </p:set>
                                    <p:anim calcmode="lin" valueType="num">
                                      <p:cBhvr>
                                        <p:cTn id="7" dur="750" fill="hold"/>
                                        <p:tgtEl>
                                          <p:spTgt spid="218"/>
                                        </p:tgtEl>
                                        <p:attrNameLst>
                                          <p:attrName>ppt_x</p:attrName>
                                        </p:attrNameLst>
                                      </p:cBhvr>
                                      <p:tavLst>
                                        <p:tav tm="0">
                                          <p:val>
                                            <p:strVal val="1+#ppt_w/2"/>
                                          </p:val>
                                        </p:tav>
                                        <p:tav tm="100000">
                                          <p:val>
                                            <p:strVal val="#ppt_x"/>
                                          </p:val>
                                        </p:tav>
                                      </p:tavLst>
                                    </p:anim>
                                    <p:anim calcmode="lin" valueType="num">
                                      <p:cBhvr>
                                        <p:cTn id="8" dur="750" fill="hold"/>
                                        <p:tgtEl>
                                          <p:spTgt spid="21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2" animBg="1" advAuto="0"/>
      <p:bldP spid="218" grpId="1" bldLvl="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4872678" y="8324597"/>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18" name="成组"/>
          <p:cNvGrpSpPr/>
          <p:nvPr/>
        </p:nvGrpSpPr>
        <p:grpSpPr>
          <a:xfrm>
            <a:off x="11101925" y="8248376"/>
            <a:ext cx="1214954" cy="757973"/>
            <a:chOff x="-1" y="0"/>
            <a:chExt cx="1214953" cy="757971"/>
          </a:xfrm>
        </p:grpSpPr>
        <p:sp>
          <p:nvSpPr>
            <p:cNvPr id="21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1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1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19" name="第三章   影视鉴赏的声画元素…"/>
          <p:cNvSpPr txBox="1"/>
          <p:nvPr/>
        </p:nvSpPr>
        <p:spPr>
          <a:xfrm>
            <a:off x="2149475" y="3391535"/>
            <a:ext cx="9821846" cy="3912870"/>
          </a:xfrm>
          <a:prstGeom prst="rect">
            <a:avLst/>
          </a:prstGeom>
          <a:ln w="12700">
            <a:miter lim="400000"/>
          </a:ln>
        </p:spPr>
        <p:txBody>
          <a:bodyPr wrap="square" lIns="48765" tIns="48765" rIns="48765" bIns="48765">
            <a:spAutoFit/>
          </a:bodyPr>
          <a:lstStyle/>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solidFill>
                  <a:schemeClr val="tx1"/>
                </a:solidFill>
                <a:latin typeface="+mn-lt"/>
                <a:ea typeface="宋体" panose="02010600030101010101" pitchFamily="2" charset="-122"/>
                <a:cs typeface="+mn-cs"/>
                <a:sym typeface="+mn-ea"/>
              </a:rPr>
              <a:t>自然语言最小单位：</a:t>
            </a:r>
            <a:r>
              <a:rPr lang="zh-CN" sz="2400" dirty="0">
                <a:solidFill>
                  <a:schemeClr val="tx1"/>
                </a:solidFill>
                <a:latin typeface="+mn-lt"/>
                <a:ea typeface="宋体" panose="02010600030101010101" pitchFamily="2" charset="-122"/>
                <a:cs typeface="+mn-cs"/>
                <a:sym typeface="+mn-ea"/>
              </a:rPr>
              <a:t>字、词</a:t>
            </a:r>
            <a:endParaRPr lang="zh-CN" sz="2400" dirty="0">
              <a:ea typeface="宋体" panose="02010600030101010101" pitchFamily="2" charset="-122"/>
              <a:sym typeface="+mn-ea"/>
            </a:endParaRPr>
          </a:p>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solidFill>
                  <a:schemeClr val="tx1"/>
                </a:solidFill>
                <a:latin typeface="+mn-lt"/>
                <a:ea typeface="宋体" panose="02010600030101010101" pitchFamily="2" charset="-122"/>
                <a:cs typeface="+mn-cs"/>
                <a:sym typeface="+mn-ea"/>
              </a:rPr>
              <a:t>影视语言最小单位：</a:t>
            </a:r>
            <a:r>
              <a:rPr lang="en-US" altLang="zh-CN" sz="2400" dirty="0">
                <a:solidFill>
                  <a:schemeClr val="tx1"/>
                </a:solidFill>
                <a:latin typeface="+mn-lt"/>
                <a:ea typeface="宋体" panose="02010600030101010101" pitchFamily="2" charset="-122"/>
                <a:cs typeface="+mn-cs"/>
                <a:sym typeface="+mn-ea"/>
              </a:rPr>
              <a:t> </a:t>
            </a:r>
            <a:r>
              <a:rPr lang="zh-CN" altLang="en-US" sz="2400" dirty="0">
                <a:solidFill>
                  <a:schemeClr val="tx1"/>
                </a:solidFill>
                <a:latin typeface="+mn-lt"/>
                <a:ea typeface="宋体" panose="02010600030101010101" pitchFamily="2" charset="-122"/>
                <a:cs typeface="+mn-cs"/>
                <a:sym typeface="+mn-ea"/>
              </a:rPr>
              <a:t>镜头</a:t>
            </a:r>
            <a:endParaRPr lang="zh-CN" altLang="en-US" sz="2400" dirty="0">
              <a:ea typeface="宋体" panose="02010600030101010101" pitchFamily="2" charset="-122"/>
            </a:endParaRPr>
          </a:p>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solidFill>
                  <a:schemeClr val="tx1"/>
                </a:solidFill>
                <a:latin typeface="+mn-lt"/>
                <a:ea typeface="宋体" panose="02010600030101010101" pitchFamily="2" charset="-122"/>
                <a:cs typeface="+mn-cs"/>
                <a:sym typeface="+mn-ea"/>
              </a:rPr>
              <a:t>自然语言：</a:t>
            </a:r>
          </a:p>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solidFill>
                  <a:schemeClr val="tx1"/>
                </a:solidFill>
                <a:uFillTx/>
                <a:ea typeface="宋体" panose="02010600030101010101" pitchFamily="2" charset="-122"/>
              </a:rPr>
              <a:t>词</a:t>
            </a:r>
            <a:r>
              <a:rPr lang="en-US" altLang="zh-CN" sz="2400" dirty="0">
                <a:solidFill>
                  <a:schemeClr val="tx1"/>
                </a:solidFill>
                <a:uFillTx/>
                <a:ea typeface="宋体" panose="02010600030101010101" pitchFamily="2" charset="-122"/>
              </a:rPr>
              <a:t>+</a:t>
            </a:r>
            <a:r>
              <a:rPr lang="zh-CN" altLang="en-US" sz="2400" dirty="0">
                <a:solidFill>
                  <a:schemeClr val="tx1"/>
                </a:solidFill>
                <a:uFillTx/>
                <a:ea typeface="宋体" panose="02010600030101010101" pitchFamily="2" charset="-122"/>
              </a:rPr>
              <a:t>词</a:t>
            </a:r>
            <a:r>
              <a:rPr lang="en-US" altLang="zh-CN" sz="2400" dirty="0">
                <a:solidFill>
                  <a:schemeClr val="tx1"/>
                </a:solidFill>
                <a:uFillTx/>
                <a:ea typeface="宋体" panose="02010600030101010101" pitchFamily="2" charset="-122"/>
              </a:rPr>
              <a:t>=</a:t>
            </a:r>
            <a:r>
              <a:rPr lang="zh-CN" altLang="en-US" sz="2400" dirty="0">
                <a:solidFill>
                  <a:schemeClr val="tx1"/>
                </a:solidFill>
                <a:uFillTx/>
                <a:ea typeface="宋体" panose="02010600030101010101" pitchFamily="2" charset="-122"/>
              </a:rPr>
              <a:t>句子              句子</a:t>
            </a:r>
            <a:r>
              <a:rPr lang="en-US" altLang="zh-CN" sz="2400" dirty="0">
                <a:solidFill>
                  <a:schemeClr val="tx1"/>
                </a:solidFill>
                <a:uFillTx/>
                <a:ea typeface="宋体" panose="02010600030101010101" pitchFamily="2" charset="-122"/>
              </a:rPr>
              <a:t>+</a:t>
            </a:r>
            <a:r>
              <a:rPr lang="zh-CN" altLang="en-US" sz="2400" dirty="0">
                <a:solidFill>
                  <a:schemeClr val="tx1"/>
                </a:solidFill>
                <a:uFillTx/>
                <a:ea typeface="宋体" panose="02010600030101010101" pitchFamily="2" charset="-122"/>
              </a:rPr>
              <a:t>句子</a:t>
            </a:r>
            <a:r>
              <a:rPr lang="en-US" altLang="zh-CN" sz="2400" dirty="0">
                <a:solidFill>
                  <a:schemeClr val="tx1"/>
                </a:solidFill>
                <a:uFillTx/>
                <a:ea typeface="宋体" panose="02010600030101010101" pitchFamily="2" charset="-122"/>
              </a:rPr>
              <a:t>=</a:t>
            </a:r>
            <a:r>
              <a:rPr lang="zh-CN" altLang="en-US" sz="2400" dirty="0">
                <a:solidFill>
                  <a:schemeClr val="tx1"/>
                </a:solidFill>
                <a:uFillTx/>
                <a:ea typeface="宋体" panose="02010600030101010101" pitchFamily="2" charset="-122"/>
              </a:rPr>
              <a:t>段落                        段落</a:t>
            </a:r>
            <a:r>
              <a:rPr lang="en-US" altLang="zh-CN" sz="2400" dirty="0">
                <a:solidFill>
                  <a:schemeClr val="tx1"/>
                </a:solidFill>
                <a:uFillTx/>
                <a:ea typeface="宋体" panose="02010600030101010101" pitchFamily="2" charset="-122"/>
              </a:rPr>
              <a:t>+</a:t>
            </a:r>
            <a:r>
              <a:rPr lang="zh-CN" altLang="en-US" sz="2400" dirty="0">
                <a:solidFill>
                  <a:schemeClr val="tx1"/>
                </a:solidFill>
                <a:uFillTx/>
                <a:ea typeface="宋体" panose="02010600030101010101" pitchFamily="2" charset="-122"/>
              </a:rPr>
              <a:t>段落</a:t>
            </a:r>
            <a:r>
              <a:rPr lang="en-US" altLang="zh-CN" sz="2400" dirty="0">
                <a:solidFill>
                  <a:schemeClr val="tx1"/>
                </a:solidFill>
                <a:uFillTx/>
                <a:ea typeface="宋体" panose="02010600030101010101" pitchFamily="2" charset="-122"/>
              </a:rPr>
              <a:t>=</a:t>
            </a:r>
            <a:r>
              <a:rPr lang="zh-CN" altLang="en-US" sz="2400" dirty="0">
                <a:solidFill>
                  <a:schemeClr val="tx1"/>
                </a:solidFill>
                <a:uFillTx/>
                <a:ea typeface="宋体" panose="02010600030101010101" pitchFamily="2" charset="-122"/>
              </a:rPr>
              <a:t>文章</a:t>
            </a:r>
          </a:p>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solidFill>
                  <a:srgbClr val="FF0000"/>
                </a:solidFill>
                <a:latin typeface="+mn-lt"/>
                <a:ea typeface="宋体" panose="02010600030101010101" pitchFamily="2" charset="-122"/>
                <a:cs typeface="+mn-cs"/>
                <a:sym typeface="+mn-ea"/>
              </a:rPr>
              <a:t>影视语言：</a:t>
            </a:r>
          </a:p>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ea typeface="宋体" panose="02010600030101010101" pitchFamily="2" charset="-122"/>
              </a:rPr>
              <a:t>镜头</a:t>
            </a:r>
            <a:r>
              <a:rPr lang="en-US" altLang="zh-CN" sz="2400" dirty="0">
                <a:ea typeface="宋体" panose="02010600030101010101" pitchFamily="2" charset="-122"/>
              </a:rPr>
              <a:t>+</a:t>
            </a:r>
            <a:r>
              <a:rPr lang="zh-CN" altLang="en-US" sz="2400" dirty="0">
                <a:ea typeface="宋体" panose="02010600030101010101" pitchFamily="2" charset="-122"/>
              </a:rPr>
              <a:t>镜头</a:t>
            </a:r>
            <a:r>
              <a:rPr lang="en-US" altLang="zh-CN" sz="2400" dirty="0">
                <a:ea typeface="宋体" panose="02010600030101010101" pitchFamily="2" charset="-122"/>
              </a:rPr>
              <a:t>=</a:t>
            </a:r>
            <a:r>
              <a:rPr lang="zh-CN" altLang="en-US" sz="2400" dirty="0">
                <a:ea typeface="宋体" panose="02010600030101010101" pitchFamily="2" charset="-122"/>
              </a:rPr>
              <a:t>蒙太奇句子   句子</a:t>
            </a:r>
            <a:r>
              <a:rPr lang="en-US" altLang="zh-CN" sz="2400" dirty="0">
                <a:ea typeface="宋体" panose="02010600030101010101" pitchFamily="2" charset="-122"/>
              </a:rPr>
              <a:t>+</a:t>
            </a:r>
            <a:r>
              <a:rPr lang="zh-CN" altLang="en-US" sz="2400" dirty="0">
                <a:ea typeface="宋体" panose="02010600030101010101" pitchFamily="2" charset="-122"/>
              </a:rPr>
              <a:t>句子</a:t>
            </a:r>
            <a:r>
              <a:rPr lang="en-US" altLang="zh-CN" sz="2400" dirty="0">
                <a:ea typeface="宋体" panose="02010600030101010101" pitchFamily="2" charset="-122"/>
              </a:rPr>
              <a:t>=</a:t>
            </a:r>
            <a:r>
              <a:rPr lang="zh-CN" altLang="en-US" sz="2400" dirty="0">
                <a:ea typeface="宋体" panose="02010600030101010101" pitchFamily="2" charset="-122"/>
              </a:rPr>
              <a:t>场景    场景</a:t>
            </a:r>
            <a:r>
              <a:rPr lang="en-US" altLang="zh-CN" sz="2400" dirty="0">
                <a:ea typeface="宋体" panose="02010600030101010101" pitchFamily="2" charset="-122"/>
              </a:rPr>
              <a:t>+</a:t>
            </a:r>
            <a:r>
              <a:rPr lang="zh-CN" altLang="en-US" sz="2400" dirty="0">
                <a:ea typeface="宋体" panose="02010600030101010101" pitchFamily="2" charset="-122"/>
              </a:rPr>
              <a:t>场景</a:t>
            </a:r>
            <a:r>
              <a:rPr lang="en-US" altLang="zh-CN" sz="2400" dirty="0">
                <a:ea typeface="宋体" panose="02010600030101010101" pitchFamily="2" charset="-122"/>
              </a:rPr>
              <a:t>=</a:t>
            </a:r>
            <a:r>
              <a:rPr lang="zh-CN" altLang="en-US" sz="2400" dirty="0">
                <a:ea typeface="宋体" panose="02010600030101010101" pitchFamily="2" charset="-122"/>
              </a:rPr>
              <a:t>影片</a:t>
            </a:r>
          </a:p>
          <a:p>
            <a:pPr marL="203200" marR="660400" indent="-203200" algn="just" defTabSz="457200">
              <a:lnSpc>
                <a:spcPct val="100000"/>
              </a:lnSpc>
              <a:spcBef>
                <a:spcPts val="1600"/>
              </a:spcBef>
              <a:defRPr sz="2600">
                <a:solidFill>
                  <a:srgbClr val="007AAA"/>
                </a:solidFill>
                <a:latin typeface="Times"/>
                <a:ea typeface="Times"/>
                <a:cs typeface="Times"/>
                <a:sym typeface="Times"/>
              </a:defRPr>
            </a:pPr>
            <a:r>
              <a:rPr lang="zh-CN" altLang="en-US" sz="2400" dirty="0">
                <a:ea typeface="宋体" panose="02010600030101010101" pitchFamily="2" charset="-122"/>
              </a:rPr>
              <a:t>语法</a:t>
            </a:r>
            <a:r>
              <a:rPr lang="en-US" altLang="zh-CN" sz="2400" dirty="0">
                <a:ea typeface="宋体" panose="02010600030101010101" pitchFamily="2" charset="-122"/>
              </a:rPr>
              <a:t>=</a:t>
            </a:r>
            <a:r>
              <a:rPr lang="zh-CN" altLang="en-US" sz="2400" dirty="0">
                <a:ea typeface="宋体" panose="02010600030101010101" pitchFamily="2" charset="-122"/>
                <a:sym typeface="+mn-ea"/>
              </a:rPr>
              <a:t>蒙太奇     修辞</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光影色彩等     标点符号</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光学切换</a:t>
            </a:r>
          </a:p>
        </p:txBody>
      </p:sp>
      <p:grpSp>
        <p:nvGrpSpPr>
          <p:cNvPr id="222" name="成组"/>
          <p:cNvGrpSpPr/>
          <p:nvPr/>
        </p:nvGrpSpPr>
        <p:grpSpPr>
          <a:xfrm>
            <a:off x="139669" y="752796"/>
            <a:ext cx="5462070" cy="567431"/>
            <a:chOff x="-1" y="0"/>
            <a:chExt cx="5462068" cy="567429"/>
          </a:xfrm>
        </p:grpSpPr>
        <p:sp>
          <p:nvSpPr>
            <p:cNvPr id="22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2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sp>
        <p:nvSpPr>
          <p:cNvPr id="223" name="三、影视艺术的特征"/>
          <p:cNvSpPr txBox="1"/>
          <p:nvPr/>
        </p:nvSpPr>
        <p:spPr>
          <a:xfrm>
            <a:off x="5135227" y="1865747"/>
            <a:ext cx="10319699" cy="981075"/>
          </a:xfrm>
          <a:prstGeom prst="rect">
            <a:avLst/>
          </a:prstGeom>
          <a:ln w="12700">
            <a:miter lim="400000"/>
          </a:ln>
        </p:spPr>
        <p:txBody>
          <a:bodyPr lIns="48765" tIns="48765" rIns="48765" bIns="48765">
            <a:spAutoFit/>
          </a:bodyPr>
          <a:lstStyle>
            <a:lvl1pPr defTabSz="457200">
              <a:lnSpc>
                <a:spcPts val="6900"/>
              </a:lnSpc>
              <a:spcBef>
                <a:spcPts val="1200"/>
              </a:spcBef>
              <a:defRPr sz="30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rPr lang="zh-CN"/>
              <a:t>镜头语言</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18"/>
                                        </p:tgtEl>
                                        <p:attrNameLst>
                                          <p:attrName>style.visibility</p:attrName>
                                        </p:attrNameLst>
                                      </p:cBhvr>
                                      <p:to>
                                        <p:strVal val="visible"/>
                                      </p:to>
                                    </p:set>
                                    <p:anim calcmode="lin" valueType="num">
                                      <p:cBhvr>
                                        <p:cTn id="7" dur="750" fill="hold"/>
                                        <p:tgtEl>
                                          <p:spTgt spid="218"/>
                                        </p:tgtEl>
                                        <p:attrNameLst>
                                          <p:attrName>ppt_x</p:attrName>
                                        </p:attrNameLst>
                                      </p:cBhvr>
                                      <p:tavLst>
                                        <p:tav tm="0">
                                          <p:val>
                                            <p:strVal val="1+#ppt_w/2"/>
                                          </p:val>
                                        </p:tav>
                                        <p:tav tm="100000">
                                          <p:val>
                                            <p:strVal val="#ppt_x"/>
                                          </p:val>
                                        </p:tav>
                                      </p:tavLst>
                                    </p:anim>
                                    <p:anim calcmode="lin" valueType="num">
                                      <p:cBhvr>
                                        <p:cTn id="8" dur="750" fill="hold"/>
                                        <p:tgtEl>
                                          <p:spTgt spid="21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2" animBg="1" advAuto="0"/>
      <p:bldP spid="218" grpId="1" bldLvl="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1" name="成组"/>
          <p:cNvGrpSpPr/>
          <p:nvPr/>
        </p:nvGrpSpPr>
        <p:grpSpPr>
          <a:xfrm>
            <a:off x="139669" y="752796"/>
            <a:ext cx="5462070" cy="567431"/>
            <a:chOff x="-1" y="0"/>
            <a:chExt cx="5462068" cy="567429"/>
          </a:xfrm>
        </p:grpSpPr>
        <p:sp>
          <p:nvSpPr>
            <p:cNvPr id="229"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30"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32" name="01.mp4" descr="01.mp4"/>
          <p:cNvPicPr/>
          <p:nvPr>
            <a:videoFile r:link="rId2"/>
            <p:extLst>
              <p:ext uri="{DAA4B4D4-6D71-4841-9C94-3DE7FCFB9230}">
                <p14:media xmlns:p14="http://schemas.microsoft.com/office/powerpoint/2010/main" r:link="rId1"/>
              </p:ext>
            </p:extLst>
          </p:nvPr>
        </p:nvPicPr>
        <p:blipFill>
          <a:blip r:embed="rId4"/>
          <a:stretch>
            <a:fillRect/>
          </a:stretch>
        </p:blipFill>
        <p:spPr>
          <a:xfrm>
            <a:off x="0" y="0"/>
            <a:ext cx="13004800" cy="8843011"/>
          </a:xfrm>
          <a:prstGeom prst="rect">
            <a:avLst/>
          </a:prstGeom>
          <a:ln w="12700">
            <a:miter lim="400000"/>
            <a:headEnd/>
            <a:tailEnd/>
          </a:ln>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32"/>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4872678" y="8324597"/>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18" name="成组"/>
          <p:cNvGrpSpPr/>
          <p:nvPr/>
        </p:nvGrpSpPr>
        <p:grpSpPr>
          <a:xfrm>
            <a:off x="11101925" y="8248376"/>
            <a:ext cx="1214954" cy="757973"/>
            <a:chOff x="-1" y="0"/>
            <a:chExt cx="1214953" cy="757971"/>
          </a:xfrm>
        </p:grpSpPr>
        <p:sp>
          <p:nvSpPr>
            <p:cNvPr id="21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1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1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19" name="第三章   影视鉴赏的声画元素…"/>
          <p:cNvSpPr txBox="1"/>
          <p:nvPr/>
        </p:nvSpPr>
        <p:spPr>
          <a:xfrm>
            <a:off x="1712068" y="2606040"/>
            <a:ext cx="10604812" cy="5700016"/>
          </a:xfrm>
          <a:prstGeom prst="rect">
            <a:avLst/>
          </a:prstGeom>
          <a:ln w="12700">
            <a:miter lim="400000"/>
          </a:ln>
        </p:spPr>
        <p:txBody>
          <a:bodyPr wrap="square" lIns="48765" tIns="48765" rIns="48765" bIns="48765">
            <a:spAutoFit/>
          </a:bodyPr>
          <a:lstStyle/>
          <a:p>
            <a:pPr marL="203200" marR="660400" indent="-203200" algn="just" defTabSz="457200">
              <a:lnSpc>
                <a:spcPct val="150000"/>
              </a:lnSpc>
              <a:spcBef>
                <a:spcPts val="1600"/>
              </a:spcBef>
              <a:defRPr sz="2600">
                <a:solidFill>
                  <a:srgbClr val="007AAA"/>
                </a:solidFill>
                <a:latin typeface="Times"/>
                <a:ea typeface="Times"/>
                <a:cs typeface="Times"/>
                <a:sym typeface="Times"/>
              </a:defRPr>
            </a:pPr>
            <a:r>
              <a:rPr lang="zh-CN" altLang="en-US" sz="2400" dirty="0">
                <a:solidFill>
                  <a:schemeClr val="tx1"/>
                </a:solidFill>
                <a:ea typeface="宋体" panose="02010600030101010101" pitchFamily="2" charset="-122"/>
              </a:rPr>
              <a:t>镜头调度是场面调度的基本组成部分。本意是将一个行动舞台化。</a:t>
            </a:r>
          </a:p>
          <a:p>
            <a:pPr marL="203200" marR="660400" lvl="0" indent="-203200" algn="just" defTabSz="457200">
              <a:lnSpc>
                <a:spcPct val="150000"/>
              </a:lnSpc>
              <a:spcBef>
                <a:spcPts val="1600"/>
              </a:spcBef>
              <a:buNone/>
              <a:defRPr sz="2600">
                <a:solidFill>
                  <a:srgbClr val="007AAA"/>
                </a:solidFill>
                <a:latin typeface="Times"/>
                <a:ea typeface="Times"/>
                <a:cs typeface="Times"/>
                <a:sym typeface="Times"/>
              </a:defRPr>
            </a:pPr>
            <a:r>
              <a:rPr lang="zh-CN" sz="2400" dirty="0">
                <a:solidFill>
                  <a:schemeClr val="tx1"/>
                </a:solidFill>
                <a:ea typeface="宋体" panose="02010600030101010101" pitchFamily="2" charset="-122"/>
              </a:rPr>
              <a:t>场面调度包括</a:t>
            </a:r>
            <a:r>
              <a:rPr lang="zh-CN" sz="2400" dirty="0">
                <a:solidFill>
                  <a:srgbClr val="FF0000"/>
                </a:solidFill>
                <a:ea typeface="宋体" panose="02010600030101010101" pitchFamily="2" charset="-122"/>
              </a:rPr>
              <a:t>演员调度</a:t>
            </a:r>
            <a:r>
              <a:rPr lang="zh-CN" sz="2400" dirty="0">
                <a:solidFill>
                  <a:schemeClr val="tx1"/>
                </a:solidFill>
                <a:ea typeface="宋体" panose="02010600030101010101" pitchFamily="2" charset="-122"/>
              </a:rPr>
              <a:t>和</a:t>
            </a:r>
            <a:r>
              <a:rPr lang="zh-CN" sz="2400" dirty="0">
                <a:solidFill>
                  <a:srgbClr val="FF0000"/>
                </a:solidFill>
                <a:ea typeface="宋体" panose="02010600030101010101" pitchFamily="2" charset="-122"/>
              </a:rPr>
              <a:t>镜头调度</a:t>
            </a:r>
            <a:r>
              <a:rPr lang="zh-CN" sz="2400" dirty="0">
                <a:solidFill>
                  <a:schemeClr val="tx1"/>
                </a:solidFill>
                <a:ea typeface="宋体" panose="02010600030101010101" pitchFamily="2" charset="-122"/>
              </a:rPr>
              <a:t>。</a:t>
            </a:r>
          </a:p>
          <a:p>
            <a:pPr marL="660400" marR="660400" lvl="1" indent="-203200" algn="just" defTabSz="457200">
              <a:lnSpc>
                <a:spcPct val="150000"/>
              </a:lnSpc>
              <a:spcBef>
                <a:spcPts val="1600"/>
              </a:spcBef>
              <a:buNone/>
              <a:defRPr sz="2600">
                <a:solidFill>
                  <a:srgbClr val="007AAA"/>
                </a:solidFill>
                <a:latin typeface="Times"/>
                <a:ea typeface="Times"/>
                <a:cs typeface="Times"/>
                <a:sym typeface="Times"/>
              </a:defRPr>
            </a:pPr>
            <a:r>
              <a:rPr lang="en-US" altLang="zh-CN" sz="2400" dirty="0">
                <a:solidFill>
                  <a:srgbClr val="FF0000"/>
                </a:solidFill>
                <a:ea typeface="宋体" panose="02010600030101010101" pitchFamily="2" charset="-122"/>
                <a:sym typeface="+mn-ea"/>
              </a:rPr>
              <a:t>  </a:t>
            </a:r>
            <a:r>
              <a:rPr lang="zh-CN" sz="2400" dirty="0">
                <a:solidFill>
                  <a:srgbClr val="FF0000"/>
                </a:solidFill>
                <a:ea typeface="宋体" panose="02010600030101010101" pitchFamily="2" charset="-122"/>
                <a:sym typeface="+mn-ea"/>
              </a:rPr>
              <a:t>演员调度</a:t>
            </a:r>
            <a:r>
              <a:rPr lang="zh-CN" sz="2400" dirty="0">
                <a:solidFill>
                  <a:schemeClr val="tx1"/>
                </a:solidFill>
                <a:ea typeface="宋体" panose="02010600030101010101" pitchFamily="2" charset="-122"/>
                <a:sym typeface="+mn-ea"/>
              </a:rPr>
              <a:t>：指导演对镜头内演员的位置、运动，与其他演员、环          境的相互空间关系的安排，形成造型、景别上的静态与动态变化 ，从而揭示人物关系及情绪变化，传达特定创作意图。</a:t>
            </a:r>
            <a:endParaRPr lang="zh-CN" sz="2400" dirty="0">
              <a:solidFill>
                <a:schemeClr val="tx1"/>
              </a:solidFill>
              <a:ea typeface="宋体" panose="02010600030101010101" pitchFamily="2" charset="-122"/>
            </a:endParaRPr>
          </a:p>
          <a:p>
            <a:pPr marL="203200" marR="660400" lvl="0" indent="-203200" algn="just" defTabSz="457200">
              <a:lnSpc>
                <a:spcPct val="200000"/>
              </a:lnSpc>
              <a:spcBef>
                <a:spcPts val="1600"/>
              </a:spcBef>
              <a:buNone/>
              <a:defRPr sz="2600">
                <a:solidFill>
                  <a:srgbClr val="007AAA"/>
                </a:solidFill>
                <a:latin typeface="Times"/>
                <a:ea typeface="Times"/>
                <a:cs typeface="Times"/>
                <a:sym typeface="Times"/>
              </a:defRPr>
            </a:pPr>
            <a:r>
              <a:rPr lang="zh-CN" sz="2400" dirty="0">
                <a:solidFill>
                  <a:schemeClr val="tx1"/>
                </a:solidFill>
                <a:ea typeface="宋体" panose="02010600030101010101" pitchFamily="2" charset="-122"/>
              </a:rPr>
              <a:t>      </a:t>
            </a:r>
            <a:r>
              <a:rPr lang="zh-CN" sz="2400" dirty="0">
                <a:solidFill>
                  <a:srgbClr val="FF0000"/>
                </a:solidFill>
                <a:uFillTx/>
                <a:ea typeface="宋体" panose="02010600030101010101" pitchFamily="2" charset="-122"/>
              </a:rPr>
              <a:t>  镜头调度：</a:t>
            </a:r>
            <a:r>
              <a:rPr lang="zh-CN" sz="2400" dirty="0">
                <a:solidFill>
                  <a:schemeClr val="tx1"/>
                </a:solidFill>
                <a:ea typeface="宋体" panose="02010600030101010101" pitchFamily="2" charset="-122"/>
              </a:rPr>
              <a:t>指导演通过摄影机的不同景别、视角、运动构图、景深的变换，获得不同的视点、角度、视距、构图、景深的镜头画面，展示特定的人物状态，人物关系和环境气氛，包括布景、灯光的空间处理。</a:t>
            </a:r>
            <a:endParaRPr lang="zh-CN" altLang="en-US" sz="2400" dirty="0">
              <a:solidFill>
                <a:schemeClr val="tx1"/>
              </a:solidFill>
              <a:ea typeface="宋体" panose="02010600030101010101" pitchFamily="2" charset="-122"/>
            </a:endParaRPr>
          </a:p>
        </p:txBody>
      </p:sp>
      <p:grpSp>
        <p:nvGrpSpPr>
          <p:cNvPr id="222" name="成组"/>
          <p:cNvGrpSpPr/>
          <p:nvPr/>
        </p:nvGrpSpPr>
        <p:grpSpPr>
          <a:xfrm>
            <a:off x="139669" y="752796"/>
            <a:ext cx="5462070" cy="567431"/>
            <a:chOff x="-1" y="0"/>
            <a:chExt cx="5462068" cy="567429"/>
          </a:xfrm>
        </p:grpSpPr>
        <p:sp>
          <p:nvSpPr>
            <p:cNvPr id="22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2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sp>
        <p:nvSpPr>
          <p:cNvPr id="223" name="三、影视艺术的特征"/>
          <p:cNvSpPr txBox="1"/>
          <p:nvPr/>
        </p:nvSpPr>
        <p:spPr>
          <a:xfrm>
            <a:off x="1876407" y="1625082"/>
            <a:ext cx="10319699" cy="981075"/>
          </a:xfrm>
          <a:prstGeom prst="rect">
            <a:avLst/>
          </a:prstGeom>
          <a:ln w="12700">
            <a:miter lim="400000"/>
          </a:ln>
        </p:spPr>
        <p:txBody>
          <a:bodyPr lIns="48765" tIns="48765" rIns="48765" bIns="48765">
            <a:spAutoFit/>
          </a:bodyPr>
          <a:lstStyle>
            <a:lvl1pPr defTabSz="457200">
              <a:lnSpc>
                <a:spcPts val="6900"/>
              </a:lnSpc>
              <a:spcBef>
                <a:spcPts val="1200"/>
              </a:spcBef>
              <a:defRPr sz="30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rPr lang="zh-CN">
                <a:solidFill>
                  <a:schemeClr val="accent1"/>
                </a:solidFill>
                <a:uFillTx/>
              </a:rPr>
              <a:t>场面调度</a:t>
            </a:r>
            <a:r>
              <a:rPr lang="zh-CN"/>
              <a:t>：</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18"/>
                                        </p:tgtEl>
                                        <p:attrNameLst>
                                          <p:attrName>style.visibility</p:attrName>
                                        </p:attrNameLst>
                                      </p:cBhvr>
                                      <p:to>
                                        <p:strVal val="visible"/>
                                      </p:to>
                                    </p:set>
                                    <p:anim calcmode="lin" valueType="num">
                                      <p:cBhvr>
                                        <p:cTn id="7" dur="750" fill="hold"/>
                                        <p:tgtEl>
                                          <p:spTgt spid="218"/>
                                        </p:tgtEl>
                                        <p:attrNameLst>
                                          <p:attrName>ppt_x</p:attrName>
                                        </p:attrNameLst>
                                      </p:cBhvr>
                                      <p:tavLst>
                                        <p:tav tm="0">
                                          <p:val>
                                            <p:strVal val="1+#ppt_w/2"/>
                                          </p:val>
                                        </p:tav>
                                        <p:tav tm="100000">
                                          <p:val>
                                            <p:strVal val="#ppt_x"/>
                                          </p:val>
                                        </p:tav>
                                      </p:tavLst>
                                    </p:anim>
                                    <p:anim calcmode="lin" valueType="num">
                                      <p:cBhvr>
                                        <p:cTn id="8" dur="750" fill="hold"/>
                                        <p:tgtEl>
                                          <p:spTgt spid="21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2" animBg="1" advAuto="0"/>
      <p:bldP spid="218" grpId="1" bldLvl="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1" name="成组"/>
          <p:cNvGrpSpPr/>
          <p:nvPr/>
        </p:nvGrpSpPr>
        <p:grpSpPr>
          <a:xfrm>
            <a:off x="139669" y="752796"/>
            <a:ext cx="5462070" cy="567431"/>
            <a:chOff x="-1" y="0"/>
            <a:chExt cx="5462068" cy="567429"/>
          </a:xfrm>
        </p:grpSpPr>
        <p:sp>
          <p:nvSpPr>
            <p:cNvPr id="239"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40"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42" name="9931585817470_.pic.jpg" descr="9931585817470_.pic.jpg"/>
          <p:cNvPicPr>
            <a:picLocks noChangeAspect="1"/>
          </p:cNvPicPr>
          <p:nvPr/>
        </p:nvPicPr>
        <p:blipFill>
          <a:blip r:embed="rId2"/>
          <a:srcRect b="31169"/>
          <a:stretch>
            <a:fillRect/>
          </a:stretch>
        </p:blipFill>
        <p:spPr>
          <a:xfrm>
            <a:off x="6206690" y="1104403"/>
            <a:ext cx="6442506" cy="8456405"/>
          </a:xfrm>
          <a:prstGeom prst="rect">
            <a:avLst/>
          </a:prstGeom>
          <a:ln w="12700">
            <a:miter lim="400000"/>
            <a:headEnd/>
            <a:tailEnd/>
          </a:ln>
        </p:spPr>
      </p:pic>
      <p:pic>
        <p:nvPicPr>
          <p:cNvPr id="243" name="9931585817470_.pic.jpg" descr="9931585817470_.pic.jpg"/>
          <p:cNvPicPr>
            <a:picLocks noChangeAspect="1"/>
          </p:cNvPicPr>
          <p:nvPr/>
        </p:nvPicPr>
        <p:blipFill>
          <a:blip r:embed="rId2"/>
          <a:srcRect l="11266" t="69849" r="11266"/>
          <a:stretch>
            <a:fillRect/>
          </a:stretch>
        </p:blipFill>
        <p:spPr>
          <a:xfrm>
            <a:off x="1937790" y="3205508"/>
            <a:ext cx="3962106" cy="2940796"/>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成组"/>
          <p:cNvGrpSpPr/>
          <p:nvPr/>
        </p:nvGrpSpPr>
        <p:grpSpPr>
          <a:xfrm>
            <a:off x="139669" y="752796"/>
            <a:ext cx="5462070" cy="567431"/>
            <a:chOff x="-1" y="0"/>
            <a:chExt cx="5462068" cy="567429"/>
          </a:xfrm>
        </p:grpSpPr>
        <p:sp>
          <p:nvSpPr>
            <p:cNvPr id="25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5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53" name="10021585817493_.pic_hd.jpg" descr="10021585817493_.pic_hd.jpg"/>
          <p:cNvPicPr>
            <a:picLocks noChangeAspect="1"/>
          </p:cNvPicPr>
          <p:nvPr/>
        </p:nvPicPr>
        <p:blipFill>
          <a:blip r:embed="rId2"/>
          <a:stretch>
            <a:fillRect/>
          </a:stretch>
        </p:blipFill>
        <p:spPr>
          <a:xfrm>
            <a:off x="645978" y="1992783"/>
            <a:ext cx="11396762" cy="7597843"/>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7" name="成组"/>
          <p:cNvGrpSpPr/>
          <p:nvPr/>
        </p:nvGrpSpPr>
        <p:grpSpPr>
          <a:xfrm>
            <a:off x="139669" y="752796"/>
            <a:ext cx="5462070" cy="567431"/>
            <a:chOff x="-1" y="0"/>
            <a:chExt cx="5462068" cy="567429"/>
          </a:xfrm>
        </p:grpSpPr>
        <p:sp>
          <p:nvSpPr>
            <p:cNvPr id="255"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56"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58" name="10031585817684_.pic_hd.jpg" descr="10031585817684_.pic_hd.jpg"/>
          <p:cNvPicPr>
            <a:picLocks noChangeAspect="1"/>
          </p:cNvPicPr>
          <p:nvPr/>
        </p:nvPicPr>
        <p:blipFill>
          <a:blip r:embed="rId2"/>
          <a:stretch>
            <a:fillRect/>
          </a:stretch>
        </p:blipFill>
        <p:spPr>
          <a:xfrm>
            <a:off x="3633382" y="614945"/>
            <a:ext cx="7626823" cy="8975640"/>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 name="成组"/>
          <p:cNvGrpSpPr/>
          <p:nvPr/>
        </p:nvGrpSpPr>
        <p:grpSpPr>
          <a:xfrm>
            <a:off x="139669" y="752796"/>
            <a:ext cx="5462070" cy="567431"/>
            <a:chOff x="-1" y="0"/>
            <a:chExt cx="5462068" cy="567429"/>
          </a:xfrm>
        </p:grpSpPr>
        <p:sp>
          <p:nvSpPr>
            <p:cNvPr id="26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6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63" name="10011585817492_.pic_hd.jpg" descr="10011585817492_.pic_hd.jpg"/>
          <p:cNvPicPr>
            <a:picLocks noChangeAspect="1"/>
          </p:cNvPicPr>
          <p:nvPr/>
        </p:nvPicPr>
        <p:blipFill>
          <a:blip r:embed="rId2"/>
          <a:stretch>
            <a:fillRect/>
          </a:stretch>
        </p:blipFill>
        <p:spPr>
          <a:xfrm>
            <a:off x="902279" y="2170538"/>
            <a:ext cx="11200242" cy="7456459"/>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7" name="成组"/>
          <p:cNvGrpSpPr/>
          <p:nvPr/>
        </p:nvGrpSpPr>
        <p:grpSpPr>
          <a:xfrm>
            <a:off x="139669" y="752796"/>
            <a:ext cx="5462070" cy="567431"/>
            <a:chOff x="-1" y="0"/>
            <a:chExt cx="5462068" cy="567429"/>
          </a:xfrm>
        </p:grpSpPr>
        <p:sp>
          <p:nvSpPr>
            <p:cNvPr id="265"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66"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68" name="10041585817685_.pic_hd.jpg" descr="10041585817685_.pic_hd.jpg"/>
          <p:cNvPicPr>
            <a:picLocks noChangeAspect="1"/>
          </p:cNvPicPr>
          <p:nvPr/>
        </p:nvPicPr>
        <p:blipFill>
          <a:blip r:embed="rId2"/>
          <a:stretch>
            <a:fillRect/>
          </a:stretch>
        </p:blipFill>
        <p:spPr>
          <a:xfrm>
            <a:off x="-441639" y="3003737"/>
            <a:ext cx="13004802" cy="5165796"/>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2" name="成组"/>
          <p:cNvGrpSpPr/>
          <p:nvPr/>
        </p:nvGrpSpPr>
        <p:grpSpPr>
          <a:xfrm>
            <a:off x="139669" y="752796"/>
            <a:ext cx="5462070" cy="567431"/>
            <a:chOff x="-1" y="0"/>
            <a:chExt cx="5462068" cy="567429"/>
          </a:xfrm>
        </p:grpSpPr>
        <p:sp>
          <p:nvSpPr>
            <p:cNvPr id="27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7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73" name="10051585817686_.pic_hd.jpg" descr="10051585817686_.pic_hd.jpg"/>
          <p:cNvPicPr>
            <a:picLocks noChangeAspect="1"/>
          </p:cNvPicPr>
          <p:nvPr/>
        </p:nvPicPr>
        <p:blipFill>
          <a:blip r:embed="rId2"/>
          <a:stretch>
            <a:fillRect/>
          </a:stretch>
        </p:blipFill>
        <p:spPr>
          <a:xfrm>
            <a:off x="12700" y="2333625"/>
            <a:ext cx="12978765" cy="6153150"/>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7" name="成组"/>
          <p:cNvGrpSpPr/>
          <p:nvPr/>
        </p:nvGrpSpPr>
        <p:grpSpPr>
          <a:xfrm>
            <a:off x="139669" y="752796"/>
            <a:ext cx="5462070" cy="567431"/>
            <a:chOff x="-1" y="0"/>
            <a:chExt cx="5462068" cy="567429"/>
          </a:xfrm>
        </p:grpSpPr>
        <p:sp>
          <p:nvSpPr>
            <p:cNvPr id="275"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76"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78" name="9941585817484_.pic_hd.jpg" descr="9941585817484_.pic_hd.jpg"/>
          <p:cNvPicPr>
            <a:picLocks noChangeAspect="1"/>
          </p:cNvPicPr>
          <p:nvPr/>
        </p:nvPicPr>
        <p:blipFill>
          <a:blip r:embed="rId2"/>
          <a:stretch>
            <a:fillRect/>
          </a:stretch>
        </p:blipFill>
        <p:spPr>
          <a:xfrm>
            <a:off x="-785044" y="2360129"/>
            <a:ext cx="13004802" cy="5033342"/>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2" name="成组"/>
          <p:cNvGrpSpPr/>
          <p:nvPr/>
        </p:nvGrpSpPr>
        <p:grpSpPr>
          <a:xfrm>
            <a:off x="139669" y="752796"/>
            <a:ext cx="5462070" cy="567431"/>
            <a:chOff x="-1" y="0"/>
            <a:chExt cx="5462068" cy="567429"/>
          </a:xfrm>
        </p:grpSpPr>
        <p:sp>
          <p:nvSpPr>
            <p:cNvPr id="28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8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283" name="9971585817487_.pic_hd.jpg" descr="9971585817487_.pic_hd.jpg"/>
          <p:cNvPicPr>
            <a:picLocks noChangeAspect="1"/>
          </p:cNvPicPr>
          <p:nvPr/>
        </p:nvPicPr>
        <p:blipFill>
          <a:blip r:embed="rId2"/>
          <a:stretch>
            <a:fillRect/>
          </a:stretch>
        </p:blipFill>
        <p:spPr>
          <a:xfrm>
            <a:off x="116659" y="1973764"/>
            <a:ext cx="12771482" cy="6893325"/>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306" name="个人简介"/>
          <p:cNvSpPr txBox="1"/>
          <p:nvPr/>
        </p:nvSpPr>
        <p:spPr>
          <a:xfrm>
            <a:off x="-408005" y="11723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307"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311" name="成组"/>
          <p:cNvGrpSpPr/>
          <p:nvPr/>
        </p:nvGrpSpPr>
        <p:grpSpPr>
          <a:xfrm>
            <a:off x="11279725" y="8512683"/>
            <a:ext cx="1214954" cy="757973"/>
            <a:chOff x="-1" y="0"/>
            <a:chExt cx="1214953" cy="757971"/>
          </a:xfrm>
        </p:grpSpPr>
        <p:sp>
          <p:nvSpPr>
            <p:cNvPr id="30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0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31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313" name="景别…"/>
          <p:cNvSpPr txBox="1"/>
          <p:nvPr/>
        </p:nvSpPr>
        <p:spPr>
          <a:xfrm>
            <a:off x="4296410" y="5114925"/>
            <a:ext cx="5132070" cy="1895475"/>
          </a:xfrm>
          <a:prstGeom prst="rect">
            <a:avLst/>
          </a:prstGeom>
          <a:ln w="12700">
            <a:miter lim="400000"/>
          </a:ln>
        </p:spPr>
        <p:txBody>
          <a:bodyPr wrap="square" lIns="48765" tIns="48765" rIns="48765" bIns="48765">
            <a:spAutoFit/>
          </a:bodyPr>
          <a:lstStyle/>
          <a:p>
            <a:pPr algn="l">
              <a:lnSpc>
                <a:spcPct val="90000"/>
              </a:lnSpc>
              <a:spcBef>
                <a:spcPts val="1400"/>
              </a:spcBef>
              <a:buSzPct val="100000"/>
              <a:defRPr sz="3000"/>
            </a:pPr>
            <a:r>
              <a:rPr lang="zh-CN" sz="4400">
                <a:ea typeface="宋体" panose="02010600030101010101" pitchFamily="2" charset="-122"/>
                <a:sym typeface="+mn-ea"/>
              </a:rPr>
              <a:t>二、</a:t>
            </a:r>
            <a:r>
              <a:rPr sz="4400">
                <a:sym typeface="+mn-ea"/>
              </a:rPr>
              <a:t>镜   头  景  别</a:t>
            </a:r>
          </a:p>
          <a:p>
            <a:pPr algn="l">
              <a:lnSpc>
                <a:spcPct val="90000"/>
              </a:lnSpc>
              <a:spcBef>
                <a:spcPts val="1400"/>
              </a:spcBef>
              <a:buSzPct val="100000"/>
              <a:buChar char="•"/>
              <a:defRPr sz="3000"/>
            </a:pPr>
            <a:endParaRPr lang="zh-CN">
              <a:ea typeface="宋体" panose="02010600030101010101" pitchFamily="2" charset="-122"/>
            </a:endParaRPr>
          </a:p>
          <a:p>
            <a:pPr>
              <a:lnSpc>
                <a:spcPct val="90000"/>
              </a:lnSpc>
              <a:spcBef>
                <a:spcPts val="1400"/>
              </a:spcBef>
              <a:buSzPct val="100000"/>
              <a:buChar char="•"/>
              <a:defRPr sz="3000"/>
            </a:pPr>
            <a:endParaRPr lang="zh-CN">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306"/>
                                        </p:tgtEl>
                                        <p:attrNameLst>
                                          <p:attrName>style.visibility</p:attrName>
                                        </p:attrNameLst>
                                      </p:cBhvr>
                                      <p:to>
                                        <p:strVal val="visible"/>
                                      </p:to>
                                    </p:set>
                                    <p:animEffect transition="in" filter="dissolve">
                                      <p:cBhvr>
                                        <p:cTn id="7" dur="1000"/>
                                        <p:tgtEl>
                                          <p:spTgt spid="306"/>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311"/>
                                        </p:tgtEl>
                                        <p:attrNameLst>
                                          <p:attrName>style.visibility</p:attrName>
                                        </p:attrNameLst>
                                      </p:cBhvr>
                                      <p:to>
                                        <p:strVal val="visible"/>
                                      </p:to>
                                    </p:set>
                                    <p:anim calcmode="lin" valueType="num">
                                      <p:cBhvr>
                                        <p:cTn id="11" dur="750" fill="hold"/>
                                        <p:tgtEl>
                                          <p:spTgt spid="311"/>
                                        </p:tgtEl>
                                        <p:attrNameLst>
                                          <p:attrName>ppt_x</p:attrName>
                                        </p:attrNameLst>
                                      </p:cBhvr>
                                      <p:tavLst>
                                        <p:tav tm="0">
                                          <p:val>
                                            <p:strVal val="1+#ppt_w/2"/>
                                          </p:val>
                                        </p:tav>
                                        <p:tav tm="100000">
                                          <p:val>
                                            <p:strVal val="#ppt_x"/>
                                          </p:val>
                                        </p:tav>
                                      </p:tavLst>
                                    </p:anim>
                                    <p:anim calcmode="lin" valueType="num">
                                      <p:cBhvr>
                                        <p:cTn id="12" dur="750" fill="hold"/>
                                        <p:tgtEl>
                                          <p:spTgt spid="31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307"/>
                                        </p:tgtEl>
                                        <p:attrNameLst>
                                          <p:attrName>style.visibility</p:attrName>
                                        </p:attrNameLst>
                                      </p:cBhvr>
                                      <p:to>
                                        <p:strVal val="visible"/>
                                      </p:to>
                                    </p:set>
                                    <p:animEffect transition="in" filter="wipe(right)">
                                      <p:cBhvr>
                                        <p:cTn id="16" dur="10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 grpId="1" animBg="1" advAuto="0"/>
      <p:bldP spid="307" grpId="3" animBg="1" advAuto="0"/>
      <p:bldP spid="311" grpId="2"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286" name="个人简介"/>
          <p:cNvSpPr txBox="1"/>
          <p:nvPr/>
        </p:nvSpPr>
        <p:spPr>
          <a:xfrm>
            <a:off x="-623905" y="5119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287"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91" name="成组"/>
          <p:cNvGrpSpPr/>
          <p:nvPr/>
        </p:nvGrpSpPr>
        <p:grpSpPr>
          <a:xfrm>
            <a:off x="11279725" y="8512683"/>
            <a:ext cx="1214954" cy="757973"/>
            <a:chOff x="-1" y="0"/>
            <a:chExt cx="1214953" cy="757971"/>
          </a:xfrm>
        </p:grpSpPr>
        <p:sp>
          <p:nvSpPr>
            <p:cNvPr id="28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8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9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92" name="如何表现阶级差异"/>
          <p:cNvSpPr txBox="1"/>
          <p:nvPr/>
        </p:nvSpPr>
        <p:spPr>
          <a:xfrm>
            <a:off x="4049652" y="4745485"/>
            <a:ext cx="5253731" cy="897631"/>
          </a:xfrm>
          <a:prstGeom prst="rect">
            <a:avLst/>
          </a:prstGeom>
          <a:ln w="12700">
            <a:miter lim="400000"/>
          </a:ln>
        </p:spPr>
        <p:txBody>
          <a:bodyPr wrap="none" lIns="48765" tIns="48765" rIns="48765" bIns="48765">
            <a:spAutoFit/>
          </a:bodyPr>
          <a:lstStyle>
            <a:lvl1pPr algn="ctr">
              <a:lnSpc>
                <a:spcPct val="90000"/>
              </a:lnSpc>
              <a:defRPr sz="4500">
                <a:latin typeface="Calibri Light" panose="020F0302020204030204"/>
                <a:ea typeface="Calibri Light" panose="020F0302020204030204"/>
                <a:cs typeface="Calibri Light" panose="020F0302020204030204"/>
                <a:sym typeface="Calibri Light" panose="020F0302020204030204"/>
              </a:defRPr>
            </a:lvl1pPr>
          </a:lstStyle>
          <a:p>
            <a:r>
              <a:t>远、全、中、近、特</a:t>
            </a:r>
          </a:p>
        </p:txBody>
      </p:sp>
      <p:sp>
        <p:nvSpPr>
          <p:cNvPr id="293" name="构 图"/>
          <p:cNvSpPr txBox="1"/>
          <p:nvPr/>
        </p:nvSpPr>
        <p:spPr>
          <a:xfrm>
            <a:off x="861450" y="1887983"/>
            <a:ext cx="3005645" cy="846831"/>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solidFill>
                  <a:srgbClr val="FFFFFF"/>
                </a:solidFill>
              </a:defRPr>
            </a:lvl1pPr>
          </a:lstStyle>
          <a:p>
            <a:r>
              <a:t>镜 头 景 别</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286"/>
                                        </p:tgtEl>
                                        <p:attrNameLst>
                                          <p:attrName>style.visibility</p:attrName>
                                        </p:attrNameLst>
                                      </p:cBhvr>
                                      <p:to>
                                        <p:strVal val="visible"/>
                                      </p:to>
                                    </p:set>
                                    <p:animEffect transition="in" filter="dissolve">
                                      <p:cBhvr>
                                        <p:cTn id="7" dur="1000"/>
                                        <p:tgtEl>
                                          <p:spTgt spid="286"/>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291"/>
                                        </p:tgtEl>
                                        <p:attrNameLst>
                                          <p:attrName>style.visibility</p:attrName>
                                        </p:attrNameLst>
                                      </p:cBhvr>
                                      <p:to>
                                        <p:strVal val="visible"/>
                                      </p:to>
                                    </p:set>
                                    <p:anim calcmode="lin" valueType="num">
                                      <p:cBhvr>
                                        <p:cTn id="11" dur="750" fill="hold"/>
                                        <p:tgtEl>
                                          <p:spTgt spid="291"/>
                                        </p:tgtEl>
                                        <p:attrNameLst>
                                          <p:attrName>ppt_x</p:attrName>
                                        </p:attrNameLst>
                                      </p:cBhvr>
                                      <p:tavLst>
                                        <p:tav tm="0">
                                          <p:val>
                                            <p:strVal val="1+#ppt_w/2"/>
                                          </p:val>
                                        </p:tav>
                                        <p:tav tm="100000">
                                          <p:val>
                                            <p:strVal val="#ppt_x"/>
                                          </p:val>
                                        </p:tav>
                                      </p:tavLst>
                                    </p:anim>
                                    <p:anim calcmode="lin" valueType="num">
                                      <p:cBhvr>
                                        <p:cTn id="12" dur="750" fill="hold"/>
                                        <p:tgtEl>
                                          <p:spTgt spid="29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287"/>
                                        </p:tgtEl>
                                        <p:attrNameLst>
                                          <p:attrName>style.visibility</p:attrName>
                                        </p:attrNameLst>
                                      </p:cBhvr>
                                      <p:to>
                                        <p:strVal val="visible"/>
                                      </p:to>
                                    </p:set>
                                    <p:animEffect transition="in" filter="wipe(right)">
                                      <p:cBhvr>
                                        <p:cTn id="16" dur="10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 grpId="1" animBg="1" advAuto="0"/>
      <p:bldP spid="287" grpId="3" animBg="1" advAuto="0"/>
      <p:bldP spid="291" grpId="2"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屏幕快照 2020-04-09 15.31.43.png" descr="屏幕快照 2020-04-09 15.31.43.png"/>
          <p:cNvPicPr>
            <a:picLocks noChangeAspect="1"/>
          </p:cNvPicPr>
          <p:nvPr/>
        </p:nvPicPr>
        <p:blipFill>
          <a:blip r:embed="rId2"/>
          <a:srcRect b="14031"/>
          <a:stretch>
            <a:fillRect/>
          </a:stretch>
        </p:blipFill>
        <p:spPr>
          <a:xfrm>
            <a:off x="-193527" y="-1464917"/>
            <a:ext cx="14278143" cy="7671701"/>
          </a:xfrm>
          <a:prstGeom prst="rect">
            <a:avLst/>
          </a:prstGeom>
          <a:ln w="12700">
            <a:miter lim="400000"/>
            <a:headEnd/>
            <a:tailEnd/>
          </a:ln>
        </p:spPr>
      </p:pic>
      <p:sp>
        <p:nvSpPr>
          <p:cNvPr id="316" name="基本镜头类型"/>
          <p:cNvSpPr txBox="1">
            <a:spLocks noGrp="1"/>
          </p:cNvSpPr>
          <p:nvPr>
            <p:ph type="title"/>
          </p:nvPr>
        </p:nvSpPr>
        <p:spPr>
          <a:xfrm>
            <a:off x="-800102" y="4578772"/>
            <a:ext cx="9753604" cy="2546777"/>
          </a:xfrm>
          <a:prstGeom prst="rect">
            <a:avLst/>
          </a:prstGeom>
        </p:spPr>
        <p:txBody>
          <a:bodyPr/>
          <a:lstStyle>
            <a:lvl1pPr>
              <a:defRPr sz="4500"/>
            </a:lvl1pPr>
          </a:lstStyle>
          <a:p>
            <a:r>
              <a:t>镜头的运用</a:t>
            </a:r>
          </a:p>
        </p:txBody>
      </p:sp>
      <p:sp>
        <p:nvSpPr>
          <p:cNvPr id="317" name="特写（超、大、中）…"/>
          <p:cNvSpPr txBox="1">
            <a:spLocks noGrp="1"/>
          </p:cNvSpPr>
          <p:nvPr>
            <p:ph type="body" sz="quarter" idx="1"/>
          </p:nvPr>
        </p:nvSpPr>
        <p:spPr>
          <a:xfrm>
            <a:off x="6458372" y="6353385"/>
            <a:ext cx="4530346" cy="2676163"/>
          </a:xfrm>
          <a:prstGeom prst="rect">
            <a:avLst/>
          </a:prstGeom>
        </p:spPr>
        <p:txBody>
          <a:bodyPr/>
          <a:lstStyle/>
          <a:p>
            <a:pPr algn="l" defTabSz="1105535">
              <a:spcBef>
                <a:spcPts val="1200"/>
              </a:spcBef>
              <a:buSzPct val="100000"/>
              <a:buChar char="•"/>
              <a:defRPr sz="2300"/>
            </a:pPr>
            <a:r>
              <a:rPr dirty="0" err="1"/>
              <a:t>特写（超、大、中</a:t>
            </a:r>
            <a:r>
              <a:rPr dirty="0"/>
              <a:t>）</a:t>
            </a:r>
          </a:p>
          <a:p>
            <a:pPr algn="l" defTabSz="1105535">
              <a:spcBef>
                <a:spcPts val="1200"/>
              </a:spcBef>
              <a:buSzPct val="100000"/>
              <a:buChar char="•"/>
              <a:defRPr sz="2300"/>
            </a:pPr>
            <a:r>
              <a:rPr lang="zh-CN" altLang="en-US" dirty="0"/>
              <a:t>近</a:t>
            </a:r>
            <a:r>
              <a:rPr dirty="0"/>
              <a:t>景；</a:t>
            </a:r>
          </a:p>
          <a:p>
            <a:pPr algn="l" defTabSz="1105535">
              <a:spcBef>
                <a:spcPts val="1200"/>
              </a:spcBef>
              <a:buSzPct val="100000"/>
              <a:buChar char="•"/>
              <a:defRPr sz="2300"/>
            </a:pPr>
            <a:r>
              <a:rPr lang="zh-CN" altLang="en-US" dirty="0"/>
              <a:t>全</a:t>
            </a:r>
            <a:r>
              <a:rPr dirty="0" err="1"/>
              <a:t>景（中、大、超大</a:t>
            </a:r>
            <a:r>
              <a:rPr dirty="0"/>
              <a:t>）；</a:t>
            </a:r>
          </a:p>
          <a:p>
            <a:pPr algn="l" defTabSz="1105535">
              <a:spcBef>
                <a:spcPts val="1200"/>
              </a:spcBef>
              <a:buSzPct val="100000"/>
              <a:buChar char="•"/>
              <a:defRPr sz="2300"/>
            </a:pPr>
            <a:r>
              <a:rPr dirty="0" err="1"/>
              <a:t>双人镜头</a:t>
            </a:r>
            <a:r>
              <a:rPr dirty="0"/>
              <a:t>；</a:t>
            </a:r>
          </a:p>
          <a:p>
            <a:pPr algn="l" defTabSz="1105535">
              <a:spcBef>
                <a:spcPts val="1200"/>
              </a:spcBef>
              <a:buSzPct val="100000"/>
              <a:buChar char="•"/>
              <a:defRPr sz="2300"/>
            </a:pPr>
            <a:r>
              <a:rPr dirty="0" err="1"/>
              <a:t>过肩镜头</a:t>
            </a:r>
            <a:r>
              <a:rPr dirty="0"/>
              <a:t>；</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特写组"/>
          <p:cNvSpPr txBox="1">
            <a:spLocks noGrp="1"/>
          </p:cNvSpPr>
          <p:nvPr>
            <p:ph type="title"/>
          </p:nvPr>
        </p:nvSpPr>
        <p:spPr>
          <a:xfrm>
            <a:off x="1335405" y="2444750"/>
            <a:ext cx="9753600" cy="989965"/>
          </a:xfrm>
          <a:prstGeom prst="rect">
            <a:avLst/>
          </a:prstGeom>
        </p:spPr>
        <p:txBody>
          <a:bodyPr/>
          <a:lstStyle>
            <a:lvl1pPr>
              <a:defRPr sz="6000">
                <a:latin typeface="楷体_GB2312"/>
                <a:ea typeface="楷体_GB2312"/>
                <a:cs typeface="楷体_GB2312"/>
                <a:sym typeface="楷体_GB2312"/>
              </a:defRPr>
            </a:lvl1pPr>
          </a:lstStyle>
          <a:p>
            <a:r>
              <a:t>特 写 组</a:t>
            </a:r>
          </a:p>
        </p:txBody>
      </p:sp>
      <p:sp>
        <p:nvSpPr>
          <p:cNvPr id="320" name="超大特写…"/>
          <p:cNvSpPr txBox="1">
            <a:spLocks noGrp="1"/>
          </p:cNvSpPr>
          <p:nvPr>
            <p:ph type="body" sz="quarter" idx="1"/>
          </p:nvPr>
        </p:nvSpPr>
        <p:spPr>
          <a:xfrm>
            <a:off x="5326378" y="3699932"/>
            <a:ext cx="9753604" cy="1766154"/>
          </a:xfrm>
          <a:prstGeom prst="rect">
            <a:avLst/>
          </a:prstGeom>
        </p:spPr>
        <p:txBody>
          <a:bodyPr>
            <a:noAutofit/>
          </a:bodyPr>
          <a:lstStyle/>
          <a:p>
            <a:pPr marL="155575" indent="-155575" algn="l" defTabSz="417830">
              <a:lnSpc>
                <a:spcPct val="200000"/>
              </a:lnSpc>
              <a:spcBef>
                <a:spcPts val="400"/>
              </a:spcBef>
              <a:buSzPct val="100000"/>
              <a:buChar char="•"/>
              <a:defRPr sz="1800">
                <a:latin typeface="楷体_GB2312"/>
                <a:ea typeface="楷体_GB2312"/>
                <a:cs typeface="楷体_GB2312"/>
                <a:sym typeface="楷体_GB2312"/>
              </a:defRPr>
            </a:pPr>
            <a:endParaRPr/>
          </a:p>
          <a:p>
            <a:pPr marL="155575" indent="-155575" algn="l" defTabSz="417830">
              <a:lnSpc>
                <a:spcPct val="200000"/>
              </a:lnSpc>
              <a:spcBef>
                <a:spcPts val="300"/>
              </a:spcBef>
              <a:buSzPct val="100000"/>
              <a:buChar char="•"/>
              <a:defRPr sz="1800"/>
            </a:pPr>
            <a:r>
              <a:rPr sz="2400"/>
              <a:t>超大特写</a:t>
            </a:r>
            <a:endParaRPr sz="2400">
              <a:latin typeface="Arial" panose="020B0604020202020204"/>
              <a:ea typeface="Arial" panose="020B0604020202020204"/>
              <a:cs typeface="Arial" panose="020B0604020202020204"/>
              <a:sym typeface="Arial" panose="020B0604020202020204"/>
            </a:endParaRPr>
          </a:p>
          <a:p>
            <a:pPr marL="155575" indent="-155575" algn="l" defTabSz="417830">
              <a:lnSpc>
                <a:spcPct val="200000"/>
              </a:lnSpc>
              <a:spcBef>
                <a:spcPts val="300"/>
              </a:spcBef>
              <a:buSzPct val="100000"/>
              <a:buChar char="•"/>
              <a:defRPr sz="1800"/>
            </a:pPr>
            <a:r>
              <a:rPr sz="2400"/>
              <a:t>大</a:t>
            </a:r>
            <a:r>
              <a:rPr sz="2400">
                <a:latin typeface="楷体_GB2312"/>
                <a:ea typeface="楷体_GB2312"/>
                <a:cs typeface="楷体_GB2312"/>
                <a:sym typeface="楷体_GB2312"/>
              </a:rPr>
              <a:t>特写</a:t>
            </a:r>
          </a:p>
          <a:p>
            <a:pPr marL="155575" indent="-155575" algn="l" defTabSz="417830">
              <a:lnSpc>
                <a:spcPct val="200000"/>
              </a:lnSpc>
              <a:spcBef>
                <a:spcPts val="300"/>
              </a:spcBef>
              <a:buSzPct val="100000"/>
              <a:buChar char="•"/>
              <a:defRPr sz="1800">
                <a:latin typeface="楷体_GB2312"/>
                <a:ea typeface="楷体_GB2312"/>
                <a:cs typeface="楷体_GB2312"/>
                <a:sym typeface="楷体_GB2312"/>
              </a:defRPr>
            </a:pPr>
            <a:r>
              <a:rPr sz="2400"/>
              <a:t>特写</a:t>
            </a:r>
          </a:p>
          <a:p>
            <a:pPr marL="155575" indent="-155575" algn="l" defTabSz="417830">
              <a:lnSpc>
                <a:spcPct val="200000"/>
              </a:lnSpc>
              <a:spcBef>
                <a:spcPts val="300"/>
              </a:spcBef>
              <a:buSzPct val="100000"/>
              <a:buChar char="•"/>
              <a:defRPr sz="1800">
                <a:latin typeface="楷体_GB2312"/>
                <a:ea typeface="楷体_GB2312"/>
                <a:cs typeface="楷体_GB2312"/>
                <a:sym typeface="楷体_GB2312"/>
              </a:defRPr>
            </a:pPr>
            <a:r>
              <a:rPr sz="2400"/>
              <a:t>中特写</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20">
                                            <p:txEl>
                                              <p:pRg st="1" end="1"/>
                                            </p:txEl>
                                          </p:spTgt>
                                        </p:tgtEl>
                                        <p:attrNameLst>
                                          <p:attrName>style.visibility</p:attrName>
                                        </p:attrNameLst>
                                      </p:cBhvr>
                                      <p:to>
                                        <p:strVal val="visible"/>
                                      </p:to>
                                    </p:set>
                                    <p:animEffect transition="in" filter="wipe(left)">
                                      <p:cBhvr>
                                        <p:cTn id="7" dur="500"/>
                                        <p:tgtEl>
                                          <p:spTgt spid="32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320">
                                            <p:txEl>
                                              <p:pRg st="2" end="2"/>
                                            </p:txEl>
                                          </p:spTgt>
                                        </p:tgtEl>
                                        <p:attrNameLst>
                                          <p:attrName>style.visibility</p:attrName>
                                        </p:attrNameLst>
                                      </p:cBhvr>
                                      <p:to>
                                        <p:strVal val="visible"/>
                                      </p:to>
                                    </p:set>
                                    <p:animEffect transition="in" filter="wipe(left)">
                                      <p:cBhvr>
                                        <p:cTn id="12" dur="500"/>
                                        <p:tgtEl>
                                          <p:spTgt spid="3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320">
                                            <p:txEl>
                                              <p:pRg st="3" end="3"/>
                                            </p:txEl>
                                          </p:spTgt>
                                        </p:tgtEl>
                                        <p:attrNameLst>
                                          <p:attrName>style.visibility</p:attrName>
                                        </p:attrNameLst>
                                      </p:cBhvr>
                                      <p:to>
                                        <p:strVal val="visible"/>
                                      </p:to>
                                    </p:set>
                                    <p:animEffect transition="in" filter="wipe(left)">
                                      <p:cBhvr>
                                        <p:cTn id="17" dur="500"/>
                                        <p:tgtEl>
                                          <p:spTgt spid="32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indefinite" fill="hold"/>
                                        <p:tgtEl>
                                          <p:spTgt spid="320">
                                            <p:txEl>
                                              <p:pRg st="4" end="4"/>
                                            </p:txEl>
                                          </p:spTgt>
                                        </p:tgtEl>
                                        <p:attrNameLst>
                                          <p:attrName>style.visibility</p:attrName>
                                        </p:attrNameLst>
                                      </p:cBhvr>
                                      <p:to>
                                        <p:strVal val="visible"/>
                                      </p:to>
                                    </p:set>
                                    <p:animEffect transition="in" filter="wipe(left)">
                                      <p:cBhvr>
                                        <p:cTn id="22" dur="500"/>
                                        <p:tgtEl>
                                          <p:spTgt spid="3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 grpId="1" build="p" bldLvl="5"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4872678" y="8324597"/>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218" name="成组"/>
          <p:cNvGrpSpPr/>
          <p:nvPr/>
        </p:nvGrpSpPr>
        <p:grpSpPr>
          <a:xfrm>
            <a:off x="11101925" y="8248376"/>
            <a:ext cx="1214954" cy="757973"/>
            <a:chOff x="-1" y="0"/>
            <a:chExt cx="1214953" cy="757971"/>
          </a:xfrm>
        </p:grpSpPr>
        <p:sp>
          <p:nvSpPr>
            <p:cNvPr id="21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1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1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19" name="第三章   影视鉴赏的声画元素…"/>
          <p:cNvSpPr txBox="1"/>
          <p:nvPr/>
        </p:nvSpPr>
        <p:spPr>
          <a:xfrm>
            <a:off x="2069465" y="3185160"/>
            <a:ext cx="8646795" cy="4109837"/>
          </a:xfrm>
          <a:prstGeom prst="rect">
            <a:avLst/>
          </a:prstGeom>
          <a:ln w="12700">
            <a:miter lim="400000"/>
          </a:ln>
        </p:spPr>
        <p:txBody>
          <a:bodyPr wrap="square" lIns="48765" tIns="48765" rIns="48765" bIns="48765">
            <a:spAutoFit/>
          </a:bodyPr>
          <a:lstStyle/>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zh-CN" altLang="en-US" sz="2400" dirty="0">
                <a:solidFill>
                  <a:srgbClr val="FF0000"/>
                </a:solidFill>
                <a:ea typeface="宋体" panose="02010600030101010101" pitchFamily="2" charset="-122"/>
              </a:rPr>
              <a:t>特写</a:t>
            </a:r>
            <a:r>
              <a:rPr lang="zh-CN" altLang="en-US" sz="2400" dirty="0">
                <a:solidFill>
                  <a:schemeClr val="tx1"/>
                </a:solidFill>
                <a:ea typeface="宋体" panose="02010600030101010101" pitchFamily="2" charset="-122"/>
              </a:rPr>
              <a:t>是视距最近的镜头，取景范围是人的双肩以上的脸部，或突出要强调    的物体，使之占满银幕。视距更近的画面为大特写或细部特写。如表现人的双眼或一支手枪的枪口。</a:t>
            </a:r>
          </a:p>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en-US" altLang="zh-CN" sz="2000" i="1" dirty="0">
                <a:solidFill>
                  <a:schemeClr val="tx1"/>
                </a:solidFill>
                <a:ea typeface="宋体" panose="02010600030101010101" pitchFamily="2" charset="-122"/>
              </a:rPr>
              <a:t>“</a:t>
            </a:r>
            <a:r>
              <a:rPr lang="zh-CN" altLang="en-US" sz="2000" i="1" dirty="0">
                <a:solidFill>
                  <a:schemeClr val="tx1"/>
                </a:solidFill>
                <a:ea typeface="宋体" panose="02010600030101010101" pitchFamily="2" charset="-122"/>
              </a:rPr>
              <a:t>最有能力展示一部影片的心理和戏剧含义的是人脸的特写镜头。而这种镜头也是内心最基本的、最终的也是最有价值的表现。</a:t>
            </a:r>
            <a:r>
              <a:rPr lang="en-US" altLang="zh-CN" sz="2000" i="1" dirty="0">
                <a:solidFill>
                  <a:schemeClr val="tx1"/>
                </a:solidFill>
                <a:ea typeface="宋体" panose="02010600030101010101" pitchFamily="2" charset="-122"/>
              </a:rPr>
              <a:t>”</a:t>
            </a:r>
          </a:p>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en-US" altLang="zh-CN" sz="2000" dirty="0">
                <a:solidFill>
                  <a:schemeClr val="tx1"/>
                </a:solidFill>
                <a:ea typeface="宋体" panose="02010600030101010101" pitchFamily="2" charset="-122"/>
              </a:rPr>
              <a:t>                                                                  ——</a:t>
            </a:r>
            <a:r>
              <a:rPr lang="zh-CN" altLang="en-US" sz="2000" dirty="0">
                <a:solidFill>
                  <a:schemeClr val="tx1"/>
                </a:solidFill>
                <a:ea typeface="宋体" panose="02010600030101010101" pitchFamily="2" charset="-122"/>
              </a:rPr>
              <a:t>法国电影理论家 让爱浦斯坦</a:t>
            </a:r>
          </a:p>
        </p:txBody>
      </p:sp>
      <p:grpSp>
        <p:nvGrpSpPr>
          <p:cNvPr id="222" name="成组"/>
          <p:cNvGrpSpPr/>
          <p:nvPr/>
        </p:nvGrpSpPr>
        <p:grpSpPr>
          <a:xfrm>
            <a:off x="139669" y="752796"/>
            <a:ext cx="5462070" cy="567431"/>
            <a:chOff x="-1" y="0"/>
            <a:chExt cx="5462068" cy="567429"/>
          </a:xfrm>
        </p:grpSpPr>
        <p:sp>
          <p:nvSpPr>
            <p:cNvPr id="22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2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sp>
        <p:nvSpPr>
          <p:cNvPr id="223" name="三、影视艺术的特征"/>
          <p:cNvSpPr txBox="1"/>
          <p:nvPr/>
        </p:nvSpPr>
        <p:spPr>
          <a:xfrm>
            <a:off x="1997057" y="1866382"/>
            <a:ext cx="10319699" cy="981075"/>
          </a:xfrm>
          <a:prstGeom prst="rect">
            <a:avLst/>
          </a:prstGeom>
          <a:ln w="12700">
            <a:miter lim="400000"/>
          </a:ln>
        </p:spPr>
        <p:txBody>
          <a:bodyPr lIns="48765" tIns="48765" rIns="48765" bIns="48765">
            <a:spAutoFit/>
          </a:bodyPr>
          <a:lstStyle>
            <a:lvl1pPr defTabSz="457200">
              <a:lnSpc>
                <a:spcPts val="6900"/>
              </a:lnSpc>
              <a:spcBef>
                <a:spcPts val="1200"/>
              </a:spcBef>
              <a:defRPr sz="30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rPr lang="zh-CN">
                <a:solidFill>
                  <a:schemeClr val="accent1"/>
                </a:solidFill>
                <a:uFillTx/>
              </a:rPr>
              <a:t>特 写（</a:t>
            </a:r>
            <a:r>
              <a:rPr lang="en-US" altLang="zh-CN">
                <a:solidFill>
                  <a:schemeClr val="accent1"/>
                </a:solidFill>
                <a:uFillTx/>
              </a:rPr>
              <a:t>CLOSE-UP</a:t>
            </a:r>
            <a:r>
              <a:rPr lang="zh-CN">
                <a:solidFill>
                  <a:schemeClr val="accent1"/>
                </a:solidFill>
                <a:uFillTx/>
              </a:rPr>
              <a:t>）</a:t>
            </a:r>
            <a:r>
              <a:rPr lang="zh-CN"/>
              <a:t>：</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18"/>
                                        </p:tgtEl>
                                        <p:attrNameLst>
                                          <p:attrName>style.visibility</p:attrName>
                                        </p:attrNameLst>
                                      </p:cBhvr>
                                      <p:to>
                                        <p:strVal val="visible"/>
                                      </p:to>
                                    </p:set>
                                    <p:anim calcmode="lin" valueType="num">
                                      <p:cBhvr>
                                        <p:cTn id="7" dur="750" fill="hold"/>
                                        <p:tgtEl>
                                          <p:spTgt spid="218"/>
                                        </p:tgtEl>
                                        <p:attrNameLst>
                                          <p:attrName>ppt_x</p:attrName>
                                        </p:attrNameLst>
                                      </p:cBhvr>
                                      <p:tavLst>
                                        <p:tav tm="0">
                                          <p:val>
                                            <p:strVal val="1+#ppt_w/2"/>
                                          </p:val>
                                        </p:tav>
                                        <p:tav tm="100000">
                                          <p:val>
                                            <p:strVal val="#ppt_x"/>
                                          </p:val>
                                        </p:tav>
                                      </p:tavLst>
                                    </p:anim>
                                    <p:anim calcmode="lin" valueType="num">
                                      <p:cBhvr>
                                        <p:cTn id="8" dur="750" fill="hold"/>
                                        <p:tgtEl>
                                          <p:spTgt spid="21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2" animBg="1" advAuto="0"/>
      <p:bldP spid="218" grpId="1" bldLvl="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特写组"/>
          <p:cNvSpPr txBox="1">
            <a:spLocks noGrp="1"/>
          </p:cNvSpPr>
          <p:nvPr>
            <p:ph type="title"/>
          </p:nvPr>
        </p:nvSpPr>
        <p:spPr>
          <a:xfrm>
            <a:off x="-2176782" y="1186391"/>
            <a:ext cx="9753604" cy="2546776"/>
          </a:xfrm>
          <a:prstGeom prst="rect">
            <a:avLst/>
          </a:prstGeom>
        </p:spPr>
        <p:txBody>
          <a:bodyPr/>
          <a:lstStyle>
            <a:lvl1pPr>
              <a:defRPr sz="6000">
                <a:latin typeface="楷体_GB2312"/>
                <a:ea typeface="楷体_GB2312"/>
                <a:cs typeface="楷体_GB2312"/>
                <a:sym typeface="楷体_GB2312"/>
              </a:defRPr>
            </a:lvl1pPr>
          </a:lstStyle>
          <a:p>
            <a:r>
              <a:t>特 写</a:t>
            </a:r>
          </a:p>
        </p:txBody>
      </p:sp>
      <p:pic>
        <p:nvPicPr>
          <p:cNvPr id="323" name="屏幕快照 2020-04-09 15.31.35.png" descr="屏幕快照 2020-04-09 15.31.35.png"/>
          <p:cNvPicPr>
            <a:picLocks noChangeAspect="1"/>
          </p:cNvPicPr>
          <p:nvPr/>
        </p:nvPicPr>
        <p:blipFill>
          <a:blip r:embed="rId2"/>
          <a:srcRect t="13300" r="147" b="13356"/>
          <a:stretch>
            <a:fillRect/>
          </a:stretch>
        </p:blipFill>
        <p:spPr>
          <a:xfrm>
            <a:off x="5692264" y="-64"/>
            <a:ext cx="6067743" cy="2785539"/>
          </a:xfrm>
          <a:prstGeom prst="rect">
            <a:avLst/>
          </a:prstGeom>
          <a:ln w="12700">
            <a:miter lim="400000"/>
            <a:headEnd/>
            <a:tailEnd/>
          </a:ln>
        </p:spPr>
      </p:pic>
      <p:pic>
        <p:nvPicPr>
          <p:cNvPr id="324" name="屏幕快照 2020-04-09 15.31.41.png" descr="屏幕快照 2020-04-09 15.31.41.png"/>
          <p:cNvPicPr>
            <a:picLocks noChangeAspect="1"/>
          </p:cNvPicPr>
          <p:nvPr/>
        </p:nvPicPr>
        <p:blipFill>
          <a:blip r:embed="rId3"/>
          <a:srcRect t="16226" r="1901" b="13674"/>
          <a:stretch>
            <a:fillRect/>
          </a:stretch>
        </p:blipFill>
        <p:spPr>
          <a:xfrm>
            <a:off x="5691976" y="2785882"/>
            <a:ext cx="6067776" cy="2709969"/>
          </a:xfrm>
          <a:prstGeom prst="rect">
            <a:avLst/>
          </a:prstGeom>
          <a:ln w="12700">
            <a:miter lim="400000"/>
            <a:headEnd/>
            <a:tailEnd/>
          </a:ln>
        </p:spPr>
      </p:pic>
      <p:pic>
        <p:nvPicPr>
          <p:cNvPr id="325" name="屏幕快照 2020-04-09 15.31.43.png" descr="屏幕快照 2020-04-09 15.31.43.png"/>
          <p:cNvPicPr>
            <a:picLocks noChangeAspect="1"/>
          </p:cNvPicPr>
          <p:nvPr/>
        </p:nvPicPr>
        <p:blipFill>
          <a:blip r:embed="rId4"/>
          <a:srcRect t="15933" b="13410"/>
          <a:stretch>
            <a:fillRect/>
          </a:stretch>
        </p:blipFill>
        <p:spPr>
          <a:xfrm>
            <a:off x="2377380" y="5597315"/>
            <a:ext cx="9386073" cy="4144827"/>
          </a:xfrm>
          <a:prstGeom prst="rect">
            <a:avLst/>
          </a:prstGeom>
          <a:ln w="12700">
            <a:miter lim="400000"/>
            <a:headEnd/>
            <a:tailEnd/>
          </a:ln>
        </p:spPr>
      </p:pic>
      <p:sp>
        <p:nvSpPr>
          <p:cNvPr id="2" name="文本框 1"/>
          <p:cNvSpPr txBox="1"/>
          <p:nvPr/>
        </p:nvSpPr>
        <p:spPr>
          <a:xfrm>
            <a:off x="1669448" y="4140866"/>
            <a:ext cx="3583940" cy="83502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8765" tIns="48765" rIns="48765" bIns="48765" numCol="1" spcCol="38100" rtlCol="0" anchor="t" forceAA="0">
            <a:spAutoFit/>
          </a:bodyPr>
          <a:lstStyle/>
          <a:p>
            <a:pPr marL="0" marR="0" indent="0" algn="l" defTabSz="1300480" rtl="0" fontAlgn="auto" latinLnBrk="0" hangingPunct="0">
              <a:lnSpc>
                <a:spcPct val="100000"/>
              </a:lnSpc>
              <a:spcBef>
                <a:spcPts val="0"/>
              </a:spcBef>
              <a:spcAft>
                <a:spcPts val="0"/>
              </a:spcAft>
              <a:buClrTx/>
              <a:buSzTx/>
              <a:buFontTx/>
              <a:buNone/>
            </a:pPr>
            <a:r>
              <a:rPr lang="zh-CN" altLang="en-US" dirty="0">
                <a:solidFill>
                  <a:schemeClr val="tx1"/>
                </a:solidFill>
                <a:ea typeface="宋体" panose="02010600030101010101" pitchFamily="2" charset="-122"/>
                <a:sym typeface="+mn-ea"/>
              </a:rPr>
              <a:t>强烈的情感性和主观性。</a:t>
            </a:r>
            <a:r>
              <a:rPr lang="en-US" altLang="zh-CN" dirty="0">
                <a:solidFill>
                  <a:schemeClr val="tx1"/>
                </a:solidFill>
                <a:ea typeface="宋体" panose="02010600030101010101" pitchFamily="2" charset="-122"/>
                <a:sym typeface="+mn-ea"/>
              </a:rPr>
              <a:t>“</a:t>
            </a:r>
            <a:r>
              <a:rPr lang="zh-CN" altLang="en-US" dirty="0">
                <a:solidFill>
                  <a:schemeClr val="tx1"/>
                </a:solidFill>
                <a:ea typeface="宋体" panose="02010600030101010101" pitchFamily="2" charset="-122"/>
                <a:sym typeface="+mn-ea"/>
              </a:rPr>
              <a:t>眼睛是心灵的窗户</a:t>
            </a:r>
            <a:r>
              <a:rPr lang="en-US" altLang="zh-CN" dirty="0">
                <a:solidFill>
                  <a:schemeClr val="tx1"/>
                </a:solidFill>
                <a:ea typeface="宋体" panose="02010600030101010101" pitchFamily="2" charset="-122"/>
                <a:sym typeface="+mn-ea"/>
              </a:rPr>
              <a:t>”</a:t>
            </a:r>
            <a:r>
              <a:rPr lang="zh-CN" altLang="en-US" dirty="0">
                <a:solidFill>
                  <a:schemeClr val="tx1"/>
                </a:solidFill>
                <a:ea typeface="宋体" panose="02010600030101010101" pitchFamily="2" charset="-122"/>
                <a:sym typeface="+mn-ea"/>
              </a:rPr>
              <a:t>。</a:t>
            </a:r>
            <a:endParaRPr kumimoji="0" lang="zh-CN" altLang="en-US" sz="2400" b="0" i="0" u="none" strike="noStrike" cap="none" spc="0" normalizeH="0" baseline="0" dirty="0">
              <a:ln>
                <a:noFill/>
              </a:ln>
              <a:solidFill>
                <a:schemeClr val="tx1"/>
              </a:solidFill>
              <a:effectLst/>
              <a:uFillTx/>
              <a:latin typeface="+mj-lt"/>
              <a:ea typeface="宋体" panose="02010600030101010101" pitchFamily="2" charset="-122"/>
              <a:cs typeface="+mj-cs"/>
              <a:sym typeface="+mn-ea"/>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4864475" y="8799636"/>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dirty="0" err="1"/>
              <a:t>影视鉴赏的声画元素</a:t>
            </a:r>
            <a:r>
              <a:rPr dirty="0"/>
              <a:t> </a:t>
            </a:r>
          </a:p>
        </p:txBody>
      </p:sp>
      <p:grpSp>
        <p:nvGrpSpPr>
          <p:cNvPr id="218" name="成组"/>
          <p:cNvGrpSpPr/>
          <p:nvPr/>
        </p:nvGrpSpPr>
        <p:grpSpPr>
          <a:xfrm>
            <a:off x="11127557" y="8647194"/>
            <a:ext cx="1214954" cy="757973"/>
            <a:chOff x="-1" y="0"/>
            <a:chExt cx="1214953" cy="757971"/>
          </a:xfrm>
        </p:grpSpPr>
        <p:sp>
          <p:nvSpPr>
            <p:cNvPr id="21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1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21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219" name="第三章   影视鉴赏的声画元素…"/>
          <p:cNvSpPr txBox="1"/>
          <p:nvPr/>
        </p:nvSpPr>
        <p:spPr>
          <a:xfrm>
            <a:off x="2310765" y="3185160"/>
            <a:ext cx="8646795" cy="5330684"/>
          </a:xfrm>
          <a:prstGeom prst="rect">
            <a:avLst/>
          </a:prstGeom>
          <a:ln w="12700">
            <a:miter lim="400000"/>
          </a:ln>
        </p:spPr>
        <p:txBody>
          <a:bodyPr wrap="square" lIns="48765" tIns="48765" rIns="48765" bIns="48765">
            <a:spAutoFit/>
          </a:bodyPr>
          <a:lstStyle/>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zh-CN" altLang="en-US" sz="2000" dirty="0">
                <a:solidFill>
                  <a:schemeClr val="tx1"/>
                </a:solidFill>
                <a:ea typeface="宋体" panose="02010600030101010101" pitchFamily="2" charset="-122"/>
              </a:rPr>
              <a:t>特写镜头的艺术功能：</a:t>
            </a:r>
          </a:p>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zh-CN" altLang="en-US" sz="2000" dirty="0">
                <a:solidFill>
                  <a:schemeClr val="tx1"/>
                </a:solidFill>
                <a:ea typeface="宋体" panose="02010600030101010101" pitchFamily="2" charset="-122"/>
              </a:rPr>
              <a:t>        </a:t>
            </a:r>
            <a:r>
              <a:rPr lang="en-US" altLang="zh-CN" sz="2000" dirty="0">
                <a:solidFill>
                  <a:schemeClr val="tx1"/>
                </a:solidFill>
                <a:ea typeface="宋体" panose="02010600030101010101" pitchFamily="2" charset="-122"/>
              </a:rPr>
              <a:t>1</a:t>
            </a:r>
            <a:r>
              <a:rPr lang="zh-CN" altLang="en-US" sz="2000" dirty="0">
                <a:solidFill>
                  <a:schemeClr val="tx1"/>
                </a:solidFill>
                <a:ea typeface="宋体" panose="02010600030101010101" pitchFamily="2" charset="-122"/>
              </a:rPr>
              <a:t>、突出和强调。使被摄对象占满整个画面空间，引导观众去关注画面中的某些细节。</a:t>
            </a:r>
          </a:p>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zh-CN" altLang="en-US" sz="2000" dirty="0">
                <a:solidFill>
                  <a:schemeClr val="tx1"/>
                </a:solidFill>
                <a:ea typeface="宋体" panose="02010600030101010101" pitchFamily="2" charset="-122"/>
              </a:rPr>
              <a:t>         </a:t>
            </a:r>
            <a:r>
              <a:rPr lang="en-US" altLang="zh-CN" sz="2000" dirty="0">
                <a:solidFill>
                  <a:schemeClr val="tx1"/>
                </a:solidFill>
                <a:ea typeface="宋体" panose="02010600030101010101" pitchFamily="2" charset="-122"/>
              </a:rPr>
              <a:t>2</a:t>
            </a:r>
            <a:r>
              <a:rPr lang="zh-CN" altLang="en-US" sz="2000" dirty="0">
                <a:solidFill>
                  <a:schemeClr val="tx1"/>
                </a:solidFill>
                <a:ea typeface="宋体" panose="02010600030101010101" pitchFamily="2" charset="-122"/>
              </a:rPr>
              <a:t>、</a:t>
            </a:r>
            <a:r>
              <a:rPr lang="en-US" altLang="zh-CN" sz="2000" dirty="0">
                <a:solidFill>
                  <a:schemeClr val="tx1"/>
                </a:solidFill>
                <a:ea typeface="宋体" panose="02010600030101010101" pitchFamily="2" charset="-122"/>
              </a:rPr>
              <a:t>“</a:t>
            </a:r>
            <a:r>
              <a:rPr lang="zh-CN" altLang="en-US" sz="2000" dirty="0">
                <a:solidFill>
                  <a:schemeClr val="tx1"/>
                </a:solidFill>
                <a:ea typeface="宋体" panose="02010600030101010101" pitchFamily="2" charset="-122"/>
              </a:rPr>
              <a:t>特写取其质</a:t>
            </a:r>
            <a:r>
              <a:rPr lang="en-US" altLang="zh-CN" sz="2000" dirty="0">
                <a:solidFill>
                  <a:schemeClr val="tx1"/>
                </a:solidFill>
                <a:ea typeface="宋体" panose="02010600030101010101" pitchFamily="2" charset="-122"/>
              </a:rPr>
              <a:t>” </a:t>
            </a:r>
            <a:r>
              <a:rPr lang="zh-CN" altLang="en-US" sz="2000" dirty="0">
                <a:solidFill>
                  <a:schemeClr val="tx1"/>
                </a:solidFill>
                <a:ea typeface="宋体" panose="02010600030101010101" pitchFamily="2" charset="-122"/>
              </a:rPr>
              <a:t>。电影画面放大作用。镜头将一些细节清晰地呈现在观众眼前。</a:t>
            </a:r>
          </a:p>
          <a:p>
            <a:pPr marL="203200" marR="660400" indent="-203200" defTabSz="457200">
              <a:lnSpc>
                <a:spcPct val="150000"/>
              </a:lnSpc>
              <a:spcBef>
                <a:spcPts val="1600"/>
              </a:spcBef>
              <a:defRPr sz="2600">
                <a:solidFill>
                  <a:srgbClr val="007AAA"/>
                </a:solidFill>
                <a:latin typeface="Times"/>
                <a:ea typeface="Times"/>
                <a:cs typeface="Times"/>
                <a:sym typeface="Times"/>
              </a:defRPr>
            </a:pPr>
            <a:r>
              <a:rPr lang="zh-CN" altLang="en-US" sz="2000" dirty="0">
                <a:solidFill>
                  <a:schemeClr val="tx1"/>
                </a:solidFill>
                <a:ea typeface="宋体" panose="02010600030101010101" pitchFamily="2" charset="-122"/>
              </a:rPr>
              <a:t>         </a:t>
            </a:r>
            <a:r>
              <a:rPr lang="en-US" altLang="zh-CN" sz="2000" dirty="0">
                <a:solidFill>
                  <a:schemeClr val="tx1"/>
                </a:solidFill>
                <a:ea typeface="宋体" panose="02010600030101010101" pitchFamily="2" charset="-122"/>
              </a:rPr>
              <a:t>3</a:t>
            </a:r>
            <a:r>
              <a:rPr lang="zh-CN" altLang="en-US" sz="2000" dirty="0">
                <a:solidFill>
                  <a:schemeClr val="tx1"/>
                </a:solidFill>
                <a:ea typeface="宋体" panose="02010600030101010101" pitchFamily="2" charset="-122"/>
              </a:rPr>
              <a:t>、强烈的情感性和主观性。</a:t>
            </a:r>
            <a:r>
              <a:rPr lang="en-US" altLang="zh-CN" sz="2000" dirty="0">
                <a:solidFill>
                  <a:schemeClr val="tx1"/>
                </a:solidFill>
                <a:ea typeface="宋体" panose="02010600030101010101" pitchFamily="2" charset="-122"/>
              </a:rPr>
              <a:t>“</a:t>
            </a:r>
            <a:r>
              <a:rPr lang="zh-CN" altLang="en-US" sz="2000" dirty="0">
                <a:solidFill>
                  <a:schemeClr val="tx1"/>
                </a:solidFill>
                <a:ea typeface="宋体" panose="02010600030101010101" pitchFamily="2" charset="-122"/>
              </a:rPr>
              <a:t>眼睛是心灵的窗户</a:t>
            </a:r>
            <a:r>
              <a:rPr lang="en-US" altLang="zh-CN" sz="2000" dirty="0">
                <a:solidFill>
                  <a:schemeClr val="tx1"/>
                </a:solidFill>
                <a:ea typeface="宋体" panose="02010600030101010101" pitchFamily="2" charset="-122"/>
              </a:rPr>
              <a:t>”</a:t>
            </a:r>
            <a:r>
              <a:rPr lang="zh-CN" altLang="en-US" sz="2000" dirty="0">
                <a:solidFill>
                  <a:schemeClr val="tx1"/>
                </a:solidFill>
                <a:ea typeface="宋体" panose="02010600030101010101" pitchFamily="2" charset="-122"/>
              </a:rPr>
              <a:t>，演员细微的表情变化、细腻的情波动在特写中都可以清晰地表现出来，使观众的情感受到感染。因此它具有极强的主</a:t>
            </a:r>
            <a:r>
              <a:rPr lang="en-US" altLang="zh-CN" sz="2000" dirty="0">
                <a:solidFill>
                  <a:schemeClr val="tx1"/>
                </a:solidFill>
                <a:ea typeface="宋体" panose="02010600030101010101" pitchFamily="2" charset="-122"/>
              </a:rPr>
              <a:t> </a:t>
            </a:r>
            <a:r>
              <a:rPr lang="zh-CN" altLang="en-US" sz="2000" dirty="0">
                <a:solidFill>
                  <a:schemeClr val="tx1"/>
                </a:solidFill>
                <a:ea typeface="宋体" panose="02010600030101010101" pitchFamily="2" charset="-122"/>
              </a:rPr>
              <a:t>观性。《一代宗师》</a:t>
            </a:r>
            <a:r>
              <a:rPr lang="en-US" altLang="zh-CN" sz="2000" dirty="0">
                <a:solidFill>
                  <a:schemeClr val="tx1"/>
                </a:solidFill>
                <a:ea typeface="宋体" panose="02010600030101010101" pitchFamily="2" charset="-122"/>
              </a:rPr>
              <a:t>2013</a:t>
            </a:r>
            <a:r>
              <a:rPr lang="zh-CN" altLang="en-US" sz="2000" dirty="0">
                <a:solidFill>
                  <a:schemeClr val="tx1"/>
                </a:solidFill>
                <a:ea typeface="宋体" panose="02010600030101010101" pitchFamily="2" charset="-122"/>
              </a:rPr>
              <a:t>年，全剧</a:t>
            </a:r>
            <a:r>
              <a:rPr lang="en-US" altLang="zh-CN" sz="2000" dirty="0">
                <a:solidFill>
                  <a:schemeClr val="tx1"/>
                </a:solidFill>
                <a:ea typeface="宋体" panose="02010600030101010101" pitchFamily="2" charset="-122"/>
              </a:rPr>
              <a:t>40%</a:t>
            </a:r>
            <a:r>
              <a:rPr lang="zh-CN" altLang="en-US" sz="2000" dirty="0">
                <a:solidFill>
                  <a:schemeClr val="tx1"/>
                </a:solidFill>
                <a:ea typeface="宋体" panose="02010600030101010101" pitchFamily="2" charset="-122"/>
              </a:rPr>
              <a:t>的特写镜头。</a:t>
            </a:r>
            <a:r>
              <a:rPr lang="en-US" altLang="zh-CN" sz="2000" dirty="0">
                <a:solidFill>
                  <a:schemeClr val="tx1"/>
                </a:solidFill>
                <a:ea typeface="宋体" panose="02010600030101010101" pitchFamily="2" charset="-122"/>
              </a:rPr>
              <a:t>  </a:t>
            </a:r>
            <a:r>
              <a:rPr lang="en-US" altLang="zh-CN" sz="2000" dirty="0">
                <a:hlinkClick r:id="rId2"/>
              </a:rPr>
              <a:t>https://www.bilibili.com/bangumi/play/ss12539?bsource=baidu_aladdin</a:t>
            </a:r>
            <a:r>
              <a:rPr lang="en-US" altLang="zh-CN" sz="2000" dirty="0">
                <a:solidFill>
                  <a:schemeClr val="tx1"/>
                </a:solidFill>
                <a:ea typeface="宋体" panose="02010600030101010101" pitchFamily="2" charset="-122"/>
              </a:rPr>
              <a:t>                                                      </a:t>
            </a:r>
            <a:endParaRPr lang="zh-CN" altLang="en-US" sz="2000" dirty="0">
              <a:solidFill>
                <a:schemeClr val="tx1"/>
              </a:solidFill>
              <a:ea typeface="宋体" panose="02010600030101010101" pitchFamily="2" charset="-122"/>
            </a:endParaRPr>
          </a:p>
        </p:txBody>
      </p:sp>
      <p:grpSp>
        <p:nvGrpSpPr>
          <p:cNvPr id="222" name="成组"/>
          <p:cNvGrpSpPr/>
          <p:nvPr/>
        </p:nvGrpSpPr>
        <p:grpSpPr>
          <a:xfrm>
            <a:off x="139669" y="752796"/>
            <a:ext cx="5462070" cy="567431"/>
            <a:chOff x="-1" y="0"/>
            <a:chExt cx="5462068" cy="567429"/>
          </a:xfrm>
        </p:grpSpPr>
        <p:sp>
          <p:nvSpPr>
            <p:cNvPr id="22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22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sp>
        <p:nvSpPr>
          <p:cNvPr id="223" name="三、影视艺术的特征"/>
          <p:cNvSpPr txBox="1"/>
          <p:nvPr/>
        </p:nvSpPr>
        <p:spPr>
          <a:xfrm>
            <a:off x="1997057" y="1600952"/>
            <a:ext cx="10319699" cy="981075"/>
          </a:xfrm>
          <a:prstGeom prst="rect">
            <a:avLst/>
          </a:prstGeom>
          <a:ln w="12700">
            <a:miter lim="400000"/>
          </a:ln>
        </p:spPr>
        <p:txBody>
          <a:bodyPr lIns="48765" tIns="48765" rIns="48765" bIns="48765">
            <a:spAutoFit/>
          </a:bodyPr>
          <a:lstStyle>
            <a:lvl1pPr defTabSz="457200">
              <a:lnSpc>
                <a:spcPts val="6900"/>
              </a:lnSpc>
              <a:spcBef>
                <a:spcPts val="1200"/>
              </a:spcBef>
              <a:defRPr sz="30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rPr lang="zh-CN">
                <a:solidFill>
                  <a:schemeClr val="accent1"/>
                </a:solidFill>
                <a:uFillTx/>
              </a:rPr>
              <a:t>特 写（</a:t>
            </a:r>
            <a:r>
              <a:rPr lang="en-US" altLang="zh-CN">
                <a:solidFill>
                  <a:schemeClr val="accent1"/>
                </a:solidFill>
                <a:uFillTx/>
              </a:rPr>
              <a:t>CLOSE-UP</a:t>
            </a:r>
            <a:r>
              <a:rPr lang="zh-CN">
                <a:solidFill>
                  <a:schemeClr val="accent1"/>
                </a:solidFill>
                <a:uFillTx/>
              </a:rPr>
              <a:t>）</a:t>
            </a:r>
            <a:r>
              <a:rPr lang="zh-CN"/>
              <a:t>：</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218"/>
                                        </p:tgtEl>
                                        <p:attrNameLst>
                                          <p:attrName>style.visibility</p:attrName>
                                        </p:attrNameLst>
                                      </p:cBhvr>
                                      <p:to>
                                        <p:strVal val="visible"/>
                                      </p:to>
                                    </p:set>
                                    <p:anim calcmode="lin" valueType="num">
                                      <p:cBhvr>
                                        <p:cTn id="7" dur="750" fill="hold"/>
                                        <p:tgtEl>
                                          <p:spTgt spid="218"/>
                                        </p:tgtEl>
                                        <p:attrNameLst>
                                          <p:attrName>ppt_x</p:attrName>
                                        </p:attrNameLst>
                                      </p:cBhvr>
                                      <p:tavLst>
                                        <p:tav tm="0">
                                          <p:val>
                                            <p:strVal val="1+#ppt_w/2"/>
                                          </p:val>
                                        </p:tav>
                                        <p:tav tm="100000">
                                          <p:val>
                                            <p:strVal val="#ppt_x"/>
                                          </p:val>
                                        </p:tav>
                                      </p:tavLst>
                                    </p:anim>
                                    <p:anim calcmode="lin" valueType="num">
                                      <p:cBhvr>
                                        <p:cTn id="8" dur="750" fill="hold"/>
                                        <p:tgtEl>
                                          <p:spTgt spid="21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2" animBg="1" advAuto="0"/>
      <p:bldP spid="218" grpId="1" bldLvl="0"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特写组"/>
          <p:cNvSpPr txBox="1">
            <a:spLocks noGrp="1"/>
          </p:cNvSpPr>
          <p:nvPr>
            <p:ph type="title"/>
          </p:nvPr>
        </p:nvSpPr>
        <p:spPr>
          <a:xfrm>
            <a:off x="-3438874" y="49684"/>
            <a:ext cx="9753604" cy="2546775"/>
          </a:xfrm>
          <a:prstGeom prst="rect">
            <a:avLst/>
          </a:prstGeom>
        </p:spPr>
        <p:txBody>
          <a:bodyPr/>
          <a:lstStyle>
            <a:lvl1pPr>
              <a:defRPr sz="6000">
                <a:latin typeface="楷体_GB2312"/>
                <a:ea typeface="楷体_GB2312"/>
                <a:cs typeface="楷体_GB2312"/>
                <a:sym typeface="楷体_GB2312"/>
              </a:defRPr>
            </a:lvl1pPr>
          </a:lstStyle>
          <a:p>
            <a:r>
              <a:t>特 写</a:t>
            </a:r>
          </a:p>
        </p:txBody>
      </p:sp>
      <p:pic>
        <p:nvPicPr>
          <p:cNvPr id="328" name="屏幕快照 2020-04-09 18.05.03.png" descr="屏幕快照 2020-04-09 18.05.03.png"/>
          <p:cNvPicPr>
            <a:picLocks noChangeAspect="1"/>
          </p:cNvPicPr>
          <p:nvPr/>
        </p:nvPicPr>
        <p:blipFill>
          <a:blip r:embed="rId2"/>
          <a:srcRect l="7050" t="17982" b="14949"/>
          <a:stretch>
            <a:fillRect/>
          </a:stretch>
        </p:blipFill>
        <p:spPr>
          <a:xfrm>
            <a:off x="590025" y="2695125"/>
            <a:ext cx="12087747" cy="5451230"/>
          </a:xfrm>
          <a:prstGeom prst="rect">
            <a:avLst/>
          </a:prstGeom>
          <a:ln w="12700">
            <a:miter lim="400000"/>
            <a:headEnd/>
            <a:tailEnd/>
          </a:ln>
        </p:spPr>
      </p:pic>
      <p:sp>
        <p:nvSpPr>
          <p:cNvPr id="2" name="文本框 1"/>
          <p:cNvSpPr txBox="1"/>
          <p:nvPr/>
        </p:nvSpPr>
        <p:spPr>
          <a:xfrm>
            <a:off x="589915" y="8261350"/>
            <a:ext cx="11069320" cy="65024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48765" tIns="48765" rIns="48765" bIns="48765" numCol="1" spcCol="38100" rtlCol="0" anchor="t" forceAA="0">
            <a:spAutoFit/>
          </a:bodyPr>
          <a:lstStyle/>
          <a:p>
            <a:pPr marL="203200" marR="660400" indent="-203200" algn="l" defTabSz="457200">
              <a:lnSpc>
                <a:spcPct val="150000"/>
              </a:lnSpc>
              <a:spcBef>
                <a:spcPts val="1600"/>
              </a:spcBef>
              <a:defRPr sz="2600">
                <a:solidFill>
                  <a:srgbClr val="007AAA"/>
                </a:solidFill>
                <a:latin typeface="Times"/>
                <a:ea typeface="Times"/>
                <a:cs typeface="Times"/>
                <a:sym typeface="Times"/>
              </a:defRPr>
            </a:pPr>
            <a:r>
              <a:rPr lang="zh-CN" altLang="en-US" sz="2400" dirty="0">
                <a:solidFill>
                  <a:schemeClr val="tx1"/>
                </a:solidFill>
                <a:ea typeface="宋体" panose="02010600030101010101" pitchFamily="2" charset="-122"/>
                <a:sym typeface="+mn-ea"/>
              </a:rPr>
              <a:t>突出和强调。使被摄对象占满整个画面空间，引导观众去关注画面中的某些细节。</a:t>
            </a:r>
            <a:endParaRPr kumimoji="0" lang="zh-CN" altLang="en-US" sz="2400" b="0" i="0" u="none" strike="noStrike" cap="none" spc="0" normalizeH="0" baseline="0" dirty="0">
              <a:ln>
                <a:noFill/>
              </a:ln>
              <a:solidFill>
                <a:srgbClr val="000000"/>
              </a:solidFill>
              <a:effectLst/>
              <a:uFillTx/>
              <a:latin typeface="+mj-lt"/>
              <a:ea typeface="+mj-ea"/>
              <a:cs typeface="+mj-cs"/>
              <a:sym typeface="Calibri" panose="020F0502020204030204"/>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1" name="成组"/>
          <p:cNvGrpSpPr/>
          <p:nvPr/>
        </p:nvGrpSpPr>
        <p:grpSpPr>
          <a:xfrm>
            <a:off x="11664003" y="9087534"/>
            <a:ext cx="1214954" cy="757973"/>
            <a:chOff x="-1" y="0"/>
            <a:chExt cx="1214953" cy="757971"/>
          </a:xfrm>
        </p:grpSpPr>
        <p:sp>
          <p:nvSpPr>
            <p:cNvPr id="72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72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73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734" name="成组"/>
          <p:cNvGrpSpPr/>
          <p:nvPr/>
        </p:nvGrpSpPr>
        <p:grpSpPr>
          <a:xfrm>
            <a:off x="139673" y="752796"/>
            <a:ext cx="5462068" cy="567431"/>
            <a:chOff x="-1" y="0"/>
            <a:chExt cx="5462066" cy="567429"/>
          </a:xfrm>
        </p:grpSpPr>
        <p:sp>
          <p:nvSpPr>
            <p:cNvPr id="732"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733"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pic>
        <p:nvPicPr>
          <p:cNvPr id="735" name="10181585817699_.pic_hd.jpg" descr="10181585817699_.pic_hd.jpg"/>
          <p:cNvPicPr>
            <a:picLocks noChangeAspect="1"/>
          </p:cNvPicPr>
          <p:nvPr/>
        </p:nvPicPr>
        <p:blipFill>
          <a:blip r:embed="rId2"/>
          <a:stretch>
            <a:fillRect/>
          </a:stretch>
        </p:blipFill>
        <p:spPr>
          <a:xfrm>
            <a:off x="-178" y="2395398"/>
            <a:ext cx="13004803" cy="6270173"/>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731"/>
                                        </p:tgtEl>
                                        <p:attrNameLst>
                                          <p:attrName>style.visibility</p:attrName>
                                        </p:attrNameLst>
                                      </p:cBhvr>
                                      <p:to>
                                        <p:strVal val="visible"/>
                                      </p:to>
                                    </p:set>
                                    <p:anim calcmode="lin" valueType="num">
                                      <p:cBhvr>
                                        <p:cTn id="7" dur="750" fill="hold"/>
                                        <p:tgtEl>
                                          <p:spTgt spid="731"/>
                                        </p:tgtEl>
                                        <p:attrNameLst>
                                          <p:attrName>ppt_x</p:attrName>
                                        </p:attrNameLst>
                                      </p:cBhvr>
                                      <p:tavLst>
                                        <p:tav tm="0">
                                          <p:val>
                                            <p:strVal val="1+#ppt_w/2"/>
                                          </p:val>
                                        </p:tav>
                                        <p:tav tm="100000">
                                          <p:val>
                                            <p:strVal val="#ppt_x"/>
                                          </p:val>
                                        </p:tav>
                                      </p:tavLst>
                                    </p:anim>
                                    <p:anim calcmode="lin" valueType="num">
                                      <p:cBhvr>
                                        <p:cTn id="8" dur="750" fill="hold"/>
                                        <p:tgtEl>
                                          <p:spTgt spid="7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 grpId="1" bldLvl="0"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中景组"/>
          <p:cNvSpPr txBox="1">
            <a:spLocks noGrp="1"/>
          </p:cNvSpPr>
          <p:nvPr>
            <p:ph type="title"/>
          </p:nvPr>
        </p:nvSpPr>
        <p:spPr>
          <a:xfrm>
            <a:off x="1625600" y="1558925"/>
            <a:ext cx="9753600" cy="809625"/>
          </a:xfrm>
          <a:prstGeom prst="rect">
            <a:avLst/>
          </a:prstGeom>
        </p:spPr>
        <p:txBody>
          <a:bodyPr/>
          <a:lstStyle>
            <a:lvl1pPr>
              <a:defRPr>
                <a:latin typeface="楷体_GB2312"/>
                <a:ea typeface="楷体_GB2312"/>
                <a:cs typeface="楷体_GB2312"/>
                <a:sym typeface="楷体_GB2312"/>
              </a:defRPr>
            </a:lvl1pPr>
          </a:lstStyle>
          <a:p>
            <a:r>
              <a:rPr lang="zh-CN" sz="4400"/>
              <a:t>近</a:t>
            </a:r>
            <a:r>
              <a:rPr sz="4400"/>
              <a:t>  景  组</a:t>
            </a:r>
          </a:p>
        </p:txBody>
      </p:sp>
      <p:sp>
        <p:nvSpPr>
          <p:cNvPr id="331" name="中近景medium close shot——腰以上…"/>
          <p:cNvSpPr txBox="1">
            <a:spLocks noGrp="1"/>
          </p:cNvSpPr>
          <p:nvPr>
            <p:ph type="body" sz="quarter" idx="1"/>
          </p:nvPr>
        </p:nvSpPr>
        <p:spPr>
          <a:xfrm>
            <a:off x="2691765" y="3210560"/>
            <a:ext cx="9342755" cy="5591810"/>
          </a:xfrm>
          <a:prstGeom prst="rect">
            <a:avLst/>
          </a:prstGeom>
        </p:spPr>
        <p:txBody>
          <a:bodyPr>
            <a:normAutofit fontScale="87500"/>
          </a:bodyPr>
          <a:lstStyle/>
          <a:p>
            <a:pPr marL="324485" indent="-324485" defTabSz="906780">
              <a:lnSpc>
                <a:spcPct val="150000"/>
              </a:lnSpc>
              <a:spcBef>
                <a:spcPts val="900"/>
              </a:spcBef>
              <a:buSzPct val="100000"/>
              <a:buChar char="•"/>
              <a:defRPr sz="3100">
                <a:latin typeface="楷体_GB2312"/>
                <a:ea typeface="楷体_GB2312"/>
                <a:cs typeface="楷体_GB2312"/>
                <a:sym typeface="楷体_GB2312"/>
              </a:defRPr>
            </a:pPr>
            <a:endParaRPr/>
          </a:p>
          <a:p>
            <a:pPr marL="324485" indent="-324485" algn="l" defTabSz="906780">
              <a:lnSpc>
                <a:spcPct val="150000"/>
              </a:lnSpc>
              <a:spcBef>
                <a:spcPts val="700"/>
              </a:spcBef>
              <a:buSzPct val="100000"/>
              <a:buChar char="•"/>
              <a:defRPr sz="3100">
                <a:latin typeface="楷体_GB2312"/>
                <a:ea typeface="楷体_GB2312"/>
                <a:cs typeface="楷体_GB2312"/>
                <a:sym typeface="楷体_GB2312"/>
              </a:defRPr>
            </a:pPr>
            <a:r>
              <a:t>近景medium close shot</a:t>
            </a:r>
            <a:r>
              <a:rPr>
                <a:latin typeface="Arial" panose="020B0604020202020204"/>
                <a:ea typeface="Arial" panose="020B0604020202020204"/>
                <a:cs typeface="Arial" panose="020B0604020202020204"/>
                <a:sym typeface="Arial" panose="020B0604020202020204"/>
              </a:rPr>
              <a:t>——</a:t>
            </a:r>
            <a:r>
              <a:t>腰以上</a:t>
            </a:r>
          </a:p>
          <a:p>
            <a:pPr marL="324485" indent="-324485" algn="l" defTabSz="906780">
              <a:lnSpc>
                <a:spcPct val="150000"/>
              </a:lnSpc>
              <a:spcBef>
                <a:spcPts val="700"/>
              </a:spcBef>
              <a:buSzPct val="100000"/>
              <a:buChar char="•"/>
              <a:defRPr sz="3100">
                <a:latin typeface="楷体_GB2312"/>
                <a:ea typeface="楷体_GB2312"/>
                <a:cs typeface="楷体_GB2312"/>
                <a:sym typeface="楷体_GB2312"/>
              </a:defRPr>
            </a:pPr>
            <a:endParaRPr/>
          </a:p>
          <a:p>
            <a:pPr algn="l" defTabSz="906780">
              <a:lnSpc>
                <a:spcPct val="150000"/>
              </a:lnSpc>
              <a:spcBef>
                <a:spcPts val="700"/>
              </a:spcBef>
              <a:buSzPct val="100000"/>
              <a:defRPr sz="3100">
                <a:latin typeface="楷体_GB2312"/>
                <a:ea typeface="楷体_GB2312"/>
                <a:cs typeface="楷体_GB2312"/>
                <a:sym typeface="楷体_GB2312"/>
              </a:defRPr>
            </a:pPr>
            <a:r>
              <a:rPr lang="zh-CN">
                <a:solidFill>
                  <a:srgbClr val="FF0000"/>
                </a:solidFill>
                <a:uFillTx/>
                <a:latin typeface="楷体_GB2312" charset="0"/>
              </a:rPr>
              <a:t>近景镜头</a:t>
            </a:r>
            <a:r>
              <a:rPr lang="zh-CN"/>
              <a:t>可以看清人物的面部表情，又可以看到其上半身的形体及动作。这种镜头常被称为人物</a:t>
            </a:r>
            <a:r>
              <a:rPr lang="en-US" altLang="zh-CN"/>
              <a:t>“</a:t>
            </a:r>
            <a:r>
              <a:rPr lang="zh-CN" altLang="en-US"/>
              <a:t>肖像画</a:t>
            </a:r>
            <a:r>
              <a:rPr lang="en-US" altLang="zh-CN"/>
              <a:t>”</a:t>
            </a:r>
            <a:r>
              <a:rPr lang="zh-CN" altLang="en-US"/>
              <a:t>式的景别。</a:t>
            </a:r>
          </a:p>
          <a:p>
            <a:pPr algn="l" defTabSz="906780">
              <a:lnSpc>
                <a:spcPct val="150000"/>
              </a:lnSpc>
              <a:spcBef>
                <a:spcPts val="700"/>
              </a:spcBef>
              <a:buSzPct val="100000"/>
              <a:defRPr sz="3100">
                <a:latin typeface="楷体_GB2312"/>
                <a:ea typeface="楷体_GB2312"/>
                <a:cs typeface="楷体_GB2312"/>
                <a:sym typeface="楷体_GB2312"/>
              </a:defRPr>
            </a:pPr>
            <a:endParaRPr lang="zh-CN" altLang="en-US"/>
          </a:p>
          <a:p>
            <a:pPr algn="l" defTabSz="906780">
              <a:lnSpc>
                <a:spcPct val="150000"/>
              </a:lnSpc>
              <a:spcBef>
                <a:spcPts val="700"/>
              </a:spcBef>
              <a:buSzPct val="100000"/>
              <a:defRPr sz="3100">
                <a:latin typeface="楷体_GB2312"/>
                <a:ea typeface="楷体_GB2312"/>
                <a:cs typeface="楷体_GB2312"/>
                <a:sym typeface="楷体_GB2312"/>
              </a:defRPr>
            </a:pPr>
            <a:r>
              <a:rPr lang="zh-CN" altLang="en-US"/>
              <a:t>近景镜头在表现对话的正反打镜头中使用较多，表现坐着的人物时（包括电视播报），往往用这一景别。</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31">
                                            <p:txEl>
                                              <p:pRg st="1" end="1"/>
                                            </p:txEl>
                                          </p:spTgt>
                                        </p:tgtEl>
                                        <p:attrNameLst>
                                          <p:attrName>style.visibility</p:attrName>
                                        </p:attrNameLst>
                                      </p:cBhvr>
                                      <p:to>
                                        <p:strVal val="visible"/>
                                      </p:to>
                                    </p:set>
                                    <p:animEffect transition="in" filter="wipe(left)">
                                      <p:cBhvr>
                                        <p:cTn id="7" dur="500"/>
                                        <p:tgtEl>
                                          <p:spTgt spid="3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331">
                                            <p:txEl>
                                              <p:pRg st="3" end="3"/>
                                            </p:txEl>
                                          </p:spTgt>
                                        </p:tgtEl>
                                        <p:attrNameLst>
                                          <p:attrName>style.visibility</p:attrName>
                                        </p:attrNameLst>
                                      </p:cBhvr>
                                      <p:to>
                                        <p:strVal val="visible"/>
                                      </p:to>
                                    </p:set>
                                    <p:animEffect transition="in" filter="wipe(left)">
                                      <p:cBhvr>
                                        <p:cTn id="12" dur="500"/>
                                        <p:tgtEl>
                                          <p:spTgt spid="33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331">
                                            <p:txEl>
                                              <p:pRg st="5" end="5"/>
                                            </p:txEl>
                                          </p:spTgt>
                                        </p:tgtEl>
                                        <p:attrNameLst>
                                          <p:attrName>style.visibility</p:attrName>
                                        </p:attrNameLst>
                                      </p:cBhvr>
                                      <p:to>
                                        <p:strVal val="visible"/>
                                      </p:to>
                                    </p:set>
                                    <p:animEffect transition="in" filter="wipe(left)">
                                      <p:cBhvr>
                                        <p:cTn id="17" dur="500"/>
                                        <p:tgtEl>
                                          <p:spTgt spid="3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1" build="p" animBg="1"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0" name="成组"/>
          <p:cNvGrpSpPr/>
          <p:nvPr/>
        </p:nvGrpSpPr>
        <p:grpSpPr>
          <a:xfrm>
            <a:off x="139669" y="752796"/>
            <a:ext cx="5462070" cy="567431"/>
            <a:chOff x="-1" y="0"/>
            <a:chExt cx="5462068" cy="567429"/>
          </a:xfrm>
        </p:grpSpPr>
        <p:sp>
          <p:nvSpPr>
            <p:cNvPr id="33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33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341" name="10151585817696_.pic_hd.jpg" descr="10151585817696_.pic_hd.jpg"/>
          <p:cNvPicPr>
            <a:picLocks noChangeAspect="1"/>
          </p:cNvPicPr>
          <p:nvPr/>
        </p:nvPicPr>
        <p:blipFill>
          <a:blip r:embed="rId2"/>
          <a:stretch>
            <a:fillRect/>
          </a:stretch>
        </p:blipFill>
        <p:spPr>
          <a:xfrm>
            <a:off x="6815090" y="1075364"/>
            <a:ext cx="5007731" cy="8049464"/>
          </a:xfrm>
          <a:prstGeom prst="rect">
            <a:avLst/>
          </a:prstGeom>
          <a:ln w="12700">
            <a:miter lim="400000"/>
            <a:headEnd/>
            <a:tailEnd/>
          </a:ln>
        </p:spPr>
      </p:pic>
      <p:pic>
        <p:nvPicPr>
          <p:cNvPr id="342" name="10161585817697_.pic_hd.jpg" descr="10161585817697_.pic_hd.jpg"/>
          <p:cNvPicPr>
            <a:picLocks noChangeAspect="1"/>
          </p:cNvPicPr>
          <p:nvPr/>
        </p:nvPicPr>
        <p:blipFill>
          <a:blip r:embed="rId3"/>
          <a:stretch>
            <a:fillRect/>
          </a:stretch>
        </p:blipFill>
        <p:spPr>
          <a:xfrm>
            <a:off x="1309496" y="3568239"/>
            <a:ext cx="5127984" cy="5538223"/>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中景组"/>
          <p:cNvSpPr txBox="1">
            <a:spLocks noGrp="1"/>
          </p:cNvSpPr>
          <p:nvPr>
            <p:ph type="title"/>
          </p:nvPr>
        </p:nvSpPr>
        <p:spPr>
          <a:xfrm>
            <a:off x="1625600" y="1558925"/>
            <a:ext cx="9753600" cy="809625"/>
          </a:xfrm>
          <a:prstGeom prst="rect">
            <a:avLst/>
          </a:prstGeom>
        </p:spPr>
        <p:txBody>
          <a:bodyPr/>
          <a:lstStyle>
            <a:lvl1pPr>
              <a:defRPr>
                <a:latin typeface="楷体_GB2312"/>
                <a:ea typeface="楷体_GB2312"/>
                <a:cs typeface="楷体_GB2312"/>
                <a:sym typeface="楷体_GB2312"/>
              </a:defRPr>
            </a:lvl1pPr>
          </a:lstStyle>
          <a:p>
            <a:r>
              <a:rPr sz="4400"/>
              <a:t>中  景  组</a:t>
            </a:r>
          </a:p>
        </p:txBody>
      </p:sp>
      <p:sp>
        <p:nvSpPr>
          <p:cNvPr id="331" name="中近景medium close shot——腰以上…"/>
          <p:cNvSpPr txBox="1">
            <a:spLocks noGrp="1"/>
          </p:cNvSpPr>
          <p:nvPr>
            <p:ph type="body" sz="quarter" idx="1"/>
          </p:nvPr>
        </p:nvSpPr>
        <p:spPr>
          <a:xfrm>
            <a:off x="2036445" y="2969260"/>
            <a:ext cx="9342755" cy="5591810"/>
          </a:xfrm>
          <a:prstGeom prst="rect">
            <a:avLst/>
          </a:prstGeom>
        </p:spPr>
        <p:txBody>
          <a:bodyPr>
            <a:normAutofit/>
          </a:bodyPr>
          <a:lstStyle/>
          <a:p>
            <a:pPr marL="324485" indent="-324485" defTabSz="906780">
              <a:lnSpc>
                <a:spcPct val="150000"/>
              </a:lnSpc>
              <a:spcBef>
                <a:spcPts val="900"/>
              </a:spcBef>
              <a:buSzPct val="100000"/>
              <a:buChar char="•"/>
              <a:defRPr sz="3100">
                <a:latin typeface="楷体_GB2312"/>
                <a:ea typeface="楷体_GB2312"/>
                <a:cs typeface="楷体_GB2312"/>
                <a:sym typeface="楷体_GB2312"/>
              </a:defRPr>
            </a:pPr>
            <a:endParaRPr/>
          </a:p>
          <a:p>
            <a:pPr marL="324485" indent="-324485" algn="l" defTabSz="906780">
              <a:lnSpc>
                <a:spcPct val="150000"/>
              </a:lnSpc>
              <a:spcBef>
                <a:spcPts val="700"/>
              </a:spcBef>
              <a:buSzPct val="100000"/>
              <a:buChar char="•"/>
              <a:defRPr sz="3100">
                <a:latin typeface="楷体_GB2312"/>
                <a:ea typeface="楷体_GB2312"/>
                <a:cs typeface="楷体_GB2312"/>
                <a:sym typeface="楷体_GB2312"/>
              </a:defRPr>
            </a:pPr>
            <a:r>
              <a:t>中景medium shot</a:t>
            </a:r>
            <a:r>
              <a:rPr>
                <a:latin typeface="Arial" panose="020B0604020202020204"/>
                <a:ea typeface="Arial" panose="020B0604020202020204"/>
                <a:cs typeface="Arial" panose="020B0604020202020204"/>
                <a:sym typeface="Arial" panose="020B0604020202020204"/>
              </a:rPr>
              <a:t>——</a:t>
            </a:r>
            <a:r>
              <a:t>膝以上</a:t>
            </a:r>
          </a:p>
          <a:p>
            <a:pPr algn="l" defTabSz="906780">
              <a:lnSpc>
                <a:spcPct val="150000"/>
              </a:lnSpc>
              <a:spcBef>
                <a:spcPts val="700"/>
              </a:spcBef>
              <a:buSzPct val="100000"/>
              <a:defRPr sz="3100">
                <a:latin typeface="楷体_GB2312"/>
                <a:ea typeface="楷体_GB2312"/>
                <a:cs typeface="楷体_GB2312"/>
                <a:sym typeface="楷体_GB2312"/>
              </a:defRPr>
            </a:pPr>
            <a:r>
              <a:rPr lang="zh-CN">
                <a:solidFill>
                  <a:srgbClr val="FF0000"/>
                </a:solidFill>
                <a:uFillTx/>
                <a:latin typeface="楷体_GB2312" charset="0"/>
              </a:rPr>
              <a:t>中景镜头</a:t>
            </a:r>
            <a:r>
              <a:rPr lang="zh-CN"/>
              <a:t>可以看清人物的面部表情，又可以看到其上半身的形体及运动，也可以表现多个人物，同时还可以在一定程度上揭示人物之间以及人物与所处环境之间的关系，具有强烈的叙事功能。</a:t>
            </a:r>
            <a:endParaRPr lang="zh-CN" altLang="en-US"/>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31">
                                            <p:txEl>
                                              <p:pRg st="1" end="1"/>
                                            </p:txEl>
                                          </p:spTgt>
                                        </p:tgtEl>
                                        <p:attrNameLst>
                                          <p:attrName>style.visibility</p:attrName>
                                        </p:attrNameLst>
                                      </p:cBhvr>
                                      <p:to>
                                        <p:strVal val="visible"/>
                                      </p:to>
                                    </p:set>
                                    <p:animEffect transition="in" filter="wipe(left)">
                                      <p:cBhvr>
                                        <p:cTn id="7" dur="500"/>
                                        <p:tgtEl>
                                          <p:spTgt spid="3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331">
                                            <p:txEl>
                                              <p:pRg st="2" end="2"/>
                                            </p:txEl>
                                          </p:spTgt>
                                        </p:tgtEl>
                                        <p:attrNameLst>
                                          <p:attrName>style.visibility</p:attrName>
                                        </p:attrNameLst>
                                      </p:cBhvr>
                                      <p:to>
                                        <p:strVal val="visible"/>
                                      </p:to>
                                    </p:set>
                                    <p:animEffect transition="in" filter="wipe(left)">
                                      <p:cBhvr>
                                        <p:cTn id="12" dur="500"/>
                                        <p:tgtEl>
                                          <p:spTgt spid="3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1" build="p"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7" name="成组"/>
          <p:cNvGrpSpPr/>
          <p:nvPr/>
        </p:nvGrpSpPr>
        <p:grpSpPr>
          <a:xfrm>
            <a:off x="11101925" y="8248376"/>
            <a:ext cx="1214954" cy="757973"/>
            <a:chOff x="-1" y="0"/>
            <a:chExt cx="1214953" cy="757971"/>
          </a:xfrm>
        </p:grpSpPr>
        <p:sp>
          <p:nvSpPr>
            <p:cNvPr id="34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4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34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350" name="成组"/>
          <p:cNvGrpSpPr/>
          <p:nvPr/>
        </p:nvGrpSpPr>
        <p:grpSpPr>
          <a:xfrm>
            <a:off x="139669" y="752796"/>
            <a:ext cx="5462070" cy="567431"/>
            <a:chOff x="-1" y="0"/>
            <a:chExt cx="5462068" cy="567429"/>
          </a:xfrm>
        </p:grpSpPr>
        <p:sp>
          <p:nvSpPr>
            <p:cNvPr id="34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34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351" name="中景的功能"/>
          <p:cNvSpPr txBox="1"/>
          <p:nvPr/>
        </p:nvSpPr>
        <p:spPr>
          <a:xfrm>
            <a:off x="5018534" y="3253233"/>
            <a:ext cx="2967731" cy="897631"/>
          </a:xfrm>
          <a:prstGeom prst="rect">
            <a:avLst/>
          </a:prstGeom>
          <a:ln w="12700">
            <a:miter lim="400000"/>
          </a:ln>
        </p:spPr>
        <p:txBody>
          <a:bodyPr wrap="none" lIns="48765" tIns="48765" rIns="48765" bIns="48765">
            <a:spAutoFit/>
          </a:bodyPr>
          <a:lstStyle>
            <a:lvl1pPr algn="ctr">
              <a:lnSpc>
                <a:spcPct val="90000"/>
              </a:lnSpc>
              <a:defRPr sz="4500">
                <a:latin typeface="楷体_GB2312"/>
                <a:ea typeface="楷体_GB2312"/>
                <a:cs typeface="楷体_GB2312"/>
                <a:sym typeface="楷体_GB2312"/>
              </a:defRPr>
            </a:lvl1pPr>
          </a:lstStyle>
          <a:p>
            <a:r>
              <a:t>中景的功能</a:t>
            </a:r>
          </a:p>
        </p:txBody>
      </p:sp>
      <p:sp>
        <p:nvSpPr>
          <p:cNvPr id="352" name="数量最多，最常见的叙事性景别…"/>
          <p:cNvSpPr txBox="1"/>
          <p:nvPr/>
        </p:nvSpPr>
        <p:spPr>
          <a:xfrm>
            <a:off x="3719522" y="4223725"/>
            <a:ext cx="5826125" cy="2563495"/>
          </a:xfrm>
          <a:prstGeom prst="rect">
            <a:avLst/>
          </a:prstGeom>
          <a:ln w="12700">
            <a:miter lim="400000"/>
          </a:ln>
        </p:spPr>
        <p:txBody>
          <a:bodyPr wrap="none" lIns="48765" tIns="48765" rIns="48765" bIns="48765">
            <a:spAutoFit/>
          </a:bodyPr>
          <a:lstStyle/>
          <a:p>
            <a:pPr marL="395605" indent="-395605" algn="ctr" defTabSz="1105535">
              <a:lnSpc>
                <a:spcPct val="90000"/>
              </a:lnSpc>
              <a:spcBef>
                <a:spcPts val="1100"/>
              </a:spcBef>
              <a:buSzPct val="100000"/>
              <a:buChar char="•"/>
              <a:defRPr sz="3000">
                <a:latin typeface="楷体_GB2312"/>
                <a:ea typeface="楷体_GB2312"/>
                <a:cs typeface="楷体_GB2312"/>
                <a:sym typeface="楷体_GB2312"/>
              </a:defRPr>
            </a:pPr>
            <a:endParaRPr/>
          </a:p>
          <a:p>
            <a:pPr marL="395605" indent="-395605" algn="ctr" defTabSz="1105535">
              <a:lnSpc>
                <a:spcPct val="200000"/>
              </a:lnSpc>
              <a:spcBef>
                <a:spcPts val="800"/>
              </a:spcBef>
              <a:buSzPct val="100000"/>
              <a:buChar char="•"/>
              <a:defRPr sz="3000">
                <a:latin typeface="楷体_GB2312"/>
                <a:ea typeface="楷体_GB2312"/>
                <a:cs typeface="楷体_GB2312"/>
                <a:sym typeface="楷体_GB2312"/>
              </a:defRPr>
            </a:pPr>
            <a:r>
              <a:t>数量最多，最常见的叙事性景别</a:t>
            </a:r>
          </a:p>
          <a:p>
            <a:pPr marL="395605" indent="-395605" algn="ctr" defTabSz="1105535">
              <a:lnSpc>
                <a:spcPct val="200000"/>
              </a:lnSpc>
              <a:spcBef>
                <a:spcPts val="800"/>
              </a:spcBef>
              <a:buSzPct val="100000"/>
              <a:buChar char="•"/>
              <a:defRPr sz="3000">
                <a:latin typeface="楷体_GB2312"/>
                <a:ea typeface="楷体_GB2312"/>
                <a:cs typeface="楷体_GB2312"/>
                <a:sym typeface="楷体_GB2312"/>
              </a:defRPr>
            </a:pPr>
            <a:r>
              <a:t>是全景和特写之间的过渡</a:t>
            </a:r>
          </a:p>
        </p:txBody>
      </p:sp>
      <p:sp>
        <p:nvSpPr>
          <p:cNvPr id="353" name="影视鉴赏的声画元素"/>
          <p:cNvSpPr txBox="1"/>
          <p:nvPr/>
        </p:nvSpPr>
        <p:spPr>
          <a:xfrm>
            <a:off x="7236086" y="8324597"/>
            <a:ext cx="3409428" cy="605531"/>
          </a:xfrm>
          <a:prstGeom prst="rect">
            <a:avLst/>
          </a:prstGeom>
          <a:ln w="12700">
            <a:miter lim="400000"/>
          </a:ln>
        </p:spPr>
        <p:txBody>
          <a:bodyPr wrap="none"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347"/>
                                        </p:tgtEl>
                                        <p:attrNameLst>
                                          <p:attrName>style.visibility</p:attrName>
                                        </p:attrNameLst>
                                      </p:cBhvr>
                                      <p:to>
                                        <p:strVal val="visible"/>
                                      </p:to>
                                    </p:set>
                                    <p:anim calcmode="lin" valueType="num">
                                      <p:cBhvr>
                                        <p:cTn id="7" dur="750" fill="hold"/>
                                        <p:tgtEl>
                                          <p:spTgt spid="347"/>
                                        </p:tgtEl>
                                        <p:attrNameLst>
                                          <p:attrName>ppt_x</p:attrName>
                                        </p:attrNameLst>
                                      </p:cBhvr>
                                      <p:tavLst>
                                        <p:tav tm="0">
                                          <p:val>
                                            <p:strVal val="1+#ppt_w/2"/>
                                          </p:val>
                                        </p:tav>
                                        <p:tav tm="100000">
                                          <p:val>
                                            <p:strVal val="#ppt_x"/>
                                          </p:val>
                                        </p:tav>
                                      </p:tavLst>
                                    </p:anim>
                                    <p:anim calcmode="lin" valueType="num">
                                      <p:cBhvr>
                                        <p:cTn id="8" dur="750" fill="hold"/>
                                        <p:tgtEl>
                                          <p:spTgt spid="3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1"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中景的局限性"/>
          <p:cNvSpPr txBox="1">
            <a:spLocks noGrp="1"/>
          </p:cNvSpPr>
          <p:nvPr>
            <p:ph type="title"/>
          </p:nvPr>
        </p:nvSpPr>
        <p:spPr>
          <a:xfrm>
            <a:off x="1625598" y="2416386"/>
            <a:ext cx="9753604" cy="2546776"/>
          </a:xfrm>
          <a:prstGeom prst="rect">
            <a:avLst/>
          </a:prstGeom>
        </p:spPr>
        <p:txBody>
          <a:bodyPr/>
          <a:lstStyle>
            <a:lvl1pPr>
              <a:defRPr>
                <a:latin typeface="楷体_GB2312"/>
                <a:ea typeface="楷体_GB2312"/>
                <a:cs typeface="楷体_GB2312"/>
                <a:sym typeface="楷体_GB2312"/>
              </a:defRPr>
            </a:lvl1pPr>
          </a:lstStyle>
          <a:p>
            <a:r>
              <a:t>中景的局限性</a:t>
            </a:r>
          </a:p>
        </p:txBody>
      </p:sp>
      <p:sp>
        <p:nvSpPr>
          <p:cNvPr id="359" name="缺乏感染力…"/>
          <p:cNvSpPr txBox="1">
            <a:spLocks noGrp="1"/>
          </p:cNvSpPr>
          <p:nvPr>
            <p:ph type="body" sz="quarter" idx="1"/>
          </p:nvPr>
        </p:nvSpPr>
        <p:spPr>
          <a:xfrm>
            <a:off x="1625598" y="5061372"/>
            <a:ext cx="9753604" cy="1766154"/>
          </a:xfrm>
          <a:prstGeom prst="rect">
            <a:avLst/>
          </a:prstGeom>
        </p:spPr>
        <p:txBody>
          <a:bodyPr/>
          <a:lstStyle/>
          <a:p>
            <a:pPr marL="236855" indent="-236855" defTabSz="674370">
              <a:spcBef>
                <a:spcPts val="600"/>
              </a:spcBef>
              <a:buSzPct val="100000"/>
              <a:buChar char="•"/>
              <a:defRPr sz="2200">
                <a:latin typeface="楷体_GB2312"/>
                <a:ea typeface="楷体_GB2312"/>
                <a:cs typeface="楷体_GB2312"/>
                <a:sym typeface="楷体_GB2312"/>
              </a:defRPr>
            </a:pPr>
            <a:endParaRPr/>
          </a:p>
          <a:p>
            <a:pPr marL="236855" indent="-236855" defTabSz="674370">
              <a:spcBef>
                <a:spcPts val="500"/>
              </a:spcBef>
              <a:buSzPct val="100000"/>
              <a:buChar char="•"/>
              <a:defRPr sz="2200">
                <a:latin typeface="楷体_GB2312"/>
                <a:ea typeface="楷体_GB2312"/>
                <a:cs typeface="楷体_GB2312"/>
                <a:sym typeface="楷体_GB2312"/>
              </a:defRPr>
            </a:pPr>
            <a:r>
              <a:t>缺乏感染力</a:t>
            </a:r>
          </a:p>
          <a:p>
            <a:pPr marL="236855" indent="-236855" defTabSz="674370">
              <a:spcBef>
                <a:spcPts val="500"/>
              </a:spcBef>
              <a:buSzPct val="100000"/>
              <a:buChar char="•"/>
              <a:defRPr sz="2200">
                <a:latin typeface="楷体_GB2312"/>
                <a:ea typeface="楷体_GB2312"/>
                <a:cs typeface="楷体_GB2312"/>
                <a:sym typeface="楷体_GB2312"/>
              </a:defRPr>
            </a:pPr>
            <a:r>
              <a:t>人物和景物都不清楚</a:t>
            </a:r>
          </a:p>
          <a:p>
            <a:pPr marL="236855" indent="-236855" defTabSz="674370">
              <a:spcBef>
                <a:spcPts val="500"/>
              </a:spcBef>
              <a:buSzPct val="100000"/>
              <a:buChar char="•"/>
              <a:defRPr sz="2200">
                <a:latin typeface="楷体_GB2312"/>
                <a:ea typeface="楷体_GB2312"/>
                <a:cs typeface="楷体_GB2312"/>
                <a:sym typeface="楷体_GB2312"/>
              </a:defRPr>
            </a:pPr>
            <a:r>
              <a:t>难于左右观众的注意力</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59">
                                            <p:txEl>
                                              <p:pRg st="1" end="1"/>
                                            </p:txEl>
                                          </p:spTgt>
                                        </p:tgtEl>
                                        <p:attrNameLst>
                                          <p:attrName>style.visibility</p:attrName>
                                        </p:attrNameLst>
                                      </p:cBhvr>
                                      <p:to>
                                        <p:strVal val="visible"/>
                                      </p:to>
                                    </p:set>
                                    <p:animEffect transition="in" filter="wipe(left)">
                                      <p:cBhvr>
                                        <p:cTn id="7" dur="500"/>
                                        <p:tgtEl>
                                          <p:spTgt spid="3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359">
                                            <p:txEl>
                                              <p:pRg st="2" end="2"/>
                                            </p:txEl>
                                          </p:spTgt>
                                        </p:tgtEl>
                                        <p:attrNameLst>
                                          <p:attrName>style.visibility</p:attrName>
                                        </p:attrNameLst>
                                      </p:cBhvr>
                                      <p:to>
                                        <p:strVal val="visible"/>
                                      </p:to>
                                    </p:set>
                                    <p:animEffect transition="in" filter="wipe(left)">
                                      <p:cBhvr>
                                        <p:cTn id="12" dur="500"/>
                                        <p:tgtEl>
                                          <p:spTgt spid="3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359">
                                            <p:txEl>
                                              <p:pRg st="3" end="3"/>
                                            </p:txEl>
                                          </p:spTgt>
                                        </p:tgtEl>
                                        <p:attrNameLst>
                                          <p:attrName>style.visibility</p:attrName>
                                        </p:attrNameLst>
                                      </p:cBhvr>
                                      <p:to>
                                        <p:strVal val="visible"/>
                                      </p:to>
                                    </p:set>
                                    <p:animEffect transition="in" filter="wipe(left)">
                                      <p:cBhvr>
                                        <p:cTn id="17" dur="500"/>
                                        <p:tgtEl>
                                          <p:spTgt spid="3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 grpId="1" build="p" animBg="1" advAuto="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全景组"/>
          <p:cNvSpPr txBox="1">
            <a:spLocks noGrp="1"/>
          </p:cNvSpPr>
          <p:nvPr>
            <p:ph type="title"/>
          </p:nvPr>
        </p:nvSpPr>
        <p:spPr>
          <a:xfrm>
            <a:off x="1625598" y="1578821"/>
            <a:ext cx="9753604" cy="2546776"/>
          </a:xfrm>
          <a:prstGeom prst="rect">
            <a:avLst/>
          </a:prstGeom>
        </p:spPr>
        <p:txBody>
          <a:bodyPr/>
          <a:lstStyle>
            <a:lvl1pPr>
              <a:defRPr>
                <a:latin typeface="楷体_GB2312"/>
                <a:ea typeface="楷体_GB2312"/>
                <a:cs typeface="楷体_GB2312"/>
                <a:sym typeface="楷体_GB2312"/>
              </a:defRPr>
            </a:lvl1pPr>
          </a:lstStyle>
          <a:p>
            <a:r>
              <a:t>全 景 组 </a:t>
            </a:r>
          </a:p>
        </p:txBody>
      </p:sp>
      <p:sp>
        <p:nvSpPr>
          <p:cNvPr id="362" name="人全full-length shot——人的全身…"/>
          <p:cNvSpPr txBox="1">
            <a:spLocks noGrp="1"/>
          </p:cNvSpPr>
          <p:nvPr>
            <p:ph type="body" sz="quarter" idx="1"/>
          </p:nvPr>
        </p:nvSpPr>
        <p:spPr>
          <a:xfrm>
            <a:off x="4216398" y="4286672"/>
            <a:ext cx="9753604" cy="1766154"/>
          </a:xfrm>
          <a:prstGeom prst="rect">
            <a:avLst/>
          </a:prstGeom>
        </p:spPr>
        <p:txBody>
          <a:bodyPr>
            <a:normAutofit fontScale="90000" lnSpcReduction="20000"/>
          </a:bodyPr>
          <a:lstStyle/>
          <a:p>
            <a:pPr marL="233045" indent="-233045" defTabSz="663575">
              <a:spcBef>
                <a:spcPts val="600"/>
              </a:spcBef>
              <a:buSzPct val="100000"/>
              <a:buChar char="•"/>
              <a:defRPr sz="2200">
                <a:latin typeface="楷体_GB2312"/>
                <a:ea typeface="楷体_GB2312"/>
                <a:cs typeface="楷体_GB2312"/>
                <a:sym typeface="楷体_GB2312"/>
              </a:defRPr>
            </a:pPr>
            <a:endParaRPr/>
          </a:p>
          <a:p>
            <a:pPr marL="233045" indent="-233045" algn="l" defTabSz="663575">
              <a:lnSpc>
                <a:spcPct val="150000"/>
              </a:lnSpc>
              <a:spcBef>
                <a:spcPts val="500"/>
              </a:spcBef>
              <a:buSzPct val="100000"/>
              <a:buChar char="•"/>
              <a:defRPr sz="2200">
                <a:latin typeface="楷体_GB2312"/>
                <a:ea typeface="楷体_GB2312"/>
                <a:cs typeface="楷体_GB2312"/>
                <a:sym typeface="楷体_GB2312"/>
              </a:defRPr>
            </a:pPr>
            <a:r>
              <a:t>人全full-length shot</a:t>
            </a:r>
            <a:r>
              <a:rPr>
                <a:latin typeface="Arial" panose="020B0604020202020204"/>
                <a:ea typeface="Arial" panose="020B0604020202020204"/>
                <a:cs typeface="Arial" panose="020B0604020202020204"/>
                <a:sym typeface="Arial" panose="020B0604020202020204"/>
              </a:rPr>
              <a:t>——</a:t>
            </a:r>
            <a:r>
              <a:t>人的全身</a:t>
            </a:r>
          </a:p>
          <a:p>
            <a:pPr marL="233045" indent="-233045" algn="l" defTabSz="663575">
              <a:lnSpc>
                <a:spcPct val="150000"/>
              </a:lnSpc>
              <a:spcBef>
                <a:spcPts val="500"/>
              </a:spcBef>
              <a:buSzPct val="100000"/>
              <a:buChar char="•"/>
              <a:defRPr sz="2200">
                <a:latin typeface="楷体_GB2312"/>
                <a:ea typeface="楷体_GB2312"/>
                <a:cs typeface="楷体_GB2312"/>
                <a:sym typeface="楷体_GB2312"/>
              </a:defRPr>
            </a:pPr>
            <a:r>
              <a:t>全景full shot</a:t>
            </a:r>
            <a:r>
              <a:rPr>
                <a:latin typeface="Arial" panose="020B0604020202020204"/>
                <a:ea typeface="Arial" panose="020B0604020202020204"/>
                <a:cs typeface="Arial" panose="020B0604020202020204"/>
                <a:sym typeface="Arial" panose="020B0604020202020204"/>
              </a:rPr>
              <a:t>——</a:t>
            </a:r>
            <a:r>
              <a:t>一个场面的全貌</a:t>
            </a:r>
          </a:p>
          <a:p>
            <a:pPr marL="233045" indent="-233045" algn="l" defTabSz="663575">
              <a:lnSpc>
                <a:spcPct val="150000"/>
              </a:lnSpc>
              <a:spcBef>
                <a:spcPts val="500"/>
              </a:spcBef>
              <a:buSzPct val="100000"/>
              <a:buChar char="•"/>
              <a:defRPr sz="2200">
                <a:latin typeface="楷体_GB2312"/>
                <a:ea typeface="楷体_GB2312"/>
                <a:cs typeface="楷体_GB2312"/>
                <a:sym typeface="楷体_GB2312"/>
              </a:defRPr>
            </a:pPr>
            <a:r>
              <a:t>远景long shot</a:t>
            </a:r>
            <a:r>
              <a:rPr>
                <a:latin typeface="Arial" panose="020B0604020202020204"/>
                <a:ea typeface="Arial" panose="020B0604020202020204"/>
                <a:cs typeface="Arial" panose="020B0604020202020204"/>
                <a:sym typeface="Arial" panose="020B0604020202020204"/>
              </a:rPr>
              <a:t>——</a:t>
            </a:r>
            <a:r>
              <a:t>人物比例很小的外景镜头</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62">
                                            <p:txEl>
                                              <p:pRg st="1" end="1"/>
                                            </p:txEl>
                                          </p:spTgt>
                                        </p:tgtEl>
                                        <p:attrNameLst>
                                          <p:attrName>style.visibility</p:attrName>
                                        </p:attrNameLst>
                                      </p:cBhvr>
                                      <p:to>
                                        <p:strVal val="visible"/>
                                      </p:to>
                                    </p:set>
                                    <p:animEffect transition="in" filter="wipe(left)">
                                      <p:cBhvr>
                                        <p:cTn id="7" dur="500"/>
                                        <p:tgtEl>
                                          <p:spTgt spid="3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362">
                                            <p:txEl>
                                              <p:pRg st="2" end="2"/>
                                            </p:txEl>
                                          </p:spTgt>
                                        </p:tgtEl>
                                        <p:attrNameLst>
                                          <p:attrName>style.visibility</p:attrName>
                                        </p:attrNameLst>
                                      </p:cBhvr>
                                      <p:to>
                                        <p:strVal val="visible"/>
                                      </p:to>
                                    </p:set>
                                    <p:animEffect transition="in" filter="wipe(left)">
                                      <p:cBhvr>
                                        <p:cTn id="12" dur="500"/>
                                        <p:tgtEl>
                                          <p:spTgt spid="3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362">
                                            <p:txEl>
                                              <p:pRg st="3" end="3"/>
                                            </p:txEl>
                                          </p:spTgt>
                                        </p:tgtEl>
                                        <p:attrNameLst>
                                          <p:attrName>style.visibility</p:attrName>
                                        </p:attrNameLst>
                                      </p:cBhvr>
                                      <p:to>
                                        <p:strVal val="visible"/>
                                      </p:to>
                                    </p:set>
                                    <p:animEffect transition="in" filter="wipe(left)">
                                      <p:cBhvr>
                                        <p:cTn id="17" dur="500"/>
                                        <p:tgtEl>
                                          <p:spTgt spid="3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 grpId="1" build="p" animBg="1" advAuto="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中景组"/>
          <p:cNvSpPr txBox="1">
            <a:spLocks noGrp="1"/>
          </p:cNvSpPr>
          <p:nvPr>
            <p:ph type="title"/>
          </p:nvPr>
        </p:nvSpPr>
        <p:spPr>
          <a:xfrm>
            <a:off x="1625600" y="1558925"/>
            <a:ext cx="9753600" cy="809625"/>
          </a:xfrm>
          <a:prstGeom prst="rect">
            <a:avLst/>
          </a:prstGeom>
        </p:spPr>
        <p:txBody>
          <a:bodyPr/>
          <a:lstStyle>
            <a:lvl1pPr>
              <a:defRPr>
                <a:latin typeface="楷体_GB2312"/>
                <a:ea typeface="楷体_GB2312"/>
                <a:cs typeface="楷体_GB2312"/>
                <a:sym typeface="楷体_GB2312"/>
              </a:defRPr>
            </a:lvl1pPr>
          </a:lstStyle>
          <a:p>
            <a:r>
              <a:rPr lang="zh-CN" sz="4400"/>
              <a:t>全</a:t>
            </a:r>
            <a:r>
              <a:rPr sz="4400"/>
              <a:t> 景 </a:t>
            </a:r>
          </a:p>
        </p:txBody>
      </p:sp>
      <p:sp>
        <p:nvSpPr>
          <p:cNvPr id="331" name="中近景medium close shot——腰以上…"/>
          <p:cNvSpPr txBox="1">
            <a:spLocks noGrp="1"/>
          </p:cNvSpPr>
          <p:nvPr>
            <p:ph type="body" sz="quarter" idx="1"/>
          </p:nvPr>
        </p:nvSpPr>
        <p:spPr>
          <a:xfrm>
            <a:off x="1831340" y="3355340"/>
            <a:ext cx="9342755" cy="5591810"/>
          </a:xfrm>
          <a:prstGeom prst="rect">
            <a:avLst/>
          </a:prstGeom>
        </p:spPr>
        <p:txBody>
          <a:bodyPr>
            <a:normAutofit/>
          </a:bodyPr>
          <a:lstStyle/>
          <a:p>
            <a:pPr marL="324485" indent="-324485" algn="l" defTabSz="906780">
              <a:lnSpc>
                <a:spcPct val="150000"/>
              </a:lnSpc>
              <a:spcBef>
                <a:spcPts val="900"/>
              </a:spcBef>
              <a:buSzPct val="100000"/>
              <a:buChar char="•"/>
              <a:defRPr sz="3100">
                <a:latin typeface="楷体_GB2312"/>
                <a:ea typeface="楷体_GB2312"/>
                <a:cs typeface="楷体_GB2312"/>
                <a:sym typeface="楷体_GB2312"/>
              </a:defRPr>
            </a:pPr>
            <a:r>
              <a:rPr lang="zh-CN">
                <a:solidFill>
                  <a:srgbClr val="FF0000"/>
                </a:solidFill>
                <a:uFillTx/>
                <a:latin typeface="楷体_GB2312" charset="0"/>
              </a:rPr>
              <a:t>全景镜头</a:t>
            </a:r>
            <a:r>
              <a:rPr lang="zh-CN"/>
              <a:t>表现人物全身或一个完整场景。全景重点在表现人物的形体动作，以及人物与环境之间的关系。镜头与所摄对象较远，人物表情相对弱化，情感性、主观性变弱，具有较强的客观性，它所模拟的是</a:t>
            </a:r>
            <a:r>
              <a:rPr lang="en-US" altLang="zh-CN"/>
              <a:t>“</a:t>
            </a:r>
            <a:r>
              <a:rPr lang="zh-CN" altLang="en-US"/>
              <a:t>旁观者</a:t>
            </a:r>
            <a:r>
              <a:rPr lang="en-US" altLang="zh-CN"/>
              <a:t>”</a:t>
            </a:r>
            <a:r>
              <a:rPr lang="zh-CN" altLang="en-US"/>
              <a:t>的视点。</a:t>
            </a:r>
          </a:p>
          <a:p>
            <a:pPr marL="324485" indent="-324485" algn="l" defTabSz="906780">
              <a:lnSpc>
                <a:spcPct val="150000"/>
              </a:lnSpc>
              <a:spcBef>
                <a:spcPts val="900"/>
              </a:spcBef>
              <a:buSzPct val="100000"/>
              <a:buChar char="•"/>
              <a:defRPr sz="3100">
                <a:latin typeface="楷体_GB2312"/>
                <a:ea typeface="楷体_GB2312"/>
                <a:cs typeface="楷体_GB2312"/>
                <a:sym typeface="楷体_GB2312"/>
              </a:defRPr>
            </a:pPr>
            <a:endParaRPr lang="zh-CN" altLang="en-US"/>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31">
                                            <p:txEl>
                                              <p:pRg st="0" end="0"/>
                                            </p:txEl>
                                          </p:spTgt>
                                        </p:tgtEl>
                                        <p:attrNameLst>
                                          <p:attrName>style.visibility</p:attrName>
                                        </p:attrNameLst>
                                      </p:cBhvr>
                                      <p:to>
                                        <p:strVal val="visible"/>
                                      </p:to>
                                    </p:set>
                                    <p:animEffect transition="in" filter="wipe(left)">
                                      <p:cBhvr>
                                        <p:cTn id="7" dur="500"/>
                                        <p:tgtEl>
                                          <p:spTgt spid="3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1" build="p" animBg="1" advAuto="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6" name="成组"/>
          <p:cNvGrpSpPr/>
          <p:nvPr/>
        </p:nvGrpSpPr>
        <p:grpSpPr>
          <a:xfrm>
            <a:off x="139669" y="752796"/>
            <a:ext cx="5462070" cy="567431"/>
            <a:chOff x="-1" y="0"/>
            <a:chExt cx="5462068" cy="567429"/>
          </a:xfrm>
        </p:grpSpPr>
        <p:sp>
          <p:nvSpPr>
            <p:cNvPr id="364"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365"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367" name="9921585817469_.pic.jpg" descr="9921585817469_.pic.jpg"/>
          <p:cNvPicPr>
            <a:picLocks noChangeAspect="1"/>
          </p:cNvPicPr>
          <p:nvPr/>
        </p:nvPicPr>
        <p:blipFill>
          <a:blip r:embed="rId2"/>
          <a:srcRect b="29202"/>
          <a:stretch>
            <a:fillRect/>
          </a:stretch>
        </p:blipFill>
        <p:spPr>
          <a:xfrm>
            <a:off x="5867844" y="1174834"/>
            <a:ext cx="7080255" cy="8521457"/>
          </a:xfrm>
          <a:prstGeom prst="rect">
            <a:avLst/>
          </a:prstGeom>
          <a:ln w="12700">
            <a:miter lim="400000"/>
            <a:headEnd/>
            <a:tailEnd/>
          </a:ln>
        </p:spPr>
      </p:pic>
      <p:pic>
        <p:nvPicPr>
          <p:cNvPr id="368" name="9921585817469_.pic.jpg" descr="9921585817469_.pic.jpg"/>
          <p:cNvPicPr>
            <a:picLocks noChangeAspect="1"/>
          </p:cNvPicPr>
          <p:nvPr/>
        </p:nvPicPr>
        <p:blipFill>
          <a:blip r:embed="rId2"/>
          <a:srcRect t="70974"/>
          <a:stretch>
            <a:fillRect/>
          </a:stretch>
        </p:blipFill>
        <p:spPr>
          <a:xfrm>
            <a:off x="-196033" y="5200413"/>
            <a:ext cx="6133295" cy="3026356"/>
          </a:xfrm>
          <a:prstGeom prst="rect">
            <a:avLst/>
          </a:prstGeom>
          <a:ln w="12700">
            <a:miter lim="400000"/>
            <a:headEnd/>
            <a:tailEnd/>
          </a:ln>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0" name="02.mp4" descr="02.mp4"/>
          <p:cNvPicPr/>
          <p:nvPr>
            <a:videoFile r:link="rId2"/>
            <p:extLst>
              <p:ext uri="{DAA4B4D4-6D71-4841-9C94-3DE7FCFB9230}">
                <p14:media xmlns:p14="http://schemas.microsoft.com/office/powerpoint/2010/main" r:link="rId1"/>
              </p:ext>
            </p:extLst>
          </p:nvPr>
        </p:nvPicPr>
        <p:blipFill>
          <a:blip r:embed="rId4"/>
          <a:stretch>
            <a:fillRect/>
          </a:stretch>
        </p:blipFill>
        <p:spPr>
          <a:xfrm>
            <a:off x="0" y="0"/>
            <a:ext cx="13004800" cy="8757919"/>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7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370"/>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5" name="成组"/>
          <p:cNvGrpSpPr/>
          <p:nvPr/>
        </p:nvGrpSpPr>
        <p:grpSpPr>
          <a:xfrm>
            <a:off x="11101925" y="8248376"/>
            <a:ext cx="1214954" cy="757973"/>
            <a:chOff x="-1" y="0"/>
            <a:chExt cx="1214953" cy="757971"/>
          </a:xfrm>
        </p:grpSpPr>
        <p:sp>
          <p:nvSpPr>
            <p:cNvPr id="372"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73"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374"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378" name="成组"/>
          <p:cNvGrpSpPr/>
          <p:nvPr/>
        </p:nvGrpSpPr>
        <p:grpSpPr>
          <a:xfrm>
            <a:off x="139669" y="752796"/>
            <a:ext cx="5462070" cy="567431"/>
            <a:chOff x="-1" y="0"/>
            <a:chExt cx="5462068" cy="567429"/>
          </a:xfrm>
        </p:grpSpPr>
        <p:sp>
          <p:nvSpPr>
            <p:cNvPr id="376"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377"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379" name="全 景 的 功 能"/>
          <p:cNvSpPr txBox="1"/>
          <p:nvPr/>
        </p:nvSpPr>
        <p:spPr>
          <a:xfrm>
            <a:off x="4205673" y="2884933"/>
            <a:ext cx="3602855" cy="897631"/>
          </a:xfrm>
          <a:prstGeom prst="rect">
            <a:avLst/>
          </a:prstGeom>
          <a:ln w="12700">
            <a:miter lim="400000"/>
          </a:ln>
        </p:spPr>
        <p:txBody>
          <a:bodyPr wrap="none" lIns="48765" tIns="48765" rIns="48765" bIns="48765">
            <a:spAutoFit/>
          </a:bodyPr>
          <a:lstStyle>
            <a:lvl1pPr algn="ctr">
              <a:lnSpc>
                <a:spcPct val="90000"/>
              </a:lnSpc>
              <a:defRPr sz="4500">
                <a:latin typeface="楷体_GB2312"/>
                <a:ea typeface="楷体_GB2312"/>
                <a:cs typeface="楷体_GB2312"/>
                <a:sym typeface="楷体_GB2312"/>
              </a:defRPr>
            </a:lvl1pPr>
          </a:lstStyle>
          <a:p>
            <a:r>
              <a:t>全 景 的 功 能</a:t>
            </a:r>
          </a:p>
        </p:txBody>
      </p:sp>
      <p:sp>
        <p:nvSpPr>
          <p:cNvPr id="380" name="展示环境，交代景、物关系…"/>
          <p:cNvSpPr txBox="1"/>
          <p:nvPr/>
        </p:nvSpPr>
        <p:spPr>
          <a:xfrm>
            <a:off x="4117983" y="4209967"/>
            <a:ext cx="4768832" cy="2243831"/>
          </a:xfrm>
          <a:prstGeom prst="rect">
            <a:avLst/>
          </a:prstGeom>
          <a:ln w="12700">
            <a:miter lim="400000"/>
          </a:ln>
        </p:spPr>
        <p:txBody>
          <a:bodyPr wrap="none" lIns="48765" tIns="48765" rIns="48765" bIns="48765">
            <a:spAutoFit/>
          </a:bodyPr>
          <a:lstStyle/>
          <a:p>
            <a:pPr marL="292735" indent="-292735" defTabSz="832485">
              <a:lnSpc>
                <a:spcPct val="90000"/>
              </a:lnSpc>
              <a:spcBef>
                <a:spcPts val="700"/>
              </a:spcBef>
              <a:buSzPct val="100000"/>
              <a:buChar char="•"/>
              <a:defRPr sz="2800">
                <a:latin typeface="楷体_GB2312"/>
                <a:ea typeface="楷体_GB2312"/>
                <a:cs typeface="楷体_GB2312"/>
                <a:sym typeface="楷体_GB2312"/>
              </a:defRPr>
            </a:pPr>
            <a:r>
              <a:t>展示环境，交代景、物关系</a:t>
            </a:r>
          </a:p>
          <a:p>
            <a:pPr marL="292735" indent="-292735" defTabSz="832485">
              <a:lnSpc>
                <a:spcPct val="90000"/>
              </a:lnSpc>
              <a:spcBef>
                <a:spcPts val="700"/>
              </a:spcBef>
              <a:buSzPct val="100000"/>
              <a:buChar char="•"/>
              <a:defRPr sz="2800">
                <a:latin typeface="楷体_GB2312"/>
                <a:ea typeface="楷体_GB2312"/>
                <a:cs typeface="楷体_GB2312"/>
                <a:sym typeface="楷体_GB2312"/>
              </a:defRPr>
            </a:pPr>
            <a:r>
              <a:t>创造意境</a:t>
            </a:r>
          </a:p>
          <a:p>
            <a:pPr marL="292735" indent="-292735" defTabSz="832485">
              <a:lnSpc>
                <a:spcPct val="90000"/>
              </a:lnSpc>
              <a:spcBef>
                <a:spcPts val="700"/>
              </a:spcBef>
              <a:buSzPct val="100000"/>
              <a:buChar char="•"/>
              <a:defRPr sz="2800">
                <a:latin typeface="楷体_GB2312"/>
                <a:ea typeface="楷体_GB2312"/>
                <a:cs typeface="楷体_GB2312"/>
                <a:sym typeface="楷体_GB2312"/>
              </a:defRPr>
            </a:pPr>
            <a:r>
              <a:t>展示群众场面</a:t>
            </a:r>
          </a:p>
          <a:p>
            <a:pPr marL="292735" indent="-292735" defTabSz="832485">
              <a:lnSpc>
                <a:spcPct val="90000"/>
              </a:lnSpc>
              <a:spcBef>
                <a:spcPts val="700"/>
              </a:spcBef>
              <a:buSzPct val="100000"/>
              <a:buChar char="•"/>
              <a:defRPr sz="2800">
                <a:latin typeface="楷体_GB2312"/>
                <a:ea typeface="楷体_GB2312"/>
                <a:cs typeface="楷体_GB2312"/>
                <a:sym typeface="楷体_GB2312"/>
              </a:defRPr>
            </a:pPr>
            <a:r>
              <a:t>升华主题</a:t>
            </a:r>
          </a:p>
        </p:txBody>
      </p:sp>
      <p:sp>
        <p:nvSpPr>
          <p:cNvPr id="381" name="影视鉴赏的声画元素"/>
          <p:cNvSpPr txBox="1"/>
          <p:nvPr/>
        </p:nvSpPr>
        <p:spPr>
          <a:xfrm>
            <a:off x="7312286" y="8324597"/>
            <a:ext cx="3409428" cy="605531"/>
          </a:xfrm>
          <a:prstGeom prst="rect">
            <a:avLst/>
          </a:prstGeom>
          <a:ln w="12700">
            <a:miter lim="400000"/>
          </a:ln>
        </p:spPr>
        <p:txBody>
          <a:bodyPr wrap="none"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375"/>
                                        </p:tgtEl>
                                        <p:attrNameLst>
                                          <p:attrName>style.visibility</p:attrName>
                                        </p:attrNameLst>
                                      </p:cBhvr>
                                      <p:to>
                                        <p:strVal val="visible"/>
                                      </p:to>
                                    </p:set>
                                    <p:anim calcmode="lin" valueType="num">
                                      <p:cBhvr>
                                        <p:cTn id="7" dur="750" fill="hold"/>
                                        <p:tgtEl>
                                          <p:spTgt spid="375"/>
                                        </p:tgtEl>
                                        <p:attrNameLst>
                                          <p:attrName>ppt_x</p:attrName>
                                        </p:attrNameLst>
                                      </p:cBhvr>
                                      <p:tavLst>
                                        <p:tav tm="0">
                                          <p:val>
                                            <p:strVal val="1+#ppt_w/2"/>
                                          </p:val>
                                        </p:tav>
                                        <p:tav tm="100000">
                                          <p:val>
                                            <p:strVal val="#ppt_x"/>
                                          </p:val>
                                        </p:tav>
                                      </p:tavLst>
                                    </p:anim>
                                    <p:anim calcmode="lin" valueType="num">
                                      <p:cBhvr>
                                        <p:cTn id="8" dur="750" fill="hold"/>
                                        <p:tgtEl>
                                          <p:spTgt spid="3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 grpId="1" animBg="1"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全景的局限性"/>
          <p:cNvSpPr txBox="1">
            <a:spLocks noGrp="1"/>
          </p:cNvSpPr>
          <p:nvPr>
            <p:ph type="title"/>
          </p:nvPr>
        </p:nvSpPr>
        <p:spPr>
          <a:xfrm>
            <a:off x="1625598" y="2416386"/>
            <a:ext cx="9753604" cy="2546776"/>
          </a:xfrm>
          <a:prstGeom prst="rect">
            <a:avLst/>
          </a:prstGeom>
        </p:spPr>
        <p:txBody>
          <a:bodyPr/>
          <a:lstStyle>
            <a:lvl1pPr>
              <a:defRPr>
                <a:latin typeface="楷体_GB2312"/>
                <a:ea typeface="楷体_GB2312"/>
                <a:cs typeface="楷体_GB2312"/>
                <a:sym typeface="楷体_GB2312"/>
              </a:defRPr>
            </a:lvl1pPr>
          </a:lstStyle>
          <a:p>
            <a:r>
              <a:t>全景的局限性</a:t>
            </a:r>
          </a:p>
        </p:txBody>
      </p:sp>
      <p:sp>
        <p:nvSpPr>
          <p:cNvPr id="384" name="镜头不能过短…"/>
          <p:cNvSpPr txBox="1">
            <a:spLocks noGrp="1"/>
          </p:cNvSpPr>
          <p:nvPr>
            <p:ph type="body" sz="quarter" idx="1"/>
          </p:nvPr>
        </p:nvSpPr>
        <p:spPr>
          <a:xfrm>
            <a:off x="1625598" y="5061372"/>
            <a:ext cx="9753604" cy="1766154"/>
          </a:xfrm>
          <a:prstGeom prst="rect">
            <a:avLst/>
          </a:prstGeom>
        </p:spPr>
        <p:txBody>
          <a:bodyPr/>
          <a:lstStyle/>
          <a:p>
            <a:pPr marL="236855" indent="-236855" defTabSz="674370">
              <a:spcBef>
                <a:spcPts val="600"/>
              </a:spcBef>
              <a:buSzPct val="100000"/>
              <a:buChar char="•"/>
              <a:defRPr sz="2200">
                <a:latin typeface="楷体_GB2312"/>
                <a:ea typeface="楷体_GB2312"/>
                <a:cs typeface="楷体_GB2312"/>
                <a:sym typeface="楷体_GB2312"/>
              </a:defRPr>
            </a:pPr>
            <a:endParaRPr/>
          </a:p>
          <a:p>
            <a:pPr marL="236855" indent="-236855" defTabSz="674370">
              <a:spcBef>
                <a:spcPts val="500"/>
              </a:spcBef>
              <a:buSzPct val="100000"/>
              <a:buChar char="•"/>
              <a:defRPr sz="2200">
                <a:latin typeface="楷体_GB2312"/>
                <a:ea typeface="楷体_GB2312"/>
                <a:cs typeface="楷体_GB2312"/>
                <a:sym typeface="楷体_GB2312"/>
              </a:defRPr>
            </a:pPr>
            <a:r>
              <a:t>镜头不能过短</a:t>
            </a:r>
          </a:p>
          <a:p>
            <a:pPr marL="236855" indent="-236855" defTabSz="674370">
              <a:spcBef>
                <a:spcPts val="500"/>
              </a:spcBef>
              <a:buSzPct val="100000"/>
              <a:buChar char="•"/>
              <a:defRPr sz="2200">
                <a:latin typeface="楷体_GB2312"/>
                <a:ea typeface="楷体_GB2312"/>
                <a:cs typeface="楷体_GB2312"/>
                <a:sym typeface="楷体_GB2312"/>
              </a:defRPr>
            </a:pPr>
            <a:r>
              <a:t>节奏缓慢，运动不明显</a:t>
            </a:r>
          </a:p>
          <a:p>
            <a:pPr marL="236855" indent="-236855" defTabSz="674370">
              <a:spcBef>
                <a:spcPts val="500"/>
              </a:spcBef>
              <a:buSzPct val="100000"/>
              <a:buChar char="•"/>
              <a:defRPr sz="2200">
                <a:latin typeface="楷体_GB2312"/>
                <a:ea typeface="楷体_GB2312"/>
                <a:cs typeface="楷体_GB2312"/>
                <a:sym typeface="楷体_GB2312"/>
              </a:defRPr>
            </a:pPr>
            <a:r>
              <a:t>横向调度容易造成舞台化</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84">
                                            <p:txEl>
                                              <p:pRg st="1" end="1"/>
                                            </p:txEl>
                                          </p:spTgt>
                                        </p:tgtEl>
                                        <p:attrNameLst>
                                          <p:attrName>style.visibility</p:attrName>
                                        </p:attrNameLst>
                                      </p:cBhvr>
                                      <p:to>
                                        <p:strVal val="visible"/>
                                      </p:to>
                                    </p:set>
                                    <p:animEffect transition="in" filter="wipe(left)">
                                      <p:cBhvr>
                                        <p:cTn id="7" dur="500"/>
                                        <p:tgtEl>
                                          <p:spTgt spid="38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384">
                                            <p:txEl>
                                              <p:pRg st="2" end="2"/>
                                            </p:txEl>
                                          </p:spTgt>
                                        </p:tgtEl>
                                        <p:attrNameLst>
                                          <p:attrName>style.visibility</p:attrName>
                                        </p:attrNameLst>
                                      </p:cBhvr>
                                      <p:to>
                                        <p:strVal val="visible"/>
                                      </p:to>
                                    </p:set>
                                    <p:animEffect transition="in" filter="wipe(left)">
                                      <p:cBhvr>
                                        <p:cTn id="12" dur="500"/>
                                        <p:tgtEl>
                                          <p:spTgt spid="38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384">
                                            <p:txEl>
                                              <p:pRg st="3" end="3"/>
                                            </p:txEl>
                                          </p:spTgt>
                                        </p:tgtEl>
                                        <p:attrNameLst>
                                          <p:attrName>style.visibility</p:attrName>
                                        </p:attrNameLst>
                                      </p:cBhvr>
                                      <p:to>
                                        <p:strVal val="visible"/>
                                      </p:to>
                                    </p:set>
                                    <p:animEffect transition="in" filter="wipe(left)">
                                      <p:cBhvr>
                                        <p:cTn id="17" dur="500"/>
                                        <p:tgtEl>
                                          <p:spTgt spid="3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 grpId="1" build="p" animBg="1"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 name="成组"/>
          <p:cNvGrpSpPr/>
          <p:nvPr/>
        </p:nvGrpSpPr>
        <p:grpSpPr>
          <a:xfrm>
            <a:off x="11101925" y="8248376"/>
            <a:ext cx="1214954" cy="757973"/>
            <a:chOff x="-1" y="0"/>
            <a:chExt cx="1214953" cy="757971"/>
          </a:xfrm>
        </p:grpSpPr>
        <p:sp>
          <p:nvSpPr>
            <p:cNvPr id="386"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87"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388"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392" name="成组"/>
          <p:cNvGrpSpPr/>
          <p:nvPr/>
        </p:nvGrpSpPr>
        <p:grpSpPr>
          <a:xfrm>
            <a:off x="139669" y="752796"/>
            <a:ext cx="5462070" cy="567431"/>
            <a:chOff x="-1" y="0"/>
            <a:chExt cx="5462068" cy="567429"/>
          </a:xfrm>
        </p:grpSpPr>
        <p:sp>
          <p:nvSpPr>
            <p:cNvPr id="390"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391"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393" name="景  别 小 结"/>
          <p:cNvSpPr txBox="1"/>
          <p:nvPr/>
        </p:nvSpPr>
        <p:spPr>
          <a:xfrm>
            <a:off x="3672929" y="2643633"/>
            <a:ext cx="5303341" cy="1519931"/>
          </a:xfrm>
          <a:prstGeom prst="rect">
            <a:avLst/>
          </a:prstGeom>
          <a:ln w="12700">
            <a:miter lim="400000"/>
          </a:ln>
        </p:spPr>
        <p:txBody>
          <a:bodyPr wrap="none" lIns="48765" tIns="48765" rIns="48765" bIns="48765">
            <a:spAutoFit/>
          </a:bodyPr>
          <a:lstStyle>
            <a:lvl1pPr algn="ctr">
              <a:lnSpc>
                <a:spcPct val="90000"/>
              </a:lnSpc>
              <a:defRPr sz="8000">
                <a:latin typeface="楷体_GB2312"/>
                <a:ea typeface="楷体_GB2312"/>
                <a:cs typeface="楷体_GB2312"/>
                <a:sym typeface="楷体_GB2312"/>
              </a:defRPr>
            </a:lvl1pPr>
          </a:lstStyle>
          <a:p>
            <a:r>
              <a:t>景  别 小 结</a:t>
            </a:r>
          </a:p>
        </p:txBody>
      </p:sp>
      <p:sp>
        <p:nvSpPr>
          <p:cNvPr id="394" name="景别种类很多，源于工作实际…"/>
          <p:cNvSpPr txBox="1"/>
          <p:nvPr/>
        </p:nvSpPr>
        <p:spPr>
          <a:xfrm>
            <a:off x="4300299" y="4610672"/>
            <a:ext cx="4404201" cy="1838701"/>
          </a:xfrm>
          <a:prstGeom prst="rect">
            <a:avLst/>
          </a:prstGeom>
          <a:ln w="12700">
            <a:miter lim="400000"/>
          </a:ln>
        </p:spPr>
        <p:txBody>
          <a:bodyPr wrap="none" lIns="48765" tIns="48765" rIns="48765" bIns="48765">
            <a:spAutoFit/>
          </a:bodyPr>
          <a:lstStyle/>
          <a:p>
            <a:pPr marL="247015" indent="-247015" defTabSz="662940">
              <a:lnSpc>
                <a:spcPct val="90000"/>
              </a:lnSpc>
              <a:spcBef>
                <a:spcPts val="500"/>
              </a:spcBef>
              <a:buSzPct val="100000"/>
              <a:buChar char="•"/>
              <a:defRPr>
                <a:latin typeface="楷体_GB2312"/>
                <a:ea typeface="楷体_GB2312"/>
                <a:cs typeface="楷体_GB2312"/>
                <a:sym typeface="楷体_GB2312"/>
              </a:defRPr>
            </a:pPr>
            <a:r>
              <a:t>景别种类很多，源于工作实际</a:t>
            </a:r>
          </a:p>
          <a:p>
            <a:pPr marL="247015" indent="-247015" defTabSz="662940">
              <a:lnSpc>
                <a:spcPct val="90000"/>
              </a:lnSpc>
              <a:spcBef>
                <a:spcPts val="500"/>
              </a:spcBef>
              <a:buSzPct val="100000"/>
              <a:buChar char="•"/>
              <a:defRPr>
                <a:latin typeface="楷体_GB2312"/>
                <a:ea typeface="楷体_GB2312"/>
                <a:cs typeface="楷体_GB2312"/>
                <a:sym typeface="楷体_GB2312"/>
              </a:defRPr>
            </a:pPr>
            <a:r>
              <a:t>景别的大小产生于对比</a:t>
            </a:r>
          </a:p>
          <a:p>
            <a:pPr marL="247015" indent="-247015" defTabSz="662940">
              <a:lnSpc>
                <a:spcPct val="90000"/>
              </a:lnSpc>
              <a:spcBef>
                <a:spcPts val="500"/>
              </a:spcBef>
              <a:buSzPct val="100000"/>
              <a:buChar char="•"/>
              <a:defRPr>
                <a:latin typeface="楷体_GB2312"/>
                <a:ea typeface="楷体_GB2312"/>
                <a:cs typeface="楷体_GB2312"/>
                <a:sym typeface="楷体_GB2312"/>
              </a:defRPr>
            </a:pPr>
            <a:r>
              <a:t>景别创造风格</a:t>
            </a:r>
          </a:p>
          <a:p>
            <a:pPr marL="247015" indent="-247015" defTabSz="662940">
              <a:lnSpc>
                <a:spcPct val="90000"/>
              </a:lnSpc>
              <a:spcBef>
                <a:spcPts val="500"/>
              </a:spcBef>
              <a:buSzPct val="100000"/>
              <a:buChar char="•"/>
              <a:defRPr>
                <a:latin typeface="楷体_GB2312"/>
                <a:ea typeface="楷体_GB2312"/>
                <a:cs typeface="楷体_GB2312"/>
                <a:sym typeface="楷体_GB2312"/>
              </a:defRPr>
            </a:pPr>
            <a:r>
              <a:t>景别平衡与叙事</a:t>
            </a:r>
          </a:p>
        </p:txBody>
      </p:sp>
      <p:sp>
        <p:nvSpPr>
          <p:cNvPr id="395" name="影视鉴赏的声画元素"/>
          <p:cNvSpPr txBox="1"/>
          <p:nvPr/>
        </p:nvSpPr>
        <p:spPr>
          <a:xfrm>
            <a:off x="7375786" y="8324597"/>
            <a:ext cx="3409428" cy="605531"/>
          </a:xfrm>
          <a:prstGeom prst="rect">
            <a:avLst/>
          </a:prstGeom>
          <a:ln w="12700">
            <a:miter lim="400000"/>
          </a:ln>
        </p:spPr>
        <p:txBody>
          <a:bodyPr wrap="none"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389"/>
                                        </p:tgtEl>
                                        <p:attrNameLst>
                                          <p:attrName>style.visibility</p:attrName>
                                        </p:attrNameLst>
                                      </p:cBhvr>
                                      <p:to>
                                        <p:strVal val="visible"/>
                                      </p:to>
                                    </p:set>
                                    <p:anim calcmode="lin" valueType="num">
                                      <p:cBhvr>
                                        <p:cTn id="7" dur="750" fill="hold"/>
                                        <p:tgtEl>
                                          <p:spTgt spid="389"/>
                                        </p:tgtEl>
                                        <p:attrNameLst>
                                          <p:attrName>ppt_x</p:attrName>
                                        </p:attrNameLst>
                                      </p:cBhvr>
                                      <p:tavLst>
                                        <p:tav tm="0">
                                          <p:val>
                                            <p:strVal val="1+#ppt_w/2"/>
                                          </p:val>
                                        </p:tav>
                                        <p:tav tm="100000">
                                          <p:val>
                                            <p:strVal val="#ppt_x"/>
                                          </p:val>
                                        </p:tav>
                                      </p:tavLst>
                                    </p:anim>
                                    <p:anim calcmode="lin" valueType="num">
                                      <p:cBhvr>
                                        <p:cTn id="8" dur="750" fill="hold"/>
                                        <p:tgtEl>
                                          <p:spTgt spid="3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1" animBg="1" advAuto="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 name="成组"/>
          <p:cNvGrpSpPr/>
          <p:nvPr/>
        </p:nvGrpSpPr>
        <p:grpSpPr>
          <a:xfrm>
            <a:off x="139669" y="752796"/>
            <a:ext cx="5462070" cy="567431"/>
            <a:chOff x="-1" y="0"/>
            <a:chExt cx="5462068" cy="567429"/>
          </a:xfrm>
        </p:grpSpPr>
        <p:sp>
          <p:nvSpPr>
            <p:cNvPr id="39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39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00" name="10061585817687_.pic_hd.jpg" descr="10061585817687_.pic_hd.jpg"/>
          <p:cNvPicPr>
            <a:picLocks noChangeAspect="1"/>
          </p:cNvPicPr>
          <p:nvPr/>
        </p:nvPicPr>
        <p:blipFill>
          <a:blip r:embed="rId2"/>
          <a:stretch>
            <a:fillRect/>
          </a:stretch>
        </p:blipFill>
        <p:spPr>
          <a:xfrm>
            <a:off x="4811176" y="241360"/>
            <a:ext cx="7477633" cy="9270880"/>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 name="成组"/>
          <p:cNvGrpSpPr/>
          <p:nvPr/>
        </p:nvGrpSpPr>
        <p:grpSpPr>
          <a:xfrm>
            <a:off x="11101925" y="8248376"/>
            <a:ext cx="1214954" cy="757973"/>
            <a:chOff x="-1" y="0"/>
            <a:chExt cx="1214953" cy="757971"/>
          </a:xfrm>
        </p:grpSpPr>
        <p:sp>
          <p:nvSpPr>
            <p:cNvPr id="49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9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50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504" name="成组"/>
          <p:cNvGrpSpPr/>
          <p:nvPr/>
        </p:nvGrpSpPr>
        <p:grpSpPr>
          <a:xfrm>
            <a:off x="139669" y="752796"/>
            <a:ext cx="5462070" cy="567431"/>
            <a:chOff x="-1" y="0"/>
            <a:chExt cx="5462068" cy="567429"/>
          </a:xfrm>
        </p:grpSpPr>
        <p:sp>
          <p:nvSpPr>
            <p:cNvPr id="502"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503"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2400"/>
                <a:t>Image sharing</a:t>
              </a:r>
            </a:p>
          </p:txBody>
        </p:sp>
      </p:grpSp>
      <p:sp>
        <p:nvSpPr>
          <p:cNvPr id="505" name="镜头的形式：角 度"/>
          <p:cNvSpPr txBox="1"/>
          <p:nvPr/>
        </p:nvSpPr>
        <p:spPr>
          <a:xfrm>
            <a:off x="1502730" y="2323930"/>
            <a:ext cx="6417939" cy="1164331"/>
          </a:xfrm>
          <a:prstGeom prst="rect">
            <a:avLst/>
          </a:prstGeom>
          <a:ln w="12700">
            <a:miter lim="400000"/>
          </a:ln>
        </p:spPr>
        <p:txBody>
          <a:bodyPr wrap="none" lIns="48765" tIns="48765" rIns="48765" bIns="48765">
            <a:spAutoFit/>
          </a:bodyPr>
          <a:lstStyle>
            <a:lvl1pPr algn="ctr">
              <a:lnSpc>
                <a:spcPct val="90000"/>
              </a:lnSpc>
              <a:defRPr sz="6000">
                <a:latin typeface="楷体_GB2312"/>
                <a:ea typeface="楷体_GB2312"/>
                <a:cs typeface="楷体_GB2312"/>
                <a:sym typeface="楷体_GB2312"/>
              </a:defRPr>
            </a:lvl1pPr>
          </a:lstStyle>
          <a:p>
            <a:r>
              <a:t>镜头的形式：角 度</a:t>
            </a:r>
          </a:p>
        </p:txBody>
      </p:sp>
      <p:sp>
        <p:nvSpPr>
          <p:cNvPr id="506" name="角度就是摄影视点，是摄影机相对于被摄物所放的位置…"/>
          <p:cNvSpPr txBox="1"/>
          <p:nvPr/>
        </p:nvSpPr>
        <p:spPr>
          <a:xfrm>
            <a:off x="1336683" y="4072863"/>
            <a:ext cx="9926405" cy="2906770"/>
          </a:xfrm>
          <a:prstGeom prst="rect">
            <a:avLst/>
          </a:prstGeom>
          <a:ln w="12700">
            <a:miter lim="400000"/>
          </a:ln>
        </p:spPr>
        <p:txBody>
          <a:bodyPr wrap="none" lIns="48765" tIns="48765" rIns="48765" bIns="48765">
            <a:spAutoFit/>
          </a:bodyPr>
          <a:lstStyle/>
          <a:p>
            <a:pPr marL="354330" indent="-354330" defTabSz="949325">
              <a:lnSpc>
                <a:spcPct val="90000"/>
              </a:lnSpc>
              <a:spcBef>
                <a:spcPts val="700"/>
              </a:spcBef>
              <a:buSzPct val="100000"/>
              <a:buChar char="•"/>
              <a:defRPr sz="3000">
                <a:latin typeface="楷体_GB2312"/>
                <a:ea typeface="楷体_GB2312"/>
                <a:cs typeface="楷体_GB2312"/>
                <a:sym typeface="楷体_GB2312"/>
              </a:defRPr>
            </a:pPr>
            <a:r>
              <a:rPr sz="2400"/>
              <a:t>角度就是摄影视点，是摄影机相对于被摄物所放的位置  </a:t>
            </a:r>
          </a:p>
          <a:p>
            <a:pPr marL="354330" indent="-354330" defTabSz="949325">
              <a:lnSpc>
                <a:spcPct val="90000"/>
              </a:lnSpc>
              <a:spcBef>
                <a:spcPts val="700"/>
              </a:spcBef>
              <a:buSzPct val="100000"/>
              <a:buChar char="•"/>
              <a:defRPr sz="3000">
                <a:latin typeface="楷体_GB2312"/>
                <a:ea typeface="楷体_GB2312"/>
                <a:cs typeface="楷体_GB2312"/>
                <a:sym typeface="楷体_GB2312"/>
              </a:defRPr>
            </a:pPr>
            <a:r>
              <a:rPr sz="2400"/>
              <a:t>角度的作用是造成构图的变化</a:t>
            </a:r>
          </a:p>
          <a:p>
            <a:pPr marL="354330" indent="-354330" defTabSz="949325">
              <a:lnSpc>
                <a:spcPct val="90000"/>
              </a:lnSpc>
              <a:spcBef>
                <a:spcPts val="700"/>
              </a:spcBef>
              <a:buSzPct val="100000"/>
              <a:buChar char="•"/>
              <a:defRPr sz="3000">
                <a:latin typeface="楷体_GB2312"/>
                <a:ea typeface="楷体_GB2312"/>
                <a:cs typeface="楷体_GB2312"/>
                <a:sym typeface="楷体_GB2312"/>
              </a:defRPr>
            </a:pPr>
            <a:r>
              <a:rPr sz="2400"/>
              <a:t>角度的构成：</a:t>
            </a:r>
          </a:p>
          <a:p>
            <a:pPr marL="356235" indent="-356235" defTabSz="949325">
              <a:lnSpc>
                <a:spcPct val="90000"/>
              </a:lnSpc>
              <a:spcBef>
                <a:spcPts val="700"/>
              </a:spcBef>
              <a:defRPr sz="3000">
                <a:latin typeface="楷体_GB2312"/>
                <a:ea typeface="楷体_GB2312"/>
                <a:cs typeface="楷体_GB2312"/>
                <a:sym typeface="楷体_GB2312"/>
              </a:defRPr>
            </a:pPr>
            <a:r>
              <a:rPr sz="2400"/>
              <a:t>          摄影高度：平拍、仰拍、俯拍</a:t>
            </a:r>
          </a:p>
          <a:p>
            <a:pPr marL="356235" indent="-356235" defTabSz="949325">
              <a:lnSpc>
                <a:spcPct val="90000"/>
              </a:lnSpc>
              <a:spcBef>
                <a:spcPts val="700"/>
              </a:spcBef>
              <a:defRPr sz="3000">
                <a:latin typeface="楷体_GB2312"/>
                <a:ea typeface="楷体_GB2312"/>
                <a:cs typeface="楷体_GB2312"/>
                <a:sym typeface="楷体_GB2312"/>
              </a:defRPr>
            </a:pPr>
            <a:r>
              <a:rPr sz="2400"/>
              <a:t>          摄影方向：正拍、侧拍、反拍</a:t>
            </a:r>
          </a:p>
        </p:txBody>
      </p:sp>
      <p:sp>
        <p:nvSpPr>
          <p:cNvPr id="507" name="影视鉴赏的声画元素"/>
          <p:cNvSpPr txBox="1"/>
          <p:nvPr/>
        </p:nvSpPr>
        <p:spPr>
          <a:xfrm>
            <a:off x="7312286" y="8324597"/>
            <a:ext cx="3409428" cy="605531"/>
          </a:xfrm>
          <a:prstGeom prst="rect">
            <a:avLst/>
          </a:prstGeom>
          <a:ln w="12700">
            <a:miter lim="400000"/>
          </a:ln>
        </p:spPr>
        <p:txBody>
          <a:bodyPr wrap="none"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501"/>
                                        </p:tgtEl>
                                        <p:attrNameLst>
                                          <p:attrName>style.visibility</p:attrName>
                                        </p:attrNameLst>
                                      </p:cBhvr>
                                      <p:to>
                                        <p:strVal val="visible"/>
                                      </p:to>
                                    </p:set>
                                    <p:anim calcmode="lin" valueType="num">
                                      <p:cBhvr>
                                        <p:cTn id="7" dur="750" fill="hold"/>
                                        <p:tgtEl>
                                          <p:spTgt spid="501"/>
                                        </p:tgtEl>
                                        <p:attrNameLst>
                                          <p:attrName>ppt_x</p:attrName>
                                        </p:attrNameLst>
                                      </p:cBhvr>
                                      <p:tavLst>
                                        <p:tav tm="0">
                                          <p:val>
                                            <p:strVal val="1+#ppt_w/2"/>
                                          </p:val>
                                        </p:tav>
                                        <p:tav tm="100000">
                                          <p:val>
                                            <p:strVal val="#ppt_x"/>
                                          </p:val>
                                        </p:tav>
                                      </p:tavLst>
                                    </p:anim>
                                    <p:anim calcmode="lin" valueType="num">
                                      <p:cBhvr>
                                        <p:cTn id="8" dur="750" fill="hold"/>
                                        <p:tgtEl>
                                          <p:spTgt spid="5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 grpId="1" bldLvl="0"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8"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489" name="个人简介"/>
          <p:cNvSpPr txBox="1"/>
          <p:nvPr/>
        </p:nvSpPr>
        <p:spPr>
          <a:xfrm>
            <a:off x="-623905" y="5119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490"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494" name="成组"/>
          <p:cNvGrpSpPr/>
          <p:nvPr/>
        </p:nvGrpSpPr>
        <p:grpSpPr>
          <a:xfrm>
            <a:off x="11279725" y="8512683"/>
            <a:ext cx="1214954" cy="757973"/>
            <a:chOff x="-1" y="0"/>
            <a:chExt cx="1214953" cy="757971"/>
          </a:xfrm>
        </p:grpSpPr>
        <p:sp>
          <p:nvSpPr>
            <p:cNvPr id="491"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92"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493"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495" name="如何表现阶级差异"/>
          <p:cNvSpPr txBox="1"/>
          <p:nvPr/>
        </p:nvSpPr>
        <p:spPr>
          <a:xfrm>
            <a:off x="3843891" y="5395495"/>
            <a:ext cx="5253731" cy="897631"/>
          </a:xfrm>
          <a:prstGeom prst="rect">
            <a:avLst/>
          </a:prstGeom>
          <a:ln w="12700">
            <a:miter lim="400000"/>
          </a:ln>
        </p:spPr>
        <p:txBody>
          <a:bodyPr wrap="none" lIns="48765" tIns="48765" rIns="48765" bIns="48765">
            <a:spAutoFit/>
          </a:bodyPr>
          <a:lstStyle>
            <a:lvl1pPr algn="ctr">
              <a:lnSpc>
                <a:spcPct val="90000"/>
              </a:lnSpc>
              <a:defRPr sz="4500">
                <a:latin typeface="Calibri Light" panose="020F0302020204030204"/>
                <a:ea typeface="Calibri Light" panose="020F0302020204030204"/>
                <a:cs typeface="Calibri Light" panose="020F0302020204030204"/>
                <a:sym typeface="Calibri Light" panose="020F0302020204030204"/>
              </a:defRPr>
            </a:lvl1pPr>
          </a:lstStyle>
          <a:p>
            <a:r>
              <a:t>正、背、俯、仰、侧</a:t>
            </a:r>
          </a:p>
        </p:txBody>
      </p:sp>
      <p:sp>
        <p:nvSpPr>
          <p:cNvPr id="496" name="构 图"/>
          <p:cNvSpPr txBox="1"/>
          <p:nvPr/>
        </p:nvSpPr>
        <p:spPr>
          <a:xfrm>
            <a:off x="683650" y="1811783"/>
            <a:ext cx="3487737" cy="846831"/>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solidFill>
                  <a:srgbClr val="FFFFFF"/>
                </a:solidFill>
              </a:defRPr>
            </a:lvl1pPr>
          </a:lstStyle>
          <a:p>
            <a:r>
              <a:t>镜  头  角  度</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489"/>
                                        </p:tgtEl>
                                        <p:attrNameLst>
                                          <p:attrName>style.visibility</p:attrName>
                                        </p:attrNameLst>
                                      </p:cBhvr>
                                      <p:to>
                                        <p:strVal val="visible"/>
                                      </p:to>
                                    </p:set>
                                    <p:animEffect transition="in" filter="dissolve">
                                      <p:cBhvr>
                                        <p:cTn id="7" dur="1000"/>
                                        <p:tgtEl>
                                          <p:spTgt spid="489"/>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494"/>
                                        </p:tgtEl>
                                        <p:attrNameLst>
                                          <p:attrName>style.visibility</p:attrName>
                                        </p:attrNameLst>
                                      </p:cBhvr>
                                      <p:to>
                                        <p:strVal val="visible"/>
                                      </p:to>
                                    </p:set>
                                    <p:anim calcmode="lin" valueType="num">
                                      <p:cBhvr>
                                        <p:cTn id="11" dur="750" fill="hold"/>
                                        <p:tgtEl>
                                          <p:spTgt spid="494"/>
                                        </p:tgtEl>
                                        <p:attrNameLst>
                                          <p:attrName>ppt_x</p:attrName>
                                        </p:attrNameLst>
                                      </p:cBhvr>
                                      <p:tavLst>
                                        <p:tav tm="0">
                                          <p:val>
                                            <p:strVal val="1+#ppt_w/2"/>
                                          </p:val>
                                        </p:tav>
                                        <p:tav tm="100000">
                                          <p:val>
                                            <p:strVal val="#ppt_x"/>
                                          </p:val>
                                        </p:tav>
                                      </p:tavLst>
                                    </p:anim>
                                    <p:anim calcmode="lin" valueType="num">
                                      <p:cBhvr>
                                        <p:cTn id="12" dur="750" fill="hold"/>
                                        <p:tgtEl>
                                          <p:spTgt spid="494"/>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490"/>
                                        </p:tgtEl>
                                        <p:attrNameLst>
                                          <p:attrName>style.visibility</p:attrName>
                                        </p:attrNameLst>
                                      </p:cBhvr>
                                      <p:to>
                                        <p:strVal val="visible"/>
                                      </p:to>
                                    </p:set>
                                    <p:animEffect transition="in" filter="wipe(right)">
                                      <p:cBhvr>
                                        <p:cTn id="16" dur="10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 grpId="1" animBg="1" advAuto="0"/>
      <p:bldP spid="490" grpId="3" animBg="1" advAuto="0"/>
      <p:bldP spid="494" grpId="2" bldLvl="0" animBg="1"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摄影高度：平拍"/>
          <p:cNvSpPr txBox="1">
            <a:spLocks noGrp="1"/>
          </p:cNvSpPr>
          <p:nvPr>
            <p:ph type="title"/>
          </p:nvPr>
        </p:nvSpPr>
        <p:spPr>
          <a:xfrm>
            <a:off x="990598" y="1394458"/>
            <a:ext cx="9753604" cy="2546776"/>
          </a:xfrm>
          <a:prstGeom prst="rect">
            <a:avLst/>
          </a:prstGeom>
        </p:spPr>
        <p:txBody>
          <a:bodyPr/>
          <a:lstStyle>
            <a:lvl1pPr>
              <a:defRPr>
                <a:latin typeface="楷体_GB2312"/>
                <a:ea typeface="楷体_GB2312"/>
                <a:cs typeface="楷体_GB2312"/>
                <a:sym typeface="楷体_GB2312"/>
              </a:defRPr>
            </a:lvl1pPr>
          </a:lstStyle>
          <a:p>
            <a:r>
              <a:rPr dirty="0" err="1"/>
              <a:t>摄影高度：平拍</a:t>
            </a:r>
            <a:endParaRPr dirty="0"/>
          </a:p>
        </p:txBody>
      </p:sp>
      <p:sp>
        <p:nvSpPr>
          <p:cNvPr id="521" name="摄影机与被摄物的高度大致相等…"/>
          <p:cNvSpPr txBox="1">
            <a:spLocks noGrp="1"/>
          </p:cNvSpPr>
          <p:nvPr>
            <p:ph type="body" sz="half" idx="1"/>
          </p:nvPr>
        </p:nvSpPr>
        <p:spPr>
          <a:xfrm>
            <a:off x="1625598" y="4858172"/>
            <a:ext cx="9753604" cy="2684048"/>
          </a:xfrm>
          <a:prstGeom prst="rect">
            <a:avLst/>
          </a:prstGeom>
        </p:spPr>
        <p:txBody>
          <a:bodyPr/>
          <a:lstStyle/>
          <a:p>
            <a:pPr algn="l" defTabSz="1003935">
              <a:spcBef>
                <a:spcPts val="900"/>
              </a:spcBef>
              <a:buSzPct val="100000"/>
              <a:buChar char="•"/>
              <a:defRPr sz="2400">
                <a:latin typeface="楷体_GB2312"/>
                <a:ea typeface="楷体_GB2312"/>
                <a:cs typeface="楷体_GB2312"/>
                <a:sym typeface="楷体_GB2312"/>
              </a:defRPr>
            </a:pPr>
            <a:r>
              <a:rPr dirty="0" err="1"/>
              <a:t>摄影机与被摄物的高度大致相等</a:t>
            </a:r>
            <a:endParaRPr dirty="0"/>
          </a:p>
          <a:p>
            <a:pPr algn="l" defTabSz="1003935">
              <a:spcBef>
                <a:spcPts val="900"/>
              </a:spcBef>
              <a:buSzPct val="100000"/>
              <a:buChar char="•"/>
              <a:defRPr sz="2400">
                <a:latin typeface="楷体_GB2312"/>
                <a:ea typeface="楷体_GB2312"/>
                <a:cs typeface="楷体_GB2312"/>
                <a:sym typeface="楷体_GB2312"/>
              </a:defRPr>
            </a:pPr>
            <a:r>
              <a:rPr dirty="0" err="1"/>
              <a:t>多数情况，摄影机处于人眼的高度</a:t>
            </a:r>
            <a:endParaRPr dirty="0"/>
          </a:p>
          <a:p>
            <a:pPr algn="l" defTabSz="1003935">
              <a:spcBef>
                <a:spcPts val="900"/>
              </a:spcBef>
              <a:buSzPct val="100000"/>
              <a:buChar char="•"/>
              <a:defRPr sz="2400">
                <a:latin typeface="楷体_GB2312"/>
                <a:ea typeface="楷体_GB2312"/>
                <a:cs typeface="楷体_GB2312"/>
                <a:sym typeface="楷体_GB2312"/>
              </a:defRPr>
            </a:pPr>
            <a:r>
              <a:rPr dirty="0" err="1"/>
              <a:t>生活化的叙事角度，感觉不到摄影机的存在，常人视点</a:t>
            </a:r>
            <a:endParaRPr dirty="0"/>
          </a:p>
          <a:p>
            <a:pPr algn="l" defTabSz="1003935">
              <a:spcBef>
                <a:spcPts val="900"/>
              </a:spcBef>
              <a:buSzPct val="100000"/>
              <a:buChar char="•"/>
              <a:defRPr sz="2400">
                <a:latin typeface="楷体_GB2312"/>
                <a:ea typeface="楷体_GB2312"/>
                <a:cs typeface="楷体_GB2312"/>
                <a:sym typeface="楷体_GB2312"/>
              </a:defRPr>
            </a:pPr>
            <a:r>
              <a:rPr dirty="0" err="1"/>
              <a:t>纪实性，纪录片的摄影角度</a:t>
            </a:r>
            <a:endParaRPr dirty="0"/>
          </a:p>
          <a:p>
            <a:pPr algn="l" defTabSz="1003935">
              <a:spcBef>
                <a:spcPts val="900"/>
              </a:spcBef>
              <a:buSzPct val="100000"/>
              <a:buChar char="•"/>
              <a:defRPr sz="2400">
                <a:latin typeface="楷体_GB2312"/>
                <a:ea typeface="楷体_GB2312"/>
                <a:cs typeface="楷体_GB2312"/>
                <a:sym typeface="楷体_GB2312"/>
              </a:defRPr>
            </a:pPr>
            <a:r>
              <a:rPr dirty="0" err="1"/>
              <a:t>局限性：表现力弱，无法左右观众的注意力</a:t>
            </a:r>
            <a:endParaRPr dirty="0"/>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21">
                                            <p:txEl>
                                              <p:pRg st="0" end="0"/>
                                            </p:txEl>
                                          </p:spTgt>
                                        </p:tgtEl>
                                        <p:attrNameLst>
                                          <p:attrName>style.visibility</p:attrName>
                                        </p:attrNameLst>
                                      </p:cBhvr>
                                      <p:to>
                                        <p:strVal val="visible"/>
                                      </p:to>
                                    </p:set>
                                    <p:animEffect transition="in" filter="wipe(left)">
                                      <p:cBhvr>
                                        <p:cTn id="7" dur="500"/>
                                        <p:tgtEl>
                                          <p:spTgt spid="521">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indefinite" fill="hold"/>
                                        <p:tgtEl>
                                          <p:spTgt spid="521">
                                            <p:txEl>
                                              <p:pRg st="1" end="1"/>
                                            </p:txEl>
                                          </p:spTgt>
                                        </p:tgtEl>
                                        <p:attrNameLst>
                                          <p:attrName>style.visibility</p:attrName>
                                        </p:attrNameLst>
                                      </p:cBhvr>
                                      <p:to>
                                        <p:strVal val="visible"/>
                                      </p:to>
                                    </p:set>
                                    <p:animEffect transition="in" filter="wipe(left)">
                                      <p:cBhvr>
                                        <p:cTn id="11" dur="500"/>
                                        <p:tgtEl>
                                          <p:spTgt spid="521">
                                            <p:txEl>
                                              <p:pRg st="1" end="1"/>
                                            </p:txEl>
                                          </p:spTgt>
                                        </p:tgtEl>
                                      </p:cBhvr>
                                    </p:animEffect>
                                  </p:childTnLst>
                                </p:cTn>
                              </p:par>
                            </p:childTnLst>
                          </p:cTn>
                        </p:par>
                        <p:par>
                          <p:cTn id="12" fill="hold">
                            <p:stCondLst>
                              <p:cond delay="1000"/>
                            </p:stCondLst>
                            <p:childTnLst>
                              <p:par>
                                <p:cTn id="13" presetID="22" presetClass="entr" presetSubtype="8" fill="hold" grpId="1" nodeType="afterEffect">
                                  <p:stCondLst>
                                    <p:cond delay="0"/>
                                  </p:stCondLst>
                                  <p:childTnLst>
                                    <p:set>
                                      <p:cBhvr>
                                        <p:cTn id="14" dur="indefinite" fill="hold"/>
                                        <p:tgtEl>
                                          <p:spTgt spid="521">
                                            <p:txEl>
                                              <p:pRg st="2" end="2"/>
                                            </p:txEl>
                                          </p:spTgt>
                                        </p:tgtEl>
                                        <p:attrNameLst>
                                          <p:attrName>style.visibility</p:attrName>
                                        </p:attrNameLst>
                                      </p:cBhvr>
                                      <p:to>
                                        <p:strVal val="visible"/>
                                      </p:to>
                                    </p:set>
                                    <p:animEffect transition="in" filter="wipe(left)">
                                      <p:cBhvr>
                                        <p:cTn id="15" dur="500"/>
                                        <p:tgtEl>
                                          <p:spTgt spid="521">
                                            <p:txEl>
                                              <p:pRg st="2" end="2"/>
                                            </p:txEl>
                                          </p:spTgt>
                                        </p:tgtEl>
                                      </p:cBhvr>
                                    </p:animEffect>
                                  </p:childTnLst>
                                </p:cTn>
                              </p:par>
                            </p:childTnLst>
                          </p:cTn>
                        </p:par>
                        <p:par>
                          <p:cTn id="16" fill="hold">
                            <p:stCondLst>
                              <p:cond delay="1500"/>
                            </p:stCondLst>
                            <p:childTnLst>
                              <p:par>
                                <p:cTn id="17" presetID="22" presetClass="entr" presetSubtype="8" fill="hold" grpId="1" nodeType="afterEffect">
                                  <p:stCondLst>
                                    <p:cond delay="0"/>
                                  </p:stCondLst>
                                  <p:childTnLst>
                                    <p:set>
                                      <p:cBhvr>
                                        <p:cTn id="18" dur="indefinite" fill="hold"/>
                                        <p:tgtEl>
                                          <p:spTgt spid="521">
                                            <p:txEl>
                                              <p:pRg st="3" end="3"/>
                                            </p:txEl>
                                          </p:spTgt>
                                        </p:tgtEl>
                                        <p:attrNameLst>
                                          <p:attrName>style.visibility</p:attrName>
                                        </p:attrNameLst>
                                      </p:cBhvr>
                                      <p:to>
                                        <p:strVal val="visible"/>
                                      </p:to>
                                    </p:set>
                                    <p:animEffect transition="in" filter="wipe(left)">
                                      <p:cBhvr>
                                        <p:cTn id="19" dur="500"/>
                                        <p:tgtEl>
                                          <p:spTgt spid="521">
                                            <p:txEl>
                                              <p:pRg st="3" end="3"/>
                                            </p:txEl>
                                          </p:spTgt>
                                        </p:tgtEl>
                                      </p:cBhvr>
                                    </p:animEffect>
                                  </p:childTnLst>
                                </p:cTn>
                              </p:par>
                            </p:childTnLst>
                          </p:cTn>
                        </p:par>
                        <p:par>
                          <p:cTn id="20" fill="hold">
                            <p:stCondLst>
                              <p:cond delay="2000"/>
                            </p:stCondLst>
                            <p:childTnLst>
                              <p:par>
                                <p:cTn id="21" presetID="22" presetClass="entr" presetSubtype="8" fill="hold" grpId="1" nodeType="afterEffect">
                                  <p:stCondLst>
                                    <p:cond delay="0"/>
                                  </p:stCondLst>
                                  <p:childTnLst>
                                    <p:set>
                                      <p:cBhvr>
                                        <p:cTn id="22" dur="indefinite" fill="hold"/>
                                        <p:tgtEl>
                                          <p:spTgt spid="521">
                                            <p:txEl>
                                              <p:pRg st="4" end="4"/>
                                            </p:txEl>
                                          </p:spTgt>
                                        </p:tgtEl>
                                        <p:attrNameLst>
                                          <p:attrName>style.visibility</p:attrName>
                                        </p:attrNameLst>
                                      </p:cBhvr>
                                      <p:to>
                                        <p:strVal val="visible"/>
                                      </p:to>
                                    </p:set>
                                    <p:animEffect transition="in" filter="wipe(left)">
                                      <p:cBhvr>
                                        <p:cTn id="23" dur="500"/>
                                        <p:tgtEl>
                                          <p:spTgt spid="5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 grpId="1" build="p" bldLvl="5"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摄影：平拍"/>
          <p:cNvSpPr txBox="1"/>
          <p:nvPr/>
        </p:nvSpPr>
        <p:spPr>
          <a:xfrm>
            <a:off x="211584" y="7355333"/>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摄影：平拍</a:t>
            </a:r>
          </a:p>
        </p:txBody>
      </p:sp>
      <p:pic>
        <p:nvPicPr>
          <p:cNvPr id="524" name="屏幕快照 2020-04-08 19.38.40.png" descr="屏幕快照 2020-04-08 19.38.40.png"/>
          <p:cNvPicPr>
            <a:picLocks noChangeAspect="1"/>
          </p:cNvPicPr>
          <p:nvPr/>
        </p:nvPicPr>
        <p:blipFill>
          <a:blip r:embed="rId2"/>
          <a:srcRect l="22703" t="33661" r="24996" b="30350"/>
          <a:stretch>
            <a:fillRect/>
          </a:stretch>
        </p:blipFill>
        <p:spPr>
          <a:xfrm>
            <a:off x="0" y="1513482"/>
            <a:ext cx="13004611" cy="5592973"/>
          </a:xfrm>
          <a:prstGeom prst="rect">
            <a:avLst/>
          </a:prstGeom>
          <a:ln w="12700">
            <a:miter lim="400000"/>
            <a:headEnd/>
            <a:tailEnd/>
          </a:ln>
        </p:spPr>
      </p:pic>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摄影高度：仰拍"/>
          <p:cNvSpPr txBox="1">
            <a:spLocks noGrp="1"/>
          </p:cNvSpPr>
          <p:nvPr>
            <p:ph type="title"/>
          </p:nvPr>
        </p:nvSpPr>
        <p:spPr>
          <a:xfrm>
            <a:off x="1625598" y="1888064"/>
            <a:ext cx="9753604" cy="2546777"/>
          </a:xfrm>
          <a:prstGeom prst="rect">
            <a:avLst/>
          </a:prstGeom>
        </p:spPr>
        <p:txBody>
          <a:bodyPr/>
          <a:lstStyle>
            <a:lvl1pPr>
              <a:defRPr>
                <a:latin typeface="楷体_GB2312"/>
                <a:ea typeface="楷体_GB2312"/>
                <a:cs typeface="楷体_GB2312"/>
                <a:sym typeface="楷体_GB2312"/>
              </a:defRPr>
            </a:lvl1pPr>
          </a:lstStyle>
          <a:p>
            <a:r>
              <a:t>摄影高度：仰拍</a:t>
            </a:r>
          </a:p>
        </p:txBody>
      </p:sp>
      <p:sp>
        <p:nvSpPr>
          <p:cNvPr id="527" name="摄影机视轴偏向视平线的上方…"/>
          <p:cNvSpPr txBox="1">
            <a:spLocks noGrp="1"/>
          </p:cNvSpPr>
          <p:nvPr>
            <p:ph type="body" sz="quarter" idx="1"/>
          </p:nvPr>
        </p:nvSpPr>
        <p:spPr>
          <a:xfrm>
            <a:off x="1612052" y="4993638"/>
            <a:ext cx="10146880" cy="2388668"/>
          </a:xfrm>
          <a:prstGeom prst="rect">
            <a:avLst/>
          </a:prstGeom>
        </p:spPr>
        <p:txBody>
          <a:bodyPr/>
          <a:lstStyle/>
          <a:p>
            <a:pPr marL="316865" indent="-316865" defTabSz="884555">
              <a:spcBef>
                <a:spcPts val="600"/>
              </a:spcBef>
              <a:buSzPct val="100000"/>
              <a:buChar char="•"/>
              <a:defRPr sz="3000">
                <a:latin typeface="楷体_GB2312"/>
                <a:ea typeface="楷体_GB2312"/>
                <a:cs typeface="楷体_GB2312"/>
                <a:sym typeface="楷体_GB2312"/>
              </a:defRPr>
            </a:pPr>
            <a:r>
              <a:rPr dirty="0" err="1"/>
              <a:t>摄影机视轴偏向视平线的上方</a:t>
            </a:r>
            <a:endParaRPr dirty="0"/>
          </a:p>
          <a:p>
            <a:pPr marL="316865" indent="-316865" defTabSz="884555">
              <a:spcBef>
                <a:spcPts val="600"/>
              </a:spcBef>
              <a:buSzPct val="100000"/>
              <a:buChar char="•"/>
              <a:defRPr sz="3000">
                <a:latin typeface="楷体_GB2312"/>
                <a:ea typeface="楷体_GB2312"/>
                <a:cs typeface="楷体_GB2312"/>
                <a:sym typeface="楷体_GB2312"/>
              </a:defRPr>
            </a:pPr>
            <a:r>
              <a:rPr dirty="0" err="1"/>
              <a:t>背景是树梢、天空，被摄物显得高大雄伟</a:t>
            </a:r>
            <a:r>
              <a:rPr dirty="0"/>
              <a:t>。</a:t>
            </a:r>
          </a:p>
          <a:p>
            <a:pPr marL="316865" indent="-316865" defTabSz="884555">
              <a:spcBef>
                <a:spcPts val="600"/>
              </a:spcBef>
              <a:buSzPct val="100000"/>
              <a:buChar char="•"/>
              <a:defRPr sz="3000">
                <a:latin typeface="楷体_GB2312"/>
                <a:ea typeface="楷体_GB2312"/>
                <a:cs typeface="楷体_GB2312"/>
                <a:sym typeface="楷体_GB2312"/>
              </a:defRPr>
            </a:pPr>
            <a:r>
              <a:rPr dirty="0" err="1"/>
              <a:t>表现赞颂和胜利</a:t>
            </a:r>
            <a:endParaRPr dirty="0"/>
          </a:p>
          <a:p>
            <a:pPr marL="316865" indent="-316865" defTabSz="884555">
              <a:spcBef>
                <a:spcPts val="600"/>
              </a:spcBef>
              <a:buSzPct val="100000"/>
              <a:buChar char="•"/>
              <a:defRPr sz="3000">
                <a:latin typeface="楷体_GB2312"/>
                <a:ea typeface="楷体_GB2312"/>
                <a:cs typeface="楷体_GB2312"/>
                <a:sym typeface="楷体_GB2312"/>
              </a:defRPr>
            </a:pPr>
            <a:r>
              <a:rPr dirty="0" err="1"/>
              <a:t>局限性：概念化，表达的意念十分直接</a:t>
            </a:r>
            <a:r>
              <a:rPr dirty="0"/>
              <a:t>。</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27">
                                            <p:txEl>
                                              <p:pRg st="0" end="0"/>
                                            </p:txEl>
                                          </p:spTgt>
                                        </p:tgtEl>
                                        <p:attrNameLst>
                                          <p:attrName>style.visibility</p:attrName>
                                        </p:attrNameLst>
                                      </p:cBhvr>
                                      <p:to>
                                        <p:strVal val="visible"/>
                                      </p:to>
                                    </p:set>
                                    <p:animEffect transition="in" filter="wipe(left)">
                                      <p:cBhvr>
                                        <p:cTn id="7" dur="500"/>
                                        <p:tgtEl>
                                          <p:spTgt spid="527">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indefinite" fill="hold"/>
                                        <p:tgtEl>
                                          <p:spTgt spid="527">
                                            <p:txEl>
                                              <p:pRg st="1" end="1"/>
                                            </p:txEl>
                                          </p:spTgt>
                                        </p:tgtEl>
                                        <p:attrNameLst>
                                          <p:attrName>style.visibility</p:attrName>
                                        </p:attrNameLst>
                                      </p:cBhvr>
                                      <p:to>
                                        <p:strVal val="visible"/>
                                      </p:to>
                                    </p:set>
                                    <p:animEffect transition="in" filter="wipe(left)">
                                      <p:cBhvr>
                                        <p:cTn id="11" dur="500"/>
                                        <p:tgtEl>
                                          <p:spTgt spid="527">
                                            <p:txEl>
                                              <p:pRg st="1" end="1"/>
                                            </p:txEl>
                                          </p:spTgt>
                                        </p:tgtEl>
                                      </p:cBhvr>
                                    </p:animEffect>
                                  </p:childTnLst>
                                </p:cTn>
                              </p:par>
                            </p:childTnLst>
                          </p:cTn>
                        </p:par>
                        <p:par>
                          <p:cTn id="12" fill="hold">
                            <p:stCondLst>
                              <p:cond delay="1000"/>
                            </p:stCondLst>
                            <p:childTnLst>
                              <p:par>
                                <p:cTn id="13" presetID="22" presetClass="entr" presetSubtype="8" fill="hold" grpId="1" nodeType="afterEffect">
                                  <p:stCondLst>
                                    <p:cond delay="0"/>
                                  </p:stCondLst>
                                  <p:childTnLst>
                                    <p:set>
                                      <p:cBhvr>
                                        <p:cTn id="14" dur="indefinite" fill="hold"/>
                                        <p:tgtEl>
                                          <p:spTgt spid="527">
                                            <p:txEl>
                                              <p:pRg st="2" end="2"/>
                                            </p:txEl>
                                          </p:spTgt>
                                        </p:tgtEl>
                                        <p:attrNameLst>
                                          <p:attrName>style.visibility</p:attrName>
                                        </p:attrNameLst>
                                      </p:cBhvr>
                                      <p:to>
                                        <p:strVal val="visible"/>
                                      </p:to>
                                    </p:set>
                                    <p:animEffect transition="in" filter="wipe(left)">
                                      <p:cBhvr>
                                        <p:cTn id="15" dur="500"/>
                                        <p:tgtEl>
                                          <p:spTgt spid="527">
                                            <p:txEl>
                                              <p:pRg st="2" end="2"/>
                                            </p:txEl>
                                          </p:spTgt>
                                        </p:tgtEl>
                                      </p:cBhvr>
                                    </p:animEffect>
                                  </p:childTnLst>
                                </p:cTn>
                              </p:par>
                            </p:childTnLst>
                          </p:cTn>
                        </p:par>
                        <p:par>
                          <p:cTn id="16" fill="hold">
                            <p:stCondLst>
                              <p:cond delay="1500"/>
                            </p:stCondLst>
                            <p:childTnLst>
                              <p:par>
                                <p:cTn id="17" presetID="22" presetClass="entr" presetSubtype="8" fill="hold" grpId="1" nodeType="afterEffect">
                                  <p:stCondLst>
                                    <p:cond delay="0"/>
                                  </p:stCondLst>
                                  <p:childTnLst>
                                    <p:set>
                                      <p:cBhvr>
                                        <p:cTn id="18" dur="indefinite" fill="hold"/>
                                        <p:tgtEl>
                                          <p:spTgt spid="527">
                                            <p:txEl>
                                              <p:pRg st="3" end="3"/>
                                            </p:txEl>
                                          </p:spTgt>
                                        </p:tgtEl>
                                        <p:attrNameLst>
                                          <p:attrName>style.visibility</p:attrName>
                                        </p:attrNameLst>
                                      </p:cBhvr>
                                      <p:to>
                                        <p:strVal val="visible"/>
                                      </p:to>
                                    </p:set>
                                    <p:animEffect transition="in" filter="wipe(left)">
                                      <p:cBhvr>
                                        <p:cTn id="19" dur="500"/>
                                        <p:tgtEl>
                                          <p:spTgt spid="5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 grpId="1" build="p" bldLvl="5" animBg="1" advAuto="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9" name="屏幕快照 2020-04-09 15.31.03.png" descr="屏幕快照 2020-04-09 15.31.03.png"/>
          <p:cNvPicPr>
            <a:picLocks noChangeAspect="1"/>
          </p:cNvPicPr>
          <p:nvPr/>
        </p:nvPicPr>
        <p:blipFill>
          <a:blip r:embed="rId2"/>
          <a:srcRect l="53" t="16414" r="53"/>
          <a:stretch>
            <a:fillRect/>
          </a:stretch>
        </p:blipFill>
        <p:spPr>
          <a:xfrm>
            <a:off x="443903" y="1708348"/>
            <a:ext cx="12117142" cy="6336835"/>
          </a:xfrm>
          <a:prstGeom prst="rect">
            <a:avLst/>
          </a:prstGeom>
          <a:ln w="12700">
            <a:miter lim="400000"/>
            <a:headEnd/>
            <a:tailEnd/>
          </a:ln>
        </p:spPr>
      </p:pic>
      <p:sp>
        <p:nvSpPr>
          <p:cNvPr id="530" name="摄影：仰拍"/>
          <p:cNvSpPr txBox="1"/>
          <p:nvPr/>
        </p:nvSpPr>
        <p:spPr>
          <a:xfrm>
            <a:off x="630685" y="8155433"/>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摄影：仰拍</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摄影高度：俯拍"/>
          <p:cNvSpPr txBox="1">
            <a:spLocks noGrp="1"/>
          </p:cNvSpPr>
          <p:nvPr>
            <p:ph type="title"/>
          </p:nvPr>
        </p:nvSpPr>
        <p:spPr>
          <a:xfrm>
            <a:off x="1625598" y="2416386"/>
            <a:ext cx="9753604" cy="2546776"/>
          </a:xfrm>
          <a:prstGeom prst="rect">
            <a:avLst/>
          </a:prstGeom>
        </p:spPr>
        <p:txBody>
          <a:bodyPr/>
          <a:lstStyle>
            <a:lvl1pPr>
              <a:defRPr>
                <a:latin typeface="楷体_GB2312"/>
                <a:ea typeface="楷体_GB2312"/>
                <a:cs typeface="楷体_GB2312"/>
                <a:sym typeface="楷体_GB2312"/>
              </a:defRPr>
            </a:lvl1pPr>
          </a:lstStyle>
          <a:p>
            <a:r>
              <a:t>摄影高度：俯拍</a:t>
            </a:r>
          </a:p>
        </p:txBody>
      </p:sp>
      <p:sp>
        <p:nvSpPr>
          <p:cNvPr id="533" name="摄影机视轴偏向视平线以下…"/>
          <p:cNvSpPr txBox="1">
            <a:spLocks noGrp="1"/>
          </p:cNvSpPr>
          <p:nvPr>
            <p:ph type="body" sz="quarter" idx="1"/>
          </p:nvPr>
        </p:nvSpPr>
        <p:spPr>
          <a:xfrm>
            <a:off x="1625598" y="5061372"/>
            <a:ext cx="9753604" cy="1766154"/>
          </a:xfrm>
          <a:prstGeom prst="rect">
            <a:avLst/>
          </a:prstGeom>
        </p:spPr>
        <p:txBody>
          <a:bodyPr/>
          <a:lstStyle/>
          <a:p>
            <a:pPr marL="187960" indent="-187960" defTabSz="518160">
              <a:spcBef>
                <a:spcPts val="300"/>
              </a:spcBef>
              <a:buSzPct val="100000"/>
              <a:buChar char="•"/>
              <a:defRPr sz="1800">
                <a:latin typeface="楷体_GB2312"/>
                <a:ea typeface="楷体_GB2312"/>
                <a:cs typeface="楷体_GB2312"/>
                <a:sym typeface="楷体_GB2312"/>
              </a:defRPr>
            </a:pPr>
            <a:r>
              <a:t>摄影机视轴偏向视平线以下</a:t>
            </a:r>
          </a:p>
          <a:p>
            <a:pPr marL="187960" indent="-187960" defTabSz="518160">
              <a:spcBef>
                <a:spcPts val="300"/>
              </a:spcBef>
              <a:buSzPct val="100000"/>
              <a:buChar char="•"/>
              <a:defRPr sz="1800">
                <a:latin typeface="楷体_GB2312"/>
                <a:ea typeface="楷体_GB2312"/>
                <a:cs typeface="楷体_GB2312"/>
                <a:sym typeface="楷体_GB2312"/>
              </a:defRPr>
            </a:pPr>
            <a:r>
              <a:t>表现处于视平线以下的被摄物</a:t>
            </a:r>
          </a:p>
          <a:p>
            <a:pPr marL="187960" indent="-187960" defTabSz="518160">
              <a:spcBef>
                <a:spcPts val="300"/>
              </a:spcBef>
              <a:buSzPct val="100000"/>
              <a:buChar char="•"/>
              <a:defRPr sz="1800">
                <a:latin typeface="楷体_GB2312"/>
                <a:ea typeface="楷体_GB2312"/>
                <a:cs typeface="楷体_GB2312"/>
                <a:sym typeface="楷体_GB2312"/>
              </a:defRPr>
            </a:pPr>
            <a:r>
              <a:t>表现压抑感</a:t>
            </a:r>
          </a:p>
          <a:p>
            <a:pPr marL="187960" indent="-187960" defTabSz="518160">
              <a:spcBef>
                <a:spcPts val="300"/>
              </a:spcBef>
              <a:buSzPct val="100000"/>
              <a:buChar char="•"/>
              <a:defRPr sz="1800">
                <a:latin typeface="楷体_GB2312"/>
                <a:ea typeface="楷体_GB2312"/>
                <a:cs typeface="楷体_GB2312"/>
                <a:sym typeface="楷体_GB2312"/>
              </a:defRPr>
            </a:pPr>
            <a:r>
              <a:t>展现空间关系，大场面</a:t>
            </a:r>
          </a:p>
          <a:p>
            <a:pPr marL="187960" indent="-187960" defTabSz="518160">
              <a:spcBef>
                <a:spcPts val="300"/>
              </a:spcBef>
              <a:buSzPct val="100000"/>
              <a:buChar char="•"/>
              <a:defRPr sz="1800">
                <a:latin typeface="楷体_GB2312"/>
                <a:ea typeface="楷体_GB2312"/>
                <a:cs typeface="楷体_GB2312"/>
                <a:sym typeface="楷体_GB2312"/>
              </a:defRPr>
            </a:pPr>
            <a:r>
              <a:t>局限性：缺乏前景，画面平板</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33">
                                            <p:txEl>
                                              <p:pRg st="0" end="0"/>
                                            </p:txEl>
                                          </p:spTgt>
                                        </p:tgtEl>
                                        <p:attrNameLst>
                                          <p:attrName>style.visibility</p:attrName>
                                        </p:attrNameLst>
                                      </p:cBhvr>
                                      <p:to>
                                        <p:strVal val="visible"/>
                                      </p:to>
                                    </p:set>
                                    <p:animEffect transition="in" filter="wipe(left)">
                                      <p:cBhvr>
                                        <p:cTn id="7" dur="500"/>
                                        <p:tgtEl>
                                          <p:spTgt spid="533">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indefinite" fill="hold"/>
                                        <p:tgtEl>
                                          <p:spTgt spid="533">
                                            <p:txEl>
                                              <p:pRg st="1" end="1"/>
                                            </p:txEl>
                                          </p:spTgt>
                                        </p:tgtEl>
                                        <p:attrNameLst>
                                          <p:attrName>style.visibility</p:attrName>
                                        </p:attrNameLst>
                                      </p:cBhvr>
                                      <p:to>
                                        <p:strVal val="visible"/>
                                      </p:to>
                                    </p:set>
                                    <p:animEffect transition="in" filter="wipe(left)">
                                      <p:cBhvr>
                                        <p:cTn id="11" dur="500"/>
                                        <p:tgtEl>
                                          <p:spTgt spid="533">
                                            <p:txEl>
                                              <p:pRg st="1" end="1"/>
                                            </p:txEl>
                                          </p:spTgt>
                                        </p:tgtEl>
                                      </p:cBhvr>
                                    </p:animEffect>
                                  </p:childTnLst>
                                </p:cTn>
                              </p:par>
                            </p:childTnLst>
                          </p:cTn>
                        </p:par>
                        <p:par>
                          <p:cTn id="12" fill="hold">
                            <p:stCondLst>
                              <p:cond delay="1000"/>
                            </p:stCondLst>
                            <p:childTnLst>
                              <p:par>
                                <p:cTn id="13" presetID="22" presetClass="entr" presetSubtype="8" fill="hold" grpId="1" nodeType="afterEffect">
                                  <p:stCondLst>
                                    <p:cond delay="0"/>
                                  </p:stCondLst>
                                  <p:childTnLst>
                                    <p:set>
                                      <p:cBhvr>
                                        <p:cTn id="14" dur="indefinite" fill="hold"/>
                                        <p:tgtEl>
                                          <p:spTgt spid="533">
                                            <p:txEl>
                                              <p:pRg st="2" end="2"/>
                                            </p:txEl>
                                          </p:spTgt>
                                        </p:tgtEl>
                                        <p:attrNameLst>
                                          <p:attrName>style.visibility</p:attrName>
                                        </p:attrNameLst>
                                      </p:cBhvr>
                                      <p:to>
                                        <p:strVal val="visible"/>
                                      </p:to>
                                    </p:set>
                                    <p:animEffect transition="in" filter="wipe(left)">
                                      <p:cBhvr>
                                        <p:cTn id="15" dur="500"/>
                                        <p:tgtEl>
                                          <p:spTgt spid="533">
                                            <p:txEl>
                                              <p:pRg st="2" end="2"/>
                                            </p:txEl>
                                          </p:spTgt>
                                        </p:tgtEl>
                                      </p:cBhvr>
                                    </p:animEffect>
                                  </p:childTnLst>
                                </p:cTn>
                              </p:par>
                            </p:childTnLst>
                          </p:cTn>
                        </p:par>
                        <p:par>
                          <p:cTn id="16" fill="hold">
                            <p:stCondLst>
                              <p:cond delay="1500"/>
                            </p:stCondLst>
                            <p:childTnLst>
                              <p:par>
                                <p:cTn id="17" presetID="22" presetClass="entr" presetSubtype="8" fill="hold" grpId="1" nodeType="afterEffect">
                                  <p:stCondLst>
                                    <p:cond delay="0"/>
                                  </p:stCondLst>
                                  <p:childTnLst>
                                    <p:set>
                                      <p:cBhvr>
                                        <p:cTn id="18" dur="indefinite" fill="hold"/>
                                        <p:tgtEl>
                                          <p:spTgt spid="533">
                                            <p:txEl>
                                              <p:pRg st="3" end="3"/>
                                            </p:txEl>
                                          </p:spTgt>
                                        </p:tgtEl>
                                        <p:attrNameLst>
                                          <p:attrName>style.visibility</p:attrName>
                                        </p:attrNameLst>
                                      </p:cBhvr>
                                      <p:to>
                                        <p:strVal val="visible"/>
                                      </p:to>
                                    </p:set>
                                    <p:animEffect transition="in" filter="wipe(left)">
                                      <p:cBhvr>
                                        <p:cTn id="19" dur="500"/>
                                        <p:tgtEl>
                                          <p:spTgt spid="533">
                                            <p:txEl>
                                              <p:pRg st="3" end="3"/>
                                            </p:txEl>
                                          </p:spTgt>
                                        </p:tgtEl>
                                      </p:cBhvr>
                                    </p:animEffect>
                                  </p:childTnLst>
                                </p:cTn>
                              </p:par>
                            </p:childTnLst>
                          </p:cTn>
                        </p:par>
                        <p:par>
                          <p:cTn id="20" fill="hold">
                            <p:stCondLst>
                              <p:cond delay="2000"/>
                            </p:stCondLst>
                            <p:childTnLst>
                              <p:par>
                                <p:cTn id="21" presetID="22" presetClass="entr" presetSubtype="8" fill="hold" grpId="1" nodeType="afterEffect">
                                  <p:stCondLst>
                                    <p:cond delay="0"/>
                                  </p:stCondLst>
                                  <p:childTnLst>
                                    <p:set>
                                      <p:cBhvr>
                                        <p:cTn id="22" dur="indefinite" fill="hold"/>
                                        <p:tgtEl>
                                          <p:spTgt spid="533">
                                            <p:txEl>
                                              <p:pRg st="4" end="4"/>
                                            </p:txEl>
                                          </p:spTgt>
                                        </p:tgtEl>
                                        <p:attrNameLst>
                                          <p:attrName>style.visibility</p:attrName>
                                        </p:attrNameLst>
                                      </p:cBhvr>
                                      <p:to>
                                        <p:strVal val="visible"/>
                                      </p:to>
                                    </p:set>
                                    <p:animEffect transition="in" filter="wipe(left)">
                                      <p:cBhvr>
                                        <p:cTn id="23" dur="500"/>
                                        <p:tgtEl>
                                          <p:spTgt spid="5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 grpId="1" build="p" bldLvl="5" animBg="1" advAuto="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摄影：俯拍"/>
          <p:cNvSpPr txBox="1"/>
          <p:nvPr/>
        </p:nvSpPr>
        <p:spPr>
          <a:xfrm>
            <a:off x="262384" y="8498333"/>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摄影：俯拍</a:t>
            </a:r>
          </a:p>
        </p:txBody>
      </p:sp>
      <p:pic>
        <p:nvPicPr>
          <p:cNvPr id="536" name="屏幕快照 2020-04-09 15.30.39.png" descr="屏幕快照 2020-04-09 15.30.39.png"/>
          <p:cNvPicPr>
            <a:picLocks noChangeAspect="1"/>
          </p:cNvPicPr>
          <p:nvPr/>
        </p:nvPicPr>
        <p:blipFill>
          <a:blip r:embed="rId2"/>
          <a:srcRect t="16111"/>
          <a:stretch>
            <a:fillRect/>
          </a:stretch>
        </p:blipFill>
        <p:spPr>
          <a:xfrm>
            <a:off x="0" y="1340345"/>
            <a:ext cx="13004800" cy="6818464"/>
          </a:xfrm>
          <a:prstGeom prst="rect">
            <a:avLst/>
          </a:prstGeom>
          <a:ln w="12700">
            <a:miter lim="400000"/>
            <a:headEnd/>
            <a:tailEnd/>
          </a:ln>
        </p:spPr>
      </p:pic>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摄影：俯拍"/>
          <p:cNvSpPr txBox="1"/>
          <p:nvPr/>
        </p:nvSpPr>
        <p:spPr>
          <a:xfrm>
            <a:off x="109984" y="7342633"/>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摄影：俯拍</a:t>
            </a:r>
          </a:p>
        </p:txBody>
      </p:sp>
      <p:pic>
        <p:nvPicPr>
          <p:cNvPr id="539" name="屏幕快照 2020-04-09 10.05.02.png" descr="屏幕快照 2020-04-09 10.05.02.png"/>
          <p:cNvPicPr>
            <a:picLocks noChangeAspect="1"/>
          </p:cNvPicPr>
          <p:nvPr/>
        </p:nvPicPr>
        <p:blipFill>
          <a:blip r:embed="rId2"/>
          <a:srcRect l="24814" t="33247" r="24814" b="33247"/>
          <a:stretch>
            <a:fillRect/>
          </a:stretch>
        </p:blipFill>
        <p:spPr>
          <a:xfrm>
            <a:off x="-4367" y="1675555"/>
            <a:ext cx="13013460" cy="5410105"/>
          </a:xfrm>
          <a:prstGeom prst="rect">
            <a:avLst/>
          </a:prstGeom>
          <a:ln w="12700">
            <a:miter lim="400000"/>
            <a:headEnd/>
            <a:tailEnd/>
          </a:ln>
        </p:spPr>
      </p:pic>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摄影方向：正拍"/>
          <p:cNvSpPr txBox="1">
            <a:spLocks noGrp="1"/>
          </p:cNvSpPr>
          <p:nvPr>
            <p:ph type="title"/>
          </p:nvPr>
        </p:nvSpPr>
        <p:spPr>
          <a:xfrm>
            <a:off x="934718" y="2109046"/>
            <a:ext cx="9753604" cy="2546776"/>
          </a:xfrm>
          <a:prstGeom prst="rect">
            <a:avLst/>
          </a:prstGeom>
        </p:spPr>
        <p:txBody>
          <a:bodyPr/>
          <a:lstStyle>
            <a:lvl1pPr>
              <a:defRPr>
                <a:latin typeface="楷体_GB2312"/>
                <a:ea typeface="楷体_GB2312"/>
                <a:cs typeface="楷体_GB2312"/>
                <a:sym typeface="楷体_GB2312"/>
              </a:defRPr>
            </a:lvl1pPr>
          </a:lstStyle>
          <a:p>
            <a:r>
              <a:rPr dirty="0" err="1"/>
              <a:t>摄影方向：正拍</a:t>
            </a:r>
            <a:endParaRPr dirty="0"/>
          </a:p>
        </p:txBody>
      </p:sp>
      <p:sp>
        <p:nvSpPr>
          <p:cNvPr id="542" name="摄影机处于被摄物的正面…"/>
          <p:cNvSpPr txBox="1">
            <a:spLocks noGrp="1"/>
          </p:cNvSpPr>
          <p:nvPr>
            <p:ph type="body" sz="quarter" idx="1"/>
          </p:nvPr>
        </p:nvSpPr>
        <p:spPr>
          <a:xfrm>
            <a:off x="6662365" y="5171658"/>
            <a:ext cx="10097313" cy="3287948"/>
          </a:xfrm>
          <a:prstGeom prst="rect">
            <a:avLst/>
          </a:prstGeom>
        </p:spPr>
        <p:txBody>
          <a:bodyPr>
            <a:normAutofit/>
          </a:bodyPr>
          <a:lstStyle/>
          <a:p>
            <a:pPr marL="187960" indent="-187960" algn="l" defTabSz="518160">
              <a:lnSpc>
                <a:spcPct val="200000"/>
              </a:lnSpc>
              <a:spcBef>
                <a:spcPts val="300"/>
              </a:spcBef>
              <a:buSzPct val="100000"/>
              <a:buChar char="•"/>
              <a:defRPr sz="1800">
                <a:latin typeface="楷体_GB2312"/>
                <a:ea typeface="楷体_GB2312"/>
                <a:cs typeface="楷体_GB2312"/>
                <a:sym typeface="楷体_GB2312"/>
              </a:defRPr>
            </a:pPr>
            <a:r>
              <a:rPr dirty="0" err="1"/>
              <a:t>摄影机处于被摄物的正面</a:t>
            </a:r>
            <a:endParaRPr dirty="0"/>
          </a:p>
          <a:p>
            <a:pPr marL="187960" indent="-187960" algn="l" defTabSz="518160">
              <a:lnSpc>
                <a:spcPct val="200000"/>
              </a:lnSpc>
              <a:spcBef>
                <a:spcPts val="300"/>
              </a:spcBef>
              <a:buSzPct val="100000"/>
              <a:buChar char="•"/>
              <a:defRPr sz="1800">
                <a:latin typeface="楷体_GB2312"/>
                <a:ea typeface="楷体_GB2312"/>
                <a:cs typeface="楷体_GB2312"/>
                <a:sym typeface="楷体_GB2312"/>
              </a:defRPr>
            </a:pPr>
            <a:r>
              <a:rPr dirty="0" err="1"/>
              <a:t>最能准确表现被摄物的主要特征</a:t>
            </a:r>
            <a:endParaRPr dirty="0"/>
          </a:p>
          <a:p>
            <a:pPr marL="187960" indent="-187960" algn="l" defTabSz="518160">
              <a:lnSpc>
                <a:spcPct val="200000"/>
              </a:lnSpc>
              <a:spcBef>
                <a:spcPts val="300"/>
              </a:spcBef>
              <a:buSzPct val="100000"/>
              <a:buChar char="•"/>
              <a:defRPr sz="1800">
                <a:latin typeface="楷体_GB2312"/>
                <a:ea typeface="楷体_GB2312"/>
                <a:cs typeface="楷体_GB2312"/>
                <a:sym typeface="楷体_GB2312"/>
              </a:defRPr>
            </a:pPr>
            <a:r>
              <a:rPr dirty="0" err="1"/>
              <a:t>构图对称，画面稳定</a:t>
            </a:r>
            <a:endParaRPr dirty="0"/>
          </a:p>
          <a:p>
            <a:pPr marL="187960" indent="-187960" algn="l" defTabSz="518160">
              <a:lnSpc>
                <a:spcPct val="200000"/>
              </a:lnSpc>
              <a:spcBef>
                <a:spcPts val="300"/>
              </a:spcBef>
              <a:buSzPct val="100000"/>
              <a:buChar char="•"/>
              <a:defRPr sz="1800">
                <a:latin typeface="楷体_GB2312"/>
                <a:ea typeface="楷体_GB2312"/>
                <a:cs typeface="楷体_GB2312"/>
                <a:sym typeface="楷体_GB2312"/>
              </a:defRPr>
            </a:pPr>
            <a:r>
              <a:rPr dirty="0" err="1"/>
              <a:t>庄严肃穆，平稳大方</a:t>
            </a:r>
            <a:endParaRPr dirty="0"/>
          </a:p>
          <a:p>
            <a:pPr marL="187960" indent="-187960" algn="l" defTabSz="518160">
              <a:lnSpc>
                <a:spcPct val="200000"/>
              </a:lnSpc>
              <a:spcBef>
                <a:spcPts val="300"/>
              </a:spcBef>
              <a:buSzPct val="100000"/>
              <a:buChar char="•"/>
              <a:defRPr sz="1800">
                <a:latin typeface="楷体_GB2312"/>
                <a:ea typeface="楷体_GB2312"/>
                <a:cs typeface="楷体_GB2312"/>
                <a:sym typeface="楷体_GB2312"/>
              </a:defRPr>
            </a:pPr>
            <a:r>
              <a:rPr dirty="0" err="1"/>
              <a:t>局限性：呆板，做作，透视效果不佳</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42">
                                            <p:txEl>
                                              <p:pRg st="0" end="0"/>
                                            </p:txEl>
                                          </p:spTgt>
                                        </p:tgtEl>
                                        <p:attrNameLst>
                                          <p:attrName>style.visibility</p:attrName>
                                        </p:attrNameLst>
                                      </p:cBhvr>
                                      <p:to>
                                        <p:strVal val="visible"/>
                                      </p:to>
                                    </p:set>
                                    <p:animEffect transition="in" filter="wipe(left)">
                                      <p:cBhvr>
                                        <p:cTn id="7" dur="500"/>
                                        <p:tgtEl>
                                          <p:spTgt spid="542">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indefinite" fill="hold"/>
                                        <p:tgtEl>
                                          <p:spTgt spid="542">
                                            <p:txEl>
                                              <p:pRg st="1" end="1"/>
                                            </p:txEl>
                                          </p:spTgt>
                                        </p:tgtEl>
                                        <p:attrNameLst>
                                          <p:attrName>style.visibility</p:attrName>
                                        </p:attrNameLst>
                                      </p:cBhvr>
                                      <p:to>
                                        <p:strVal val="visible"/>
                                      </p:to>
                                    </p:set>
                                    <p:animEffect transition="in" filter="wipe(left)">
                                      <p:cBhvr>
                                        <p:cTn id="11" dur="500"/>
                                        <p:tgtEl>
                                          <p:spTgt spid="542">
                                            <p:txEl>
                                              <p:pRg st="1" end="1"/>
                                            </p:txEl>
                                          </p:spTgt>
                                        </p:tgtEl>
                                      </p:cBhvr>
                                    </p:animEffect>
                                  </p:childTnLst>
                                </p:cTn>
                              </p:par>
                            </p:childTnLst>
                          </p:cTn>
                        </p:par>
                        <p:par>
                          <p:cTn id="12" fill="hold">
                            <p:stCondLst>
                              <p:cond delay="1000"/>
                            </p:stCondLst>
                            <p:childTnLst>
                              <p:par>
                                <p:cTn id="13" presetID="22" presetClass="entr" presetSubtype="8" fill="hold" grpId="1" nodeType="afterEffect">
                                  <p:stCondLst>
                                    <p:cond delay="0"/>
                                  </p:stCondLst>
                                  <p:childTnLst>
                                    <p:set>
                                      <p:cBhvr>
                                        <p:cTn id="14" dur="indefinite" fill="hold"/>
                                        <p:tgtEl>
                                          <p:spTgt spid="542">
                                            <p:txEl>
                                              <p:pRg st="2" end="2"/>
                                            </p:txEl>
                                          </p:spTgt>
                                        </p:tgtEl>
                                        <p:attrNameLst>
                                          <p:attrName>style.visibility</p:attrName>
                                        </p:attrNameLst>
                                      </p:cBhvr>
                                      <p:to>
                                        <p:strVal val="visible"/>
                                      </p:to>
                                    </p:set>
                                    <p:animEffect transition="in" filter="wipe(left)">
                                      <p:cBhvr>
                                        <p:cTn id="15" dur="500"/>
                                        <p:tgtEl>
                                          <p:spTgt spid="542">
                                            <p:txEl>
                                              <p:pRg st="2" end="2"/>
                                            </p:txEl>
                                          </p:spTgt>
                                        </p:tgtEl>
                                      </p:cBhvr>
                                    </p:animEffect>
                                  </p:childTnLst>
                                </p:cTn>
                              </p:par>
                            </p:childTnLst>
                          </p:cTn>
                        </p:par>
                        <p:par>
                          <p:cTn id="16" fill="hold">
                            <p:stCondLst>
                              <p:cond delay="1500"/>
                            </p:stCondLst>
                            <p:childTnLst>
                              <p:par>
                                <p:cTn id="17" presetID="22" presetClass="entr" presetSubtype="8" fill="hold" grpId="1" nodeType="afterEffect">
                                  <p:stCondLst>
                                    <p:cond delay="0"/>
                                  </p:stCondLst>
                                  <p:childTnLst>
                                    <p:set>
                                      <p:cBhvr>
                                        <p:cTn id="18" dur="indefinite" fill="hold"/>
                                        <p:tgtEl>
                                          <p:spTgt spid="542">
                                            <p:txEl>
                                              <p:pRg st="3" end="3"/>
                                            </p:txEl>
                                          </p:spTgt>
                                        </p:tgtEl>
                                        <p:attrNameLst>
                                          <p:attrName>style.visibility</p:attrName>
                                        </p:attrNameLst>
                                      </p:cBhvr>
                                      <p:to>
                                        <p:strVal val="visible"/>
                                      </p:to>
                                    </p:set>
                                    <p:animEffect transition="in" filter="wipe(left)">
                                      <p:cBhvr>
                                        <p:cTn id="19" dur="500"/>
                                        <p:tgtEl>
                                          <p:spTgt spid="542">
                                            <p:txEl>
                                              <p:pRg st="3" end="3"/>
                                            </p:txEl>
                                          </p:spTgt>
                                        </p:tgtEl>
                                      </p:cBhvr>
                                    </p:animEffect>
                                  </p:childTnLst>
                                </p:cTn>
                              </p:par>
                            </p:childTnLst>
                          </p:cTn>
                        </p:par>
                        <p:par>
                          <p:cTn id="20" fill="hold">
                            <p:stCondLst>
                              <p:cond delay="2000"/>
                            </p:stCondLst>
                            <p:childTnLst>
                              <p:par>
                                <p:cTn id="21" presetID="22" presetClass="entr" presetSubtype="8" fill="hold" grpId="1" nodeType="afterEffect">
                                  <p:stCondLst>
                                    <p:cond delay="0"/>
                                  </p:stCondLst>
                                  <p:childTnLst>
                                    <p:set>
                                      <p:cBhvr>
                                        <p:cTn id="22" dur="indefinite" fill="hold"/>
                                        <p:tgtEl>
                                          <p:spTgt spid="542">
                                            <p:txEl>
                                              <p:pRg st="4" end="4"/>
                                            </p:txEl>
                                          </p:spTgt>
                                        </p:tgtEl>
                                        <p:attrNameLst>
                                          <p:attrName>style.visibility</p:attrName>
                                        </p:attrNameLst>
                                      </p:cBhvr>
                                      <p:to>
                                        <p:strVal val="visible"/>
                                      </p:to>
                                    </p:set>
                                    <p:animEffect transition="in" filter="wipe(left)">
                                      <p:cBhvr>
                                        <p:cTn id="23" dur="500"/>
                                        <p:tgtEl>
                                          <p:spTgt spid="5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 grpId="1" build="p" bldLvl="5" animBg="1"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4" name="屏幕快照 2020-04-08 19.30.21.png" descr="屏幕快照 2020-04-08 19.30.21.png"/>
          <p:cNvPicPr>
            <a:picLocks noChangeAspect="1"/>
          </p:cNvPicPr>
          <p:nvPr/>
        </p:nvPicPr>
        <p:blipFill>
          <a:blip r:embed="rId2"/>
          <a:srcRect l="25137" t="33234" r="25137" b="33234"/>
          <a:stretch>
            <a:fillRect/>
          </a:stretch>
        </p:blipFill>
        <p:spPr>
          <a:xfrm>
            <a:off x="122633" y="1175741"/>
            <a:ext cx="12759396" cy="5377506"/>
          </a:xfrm>
          <a:prstGeom prst="rect">
            <a:avLst/>
          </a:prstGeom>
          <a:ln w="12700">
            <a:miter lim="400000"/>
            <a:headEnd/>
            <a:tailEnd/>
          </a:ln>
        </p:spPr>
      </p:pic>
      <p:sp>
        <p:nvSpPr>
          <p:cNvPr id="545" name="摄影：正拍"/>
          <p:cNvSpPr txBox="1"/>
          <p:nvPr/>
        </p:nvSpPr>
        <p:spPr>
          <a:xfrm>
            <a:off x="186183" y="6771133"/>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摄影：正拍</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摄影：正拍"/>
          <p:cNvSpPr txBox="1"/>
          <p:nvPr/>
        </p:nvSpPr>
        <p:spPr>
          <a:xfrm>
            <a:off x="173483" y="7266433"/>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摄影：正拍</a:t>
            </a:r>
          </a:p>
        </p:txBody>
      </p:sp>
      <p:pic>
        <p:nvPicPr>
          <p:cNvPr id="548" name="屏幕快照 2020-04-09 10.02.19.png" descr="屏幕快照 2020-04-09 10.02.19.png"/>
          <p:cNvPicPr>
            <a:picLocks noChangeAspect="1"/>
          </p:cNvPicPr>
          <p:nvPr/>
        </p:nvPicPr>
        <p:blipFill>
          <a:blip r:embed="rId2"/>
          <a:srcRect l="24996" t="33361" r="24996" b="33361"/>
          <a:stretch>
            <a:fillRect/>
          </a:stretch>
        </p:blipFill>
        <p:spPr>
          <a:xfrm>
            <a:off x="-90886" y="1566216"/>
            <a:ext cx="13186376" cy="5484181"/>
          </a:xfrm>
          <a:prstGeom prst="rect">
            <a:avLst/>
          </a:prstGeom>
          <a:ln w="12700">
            <a:miter lim="400000"/>
            <a:headEnd/>
            <a:tailEnd/>
          </a:ln>
        </p:spPr>
      </p:pic>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摄影方向：侧拍"/>
          <p:cNvSpPr txBox="1">
            <a:spLocks noGrp="1"/>
          </p:cNvSpPr>
          <p:nvPr>
            <p:ph type="title"/>
          </p:nvPr>
        </p:nvSpPr>
        <p:spPr>
          <a:xfrm>
            <a:off x="1625598" y="1942251"/>
            <a:ext cx="9753604" cy="2546777"/>
          </a:xfrm>
          <a:prstGeom prst="rect">
            <a:avLst/>
          </a:prstGeom>
        </p:spPr>
        <p:txBody>
          <a:bodyPr/>
          <a:lstStyle>
            <a:lvl1pPr>
              <a:defRPr>
                <a:latin typeface="楷体_GB2312"/>
                <a:ea typeface="楷体_GB2312"/>
                <a:cs typeface="楷体_GB2312"/>
                <a:sym typeface="楷体_GB2312"/>
              </a:defRPr>
            </a:lvl1pPr>
          </a:lstStyle>
          <a:p>
            <a:r>
              <a:t>摄影方向：侧拍</a:t>
            </a:r>
          </a:p>
        </p:txBody>
      </p:sp>
      <p:sp>
        <p:nvSpPr>
          <p:cNvPr id="551" name="摄影机与被摄物成90°角…"/>
          <p:cNvSpPr txBox="1">
            <a:spLocks noGrp="1"/>
          </p:cNvSpPr>
          <p:nvPr>
            <p:ph type="body" sz="quarter" idx="1"/>
          </p:nvPr>
        </p:nvSpPr>
        <p:spPr>
          <a:xfrm>
            <a:off x="1166043" y="4831079"/>
            <a:ext cx="10672713" cy="2307334"/>
          </a:xfrm>
          <a:prstGeom prst="rect">
            <a:avLst/>
          </a:prstGeom>
        </p:spPr>
        <p:txBody>
          <a:bodyPr/>
          <a:lstStyle/>
          <a:p>
            <a:pPr marL="247015" indent="-247015" defTabSz="686435">
              <a:spcBef>
                <a:spcPts val="600"/>
              </a:spcBef>
              <a:buSzPct val="100000"/>
              <a:buChar char="•"/>
              <a:defRPr sz="2400">
                <a:latin typeface="楷体_GB2312"/>
                <a:ea typeface="楷体_GB2312"/>
                <a:cs typeface="楷体_GB2312"/>
                <a:sym typeface="楷体_GB2312"/>
              </a:defRPr>
            </a:pPr>
            <a:endParaRPr dirty="0"/>
          </a:p>
          <a:p>
            <a:pPr marL="247015" indent="-247015" defTabSz="686435">
              <a:spcBef>
                <a:spcPts val="500"/>
              </a:spcBef>
              <a:buSzPct val="100000"/>
              <a:buChar char="•"/>
              <a:defRPr sz="2400">
                <a:latin typeface="楷体_GB2312"/>
                <a:ea typeface="楷体_GB2312"/>
                <a:cs typeface="楷体_GB2312"/>
                <a:sym typeface="楷体_GB2312"/>
              </a:defRPr>
            </a:pPr>
            <a:r>
              <a:rPr dirty="0"/>
              <a:t>摄影机与被摄物成90°角</a:t>
            </a:r>
          </a:p>
          <a:p>
            <a:pPr marL="247015" indent="-247015" defTabSz="686435">
              <a:spcBef>
                <a:spcPts val="500"/>
              </a:spcBef>
              <a:buSzPct val="100000"/>
              <a:buChar char="•"/>
              <a:defRPr sz="2400">
                <a:latin typeface="楷体_GB2312"/>
                <a:ea typeface="楷体_GB2312"/>
                <a:cs typeface="楷体_GB2312"/>
                <a:sym typeface="楷体_GB2312"/>
              </a:defRPr>
            </a:pPr>
            <a:r>
              <a:rPr dirty="0" err="1"/>
              <a:t>清晰的轮廓线</a:t>
            </a:r>
            <a:endParaRPr dirty="0"/>
          </a:p>
          <a:p>
            <a:pPr marL="247015" indent="-247015" defTabSz="686435">
              <a:spcBef>
                <a:spcPts val="500"/>
              </a:spcBef>
              <a:buSzPct val="100000"/>
              <a:buChar char="•"/>
              <a:defRPr sz="2400">
                <a:latin typeface="楷体_GB2312"/>
                <a:ea typeface="楷体_GB2312"/>
                <a:cs typeface="楷体_GB2312"/>
                <a:sym typeface="楷体_GB2312"/>
              </a:defRPr>
            </a:pPr>
            <a:r>
              <a:rPr dirty="0" err="1"/>
              <a:t>较好的画面透视，画面生动</a:t>
            </a:r>
            <a:endParaRPr dirty="0"/>
          </a:p>
          <a:p>
            <a:pPr marL="247015" indent="-247015" defTabSz="686435">
              <a:spcBef>
                <a:spcPts val="500"/>
              </a:spcBef>
              <a:buSzPct val="100000"/>
              <a:buChar char="•"/>
              <a:defRPr sz="2400">
                <a:latin typeface="楷体_GB2312"/>
                <a:ea typeface="楷体_GB2312"/>
                <a:cs typeface="楷体_GB2312"/>
                <a:sym typeface="楷体_GB2312"/>
              </a:defRPr>
            </a:pPr>
            <a:r>
              <a:rPr dirty="0" err="1"/>
              <a:t>局限性：被摄物特征不明显</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51">
                                            <p:txEl>
                                              <p:pRg st="1" end="1"/>
                                            </p:txEl>
                                          </p:spTgt>
                                        </p:tgtEl>
                                        <p:attrNameLst>
                                          <p:attrName>style.visibility</p:attrName>
                                        </p:attrNameLst>
                                      </p:cBhvr>
                                      <p:to>
                                        <p:strVal val="visible"/>
                                      </p:to>
                                    </p:set>
                                    <p:animEffect transition="in" filter="wipe(left)">
                                      <p:cBhvr>
                                        <p:cTn id="7" dur="500"/>
                                        <p:tgtEl>
                                          <p:spTgt spid="5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551">
                                            <p:txEl>
                                              <p:pRg st="2" end="2"/>
                                            </p:txEl>
                                          </p:spTgt>
                                        </p:tgtEl>
                                        <p:attrNameLst>
                                          <p:attrName>style.visibility</p:attrName>
                                        </p:attrNameLst>
                                      </p:cBhvr>
                                      <p:to>
                                        <p:strVal val="visible"/>
                                      </p:to>
                                    </p:set>
                                    <p:animEffect transition="in" filter="wipe(left)">
                                      <p:cBhvr>
                                        <p:cTn id="12" dur="500"/>
                                        <p:tgtEl>
                                          <p:spTgt spid="5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551">
                                            <p:txEl>
                                              <p:pRg st="3" end="3"/>
                                            </p:txEl>
                                          </p:spTgt>
                                        </p:tgtEl>
                                        <p:attrNameLst>
                                          <p:attrName>style.visibility</p:attrName>
                                        </p:attrNameLst>
                                      </p:cBhvr>
                                      <p:to>
                                        <p:strVal val="visible"/>
                                      </p:to>
                                    </p:set>
                                    <p:animEffect transition="in" filter="wipe(left)">
                                      <p:cBhvr>
                                        <p:cTn id="17" dur="500"/>
                                        <p:tgtEl>
                                          <p:spTgt spid="55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indefinite" fill="hold"/>
                                        <p:tgtEl>
                                          <p:spTgt spid="551">
                                            <p:txEl>
                                              <p:pRg st="4" end="4"/>
                                            </p:txEl>
                                          </p:spTgt>
                                        </p:tgtEl>
                                        <p:attrNameLst>
                                          <p:attrName>style.visibility</p:attrName>
                                        </p:attrNameLst>
                                      </p:cBhvr>
                                      <p:to>
                                        <p:strVal val="visible"/>
                                      </p:to>
                                    </p:set>
                                    <p:animEffect transition="in" filter="wipe(left)">
                                      <p:cBhvr>
                                        <p:cTn id="22" dur="500"/>
                                        <p:tgtEl>
                                          <p:spTgt spid="5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 grpId="1" build="p" animBg="1" advAuto="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3" name="屏幕快照 2020-04-08 14.15.29.png" descr="屏幕快照 2020-04-08 14.15.29.png"/>
          <p:cNvPicPr>
            <a:picLocks noChangeAspect="1"/>
          </p:cNvPicPr>
          <p:nvPr/>
        </p:nvPicPr>
        <p:blipFill>
          <a:blip r:embed="rId2"/>
          <a:stretch>
            <a:fillRect/>
          </a:stretch>
        </p:blipFill>
        <p:spPr>
          <a:xfrm>
            <a:off x="-917656" y="-20390"/>
            <a:ext cx="14840111" cy="9275069"/>
          </a:xfrm>
          <a:prstGeom prst="rect">
            <a:avLst/>
          </a:prstGeom>
          <a:ln w="12700">
            <a:miter lim="400000"/>
            <a:headEnd/>
            <a:tailEnd/>
          </a:ln>
        </p:spPr>
      </p:pic>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5" name="屏幕快照 2020-04-08 19.30.14.png" descr="屏幕快照 2020-04-08 19.30.14.png"/>
          <p:cNvPicPr>
            <a:picLocks noChangeAspect="1"/>
          </p:cNvPicPr>
          <p:nvPr/>
        </p:nvPicPr>
        <p:blipFill>
          <a:blip r:embed="rId2"/>
          <a:srcRect l="25018" t="33213" r="25018" b="33214"/>
          <a:stretch>
            <a:fillRect/>
          </a:stretch>
        </p:blipFill>
        <p:spPr>
          <a:xfrm>
            <a:off x="117276" y="1744335"/>
            <a:ext cx="12770232" cy="5363167"/>
          </a:xfrm>
          <a:prstGeom prst="rect">
            <a:avLst/>
          </a:prstGeom>
          <a:ln w="12700">
            <a:miter lim="400000"/>
            <a:headEnd/>
            <a:tailEnd/>
          </a:ln>
        </p:spPr>
      </p:pic>
      <p:sp>
        <p:nvSpPr>
          <p:cNvPr id="556" name="摄影：侧 拍"/>
          <p:cNvSpPr txBox="1"/>
          <p:nvPr/>
        </p:nvSpPr>
        <p:spPr>
          <a:xfrm>
            <a:off x="120557" y="7228333"/>
            <a:ext cx="2121085"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摄影：侧 拍</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 name="摄影方向：反拍与正侧拍"/>
          <p:cNvSpPr txBox="1">
            <a:spLocks noGrp="1"/>
          </p:cNvSpPr>
          <p:nvPr>
            <p:ph type="title"/>
          </p:nvPr>
        </p:nvSpPr>
        <p:spPr>
          <a:xfrm>
            <a:off x="927098" y="1641686"/>
            <a:ext cx="9753604" cy="2546776"/>
          </a:xfrm>
          <a:prstGeom prst="rect">
            <a:avLst/>
          </a:prstGeom>
        </p:spPr>
        <p:txBody>
          <a:bodyPr/>
          <a:lstStyle>
            <a:lvl1pPr>
              <a:defRPr sz="6000">
                <a:latin typeface="楷体_GB2312"/>
                <a:ea typeface="楷体_GB2312"/>
                <a:cs typeface="楷体_GB2312"/>
                <a:sym typeface="楷体_GB2312"/>
              </a:defRPr>
            </a:lvl1pPr>
          </a:lstStyle>
          <a:p>
            <a:r>
              <a:t>摄影方向：反拍与正侧拍</a:t>
            </a:r>
          </a:p>
        </p:txBody>
      </p:sp>
      <p:sp>
        <p:nvSpPr>
          <p:cNvPr id="559" name="反拍就是摄影机处于被摄物正面相反的方向…"/>
          <p:cNvSpPr txBox="1">
            <a:spLocks noGrp="1"/>
          </p:cNvSpPr>
          <p:nvPr>
            <p:ph type="body" sz="quarter" idx="1"/>
          </p:nvPr>
        </p:nvSpPr>
        <p:spPr>
          <a:xfrm>
            <a:off x="5077838" y="4571999"/>
            <a:ext cx="6867728" cy="4105071"/>
          </a:xfrm>
          <a:prstGeom prst="rect">
            <a:avLst/>
          </a:prstGeom>
        </p:spPr>
        <p:txBody>
          <a:bodyPr>
            <a:normAutofit/>
          </a:bodyPr>
          <a:lstStyle/>
          <a:p>
            <a:pPr marL="226695" indent="-226695" algn="l" defTabSz="645160">
              <a:lnSpc>
                <a:spcPct val="200000"/>
              </a:lnSpc>
              <a:spcBef>
                <a:spcPts val="400"/>
              </a:spcBef>
              <a:buSzPct val="100000"/>
              <a:buChar char="•"/>
              <a:defRPr sz="2200">
                <a:latin typeface="楷体_GB2312"/>
                <a:ea typeface="楷体_GB2312"/>
                <a:cs typeface="楷体_GB2312"/>
                <a:sym typeface="楷体_GB2312"/>
              </a:defRPr>
            </a:pPr>
            <a:r>
              <a:rPr dirty="0" err="1"/>
              <a:t>反拍就是摄影机处于被摄物正面相反的方向</a:t>
            </a:r>
            <a:endParaRPr dirty="0"/>
          </a:p>
          <a:p>
            <a:pPr marL="226695" indent="-226695" algn="l" defTabSz="645160">
              <a:lnSpc>
                <a:spcPct val="200000"/>
              </a:lnSpc>
              <a:spcBef>
                <a:spcPts val="400"/>
              </a:spcBef>
              <a:buSzPct val="100000"/>
              <a:buChar char="•"/>
              <a:defRPr sz="2200">
                <a:latin typeface="楷体_GB2312"/>
                <a:ea typeface="楷体_GB2312"/>
                <a:cs typeface="楷体_GB2312"/>
                <a:sym typeface="楷体_GB2312"/>
              </a:defRPr>
            </a:pPr>
            <a:r>
              <a:rPr dirty="0" err="1"/>
              <a:t>反拍表现正面无法表现的空间</a:t>
            </a:r>
            <a:endParaRPr dirty="0"/>
          </a:p>
          <a:p>
            <a:pPr marL="226695" indent="-226695" algn="l" defTabSz="645160">
              <a:lnSpc>
                <a:spcPct val="200000"/>
              </a:lnSpc>
              <a:spcBef>
                <a:spcPts val="400"/>
              </a:spcBef>
              <a:buSzPct val="100000"/>
              <a:buChar char="•"/>
              <a:defRPr sz="2200">
                <a:latin typeface="楷体_GB2312"/>
                <a:ea typeface="楷体_GB2312"/>
                <a:cs typeface="楷体_GB2312"/>
                <a:sym typeface="楷体_GB2312"/>
              </a:defRPr>
            </a:pPr>
            <a:r>
              <a:rPr dirty="0"/>
              <a:t>正侧拍与被摄物成45º角</a:t>
            </a:r>
          </a:p>
          <a:p>
            <a:pPr marL="226695" indent="-226695" algn="l" defTabSz="645160">
              <a:lnSpc>
                <a:spcPct val="200000"/>
              </a:lnSpc>
              <a:spcBef>
                <a:spcPts val="400"/>
              </a:spcBef>
              <a:buSzPct val="100000"/>
              <a:buChar char="•"/>
              <a:defRPr sz="2200">
                <a:latin typeface="楷体_GB2312"/>
                <a:ea typeface="楷体_GB2312"/>
                <a:cs typeface="楷体_GB2312"/>
                <a:sym typeface="楷体_GB2312"/>
              </a:defRPr>
            </a:pPr>
            <a:r>
              <a:rPr dirty="0" err="1"/>
              <a:t>正侧拍集中了正拍和侧拍的优点，是最常见的角度</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59">
                                            <p:txEl>
                                              <p:pRg st="0" end="0"/>
                                            </p:txEl>
                                          </p:spTgt>
                                        </p:tgtEl>
                                        <p:attrNameLst>
                                          <p:attrName>style.visibility</p:attrName>
                                        </p:attrNameLst>
                                      </p:cBhvr>
                                      <p:to>
                                        <p:strVal val="visible"/>
                                      </p:to>
                                    </p:set>
                                    <p:animEffect transition="in" filter="wipe(left)">
                                      <p:cBhvr>
                                        <p:cTn id="7" dur="500"/>
                                        <p:tgtEl>
                                          <p:spTgt spid="559">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indefinite" fill="hold"/>
                                        <p:tgtEl>
                                          <p:spTgt spid="559">
                                            <p:txEl>
                                              <p:pRg st="1" end="1"/>
                                            </p:txEl>
                                          </p:spTgt>
                                        </p:tgtEl>
                                        <p:attrNameLst>
                                          <p:attrName>style.visibility</p:attrName>
                                        </p:attrNameLst>
                                      </p:cBhvr>
                                      <p:to>
                                        <p:strVal val="visible"/>
                                      </p:to>
                                    </p:set>
                                    <p:animEffect transition="in" filter="wipe(left)">
                                      <p:cBhvr>
                                        <p:cTn id="11" dur="500"/>
                                        <p:tgtEl>
                                          <p:spTgt spid="559">
                                            <p:txEl>
                                              <p:pRg st="1" end="1"/>
                                            </p:txEl>
                                          </p:spTgt>
                                        </p:tgtEl>
                                      </p:cBhvr>
                                    </p:animEffect>
                                  </p:childTnLst>
                                </p:cTn>
                              </p:par>
                            </p:childTnLst>
                          </p:cTn>
                        </p:par>
                        <p:par>
                          <p:cTn id="12" fill="hold">
                            <p:stCondLst>
                              <p:cond delay="1000"/>
                            </p:stCondLst>
                            <p:childTnLst>
                              <p:par>
                                <p:cTn id="13" presetID="22" presetClass="entr" presetSubtype="8" fill="hold" grpId="1" nodeType="afterEffect">
                                  <p:stCondLst>
                                    <p:cond delay="0"/>
                                  </p:stCondLst>
                                  <p:childTnLst>
                                    <p:set>
                                      <p:cBhvr>
                                        <p:cTn id="14" dur="indefinite" fill="hold"/>
                                        <p:tgtEl>
                                          <p:spTgt spid="559">
                                            <p:txEl>
                                              <p:pRg st="2" end="2"/>
                                            </p:txEl>
                                          </p:spTgt>
                                        </p:tgtEl>
                                        <p:attrNameLst>
                                          <p:attrName>style.visibility</p:attrName>
                                        </p:attrNameLst>
                                      </p:cBhvr>
                                      <p:to>
                                        <p:strVal val="visible"/>
                                      </p:to>
                                    </p:set>
                                    <p:animEffect transition="in" filter="wipe(left)">
                                      <p:cBhvr>
                                        <p:cTn id="15" dur="500"/>
                                        <p:tgtEl>
                                          <p:spTgt spid="559">
                                            <p:txEl>
                                              <p:pRg st="2" end="2"/>
                                            </p:txEl>
                                          </p:spTgt>
                                        </p:tgtEl>
                                      </p:cBhvr>
                                    </p:animEffect>
                                  </p:childTnLst>
                                </p:cTn>
                              </p:par>
                            </p:childTnLst>
                          </p:cTn>
                        </p:par>
                        <p:par>
                          <p:cTn id="16" fill="hold">
                            <p:stCondLst>
                              <p:cond delay="1500"/>
                            </p:stCondLst>
                            <p:childTnLst>
                              <p:par>
                                <p:cTn id="17" presetID="22" presetClass="entr" presetSubtype="8" fill="hold" grpId="1" nodeType="afterEffect">
                                  <p:stCondLst>
                                    <p:cond delay="0"/>
                                  </p:stCondLst>
                                  <p:childTnLst>
                                    <p:set>
                                      <p:cBhvr>
                                        <p:cTn id="18" dur="indefinite" fill="hold"/>
                                        <p:tgtEl>
                                          <p:spTgt spid="559">
                                            <p:txEl>
                                              <p:pRg st="3" end="3"/>
                                            </p:txEl>
                                          </p:spTgt>
                                        </p:tgtEl>
                                        <p:attrNameLst>
                                          <p:attrName>style.visibility</p:attrName>
                                        </p:attrNameLst>
                                      </p:cBhvr>
                                      <p:to>
                                        <p:strVal val="visible"/>
                                      </p:to>
                                    </p:set>
                                    <p:animEffect transition="in" filter="wipe(left)">
                                      <p:cBhvr>
                                        <p:cTn id="19" dur="500"/>
                                        <p:tgtEl>
                                          <p:spTgt spid="5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 grpId="1" build="p" bldLvl="5" animBg="1" advAuto="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角度小结"/>
          <p:cNvSpPr txBox="1">
            <a:spLocks noGrp="1"/>
          </p:cNvSpPr>
          <p:nvPr>
            <p:ph type="title"/>
          </p:nvPr>
        </p:nvSpPr>
        <p:spPr>
          <a:xfrm>
            <a:off x="711198" y="1794086"/>
            <a:ext cx="9753604" cy="2546776"/>
          </a:xfrm>
          <a:prstGeom prst="rect">
            <a:avLst/>
          </a:prstGeom>
        </p:spPr>
        <p:txBody>
          <a:bodyPr/>
          <a:lstStyle>
            <a:lvl1pPr>
              <a:defRPr>
                <a:latin typeface="楷体_GB2312"/>
                <a:ea typeface="楷体_GB2312"/>
                <a:cs typeface="楷体_GB2312"/>
                <a:sym typeface="楷体_GB2312"/>
              </a:defRPr>
            </a:lvl1pPr>
          </a:lstStyle>
          <a:p>
            <a:r>
              <a:t>角度小结</a:t>
            </a:r>
          </a:p>
        </p:txBody>
      </p:sp>
      <p:sp>
        <p:nvSpPr>
          <p:cNvPr id="562" name="赋予形象以含义…"/>
          <p:cNvSpPr txBox="1">
            <a:spLocks noGrp="1"/>
          </p:cNvSpPr>
          <p:nvPr>
            <p:ph type="body" sz="quarter" idx="1"/>
          </p:nvPr>
        </p:nvSpPr>
        <p:spPr>
          <a:xfrm>
            <a:off x="4381498" y="4693071"/>
            <a:ext cx="9753604" cy="3614349"/>
          </a:xfrm>
          <a:prstGeom prst="rect">
            <a:avLst/>
          </a:prstGeom>
        </p:spPr>
        <p:txBody>
          <a:bodyPr>
            <a:normAutofit/>
          </a:bodyPr>
          <a:lstStyle/>
          <a:p>
            <a:pPr marL="155575" indent="-155575" algn="l" defTabSz="417830">
              <a:spcBef>
                <a:spcPts val="400"/>
              </a:spcBef>
              <a:buSzPct val="100000"/>
              <a:buChar char="•"/>
              <a:defRPr sz="1800">
                <a:latin typeface="楷体_GB2312"/>
                <a:ea typeface="楷体_GB2312"/>
                <a:cs typeface="楷体_GB2312"/>
                <a:sym typeface="楷体_GB2312"/>
              </a:defRPr>
            </a:pPr>
            <a:endParaRPr dirty="0"/>
          </a:p>
          <a:p>
            <a:pPr marL="155575" indent="-155575" algn="l" defTabSz="417830">
              <a:lnSpc>
                <a:spcPct val="250000"/>
              </a:lnSpc>
              <a:spcBef>
                <a:spcPts val="300"/>
              </a:spcBef>
              <a:buSzPct val="100000"/>
              <a:buChar char="•"/>
              <a:defRPr sz="1800">
                <a:latin typeface="楷体_GB2312"/>
                <a:ea typeface="楷体_GB2312"/>
                <a:cs typeface="楷体_GB2312"/>
                <a:sym typeface="楷体_GB2312"/>
              </a:defRPr>
            </a:pPr>
            <a:r>
              <a:rPr dirty="0" err="1"/>
              <a:t>赋予形象以含义</a:t>
            </a:r>
            <a:endParaRPr dirty="0"/>
          </a:p>
          <a:p>
            <a:pPr marL="155575" indent="-155575" algn="l" defTabSz="417830">
              <a:lnSpc>
                <a:spcPct val="250000"/>
              </a:lnSpc>
              <a:spcBef>
                <a:spcPts val="300"/>
              </a:spcBef>
              <a:buSzPct val="100000"/>
              <a:buChar char="•"/>
              <a:defRPr sz="1800">
                <a:latin typeface="楷体_GB2312"/>
                <a:ea typeface="楷体_GB2312"/>
                <a:cs typeface="楷体_GB2312"/>
                <a:sym typeface="楷体_GB2312"/>
              </a:defRPr>
            </a:pPr>
            <a:r>
              <a:rPr dirty="0" err="1"/>
              <a:t>增加戏剧性，控制观众</a:t>
            </a:r>
            <a:endParaRPr dirty="0"/>
          </a:p>
          <a:p>
            <a:pPr marL="155575" indent="-155575" algn="l" defTabSz="417830">
              <a:lnSpc>
                <a:spcPct val="250000"/>
              </a:lnSpc>
              <a:spcBef>
                <a:spcPts val="300"/>
              </a:spcBef>
              <a:buSzPct val="100000"/>
              <a:buChar char="•"/>
              <a:defRPr sz="1800">
                <a:latin typeface="楷体_GB2312"/>
                <a:ea typeface="楷体_GB2312"/>
                <a:cs typeface="楷体_GB2312"/>
                <a:sym typeface="楷体_GB2312"/>
              </a:defRPr>
            </a:pPr>
            <a:r>
              <a:rPr dirty="0" err="1"/>
              <a:t>角度创造视觉风格</a:t>
            </a:r>
            <a:endParaRPr dirty="0"/>
          </a:p>
          <a:p>
            <a:pPr marL="155575" indent="-155575" algn="l" defTabSz="417830">
              <a:lnSpc>
                <a:spcPct val="250000"/>
              </a:lnSpc>
              <a:spcBef>
                <a:spcPts val="300"/>
              </a:spcBef>
              <a:buSzPct val="100000"/>
              <a:buChar char="•"/>
              <a:defRPr sz="1800">
                <a:latin typeface="楷体_GB2312"/>
                <a:ea typeface="楷体_GB2312"/>
                <a:cs typeface="楷体_GB2312"/>
                <a:sym typeface="楷体_GB2312"/>
              </a:defRPr>
            </a:pPr>
            <a:r>
              <a:rPr dirty="0" err="1"/>
              <a:t>角度的时代特征</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62">
                                            <p:txEl>
                                              <p:pRg st="1" end="1"/>
                                            </p:txEl>
                                          </p:spTgt>
                                        </p:tgtEl>
                                        <p:attrNameLst>
                                          <p:attrName>style.visibility</p:attrName>
                                        </p:attrNameLst>
                                      </p:cBhvr>
                                      <p:to>
                                        <p:strVal val="visible"/>
                                      </p:to>
                                    </p:set>
                                    <p:animEffect transition="in" filter="wipe(left)">
                                      <p:cBhvr>
                                        <p:cTn id="7" dur="500"/>
                                        <p:tgtEl>
                                          <p:spTgt spid="5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562">
                                            <p:txEl>
                                              <p:pRg st="2" end="2"/>
                                            </p:txEl>
                                          </p:spTgt>
                                        </p:tgtEl>
                                        <p:attrNameLst>
                                          <p:attrName>style.visibility</p:attrName>
                                        </p:attrNameLst>
                                      </p:cBhvr>
                                      <p:to>
                                        <p:strVal val="visible"/>
                                      </p:to>
                                    </p:set>
                                    <p:animEffect transition="in" filter="wipe(left)">
                                      <p:cBhvr>
                                        <p:cTn id="12" dur="500"/>
                                        <p:tgtEl>
                                          <p:spTgt spid="5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562">
                                            <p:txEl>
                                              <p:pRg st="3" end="3"/>
                                            </p:txEl>
                                          </p:spTgt>
                                        </p:tgtEl>
                                        <p:attrNameLst>
                                          <p:attrName>style.visibility</p:attrName>
                                        </p:attrNameLst>
                                      </p:cBhvr>
                                      <p:to>
                                        <p:strVal val="visible"/>
                                      </p:to>
                                    </p:set>
                                    <p:animEffect transition="in" filter="wipe(left)">
                                      <p:cBhvr>
                                        <p:cTn id="17" dur="500"/>
                                        <p:tgtEl>
                                          <p:spTgt spid="56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indefinite" fill="hold"/>
                                        <p:tgtEl>
                                          <p:spTgt spid="562">
                                            <p:txEl>
                                              <p:pRg st="4" end="4"/>
                                            </p:txEl>
                                          </p:spTgt>
                                        </p:tgtEl>
                                        <p:attrNameLst>
                                          <p:attrName>style.visibility</p:attrName>
                                        </p:attrNameLst>
                                      </p:cBhvr>
                                      <p:to>
                                        <p:strVal val="visible"/>
                                      </p:to>
                                    </p:set>
                                    <p:animEffect transition="in" filter="wipe(left)">
                                      <p:cBhvr>
                                        <p:cTn id="22" dur="500"/>
                                        <p:tgtEl>
                                          <p:spTgt spid="56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 grpId="1" build="p" animBg="1" advAuto="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4" name="屏幕快照 2020-04-09 15.19.59.png" descr="屏幕快照 2020-04-09 15.19.59.png"/>
          <p:cNvPicPr>
            <a:picLocks noChangeAspect="1"/>
          </p:cNvPicPr>
          <p:nvPr/>
        </p:nvPicPr>
        <p:blipFill>
          <a:blip r:embed="rId2"/>
          <a:srcRect t="17681" b="15587"/>
          <a:stretch>
            <a:fillRect/>
          </a:stretch>
        </p:blipFill>
        <p:spPr>
          <a:xfrm>
            <a:off x="0" y="-202407"/>
            <a:ext cx="13004800" cy="5423893"/>
          </a:xfrm>
          <a:prstGeom prst="rect">
            <a:avLst/>
          </a:prstGeom>
          <a:ln w="12700">
            <a:miter lim="400000"/>
            <a:headEnd/>
            <a:tailEnd/>
          </a:ln>
        </p:spPr>
      </p:pic>
      <p:pic>
        <p:nvPicPr>
          <p:cNvPr id="565" name="屏幕快照 2020-04-09 10.14.19.png" descr="屏幕快照 2020-04-09 10.14.19.png"/>
          <p:cNvPicPr>
            <a:picLocks noChangeAspect="1"/>
          </p:cNvPicPr>
          <p:nvPr/>
        </p:nvPicPr>
        <p:blipFill>
          <a:blip r:embed="rId3"/>
          <a:srcRect l="26310" t="33627" r="25161" b="22575"/>
          <a:stretch>
            <a:fillRect/>
          </a:stretch>
        </p:blipFill>
        <p:spPr>
          <a:xfrm>
            <a:off x="-40035" y="5186262"/>
            <a:ext cx="9628884" cy="5431484"/>
          </a:xfrm>
          <a:prstGeom prst="rect">
            <a:avLst/>
          </a:prstGeom>
          <a:ln w="12700">
            <a:miter lim="400000"/>
            <a:headEnd/>
            <a:tailEnd/>
          </a:ln>
        </p:spPr>
      </p:pic>
      <p:sp>
        <p:nvSpPr>
          <p:cNvPr id="566" name="正侧拍"/>
          <p:cNvSpPr txBox="1"/>
          <p:nvPr/>
        </p:nvSpPr>
        <p:spPr>
          <a:xfrm>
            <a:off x="9787383" y="8930133"/>
            <a:ext cx="1253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正侧拍</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摄影：反拍"/>
          <p:cNvSpPr txBox="1"/>
          <p:nvPr/>
        </p:nvSpPr>
        <p:spPr>
          <a:xfrm>
            <a:off x="720005" y="7067104"/>
            <a:ext cx="2015231" cy="630931"/>
          </a:xfrm>
          <a:prstGeom prst="rect">
            <a:avLst/>
          </a:prstGeom>
          <a:ln w="12700">
            <a:miter lim="400000"/>
          </a:ln>
        </p:spPr>
        <p:txBody>
          <a:bodyPr wrap="none" lIns="48765" tIns="48765" rIns="48765" bIns="48765">
            <a:spAutoFit/>
          </a:bodyPr>
          <a:lstStyle>
            <a:lvl1pPr algn="ctr">
              <a:lnSpc>
                <a:spcPct val="90000"/>
              </a:lnSpc>
              <a:defRPr sz="3000">
                <a:latin typeface="楷体_GB2312"/>
                <a:ea typeface="楷体_GB2312"/>
                <a:cs typeface="楷体_GB2312"/>
                <a:sym typeface="楷体_GB2312"/>
              </a:defRPr>
            </a:lvl1pPr>
          </a:lstStyle>
          <a:p>
            <a:r>
              <a:t>摄影：反拍</a:t>
            </a:r>
          </a:p>
        </p:txBody>
      </p:sp>
      <p:pic>
        <p:nvPicPr>
          <p:cNvPr id="569" name="屏幕快照 2020-04-09 17.34.56.png" descr="屏幕快照 2020-04-09 17.34.56.png"/>
          <p:cNvPicPr>
            <a:picLocks noChangeAspect="1"/>
          </p:cNvPicPr>
          <p:nvPr/>
        </p:nvPicPr>
        <p:blipFill>
          <a:blip r:embed="rId2"/>
          <a:srcRect t="18160" b="15589"/>
          <a:stretch>
            <a:fillRect/>
          </a:stretch>
        </p:blipFill>
        <p:spPr>
          <a:xfrm>
            <a:off x="55163" y="1565662"/>
            <a:ext cx="12894475" cy="5339096"/>
          </a:xfrm>
          <a:prstGeom prst="rect">
            <a:avLst/>
          </a:prstGeom>
          <a:ln w="12700">
            <a:miter lim="400000"/>
            <a:headEnd/>
            <a:tailEnd/>
          </a:ln>
        </p:spPr>
      </p:pic>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306" name="个人简介"/>
          <p:cNvSpPr txBox="1"/>
          <p:nvPr/>
        </p:nvSpPr>
        <p:spPr>
          <a:xfrm>
            <a:off x="-408005" y="11723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307"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311" name="成组"/>
          <p:cNvGrpSpPr/>
          <p:nvPr/>
        </p:nvGrpSpPr>
        <p:grpSpPr>
          <a:xfrm>
            <a:off x="11279725" y="8512683"/>
            <a:ext cx="1214954" cy="757973"/>
            <a:chOff x="-1" y="0"/>
            <a:chExt cx="1214953" cy="757971"/>
          </a:xfrm>
        </p:grpSpPr>
        <p:sp>
          <p:nvSpPr>
            <p:cNvPr id="30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0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31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313" name="景别…"/>
          <p:cNvSpPr txBox="1"/>
          <p:nvPr/>
        </p:nvSpPr>
        <p:spPr>
          <a:xfrm>
            <a:off x="4296410" y="5114925"/>
            <a:ext cx="5132070" cy="1217295"/>
          </a:xfrm>
          <a:prstGeom prst="rect">
            <a:avLst/>
          </a:prstGeom>
          <a:ln w="12700">
            <a:miter lim="400000"/>
          </a:ln>
        </p:spPr>
        <p:txBody>
          <a:bodyPr wrap="square" lIns="48765" tIns="48765" rIns="48765" bIns="48765">
            <a:spAutoFit/>
          </a:bodyPr>
          <a:lstStyle/>
          <a:p>
            <a:pPr algn="l">
              <a:lnSpc>
                <a:spcPct val="90000"/>
              </a:lnSpc>
              <a:spcBef>
                <a:spcPts val="1400"/>
              </a:spcBef>
              <a:buSzPct val="100000"/>
              <a:defRPr sz="3000"/>
            </a:pPr>
            <a:r>
              <a:rPr lang="zh-CN" sz="4400">
                <a:ea typeface="宋体" panose="02010600030101010101" pitchFamily="2" charset="-122"/>
                <a:sym typeface="+mn-ea"/>
              </a:rPr>
              <a:t>四、</a:t>
            </a:r>
            <a:r>
              <a:rPr sz="4400">
                <a:sym typeface="+mn-ea"/>
              </a:rPr>
              <a:t>镜   头  </a:t>
            </a:r>
            <a:r>
              <a:rPr lang="zh-CN" sz="4400">
                <a:ea typeface="宋体" panose="02010600030101010101" pitchFamily="2" charset="-122"/>
                <a:sym typeface="+mn-ea"/>
              </a:rPr>
              <a:t>构  图</a:t>
            </a:r>
            <a:endParaRPr lang="zh-CN" sz="2400">
              <a:ea typeface="宋体" panose="02010600030101010101" pitchFamily="2" charset="-122"/>
            </a:endParaRPr>
          </a:p>
          <a:p>
            <a:pPr>
              <a:lnSpc>
                <a:spcPct val="90000"/>
              </a:lnSpc>
              <a:spcBef>
                <a:spcPts val="1400"/>
              </a:spcBef>
              <a:buSzPct val="100000"/>
              <a:buChar char="•"/>
              <a:defRPr sz="3000"/>
            </a:pPr>
            <a:endParaRPr lang="zh-CN" sz="240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306"/>
                                        </p:tgtEl>
                                        <p:attrNameLst>
                                          <p:attrName>style.visibility</p:attrName>
                                        </p:attrNameLst>
                                      </p:cBhvr>
                                      <p:to>
                                        <p:strVal val="visible"/>
                                      </p:to>
                                    </p:set>
                                    <p:animEffect transition="in" filter="dissolve">
                                      <p:cBhvr>
                                        <p:cTn id="7" dur="1000"/>
                                        <p:tgtEl>
                                          <p:spTgt spid="306"/>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311"/>
                                        </p:tgtEl>
                                        <p:attrNameLst>
                                          <p:attrName>style.visibility</p:attrName>
                                        </p:attrNameLst>
                                      </p:cBhvr>
                                      <p:to>
                                        <p:strVal val="visible"/>
                                      </p:to>
                                    </p:set>
                                    <p:anim calcmode="lin" valueType="num">
                                      <p:cBhvr>
                                        <p:cTn id="11" dur="750" fill="hold"/>
                                        <p:tgtEl>
                                          <p:spTgt spid="311"/>
                                        </p:tgtEl>
                                        <p:attrNameLst>
                                          <p:attrName>ppt_x</p:attrName>
                                        </p:attrNameLst>
                                      </p:cBhvr>
                                      <p:tavLst>
                                        <p:tav tm="0">
                                          <p:val>
                                            <p:strVal val="1+#ppt_w/2"/>
                                          </p:val>
                                        </p:tav>
                                        <p:tav tm="100000">
                                          <p:val>
                                            <p:strVal val="#ppt_x"/>
                                          </p:val>
                                        </p:tav>
                                      </p:tavLst>
                                    </p:anim>
                                    <p:anim calcmode="lin" valueType="num">
                                      <p:cBhvr>
                                        <p:cTn id="12" dur="750" fill="hold"/>
                                        <p:tgtEl>
                                          <p:spTgt spid="31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307"/>
                                        </p:tgtEl>
                                        <p:attrNameLst>
                                          <p:attrName>style.visibility</p:attrName>
                                        </p:attrNameLst>
                                      </p:cBhvr>
                                      <p:to>
                                        <p:strVal val="visible"/>
                                      </p:to>
                                    </p:set>
                                    <p:animEffect transition="in" filter="wipe(right)">
                                      <p:cBhvr>
                                        <p:cTn id="16" dur="10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 grpId="1" animBg="1" advAuto="0"/>
      <p:bldP spid="307" grpId="3" animBg="1" advAuto="0"/>
      <p:bldP spid="311" grpId="2" bldLvl="0" animBg="1" advAuto="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2"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403" name="个人简介"/>
          <p:cNvSpPr txBox="1"/>
          <p:nvPr/>
        </p:nvSpPr>
        <p:spPr>
          <a:xfrm>
            <a:off x="-623905" y="5119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404"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408" name="成组"/>
          <p:cNvGrpSpPr/>
          <p:nvPr/>
        </p:nvGrpSpPr>
        <p:grpSpPr>
          <a:xfrm>
            <a:off x="11279725" y="8512683"/>
            <a:ext cx="1214954" cy="757973"/>
            <a:chOff x="-1" y="0"/>
            <a:chExt cx="1214953" cy="757971"/>
          </a:xfrm>
        </p:grpSpPr>
        <p:sp>
          <p:nvSpPr>
            <p:cNvPr id="405"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06"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407"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409" name="如何表现阶级差异"/>
          <p:cNvSpPr txBox="1"/>
          <p:nvPr/>
        </p:nvSpPr>
        <p:spPr>
          <a:xfrm>
            <a:off x="4913758" y="4745485"/>
            <a:ext cx="3525520" cy="2651125"/>
          </a:xfrm>
          <a:prstGeom prst="rect">
            <a:avLst/>
          </a:prstGeom>
          <a:ln w="12700">
            <a:miter lim="400000"/>
          </a:ln>
        </p:spPr>
        <p:txBody>
          <a:bodyPr wrap="none" lIns="48765" tIns="48765" rIns="48765" bIns="48765">
            <a:spAutoFit/>
          </a:bodyPr>
          <a:lstStyle/>
          <a:p>
            <a:pPr algn="ctr">
              <a:lnSpc>
                <a:spcPct val="200000"/>
              </a:lnSpc>
              <a:defRPr sz="4500">
                <a:latin typeface="Calibri Light" panose="020F0302020204030204"/>
                <a:ea typeface="Calibri Light" panose="020F0302020204030204"/>
                <a:cs typeface="Calibri Light" panose="020F0302020204030204"/>
                <a:sym typeface="Calibri Light" panose="020F0302020204030204"/>
              </a:defRPr>
            </a:pPr>
            <a:r>
              <a:t>表现阶级差异</a:t>
            </a:r>
          </a:p>
          <a:p>
            <a:pPr algn="ctr">
              <a:lnSpc>
                <a:spcPct val="200000"/>
              </a:lnSpc>
              <a:defRPr sz="3800">
                <a:latin typeface="Bodoni SvtyTwo ITC TT-Book"/>
                <a:ea typeface="Bodoni SvtyTwo ITC TT-Book"/>
                <a:cs typeface="Bodoni SvtyTwo ITC TT-Book"/>
                <a:sym typeface="Bodoni SvtyTwo ITC TT-Book"/>
              </a:defRPr>
            </a:pPr>
            <a:r>
              <a:t>均衡与隐喻</a:t>
            </a:r>
          </a:p>
        </p:txBody>
      </p:sp>
      <p:sp>
        <p:nvSpPr>
          <p:cNvPr id="410" name="构 图"/>
          <p:cNvSpPr txBox="1"/>
          <p:nvPr/>
        </p:nvSpPr>
        <p:spPr>
          <a:xfrm>
            <a:off x="861450" y="1887983"/>
            <a:ext cx="3005645" cy="846831"/>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solidFill>
                  <a:srgbClr val="FFFFFF"/>
                </a:solidFill>
              </a:defRPr>
            </a:lvl1pPr>
          </a:lstStyle>
          <a:p>
            <a:r>
              <a:t>镜 头 构 图</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403"/>
                                        </p:tgtEl>
                                        <p:attrNameLst>
                                          <p:attrName>style.visibility</p:attrName>
                                        </p:attrNameLst>
                                      </p:cBhvr>
                                      <p:to>
                                        <p:strVal val="visible"/>
                                      </p:to>
                                    </p:set>
                                    <p:animEffect transition="in" filter="dissolve">
                                      <p:cBhvr>
                                        <p:cTn id="7" dur="1000"/>
                                        <p:tgtEl>
                                          <p:spTgt spid="403"/>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408"/>
                                        </p:tgtEl>
                                        <p:attrNameLst>
                                          <p:attrName>style.visibility</p:attrName>
                                        </p:attrNameLst>
                                      </p:cBhvr>
                                      <p:to>
                                        <p:strVal val="visible"/>
                                      </p:to>
                                    </p:set>
                                    <p:anim calcmode="lin" valueType="num">
                                      <p:cBhvr>
                                        <p:cTn id="11" dur="750" fill="hold"/>
                                        <p:tgtEl>
                                          <p:spTgt spid="408"/>
                                        </p:tgtEl>
                                        <p:attrNameLst>
                                          <p:attrName>ppt_x</p:attrName>
                                        </p:attrNameLst>
                                      </p:cBhvr>
                                      <p:tavLst>
                                        <p:tav tm="0">
                                          <p:val>
                                            <p:strVal val="1+#ppt_w/2"/>
                                          </p:val>
                                        </p:tav>
                                        <p:tav tm="100000">
                                          <p:val>
                                            <p:strVal val="#ppt_x"/>
                                          </p:val>
                                        </p:tav>
                                      </p:tavLst>
                                    </p:anim>
                                    <p:anim calcmode="lin" valueType="num">
                                      <p:cBhvr>
                                        <p:cTn id="12" dur="750" fill="hold"/>
                                        <p:tgtEl>
                                          <p:spTgt spid="408"/>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404"/>
                                        </p:tgtEl>
                                        <p:attrNameLst>
                                          <p:attrName>style.visibility</p:attrName>
                                        </p:attrNameLst>
                                      </p:cBhvr>
                                      <p:to>
                                        <p:strVal val="visible"/>
                                      </p:to>
                                    </p:set>
                                    <p:animEffect transition="in" filter="wipe(right)">
                                      <p:cBhvr>
                                        <p:cTn id="16" dur="1000"/>
                                        <p:tgtEl>
                                          <p:spTgt spid="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1" animBg="1" advAuto="0"/>
      <p:bldP spid="404" grpId="3" animBg="1" advAuto="0"/>
      <p:bldP spid="408" grpId="2" animBg="1" advAuto="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4" name="成组"/>
          <p:cNvGrpSpPr/>
          <p:nvPr/>
        </p:nvGrpSpPr>
        <p:grpSpPr>
          <a:xfrm>
            <a:off x="139669" y="752796"/>
            <a:ext cx="5462070" cy="567431"/>
            <a:chOff x="-1" y="0"/>
            <a:chExt cx="5462068" cy="567429"/>
          </a:xfrm>
        </p:grpSpPr>
        <p:sp>
          <p:nvSpPr>
            <p:cNvPr id="412"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13"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15" name="屏幕快照 2020-04-09 16.31.18.png" descr="屏幕快照 2020-04-09 16.31.18.png"/>
          <p:cNvPicPr>
            <a:picLocks noChangeAspect="1"/>
          </p:cNvPicPr>
          <p:nvPr/>
        </p:nvPicPr>
        <p:blipFill>
          <a:blip r:embed="rId2"/>
          <a:srcRect l="24963" t="32998" r="24963" b="29163"/>
          <a:stretch>
            <a:fillRect/>
          </a:stretch>
        </p:blipFill>
        <p:spPr>
          <a:xfrm>
            <a:off x="0" y="1831180"/>
            <a:ext cx="13004977" cy="6142056"/>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 name="成组"/>
          <p:cNvGrpSpPr/>
          <p:nvPr/>
        </p:nvGrpSpPr>
        <p:grpSpPr>
          <a:xfrm>
            <a:off x="139669" y="752796"/>
            <a:ext cx="5462070" cy="567431"/>
            <a:chOff x="-1" y="0"/>
            <a:chExt cx="5462068" cy="567429"/>
          </a:xfrm>
        </p:grpSpPr>
        <p:sp>
          <p:nvSpPr>
            <p:cNvPr id="41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1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20" name="屏幕快照 2020-04-09 09.52.26.png" descr="屏幕快照 2020-04-09 09.52.26.png"/>
          <p:cNvPicPr>
            <a:picLocks noChangeAspect="1"/>
          </p:cNvPicPr>
          <p:nvPr/>
        </p:nvPicPr>
        <p:blipFill>
          <a:blip r:embed="rId2"/>
          <a:srcRect l="6559" t="21574" r="20861" b="24683"/>
          <a:stretch>
            <a:fillRect/>
          </a:stretch>
        </p:blipFill>
        <p:spPr>
          <a:xfrm>
            <a:off x="5556" y="1870273"/>
            <a:ext cx="12993607" cy="6013252"/>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4" name="成组"/>
          <p:cNvGrpSpPr/>
          <p:nvPr/>
        </p:nvGrpSpPr>
        <p:grpSpPr>
          <a:xfrm>
            <a:off x="139669" y="752796"/>
            <a:ext cx="5462070" cy="567431"/>
            <a:chOff x="-1" y="0"/>
            <a:chExt cx="5462068" cy="567429"/>
          </a:xfrm>
        </p:grpSpPr>
        <p:sp>
          <p:nvSpPr>
            <p:cNvPr id="422"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23"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25" name="屏幕快照 2020-04-09 17.12.20.png" descr="屏幕快照 2020-04-09 17.12.20.png"/>
          <p:cNvPicPr>
            <a:picLocks noChangeAspect="1"/>
          </p:cNvPicPr>
          <p:nvPr/>
        </p:nvPicPr>
        <p:blipFill>
          <a:blip r:embed="rId2"/>
          <a:srcRect t="17182" b="15264"/>
          <a:stretch>
            <a:fillRect/>
          </a:stretch>
        </p:blipFill>
        <p:spPr>
          <a:xfrm>
            <a:off x="3335832" y="5618006"/>
            <a:ext cx="9504842" cy="4013011"/>
          </a:xfrm>
          <a:prstGeom prst="rect">
            <a:avLst/>
          </a:prstGeom>
          <a:ln w="12700">
            <a:miter lim="400000"/>
            <a:headEnd/>
            <a:tailEnd/>
          </a:ln>
        </p:spPr>
      </p:pic>
      <p:pic>
        <p:nvPicPr>
          <p:cNvPr id="426" name="屏幕快照 2020-04-09 17.13.10.png" descr="屏幕快照 2020-04-09 17.13.10.png"/>
          <p:cNvPicPr>
            <a:picLocks noChangeAspect="1"/>
          </p:cNvPicPr>
          <p:nvPr/>
        </p:nvPicPr>
        <p:blipFill>
          <a:blip r:embed="rId3"/>
          <a:srcRect t="17772" b="15341"/>
          <a:stretch>
            <a:fillRect/>
          </a:stretch>
        </p:blipFill>
        <p:spPr>
          <a:xfrm>
            <a:off x="3335832" y="1482359"/>
            <a:ext cx="9504959" cy="3973394"/>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 name="成组"/>
          <p:cNvGrpSpPr/>
          <p:nvPr/>
        </p:nvGrpSpPr>
        <p:grpSpPr>
          <a:xfrm>
            <a:off x="139669" y="752796"/>
            <a:ext cx="5462070" cy="567431"/>
            <a:chOff x="-1" y="0"/>
            <a:chExt cx="5462068" cy="567429"/>
          </a:xfrm>
        </p:grpSpPr>
        <p:sp>
          <p:nvSpPr>
            <p:cNvPr id="42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2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31" name="9961585817486_.pic_hd.jpg" descr="9961585817486_.pic_hd.jpg"/>
          <p:cNvPicPr>
            <a:picLocks noChangeAspect="1"/>
          </p:cNvPicPr>
          <p:nvPr/>
        </p:nvPicPr>
        <p:blipFill>
          <a:blip r:embed="rId2"/>
          <a:stretch>
            <a:fillRect/>
          </a:stretch>
        </p:blipFill>
        <p:spPr>
          <a:xfrm>
            <a:off x="-2" y="2877840"/>
            <a:ext cx="13004803" cy="5033341"/>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5" name="成组"/>
          <p:cNvGrpSpPr/>
          <p:nvPr/>
        </p:nvGrpSpPr>
        <p:grpSpPr>
          <a:xfrm>
            <a:off x="139669" y="752796"/>
            <a:ext cx="5462070" cy="567431"/>
            <a:chOff x="-1" y="0"/>
            <a:chExt cx="5462068" cy="567429"/>
          </a:xfrm>
        </p:grpSpPr>
        <p:sp>
          <p:nvSpPr>
            <p:cNvPr id="433"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34"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36" name="屏幕快照 2020-04-09 16.29.08.png" descr="屏幕快照 2020-04-09 16.29.08.png"/>
          <p:cNvPicPr>
            <a:picLocks noChangeAspect="1"/>
          </p:cNvPicPr>
          <p:nvPr/>
        </p:nvPicPr>
        <p:blipFill>
          <a:blip r:embed="rId2"/>
          <a:srcRect l="24935" t="33693" r="24935" b="33692"/>
          <a:stretch>
            <a:fillRect/>
          </a:stretch>
        </p:blipFill>
        <p:spPr>
          <a:xfrm>
            <a:off x="77191" y="2552723"/>
            <a:ext cx="12850404" cy="5225056"/>
          </a:xfrm>
          <a:prstGeom prst="rect">
            <a:avLst/>
          </a:prstGeom>
          <a:ln w="12700">
            <a:miter lim="400000"/>
            <a:headEnd/>
            <a:tailEnd/>
          </a:ln>
        </p:spPr>
      </p:pic>
      <p:sp>
        <p:nvSpPr>
          <p:cNvPr id="2" name="文本框 1"/>
          <p:cNvSpPr txBox="1"/>
          <p:nvPr/>
        </p:nvSpPr>
        <p:spPr>
          <a:xfrm>
            <a:off x="263843" y="7959725"/>
            <a:ext cx="7480935" cy="83502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48765" tIns="48765" rIns="48765" bIns="48765" numCol="1" spcCol="38100" rtlCol="0" anchor="t" forceAA="0">
            <a:spAutoFit/>
          </a:bodyPr>
          <a:lstStyle/>
          <a:p>
            <a:pPr algn="ctr">
              <a:lnSpc>
                <a:spcPct val="200000"/>
              </a:lnSpc>
              <a:defRPr sz="3800">
                <a:latin typeface="Bodoni SvtyTwo ITC TT-Book"/>
                <a:ea typeface="Bodoni SvtyTwo ITC TT-Book"/>
                <a:cs typeface="Bodoni SvtyTwo ITC TT-Book"/>
                <a:sym typeface="Bodoni SvtyTwo ITC TT-Book"/>
              </a:defRPr>
            </a:pPr>
            <a:r>
              <a:rPr kumimoji="0" lang="zh-CN" altLang="en-US" sz="2400" b="0" i="0" u="none" strike="noStrike" cap="none" spc="0" normalizeH="0" baseline="0">
                <a:ln>
                  <a:noFill/>
                </a:ln>
                <a:solidFill>
                  <a:srgbClr val="000000"/>
                </a:solidFill>
                <a:effectLst/>
                <a:uFillTx/>
                <a:latin typeface="+mj-lt"/>
                <a:ea typeface="+mj-ea"/>
                <a:cs typeface="+mj-cs"/>
                <a:sym typeface="Calibri" panose="020F0502020204030204"/>
              </a:rPr>
              <a:t>创造视觉上的形式美感 ，或激发特定的视觉心理效应。</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 name="成组"/>
          <p:cNvGrpSpPr/>
          <p:nvPr/>
        </p:nvGrpSpPr>
        <p:grpSpPr>
          <a:xfrm>
            <a:off x="139669" y="752796"/>
            <a:ext cx="5462070" cy="567431"/>
            <a:chOff x="-1" y="0"/>
            <a:chExt cx="5462068" cy="567429"/>
          </a:xfrm>
        </p:grpSpPr>
        <p:sp>
          <p:nvSpPr>
            <p:cNvPr id="43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3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41" name="9951585817485_.pic_hd.jpg" descr="9951585817485_.pic_hd.jpg"/>
          <p:cNvPicPr>
            <a:picLocks noChangeAspect="1"/>
          </p:cNvPicPr>
          <p:nvPr/>
        </p:nvPicPr>
        <p:blipFill>
          <a:blip r:embed="rId2"/>
          <a:stretch>
            <a:fillRect/>
          </a:stretch>
        </p:blipFill>
        <p:spPr>
          <a:xfrm>
            <a:off x="687008" y="2581915"/>
            <a:ext cx="12293602" cy="5041902"/>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5" name="成组"/>
          <p:cNvGrpSpPr/>
          <p:nvPr/>
        </p:nvGrpSpPr>
        <p:grpSpPr>
          <a:xfrm>
            <a:off x="139669" y="752796"/>
            <a:ext cx="5462070" cy="567431"/>
            <a:chOff x="-1" y="0"/>
            <a:chExt cx="5462068" cy="567429"/>
          </a:xfrm>
        </p:grpSpPr>
        <p:sp>
          <p:nvSpPr>
            <p:cNvPr id="443"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44"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46" name="9971585817487_.pic_hd.jpg" descr="9971585817487_.pic_hd.jpg"/>
          <p:cNvPicPr>
            <a:picLocks noChangeAspect="1"/>
          </p:cNvPicPr>
          <p:nvPr/>
        </p:nvPicPr>
        <p:blipFill>
          <a:blip r:embed="rId2"/>
          <a:stretch>
            <a:fillRect/>
          </a:stretch>
        </p:blipFill>
        <p:spPr>
          <a:xfrm>
            <a:off x="179417" y="2180162"/>
            <a:ext cx="12645965" cy="6825579"/>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 name="成组"/>
          <p:cNvGrpSpPr/>
          <p:nvPr/>
        </p:nvGrpSpPr>
        <p:grpSpPr>
          <a:xfrm>
            <a:off x="139669" y="752796"/>
            <a:ext cx="5462070" cy="567431"/>
            <a:chOff x="-1" y="0"/>
            <a:chExt cx="5462068" cy="567429"/>
          </a:xfrm>
        </p:grpSpPr>
        <p:sp>
          <p:nvSpPr>
            <p:cNvPr id="44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4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51" name="屏幕快照 2020-03-05 17.27.17.png" descr="屏幕快照 2020-03-05 17.27.17.png"/>
          <p:cNvPicPr>
            <a:picLocks noChangeAspect="1"/>
          </p:cNvPicPr>
          <p:nvPr/>
        </p:nvPicPr>
        <p:blipFill>
          <a:blip r:embed="rId2"/>
          <a:srcRect t="16011" b="16011"/>
          <a:stretch>
            <a:fillRect/>
          </a:stretch>
        </p:blipFill>
        <p:spPr>
          <a:xfrm>
            <a:off x="0" y="2626468"/>
            <a:ext cx="13004800" cy="5525196"/>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5" name="成组"/>
          <p:cNvGrpSpPr/>
          <p:nvPr/>
        </p:nvGrpSpPr>
        <p:grpSpPr>
          <a:xfrm>
            <a:off x="139669" y="752796"/>
            <a:ext cx="5462070" cy="567431"/>
            <a:chOff x="-1" y="0"/>
            <a:chExt cx="5462068" cy="567429"/>
          </a:xfrm>
        </p:grpSpPr>
        <p:sp>
          <p:nvSpPr>
            <p:cNvPr id="453"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54"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56" name="屏幕快照 2020-04-08 19.29.24.png" descr="屏幕快照 2020-04-08 19.29.24.png"/>
          <p:cNvPicPr>
            <a:picLocks noChangeAspect="1"/>
          </p:cNvPicPr>
          <p:nvPr/>
        </p:nvPicPr>
        <p:blipFill>
          <a:blip r:embed="rId2"/>
          <a:srcRect l="25042" t="33169" r="25043" b="33169"/>
          <a:stretch>
            <a:fillRect/>
          </a:stretch>
        </p:blipFill>
        <p:spPr>
          <a:xfrm>
            <a:off x="8333" y="2686050"/>
            <a:ext cx="12988189" cy="5474365"/>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 name="成组"/>
          <p:cNvGrpSpPr/>
          <p:nvPr/>
        </p:nvGrpSpPr>
        <p:grpSpPr>
          <a:xfrm>
            <a:off x="139669" y="752796"/>
            <a:ext cx="5462070" cy="567431"/>
            <a:chOff x="-1" y="0"/>
            <a:chExt cx="5462068" cy="567429"/>
          </a:xfrm>
        </p:grpSpPr>
        <p:sp>
          <p:nvSpPr>
            <p:cNvPr id="45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5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61" name="屏幕快照 2020-04-08 19.29.17.png" descr="屏幕快照 2020-04-08 19.29.17.png"/>
          <p:cNvPicPr>
            <a:picLocks noChangeAspect="1"/>
          </p:cNvPicPr>
          <p:nvPr/>
        </p:nvPicPr>
        <p:blipFill>
          <a:blip r:embed="rId2"/>
          <a:srcRect l="24938" t="32949" r="24938" b="29532"/>
          <a:stretch>
            <a:fillRect/>
          </a:stretch>
        </p:blipFill>
        <p:spPr>
          <a:xfrm>
            <a:off x="-26790" y="2450627"/>
            <a:ext cx="13058557" cy="6108933"/>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5" name="成组"/>
          <p:cNvGrpSpPr/>
          <p:nvPr/>
        </p:nvGrpSpPr>
        <p:grpSpPr>
          <a:xfrm>
            <a:off x="139669" y="752796"/>
            <a:ext cx="5462070" cy="567431"/>
            <a:chOff x="-1" y="0"/>
            <a:chExt cx="5462068" cy="567429"/>
          </a:xfrm>
        </p:grpSpPr>
        <p:sp>
          <p:nvSpPr>
            <p:cNvPr id="463"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64"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66" name="屏幕快照 2020-04-08 19.44.48.png" descr="屏幕快照 2020-04-08 19.44.48.png"/>
          <p:cNvPicPr>
            <a:picLocks noChangeAspect="1"/>
          </p:cNvPicPr>
          <p:nvPr/>
        </p:nvPicPr>
        <p:blipFill>
          <a:blip r:embed="rId2"/>
          <a:srcRect l="25494" t="33026" r="24851" b="33026"/>
          <a:stretch>
            <a:fillRect/>
          </a:stretch>
        </p:blipFill>
        <p:spPr>
          <a:xfrm>
            <a:off x="-15678" y="2306609"/>
            <a:ext cx="13036170" cy="5570343"/>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0" name="成组"/>
          <p:cNvGrpSpPr/>
          <p:nvPr/>
        </p:nvGrpSpPr>
        <p:grpSpPr>
          <a:xfrm>
            <a:off x="139669" y="752796"/>
            <a:ext cx="5462070" cy="567431"/>
            <a:chOff x="-1" y="0"/>
            <a:chExt cx="5462068" cy="567429"/>
          </a:xfrm>
        </p:grpSpPr>
        <p:sp>
          <p:nvSpPr>
            <p:cNvPr id="46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6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71" name="屏幕快照 2020-04-08 19.45.01.png" descr="屏幕快照 2020-04-08 19.45.01.png"/>
          <p:cNvPicPr>
            <a:picLocks noChangeAspect="1"/>
          </p:cNvPicPr>
          <p:nvPr/>
        </p:nvPicPr>
        <p:blipFill>
          <a:blip r:embed="rId2"/>
          <a:srcRect l="26395" t="33201" r="25019" b="33201"/>
          <a:stretch>
            <a:fillRect/>
          </a:stretch>
        </p:blipFill>
        <p:spPr>
          <a:xfrm>
            <a:off x="-137205" y="2330954"/>
            <a:ext cx="13032630" cy="5632537"/>
          </a:xfrm>
          <a:prstGeom prst="rect">
            <a:avLst/>
          </a:prstGeom>
          <a:ln w="12700">
            <a:miter lim="400000"/>
            <a:headEnd/>
            <a:tailEnd/>
          </a:ln>
        </p:spPr>
      </p:pic>
      <p:sp>
        <p:nvSpPr>
          <p:cNvPr id="2" name="文本框 1"/>
          <p:cNvSpPr txBox="1"/>
          <p:nvPr/>
        </p:nvSpPr>
        <p:spPr>
          <a:xfrm>
            <a:off x="271145" y="8140700"/>
            <a:ext cx="9057640" cy="83502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48765" tIns="48765" rIns="48765" bIns="48765" numCol="1" spcCol="38100" rtlCol="0" anchor="t" forceAA="0">
            <a:spAutoFit/>
          </a:bodyPr>
          <a:lstStyle/>
          <a:p>
            <a:pPr algn="ctr">
              <a:lnSpc>
                <a:spcPct val="200000"/>
              </a:lnSpc>
              <a:defRPr sz="3800">
                <a:latin typeface="Bodoni SvtyTwo ITC TT-Book"/>
                <a:ea typeface="Bodoni SvtyTwo ITC TT-Book"/>
                <a:cs typeface="Bodoni SvtyTwo ITC TT-Book"/>
                <a:sym typeface="Bodoni SvtyTwo ITC TT-Book"/>
              </a:defRPr>
            </a:pPr>
            <a:r>
              <a:rPr lang="zh-CN" altLang="en-US" sz="2400">
                <a:sym typeface="Calibri" panose="020F0502020204030204"/>
              </a:rPr>
              <a:t>通过画面构图完成叙事功能 ，揭示主体与陪体、环境之间的关系。</a:t>
            </a:r>
            <a:endParaRPr kumimoji="0" lang="zh-CN" altLang="en-US" sz="2400" b="0" i="0" u="none" strike="noStrike" cap="none" spc="0" normalizeH="0" baseline="0">
              <a:ln>
                <a:noFill/>
              </a:ln>
              <a:solidFill>
                <a:srgbClr val="000000"/>
              </a:solidFill>
              <a:effectLst/>
              <a:uFillTx/>
              <a:latin typeface="+mj-lt"/>
              <a:ea typeface="+mj-ea"/>
              <a:cs typeface="+mj-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5" name="成组"/>
          <p:cNvGrpSpPr/>
          <p:nvPr/>
        </p:nvGrpSpPr>
        <p:grpSpPr>
          <a:xfrm>
            <a:off x="139669" y="752796"/>
            <a:ext cx="5462070" cy="567431"/>
            <a:chOff x="-1" y="0"/>
            <a:chExt cx="5462068" cy="567429"/>
          </a:xfrm>
        </p:grpSpPr>
        <p:sp>
          <p:nvSpPr>
            <p:cNvPr id="473"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74"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76" name="屏幕快照 2020-04-09 09.42.16.png" descr="屏幕快照 2020-04-09 09.42.16.png"/>
          <p:cNvPicPr>
            <a:picLocks noChangeAspect="1"/>
          </p:cNvPicPr>
          <p:nvPr/>
        </p:nvPicPr>
        <p:blipFill>
          <a:blip r:embed="rId2"/>
          <a:srcRect l="24883" t="33052" r="24883" b="33051"/>
          <a:stretch>
            <a:fillRect/>
          </a:stretch>
        </p:blipFill>
        <p:spPr>
          <a:xfrm>
            <a:off x="1191467" y="3333671"/>
            <a:ext cx="10420851" cy="4394741"/>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0" name="成组"/>
          <p:cNvGrpSpPr/>
          <p:nvPr/>
        </p:nvGrpSpPr>
        <p:grpSpPr>
          <a:xfrm>
            <a:off x="139669" y="752796"/>
            <a:ext cx="5462070" cy="567431"/>
            <a:chOff x="-1" y="0"/>
            <a:chExt cx="5462068" cy="567429"/>
          </a:xfrm>
        </p:grpSpPr>
        <p:sp>
          <p:nvSpPr>
            <p:cNvPr id="478"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479"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481" name="屏幕快照 2020-04-09 15.22.40.png" descr="屏幕快照 2020-04-09 15.22.40.png"/>
          <p:cNvPicPr>
            <a:picLocks noChangeAspect="1"/>
          </p:cNvPicPr>
          <p:nvPr/>
        </p:nvPicPr>
        <p:blipFill>
          <a:blip r:embed="rId2"/>
          <a:srcRect t="16044" b="13236"/>
          <a:stretch>
            <a:fillRect/>
          </a:stretch>
        </p:blipFill>
        <p:spPr>
          <a:xfrm>
            <a:off x="0" y="2680940"/>
            <a:ext cx="13004800" cy="5747992"/>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1"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572" name="个人简介"/>
          <p:cNvSpPr txBox="1"/>
          <p:nvPr/>
        </p:nvSpPr>
        <p:spPr>
          <a:xfrm>
            <a:off x="-623905" y="5119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573"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577" name="成组"/>
          <p:cNvGrpSpPr/>
          <p:nvPr/>
        </p:nvGrpSpPr>
        <p:grpSpPr>
          <a:xfrm>
            <a:off x="11279725" y="8512683"/>
            <a:ext cx="1214954" cy="757973"/>
            <a:chOff x="-1" y="0"/>
            <a:chExt cx="1214953" cy="757971"/>
          </a:xfrm>
        </p:grpSpPr>
        <p:sp>
          <p:nvSpPr>
            <p:cNvPr id="57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57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57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578" name="如何表现阶级差异"/>
          <p:cNvSpPr txBox="1"/>
          <p:nvPr/>
        </p:nvSpPr>
        <p:spPr>
          <a:xfrm>
            <a:off x="2818003" y="4912895"/>
            <a:ext cx="7711907" cy="897631"/>
          </a:xfrm>
          <a:prstGeom prst="rect">
            <a:avLst/>
          </a:prstGeom>
          <a:ln w="12700">
            <a:miter lim="400000"/>
          </a:ln>
        </p:spPr>
        <p:txBody>
          <a:bodyPr wrap="none" lIns="48765" tIns="48765" rIns="48765" bIns="48765">
            <a:spAutoFit/>
          </a:bodyPr>
          <a:lstStyle>
            <a:lvl1pPr algn="ctr">
              <a:lnSpc>
                <a:spcPct val="90000"/>
              </a:lnSpc>
              <a:defRPr sz="4500">
                <a:latin typeface="Calibri Light" panose="020F0302020204030204"/>
                <a:ea typeface="Calibri Light" panose="020F0302020204030204"/>
                <a:cs typeface="Calibri Light" panose="020F0302020204030204"/>
                <a:sym typeface="Calibri Light" panose="020F0302020204030204"/>
              </a:defRPr>
            </a:lvl1pPr>
          </a:lstStyle>
          <a:p>
            <a:r>
              <a:t>推、拉、摇、移、跟、升、 降</a:t>
            </a:r>
          </a:p>
        </p:txBody>
      </p:sp>
      <p:sp>
        <p:nvSpPr>
          <p:cNvPr id="579" name="构 图"/>
          <p:cNvSpPr txBox="1"/>
          <p:nvPr/>
        </p:nvSpPr>
        <p:spPr>
          <a:xfrm>
            <a:off x="620150" y="1608583"/>
            <a:ext cx="3327039" cy="846831"/>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solidFill>
                  <a:srgbClr val="FFFFFF"/>
                </a:solidFill>
              </a:defRPr>
            </a:lvl1pPr>
          </a:lstStyle>
          <a:p>
            <a:r>
              <a:t>镜  头 运  动</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572"/>
                                        </p:tgtEl>
                                        <p:attrNameLst>
                                          <p:attrName>style.visibility</p:attrName>
                                        </p:attrNameLst>
                                      </p:cBhvr>
                                      <p:to>
                                        <p:strVal val="visible"/>
                                      </p:to>
                                    </p:set>
                                    <p:animEffect transition="in" filter="dissolve">
                                      <p:cBhvr>
                                        <p:cTn id="7" dur="1000"/>
                                        <p:tgtEl>
                                          <p:spTgt spid="572"/>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577"/>
                                        </p:tgtEl>
                                        <p:attrNameLst>
                                          <p:attrName>style.visibility</p:attrName>
                                        </p:attrNameLst>
                                      </p:cBhvr>
                                      <p:to>
                                        <p:strVal val="visible"/>
                                      </p:to>
                                    </p:set>
                                    <p:anim calcmode="lin" valueType="num">
                                      <p:cBhvr>
                                        <p:cTn id="11" dur="750" fill="hold"/>
                                        <p:tgtEl>
                                          <p:spTgt spid="577"/>
                                        </p:tgtEl>
                                        <p:attrNameLst>
                                          <p:attrName>ppt_x</p:attrName>
                                        </p:attrNameLst>
                                      </p:cBhvr>
                                      <p:tavLst>
                                        <p:tav tm="0">
                                          <p:val>
                                            <p:strVal val="1+#ppt_w/2"/>
                                          </p:val>
                                        </p:tav>
                                        <p:tav tm="100000">
                                          <p:val>
                                            <p:strVal val="#ppt_x"/>
                                          </p:val>
                                        </p:tav>
                                      </p:tavLst>
                                    </p:anim>
                                    <p:anim calcmode="lin" valueType="num">
                                      <p:cBhvr>
                                        <p:cTn id="12" dur="750" fill="hold"/>
                                        <p:tgtEl>
                                          <p:spTgt spid="577"/>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573"/>
                                        </p:tgtEl>
                                        <p:attrNameLst>
                                          <p:attrName>style.visibility</p:attrName>
                                        </p:attrNameLst>
                                      </p:cBhvr>
                                      <p:to>
                                        <p:strVal val="visible"/>
                                      </p:to>
                                    </p:set>
                                    <p:animEffect transition="in" filter="wipe(right)">
                                      <p:cBhvr>
                                        <p:cTn id="16" dur="10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1" animBg="1" advAuto="0"/>
      <p:bldP spid="573" grpId="3" animBg="1" advAuto="0"/>
      <p:bldP spid="577" grpId="2" animBg="1" advAuto="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 name="电磁波，能量…"/>
          <p:cNvSpPr txBox="1">
            <a:spLocks noGrp="1"/>
          </p:cNvSpPr>
          <p:nvPr>
            <p:ph type="body" sz="quarter" idx="1"/>
          </p:nvPr>
        </p:nvSpPr>
        <p:spPr>
          <a:xfrm>
            <a:off x="2794634" y="3212778"/>
            <a:ext cx="7779516" cy="3099444"/>
          </a:xfrm>
          <a:prstGeom prst="rect">
            <a:avLst/>
          </a:prstGeom>
        </p:spPr>
        <p:txBody>
          <a:bodyPr/>
          <a:lstStyle>
            <a:lvl1pPr marL="280035" indent="-280035" algn="l" defTabSz="749935">
              <a:lnSpc>
                <a:spcPct val="150000"/>
              </a:lnSpc>
              <a:spcBef>
                <a:spcPts val="500"/>
              </a:spcBef>
              <a:buSzPct val="100000"/>
              <a:buChar char="•"/>
              <a:defRPr sz="26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lvl1pPr>
          </a:lstStyle>
          <a:p>
            <a:r>
              <a:t>电影是四维空间的艺术。它包括空间、时间。电影使人们能够看到在延续的时间推移过程中，在特定空间里的运动变化，这使电影成为最接近真实的艺术。</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581">
                                            <p:bg/>
                                          </p:spTgt>
                                        </p:tgtEl>
                                        <p:attrNameLst>
                                          <p:attrName>style.visibility</p:attrName>
                                        </p:attrNameLst>
                                      </p:cBhvr>
                                      <p:to>
                                        <p:strVal val="visible"/>
                                      </p:to>
                                    </p:set>
                                    <p:animEffect transition="in" filter="wipe(left)">
                                      <p:cBhvr>
                                        <p:cTn id="7" dur="500"/>
                                        <p:tgtEl>
                                          <p:spTgt spid="581">
                                            <p:bg/>
                                          </p:spTgt>
                                        </p:tgtEl>
                                      </p:cBhvr>
                                    </p:animEffect>
                                  </p:childTnLst>
                                </p:cTn>
                              </p:par>
                              <p:par>
                                <p:cTn id="8" presetID="22" presetClass="entr" presetSubtype="8" fill="hold" grpId="1" nodeType="withEffect">
                                  <p:stCondLst>
                                    <p:cond delay="0"/>
                                  </p:stCondLst>
                                  <p:childTnLst>
                                    <p:set>
                                      <p:cBhvr>
                                        <p:cTn id="9" dur="indefinite" fill="hold"/>
                                        <p:tgtEl>
                                          <p:spTgt spid="581">
                                            <p:txEl>
                                              <p:pRg st="0" end="0"/>
                                            </p:txEl>
                                          </p:spTgt>
                                        </p:tgtEl>
                                        <p:attrNameLst>
                                          <p:attrName>style.visibility</p:attrName>
                                        </p:attrNameLst>
                                      </p:cBhvr>
                                      <p:to>
                                        <p:strVal val="visible"/>
                                      </p:to>
                                    </p:set>
                                    <p:animEffect transition="in" filter="wipe(left)">
                                      <p:cBhvr>
                                        <p:cTn id="10" dur="500"/>
                                        <p:tgtEl>
                                          <p:spTgt spid="5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 grpId="1" build="p" bldLvl="5" animBg="1" advAuto="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1" name="成组"/>
          <p:cNvGrpSpPr/>
          <p:nvPr/>
        </p:nvGrpSpPr>
        <p:grpSpPr>
          <a:xfrm>
            <a:off x="139669" y="752796"/>
            <a:ext cx="5462070" cy="567431"/>
            <a:chOff x="-1" y="0"/>
            <a:chExt cx="5462068" cy="567429"/>
          </a:xfrm>
        </p:grpSpPr>
        <p:sp>
          <p:nvSpPr>
            <p:cNvPr id="229"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marL="0" marR="0" lvl="0" indent="0" algn="ctr" defTabSz="1300480" rtl="0" eaLnBrk="1" fontAlgn="auto" latinLnBrk="0" hangingPunct="0">
                <a:lnSpc>
                  <a:spcPct val="100000"/>
                </a:lnSpc>
                <a:spcBef>
                  <a:spcPts val="0"/>
                </a:spcBef>
                <a:spcAft>
                  <a:spcPts val="0"/>
                </a:spcAft>
                <a:buClrTx/>
                <a:buSzTx/>
                <a:buFontTx/>
                <a:buNone/>
                <a:defRPr>
                  <a:solidFill>
                    <a:srgbClr val="FFFFFF"/>
                  </a:solidFill>
                </a:defRPr>
              </a:pPr>
              <a:endParaRPr kumimoji="0" sz="2400" b="0" i="0" u="none" strike="noStrike" kern="0" cap="none" spc="0" normalizeH="0" baseline="0" noProof="0">
                <a:ln>
                  <a:noFill/>
                </a:ln>
                <a:solidFill>
                  <a:srgbClr val="FFFFFF"/>
                </a:solidFill>
                <a:effectLst/>
                <a:uLnTx/>
                <a:uFillTx/>
                <a:latin typeface="Calibri" panose="020F0502020204030204"/>
                <a:cs typeface="Calibri" panose="020F0502020204030204"/>
                <a:sym typeface="Calibri" panose="020F0502020204030204"/>
              </a:endParaRPr>
            </a:p>
          </p:txBody>
        </p:sp>
        <p:sp>
          <p:nvSpPr>
            <p:cNvPr id="230"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marL="0" marR="0" lvl="0" indent="0" algn="l" defTabSz="1300480" rtl="0" eaLnBrk="1" fontAlgn="auto" latinLnBrk="0" hangingPunct="0">
                <a:lnSpc>
                  <a:spcPct val="100000"/>
                </a:lnSpc>
                <a:spcBef>
                  <a:spcPts val="0"/>
                </a:spcBef>
                <a:spcAft>
                  <a:spcPts val="0"/>
                </a:spcAft>
                <a:buClrTx/>
                <a:buSzTx/>
                <a:buFontTx/>
                <a:buNone/>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kumimoji="0"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影  视    鉴   赏</a:t>
              </a:r>
            </a:p>
            <a:p>
              <a:pPr marL="0" marR="0" lvl="0" indent="0" algn="l" defTabSz="1300480" rtl="0" eaLnBrk="1" fontAlgn="auto" latinLnBrk="0" hangingPunct="0">
                <a:lnSpc>
                  <a:spcPct val="100000"/>
                </a:lnSpc>
                <a:spcBef>
                  <a:spcPts val="0"/>
                </a:spcBef>
                <a:spcAft>
                  <a:spcPts val="0"/>
                </a:spcAft>
                <a:buClrTx/>
                <a:buSzTx/>
                <a:buFontTx/>
                <a:buNone/>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kumimoji="0"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Image sharing</a:t>
              </a:r>
            </a:p>
          </p:txBody>
        </p:sp>
      </p:grpSp>
      <p:pic>
        <p:nvPicPr>
          <p:cNvPr id="232" name="01.mp4" descr="01.mp4"/>
          <p:cNvPicPr/>
          <p:nvPr>
            <a:videoFile r:link="rId2"/>
            <p:extLst>
              <p:ext uri="{DAA4B4D4-6D71-4841-9C94-3DE7FCFB9230}">
                <p14:media xmlns:p14="http://schemas.microsoft.com/office/powerpoint/2010/main" r:link="rId1"/>
              </p:ext>
            </p:extLst>
          </p:nvPr>
        </p:nvPicPr>
        <p:blipFill>
          <a:blip r:embed="rId4"/>
          <a:stretch>
            <a:fillRect/>
          </a:stretch>
        </p:blipFill>
        <p:spPr>
          <a:xfrm>
            <a:off x="0" y="0"/>
            <a:ext cx="13004800" cy="8843011"/>
          </a:xfrm>
          <a:prstGeom prst="rect">
            <a:avLst/>
          </a:prstGeom>
          <a:ln w="12700">
            <a:miter lim="400000"/>
            <a:headEnd/>
            <a:tailEnd/>
          </a:ln>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32"/>
                </p:tgtEl>
              </p:cMediaNode>
            </p:video>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6" name="成组"/>
          <p:cNvGrpSpPr/>
          <p:nvPr/>
        </p:nvGrpSpPr>
        <p:grpSpPr>
          <a:xfrm>
            <a:off x="11101925" y="8248376"/>
            <a:ext cx="1214954" cy="757973"/>
            <a:chOff x="-1" y="0"/>
            <a:chExt cx="1214953" cy="757971"/>
          </a:xfrm>
        </p:grpSpPr>
        <p:sp>
          <p:nvSpPr>
            <p:cNvPr id="583"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584"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585"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589" name="成组"/>
          <p:cNvGrpSpPr/>
          <p:nvPr/>
        </p:nvGrpSpPr>
        <p:grpSpPr>
          <a:xfrm>
            <a:off x="139669" y="752796"/>
            <a:ext cx="5462070" cy="567431"/>
            <a:chOff x="-1" y="0"/>
            <a:chExt cx="5462068" cy="567429"/>
          </a:xfrm>
        </p:grpSpPr>
        <p:sp>
          <p:nvSpPr>
            <p:cNvPr id="58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58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590" name="DAU不是一部影像，而是一场视觉呈现，取材自上述那个“前苏联社会”复制品历时三年的资料记录。…"/>
          <p:cNvSpPr txBox="1"/>
          <p:nvPr/>
        </p:nvSpPr>
        <p:spPr>
          <a:xfrm>
            <a:off x="2060392" y="2225021"/>
            <a:ext cx="4340570" cy="973831"/>
          </a:xfrm>
          <a:prstGeom prst="rect">
            <a:avLst/>
          </a:prstGeom>
          <a:ln w="12700">
            <a:miter lim="400000"/>
          </a:ln>
        </p:spPr>
        <p:txBody>
          <a:bodyPr lIns="48765" tIns="48765" rIns="48765" bIns="48765">
            <a:spAutoFit/>
          </a:bodyPr>
          <a:lstStyle>
            <a:lvl1pPr>
              <a:defRPr sz="4900">
                <a:solidFill>
                  <a:srgbClr val="FF2600"/>
                </a:solidFill>
              </a:defRPr>
            </a:lvl1pPr>
          </a:lstStyle>
          <a:p>
            <a:r>
              <a:t>推镜头</a:t>
            </a:r>
          </a:p>
        </p:txBody>
      </p:sp>
      <p:sp>
        <p:nvSpPr>
          <p:cNvPr id="591" name="2019年…"/>
          <p:cNvSpPr txBox="1"/>
          <p:nvPr/>
        </p:nvSpPr>
        <p:spPr>
          <a:xfrm>
            <a:off x="2065981" y="3367046"/>
            <a:ext cx="7915949" cy="3527182"/>
          </a:xfrm>
          <a:prstGeom prst="rect">
            <a:avLst/>
          </a:prstGeom>
          <a:ln w="12700">
            <a:miter lim="400000"/>
          </a:ln>
        </p:spPr>
        <p:txBody>
          <a:bodyPr lIns="48765" tIns="48765" rIns="48765" bIns="48765">
            <a:spAutoFit/>
          </a:bodyPr>
          <a:lstStyle/>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r>
              <a:t>被摄对象不动，摄影机由远而近向对象推近的连贯画面，被摄体由小变大，画面范围由大变小，包含镜头内部的景别变化。推镜头可以借助轨道移动车向前推近拍摄，也可通过镜头变焦完成。</a:t>
            </a:r>
          </a:p>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586"/>
                                        </p:tgtEl>
                                        <p:attrNameLst>
                                          <p:attrName>style.visibility</p:attrName>
                                        </p:attrNameLst>
                                      </p:cBhvr>
                                      <p:to>
                                        <p:strVal val="visible"/>
                                      </p:to>
                                    </p:set>
                                    <p:anim calcmode="lin" valueType="num">
                                      <p:cBhvr>
                                        <p:cTn id="7" dur="750" fill="hold"/>
                                        <p:tgtEl>
                                          <p:spTgt spid="586"/>
                                        </p:tgtEl>
                                        <p:attrNameLst>
                                          <p:attrName>ppt_x</p:attrName>
                                        </p:attrNameLst>
                                      </p:cBhvr>
                                      <p:tavLst>
                                        <p:tav tm="0">
                                          <p:val>
                                            <p:strVal val="1+#ppt_w/2"/>
                                          </p:val>
                                        </p:tav>
                                        <p:tav tm="100000">
                                          <p:val>
                                            <p:strVal val="#ppt_x"/>
                                          </p:val>
                                        </p:tav>
                                      </p:tavLst>
                                    </p:anim>
                                    <p:anim calcmode="lin" valueType="num">
                                      <p:cBhvr>
                                        <p:cTn id="8" dur="750" fill="hold"/>
                                        <p:tgtEl>
                                          <p:spTgt spid="5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 grpId="1" animBg="1" advAuto="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 name="戏剧光效"/>
          <p:cNvSpPr txBox="1">
            <a:spLocks noGrp="1"/>
          </p:cNvSpPr>
          <p:nvPr>
            <p:ph type="title"/>
          </p:nvPr>
        </p:nvSpPr>
        <p:spPr>
          <a:xfrm>
            <a:off x="1308098" y="1440178"/>
            <a:ext cx="9753604" cy="2546776"/>
          </a:xfrm>
          <a:prstGeom prst="rect">
            <a:avLst/>
          </a:prstGeom>
        </p:spPr>
        <p:txBody>
          <a:bodyPr/>
          <a:lstStyle>
            <a:lvl1pPr>
              <a:lnSpc>
                <a:spcPct val="100000"/>
              </a:lnSpc>
              <a:defRPr sz="62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lvl1pPr>
          </a:lstStyle>
          <a:p>
            <a:r>
              <a:t>推镜头</a:t>
            </a:r>
          </a:p>
        </p:txBody>
      </p:sp>
      <p:sp>
        <p:nvSpPr>
          <p:cNvPr id="624" name="主要特点：人景分开，增加立体…"/>
          <p:cNvSpPr txBox="1">
            <a:spLocks noGrp="1"/>
          </p:cNvSpPr>
          <p:nvPr>
            <p:ph type="body" sz="half" idx="1"/>
          </p:nvPr>
        </p:nvSpPr>
        <p:spPr>
          <a:xfrm>
            <a:off x="4419598" y="4485635"/>
            <a:ext cx="9753604" cy="2792580"/>
          </a:xfrm>
          <a:prstGeom prst="rect">
            <a:avLst/>
          </a:prstGeom>
        </p:spPr>
        <p:txBody>
          <a:bodyPr/>
          <a:lstStyle/>
          <a:p>
            <a:pPr marL="243205" indent="-243205" algn="l" defTabSz="676275">
              <a:spcBef>
                <a:spcPts val="500"/>
              </a:spcBef>
              <a:buSzPct val="100000"/>
              <a:buChar char="•"/>
              <a:defRPr sz="24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主要特点：人景分开，增加立体</a:t>
            </a:r>
          </a:p>
          <a:p>
            <a:pPr marL="243205" indent="-243205" algn="l" defTabSz="676275">
              <a:spcBef>
                <a:spcPts val="500"/>
              </a:spcBef>
              <a:buSzPct val="100000"/>
              <a:buChar char="•"/>
              <a:defRPr sz="24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人物光：主、辅、轮廓、眼神</a:t>
            </a:r>
          </a:p>
          <a:p>
            <a:pPr marL="243205" indent="-243205" algn="l" defTabSz="676275">
              <a:spcBef>
                <a:spcPts val="500"/>
              </a:spcBef>
              <a:buSzPct val="100000"/>
              <a:buChar char="•"/>
              <a:defRPr sz="24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景物光：光源效果、底子</a:t>
            </a:r>
          </a:p>
          <a:p>
            <a:pPr marL="243205" indent="-243205" algn="l" defTabSz="676275">
              <a:spcBef>
                <a:spcPts val="500"/>
              </a:spcBef>
              <a:buSzPct val="100000"/>
              <a:buChar char="•"/>
              <a:defRPr sz="24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环境：日景，夜景，内景，外景</a:t>
            </a:r>
          </a:p>
          <a:p>
            <a:pPr marL="243205" indent="-243205" algn="l" defTabSz="676275">
              <a:spcBef>
                <a:spcPts val="500"/>
              </a:spcBef>
              <a:buSzPct val="100000"/>
              <a:buChar char="•"/>
              <a:defRPr sz="24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优点：立体感，戏剧气氛</a:t>
            </a:r>
          </a:p>
          <a:p>
            <a:pPr marL="243205" indent="-243205" algn="l" defTabSz="676275">
              <a:spcBef>
                <a:spcPts val="500"/>
              </a:spcBef>
              <a:buSzPct val="100000"/>
              <a:buChar char="•"/>
              <a:defRPr sz="24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局限性：虚假，照明技术复杂</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624">
                                            <p:bg/>
                                          </p:spTgt>
                                        </p:tgtEl>
                                        <p:attrNameLst>
                                          <p:attrName>style.visibility</p:attrName>
                                        </p:attrNameLst>
                                      </p:cBhvr>
                                      <p:to>
                                        <p:strVal val="visible"/>
                                      </p:to>
                                    </p:set>
                                    <p:animEffect transition="in" filter="wipe(left)">
                                      <p:cBhvr>
                                        <p:cTn id="7" dur="500"/>
                                        <p:tgtEl>
                                          <p:spTgt spid="624">
                                            <p:bg/>
                                          </p:spTgt>
                                        </p:tgtEl>
                                      </p:cBhvr>
                                    </p:animEffect>
                                  </p:childTnLst>
                                </p:cTn>
                              </p:par>
                              <p:par>
                                <p:cTn id="8" presetID="22" presetClass="entr" presetSubtype="8" fill="hold" grpId="1" nodeType="withEffect">
                                  <p:stCondLst>
                                    <p:cond delay="0"/>
                                  </p:stCondLst>
                                  <p:childTnLst>
                                    <p:set>
                                      <p:cBhvr>
                                        <p:cTn id="9" dur="indefinite" fill="hold"/>
                                        <p:tgtEl>
                                          <p:spTgt spid="624">
                                            <p:txEl>
                                              <p:pRg st="0" end="0"/>
                                            </p:txEl>
                                          </p:spTgt>
                                        </p:tgtEl>
                                        <p:attrNameLst>
                                          <p:attrName>style.visibility</p:attrName>
                                        </p:attrNameLst>
                                      </p:cBhvr>
                                      <p:to>
                                        <p:strVal val="visible"/>
                                      </p:to>
                                    </p:set>
                                    <p:animEffect transition="in" filter="wipe(left)">
                                      <p:cBhvr>
                                        <p:cTn id="10" dur="500"/>
                                        <p:tgtEl>
                                          <p:spTgt spid="624">
                                            <p:txEl>
                                              <p:pRg st="0" end="0"/>
                                            </p:txEl>
                                          </p:spTgt>
                                        </p:tgtEl>
                                      </p:cBhvr>
                                    </p:animEffect>
                                  </p:childTnLst>
                                </p:cTn>
                              </p:par>
                            </p:childTnLst>
                          </p:cTn>
                        </p:par>
                        <p:par>
                          <p:cTn id="11" fill="hold">
                            <p:stCondLst>
                              <p:cond delay="500"/>
                            </p:stCondLst>
                            <p:childTnLst>
                              <p:par>
                                <p:cTn id="12" presetID="22" presetClass="entr" presetSubtype="8" fill="hold" grpId="1" nodeType="afterEffect">
                                  <p:stCondLst>
                                    <p:cond delay="0"/>
                                  </p:stCondLst>
                                  <p:childTnLst>
                                    <p:set>
                                      <p:cBhvr>
                                        <p:cTn id="13" dur="indefinite" fill="hold"/>
                                        <p:tgtEl>
                                          <p:spTgt spid="624">
                                            <p:txEl>
                                              <p:pRg st="1" end="1"/>
                                            </p:txEl>
                                          </p:spTgt>
                                        </p:tgtEl>
                                        <p:attrNameLst>
                                          <p:attrName>style.visibility</p:attrName>
                                        </p:attrNameLst>
                                      </p:cBhvr>
                                      <p:to>
                                        <p:strVal val="visible"/>
                                      </p:to>
                                    </p:set>
                                    <p:animEffect transition="in" filter="wipe(left)">
                                      <p:cBhvr>
                                        <p:cTn id="14" dur="500"/>
                                        <p:tgtEl>
                                          <p:spTgt spid="624">
                                            <p:txEl>
                                              <p:pRg st="1" end="1"/>
                                            </p:txEl>
                                          </p:spTgt>
                                        </p:tgtEl>
                                      </p:cBhvr>
                                    </p:animEffect>
                                  </p:childTnLst>
                                </p:cTn>
                              </p:par>
                            </p:childTnLst>
                          </p:cTn>
                        </p:par>
                        <p:par>
                          <p:cTn id="15" fill="hold">
                            <p:stCondLst>
                              <p:cond delay="1000"/>
                            </p:stCondLst>
                            <p:childTnLst>
                              <p:par>
                                <p:cTn id="16" presetID="22" presetClass="entr" presetSubtype="8" fill="hold" grpId="1" nodeType="afterEffect">
                                  <p:stCondLst>
                                    <p:cond delay="0"/>
                                  </p:stCondLst>
                                  <p:childTnLst>
                                    <p:set>
                                      <p:cBhvr>
                                        <p:cTn id="17" dur="indefinite" fill="hold"/>
                                        <p:tgtEl>
                                          <p:spTgt spid="624">
                                            <p:txEl>
                                              <p:pRg st="2" end="2"/>
                                            </p:txEl>
                                          </p:spTgt>
                                        </p:tgtEl>
                                        <p:attrNameLst>
                                          <p:attrName>style.visibility</p:attrName>
                                        </p:attrNameLst>
                                      </p:cBhvr>
                                      <p:to>
                                        <p:strVal val="visible"/>
                                      </p:to>
                                    </p:set>
                                    <p:animEffect transition="in" filter="wipe(left)">
                                      <p:cBhvr>
                                        <p:cTn id="18" dur="500"/>
                                        <p:tgtEl>
                                          <p:spTgt spid="624">
                                            <p:txEl>
                                              <p:pRg st="2" end="2"/>
                                            </p:txEl>
                                          </p:spTgt>
                                        </p:tgtEl>
                                      </p:cBhvr>
                                    </p:animEffect>
                                  </p:childTnLst>
                                </p:cTn>
                              </p:par>
                            </p:childTnLst>
                          </p:cTn>
                        </p:par>
                        <p:par>
                          <p:cTn id="19" fill="hold">
                            <p:stCondLst>
                              <p:cond delay="1500"/>
                            </p:stCondLst>
                            <p:childTnLst>
                              <p:par>
                                <p:cTn id="20" presetID="22" presetClass="entr" presetSubtype="8" fill="hold" grpId="1" nodeType="afterEffect">
                                  <p:stCondLst>
                                    <p:cond delay="0"/>
                                  </p:stCondLst>
                                  <p:childTnLst>
                                    <p:set>
                                      <p:cBhvr>
                                        <p:cTn id="21" dur="indefinite" fill="hold"/>
                                        <p:tgtEl>
                                          <p:spTgt spid="624">
                                            <p:txEl>
                                              <p:pRg st="3" end="3"/>
                                            </p:txEl>
                                          </p:spTgt>
                                        </p:tgtEl>
                                        <p:attrNameLst>
                                          <p:attrName>style.visibility</p:attrName>
                                        </p:attrNameLst>
                                      </p:cBhvr>
                                      <p:to>
                                        <p:strVal val="visible"/>
                                      </p:to>
                                    </p:set>
                                    <p:animEffect transition="in" filter="wipe(left)">
                                      <p:cBhvr>
                                        <p:cTn id="22" dur="500"/>
                                        <p:tgtEl>
                                          <p:spTgt spid="624">
                                            <p:txEl>
                                              <p:pRg st="3" end="3"/>
                                            </p:txEl>
                                          </p:spTgt>
                                        </p:tgtEl>
                                      </p:cBhvr>
                                    </p:animEffect>
                                  </p:childTnLst>
                                </p:cTn>
                              </p:par>
                            </p:childTnLst>
                          </p:cTn>
                        </p:par>
                        <p:par>
                          <p:cTn id="23" fill="hold">
                            <p:stCondLst>
                              <p:cond delay="2000"/>
                            </p:stCondLst>
                            <p:childTnLst>
                              <p:par>
                                <p:cTn id="24" presetID="22" presetClass="entr" presetSubtype="8" fill="hold" grpId="1" nodeType="afterEffect">
                                  <p:stCondLst>
                                    <p:cond delay="0"/>
                                  </p:stCondLst>
                                  <p:childTnLst>
                                    <p:set>
                                      <p:cBhvr>
                                        <p:cTn id="25" dur="indefinite" fill="hold"/>
                                        <p:tgtEl>
                                          <p:spTgt spid="624">
                                            <p:txEl>
                                              <p:pRg st="4" end="4"/>
                                            </p:txEl>
                                          </p:spTgt>
                                        </p:tgtEl>
                                        <p:attrNameLst>
                                          <p:attrName>style.visibility</p:attrName>
                                        </p:attrNameLst>
                                      </p:cBhvr>
                                      <p:to>
                                        <p:strVal val="visible"/>
                                      </p:to>
                                    </p:set>
                                    <p:animEffect transition="in" filter="wipe(left)">
                                      <p:cBhvr>
                                        <p:cTn id="26" dur="500"/>
                                        <p:tgtEl>
                                          <p:spTgt spid="624">
                                            <p:txEl>
                                              <p:pRg st="4" end="4"/>
                                            </p:txEl>
                                          </p:spTgt>
                                        </p:tgtEl>
                                      </p:cBhvr>
                                    </p:animEffect>
                                  </p:childTnLst>
                                </p:cTn>
                              </p:par>
                            </p:childTnLst>
                          </p:cTn>
                        </p:par>
                        <p:par>
                          <p:cTn id="27" fill="hold">
                            <p:stCondLst>
                              <p:cond delay="2500"/>
                            </p:stCondLst>
                            <p:childTnLst>
                              <p:par>
                                <p:cTn id="28" presetID="22" presetClass="entr" presetSubtype="8" fill="hold" grpId="1" nodeType="afterEffect">
                                  <p:stCondLst>
                                    <p:cond delay="0"/>
                                  </p:stCondLst>
                                  <p:childTnLst>
                                    <p:set>
                                      <p:cBhvr>
                                        <p:cTn id="29" dur="indefinite" fill="hold"/>
                                        <p:tgtEl>
                                          <p:spTgt spid="624">
                                            <p:txEl>
                                              <p:pRg st="5" end="5"/>
                                            </p:txEl>
                                          </p:spTgt>
                                        </p:tgtEl>
                                        <p:attrNameLst>
                                          <p:attrName>style.visibility</p:attrName>
                                        </p:attrNameLst>
                                      </p:cBhvr>
                                      <p:to>
                                        <p:strVal val="visible"/>
                                      </p:to>
                                    </p:set>
                                    <p:animEffect transition="in" filter="wipe(left)">
                                      <p:cBhvr>
                                        <p:cTn id="30" dur="500"/>
                                        <p:tgtEl>
                                          <p:spTgt spid="6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 grpId="1" build="p" bldLvl="5" animBg="1" advAuto="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6" name="成组"/>
          <p:cNvGrpSpPr/>
          <p:nvPr/>
        </p:nvGrpSpPr>
        <p:grpSpPr>
          <a:xfrm>
            <a:off x="11101925" y="8248376"/>
            <a:ext cx="1214954" cy="757973"/>
            <a:chOff x="-1" y="0"/>
            <a:chExt cx="1214953" cy="757971"/>
          </a:xfrm>
        </p:grpSpPr>
        <p:sp>
          <p:nvSpPr>
            <p:cNvPr id="593"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594"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595"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599" name="成组"/>
          <p:cNvGrpSpPr/>
          <p:nvPr/>
        </p:nvGrpSpPr>
        <p:grpSpPr>
          <a:xfrm>
            <a:off x="139669" y="752796"/>
            <a:ext cx="5462070" cy="567431"/>
            <a:chOff x="-1" y="0"/>
            <a:chExt cx="5462068" cy="567429"/>
          </a:xfrm>
        </p:grpSpPr>
        <p:sp>
          <p:nvSpPr>
            <p:cNvPr id="59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59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600" name="DAU不是一部影像，而是一场视觉呈现，取材自上述那个“前苏联社会”复制品历时三年的资料记录。…"/>
          <p:cNvSpPr txBox="1"/>
          <p:nvPr/>
        </p:nvSpPr>
        <p:spPr>
          <a:xfrm>
            <a:off x="2479492" y="2694921"/>
            <a:ext cx="4340570" cy="973831"/>
          </a:xfrm>
          <a:prstGeom prst="rect">
            <a:avLst/>
          </a:prstGeom>
          <a:ln w="12700">
            <a:miter lim="400000"/>
          </a:ln>
        </p:spPr>
        <p:txBody>
          <a:bodyPr lIns="48765" tIns="48765" rIns="48765" bIns="48765">
            <a:spAutoFit/>
          </a:bodyPr>
          <a:lstStyle>
            <a:lvl1pPr>
              <a:defRPr sz="4900">
                <a:solidFill>
                  <a:srgbClr val="FF2600"/>
                </a:solidFill>
              </a:defRPr>
            </a:lvl1pPr>
          </a:lstStyle>
          <a:p>
            <a:r>
              <a:t>拉镜头</a:t>
            </a:r>
          </a:p>
        </p:txBody>
      </p:sp>
      <p:sp>
        <p:nvSpPr>
          <p:cNvPr id="601" name="2019年…"/>
          <p:cNvSpPr txBox="1"/>
          <p:nvPr/>
        </p:nvSpPr>
        <p:spPr>
          <a:xfrm>
            <a:off x="2358081" y="4141746"/>
            <a:ext cx="7915949" cy="3527182"/>
          </a:xfrm>
          <a:prstGeom prst="rect">
            <a:avLst/>
          </a:prstGeom>
          <a:ln w="12700">
            <a:miter lim="400000"/>
          </a:ln>
        </p:spPr>
        <p:txBody>
          <a:bodyPr lIns="48765" tIns="48765" rIns="48765" bIns="48765">
            <a:spAutoFit/>
          </a:bodyPr>
          <a:lstStyle/>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r>
              <a:t>与推镜头相反，被摄对象保持不动，摄影机由近而远地远离对象的连贯画面。被摄对象由大变小，画面范围由小变大，包含着镜头内部景别变化，从特写、近景逐渐远离被摄对象，拉成中景、全景甚至远景。</a:t>
            </a:r>
          </a:p>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endParaRP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596"/>
                                        </p:tgtEl>
                                        <p:attrNameLst>
                                          <p:attrName>style.visibility</p:attrName>
                                        </p:attrNameLst>
                                      </p:cBhvr>
                                      <p:to>
                                        <p:strVal val="visible"/>
                                      </p:to>
                                    </p:set>
                                    <p:anim calcmode="lin" valueType="num">
                                      <p:cBhvr>
                                        <p:cTn id="7" dur="750" fill="hold"/>
                                        <p:tgtEl>
                                          <p:spTgt spid="596"/>
                                        </p:tgtEl>
                                        <p:attrNameLst>
                                          <p:attrName>ppt_x</p:attrName>
                                        </p:attrNameLst>
                                      </p:cBhvr>
                                      <p:tavLst>
                                        <p:tav tm="0">
                                          <p:val>
                                            <p:strVal val="1+#ppt_w/2"/>
                                          </p:val>
                                        </p:tav>
                                        <p:tav tm="100000">
                                          <p:val>
                                            <p:strVal val="#ppt_x"/>
                                          </p:val>
                                        </p:tav>
                                      </p:tavLst>
                                    </p:anim>
                                    <p:anim calcmode="lin" valueType="num">
                                      <p:cBhvr>
                                        <p:cTn id="8" dur="750" fill="hold"/>
                                        <p:tgtEl>
                                          <p:spTgt spid="5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 grpId="1" animBg="1" advAuto="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6" name="成组"/>
          <p:cNvGrpSpPr/>
          <p:nvPr/>
        </p:nvGrpSpPr>
        <p:grpSpPr>
          <a:xfrm>
            <a:off x="11101925" y="8248376"/>
            <a:ext cx="1214954" cy="757973"/>
            <a:chOff x="-1" y="0"/>
            <a:chExt cx="1214953" cy="757971"/>
          </a:xfrm>
        </p:grpSpPr>
        <p:sp>
          <p:nvSpPr>
            <p:cNvPr id="603"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04"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05"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09" name="成组"/>
          <p:cNvGrpSpPr/>
          <p:nvPr/>
        </p:nvGrpSpPr>
        <p:grpSpPr>
          <a:xfrm>
            <a:off x="139669" y="752796"/>
            <a:ext cx="5462070" cy="567431"/>
            <a:chOff x="-1" y="0"/>
            <a:chExt cx="5462068" cy="567429"/>
          </a:xfrm>
        </p:grpSpPr>
        <p:sp>
          <p:nvSpPr>
            <p:cNvPr id="60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0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610" name="DAU不是一部影像，而是一场视觉呈现，取材自上述那个“前苏联社会”复制品历时三年的资料记录。…"/>
          <p:cNvSpPr txBox="1"/>
          <p:nvPr/>
        </p:nvSpPr>
        <p:spPr>
          <a:xfrm>
            <a:off x="2123892" y="2225021"/>
            <a:ext cx="4340570" cy="973831"/>
          </a:xfrm>
          <a:prstGeom prst="rect">
            <a:avLst/>
          </a:prstGeom>
          <a:ln w="12700">
            <a:miter lim="400000"/>
          </a:ln>
        </p:spPr>
        <p:txBody>
          <a:bodyPr lIns="48765" tIns="48765" rIns="48765" bIns="48765">
            <a:spAutoFit/>
          </a:bodyPr>
          <a:lstStyle>
            <a:lvl1pPr>
              <a:defRPr sz="4900">
                <a:solidFill>
                  <a:srgbClr val="FF2600"/>
                </a:solidFill>
              </a:defRPr>
            </a:lvl1pPr>
          </a:lstStyle>
          <a:p>
            <a:r>
              <a:t>摇镜头</a:t>
            </a:r>
          </a:p>
        </p:txBody>
      </p:sp>
      <p:sp>
        <p:nvSpPr>
          <p:cNvPr id="611" name="2019年…"/>
          <p:cNvSpPr txBox="1"/>
          <p:nvPr/>
        </p:nvSpPr>
        <p:spPr>
          <a:xfrm>
            <a:off x="2065981" y="3367046"/>
            <a:ext cx="7915949" cy="4568582"/>
          </a:xfrm>
          <a:prstGeom prst="rect">
            <a:avLst/>
          </a:prstGeom>
          <a:ln w="12700">
            <a:miter lim="400000"/>
          </a:ln>
        </p:spPr>
        <p:txBody>
          <a:bodyPr lIns="48765" tIns="48765" rIns="48765" bIns="48765">
            <a:spAutoFit/>
          </a:bodyPr>
          <a:lstStyle/>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r>
              <a:t>摄影机位置固定，通过三脚架云台进行上下或左右的摇摄所获得的连贯画面。摇镜头即可以作为客观镜头介绍空间环境，可以作为主观镜头模拟观者的视点。</a:t>
            </a:r>
          </a:p>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r>
              <a:t>水平方向横摇</a:t>
            </a:r>
          </a:p>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r>
              <a:t>垂直方向竖摇</a:t>
            </a:r>
          </a:p>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r>
              <a:t>加速甩摇</a:t>
            </a:r>
          </a:p>
          <a:p>
            <a:pPr marL="290830" indent="-290830" defTabSz="457200">
              <a:buSzPct val="60000"/>
              <a:buBlip>
                <a:blip r:embed="rId2"/>
              </a:buBlip>
              <a:defRPr sz="2900">
                <a:solidFill>
                  <a:srgbClr val="333333"/>
                </a:solidFill>
                <a:latin typeface="Arial" panose="020B0604020202020204"/>
                <a:ea typeface="Arial" panose="020B0604020202020204"/>
                <a:cs typeface="Arial" panose="020B0604020202020204"/>
                <a:sym typeface="Arial" panose="020B0604020202020204"/>
              </a:defRPr>
            </a:pPr>
            <a:endParaRP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06"/>
                                        </p:tgtEl>
                                        <p:attrNameLst>
                                          <p:attrName>style.visibility</p:attrName>
                                        </p:attrNameLst>
                                      </p:cBhvr>
                                      <p:to>
                                        <p:strVal val="visible"/>
                                      </p:to>
                                    </p:set>
                                    <p:anim calcmode="lin" valueType="num">
                                      <p:cBhvr>
                                        <p:cTn id="7" dur="750" fill="hold"/>
                                        <p:tgtEl>
                                          <p:spTgt spid="606"/>
                                        </p:tgtEl>
                                        <p:attrNameLst>
                                          <p:attrName>ppt_x</p:attrName>
                                        </p:attrNameLst>
                                      </p:cBhvr>
                                      <p:tavLst>
                                        <p:tav tm="0">
                                          <p:val>
                                            <p:strVal val="1+#ppt_w/2"/>
                                          </p:val>
                                        </p:tav>
                                        <p:tav tm="100000">
                                          <p:val>
                                            <p:strVal val="#ppt_x"/>
                                          </p:val>
                                        </p:tav>
                                      </p:tavLst>
                                    </p:anim>
                                    <p:anim calcmode="lin" valueType="num">
                                      <p:cBhvr>
                                        <p:cTn id="8" dur="750" fill="hold"/>
                                        <p:tgtEl>
                                          <p:spTgt spid="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 grpId="1" animBg="1" advAuto="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镜头内容小结"/>
          <p:cNvSpPr txBox="1">
            <a:spLocks noGrp="1"/>
          </p:cNvSpPr>
          <p:nvPr>
            <p:ph type="title"/>
          </p:nvPr>
        </p:nvSpPr>
        <p:spPr>
          <a:xfrm>
            <a:off x="1422398" y="1231051"/>
            <a:ext cx="9753604" cy="2546777"/>
          </a:xfrm>
          <a:prstGeom prst="rect">
            <a:avLst/>
          </a:prstGeom>
        </p:spPr>
        <p:txBody>
          <a:bodyPr/>
          <a:lstStyle>
            <a:lvl1pPr>
              <a:lnSpc>
                <a:spcPct val="100000"/>
              </a:lnSpc>
              <a:defRPr sz="62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lvl1pPr>
          </a:lstStyle>
          <a:p>
            <a:r>
              <a:t>镜头内容小结</a:t>
            </a:r>
          </a:p>
        </p:txBody>
      </p:sp>
      <p:sp>
        <p:nvSpPr>
          <p:cNvPr id="630" name="符号学：能指，所指，符号的任意性，符号的社会文化特征…"/>
          <p:cNvSpPr txBox="1">
            <a:spLocks noGrp="1"/>
          </p:cNvSpPr>
          <p:nvPr>
            <p:ph type="body" sz="half" idx="1"/>
          </p:nvPr>
        </p:nvSpPr>
        <p:spPr>
          <a:xfrm>
            <a:off x="1667930" y="4380651"/>
            <a:ext cx="10408454" cy="2669761"/>
          </a:xfrm>
          <a:prstGeom prst="rect">
            <a:avLst/>
          </a:prstGeom>
        </p:spPr>
        <p:txBody>
          <a:bodyPr/>
          <a:lstStyle/>
          <a:p>
            <a:pPr marL="326390" indent="-326390" algn="l" defTabSz="873125">
              <a:spcBef>
                <a:spcPts val="600"/>
              </a:spcBef>
              <a:buSzPct val="100000"/>
              <a:buChar char="•"/>
              <a:defRPr sz="31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符号学：能指，所指，符号的社会文化特征</a:t>
            </a:r>
          </a:p>
          <a:p>
            <a:pPr marL="326390" indent="-326390" algn="l" defTabSz="873125">
              <a:spcBef>
                <a:spcPts val="600"/>
              </a:spcBef>
              <a:buSzPct val="100000"/>
              <a:buChar char="•"/>
              <a:defRPr sz="31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美  学：视觉观察与判断力：美感与艺术形式，抽象艺术</a:t>
            </a:r>
          </a:p>
          <a:p>
            <a:pPr marL="326390" indent="-326390" algn="l" defTabSz="873125">
              <a:spcBef>
                <a:spcPts val="600"/>
              </a:spcBef>
              <a:buSzPct val="100000"/>
              <a:buChar char="•"/>
              <a:defRPr sz="31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文化学：阶级，种族，群体，大众，权力，意识形态批评</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630">
                                            <p:bg/>
                                          </p:spTgt>
                                        </p:tgtEl>
                                        <p:attrNameLst>
                                          <p:attrName>style.visibility</p:attrName>
                                        </p:attrNameLst>
                                      </p:cBhvr>
                                      <p:to>
                                        <p:strVal val="visible"/>
                                      </p:to>
                                    </p:set>
                                    <p:animEffect transition="in" filter="wipe(left)">
                                      <p:cBhvr>
                                        <p:cTn id="7" dur="500"/>
                                        <p:tgtEl>
                                          <p:spTgt spid="630">
                                            <p:bg/>
                                          </p:spTgt>
                                        </p:tgtEl>
                                      </p:cBhvr>
                                    </p:animEffect>
                                  </p:childTnLst>
                                </p:cTn>
                              </p:par>
                              <p:par>
                                <p:cTn id="8" presetID="22" presetClass="entr" presetSubtype="8" fill="hold" grpId="1" nodeType="withEffect">
                                  <p:stCondLst>
                                    <p:cond delay="0"/>
                                  </p:stCondLst>
                                  <p:childTnLst>
                                    <p:set>
                                      <p:cBhvr>
                                        <p:cTn id="9" dur="indefinite" fill="hold"/>
                                        <p:tgtEl>
                                          <p:spTgt spid="630">
                                            <p:txEl>
                                              <p:pRg st="0" end="0"/>
                                            </p:txEl>
                                          </p:spTgt>
                                        </p:tgtEl>
                                        <p:attrNameLst>
                                          <p:attrName>style.visibility</p:attrName>
                                        </p:attrNameLst>
                                      </p:cBhvr>
                                      <p:to>
                                        <p:strVal val="visible"/>
                                      </p:to>
                                    </p:set>
                                    <p:animEffect transition="in" filter="wipe(left)">
                                      <p:cBhvr>
                                        <p:cTn id="10" dur="500"/>
                                        <p:tgtEl>
                                          <p:spTgt spid="630">
                                            <p:txEl>
                                              <p:pRg st="0" end="0"/>
                                            </p:txEl>
                                          </p:spTgt>
                                        </p:tgtEl>
                                      </p:cBhvr>
                                    </p:animEffect>
                                  </p:childTnLst>
                                </p:cTn>
                              </p:par>
                            </p:childTnLst>
                          </p:cTn>
                        </p:par>
                        <p:par>
                          <p:cTn id="11" fill="hold">
                            <p:stCondLst>
                              <p:cond delay="500"/>
                            </p:stCondLst>
                            <p:childTnLst>
                              <p:par>
                                <p:cTn id="12" presetID="22" presetClass="entr" presetSubtype="8" fill="hold" grpId="1" nodeType="afterEffect">
                                  <p:stCondLst>
                                    <p:cond delay="0"/>
                                  </p:stCondLst>
                                  <p:childTnLst>
                                    <p:set>
                                      <p:cBhvr>
                                        <p:cTn id="13" dur="indefinite" fill="hold"/>
                                        <p:tgtEl>
                                          <p:spTgt spid="630">
                                            <p:txEl>
                                              <p:pRg st="1" end="1"/>
                                            </p:txEl>
                                          </p:spTgt>
                                        </p:tgtEl>
                                        <p:attrNameLst>
                                          <p:attrName>style.visibility</p:attrName>
                                        </p:attrNameLst>
                                      </p:cBhvr>
                                      <p:to>
                                        <p:strVal val="visible"/>
                                      </p:to>
                                    </p:set>
                                    <p:animEffect transition="in" filter="wipe(left)">
                                      <p:cBhvr>
                                        <p:cTn id="14" dur="500"/>
                                        <p:tgtEl>
                                          <p:spTgt spid="630">
                                            <p:txEl>
                                              <p:pRg st="1" end="1"/>
                                            </p:txEl>
                                          </p:spTgt>
                                        </p:tgtEl>
                                      </p:cBhvr>
                                    </p:animEffect>
                                  </p:childTnLst>
                                </p:cTn>
                              </p:par>
                            </p:childTnLst>
                          </p:cTn>
                        </p:par>
                        <p:par>
                          <p:cTn id="15" fill="hold">
                            <p:stCondLst>
                              <p:cond delay="1000"/>
                            </p:stCondLst>
                            <p:childTnLst>
                              <p:par>
                                <p:cTn id="16" presetID="22" presetClass="entr" presetSubtype="8" fill="hold" grpId="1" nodeType="afterEffect">
                                  <p:stCondLst>
                                    <p:cond delay="0"/>
                                  </p:stCondLst>
                                  <p:childTnLst>
                                    <p:set>
                                      <p:cBhvr>
                                        <p:cTn id="17" dur="indefinite" fill="hold"/>
                                        <p:tgtEl>
                                          <p:spTgt spid="630">
                                            <p:txEl>
                                              <p:pRg st="2" end="2"/>
                                            </p:txEl>
                                          </p:spTgt>
                                        </p:tgtEl>
                                        <p:attrNameLst>
                                          <p:attrName>style.visibility</p:attrName>
                                        </p:attrNameLst>
                                      </p:cBhvr>
                                      <p:to>
                                        <p:strVal val="visible"/>
                                      </p:to>
                                    </p:set>
                                    <p:animEffect transition="in" filter="wipe(left)">
                                      <p:cBhvr>
                                        <p:cTn id="18" dur="500"/>
                                        <p:tgtEl>
                                          <p:spTgt spid="6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 grpId="1" build="p" bldLvl="5" animBg="1" advAuto="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 name="成组"/>
          <p:cNvGrpSpPr/>
          <p:nvPr/>
        </p:nvGrpSpPr>
        <p:grpSpPr>
          <a:xfrm>
            <a:off x="139669" y="752796"/>
            <a:ext cx="5462070" cy="567431"/>
            <a:chOff x="-1" y="0"/>
            <a:chExt cx="5462068" cy="567429"/>
          </a:xfrm>
        </p:grpSpPr>
        <p:sp>
          <p:nvSpPr>
            <p:cNvPr id="632"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33"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35" name="10131585817694_.pic_hd.jpg" descr="10131585817694_.pic_hd.jpg"/>
          <p:cNvPicPr>
            <a:picLocks noChangeAspect="1"/>
          </p:cNvPicPr>
          <p:nvPr/>
        </p:nvPicPr>
        <p:blipFill>
          <a:blip r:embed="rId2"/>
          <a:stretch>
            <a:fillRect/>
          </a:stretch>
        </p:blipFill>
        <p:spPr>
          <a:xfrm>
            <a:off x="3289980" y="1590057"/>
            <a:ext cx="8804813" cy="7272123"/>
          </a:xfrm>
          <a:prstGeom prst="rect">
            <a:avLst/>
          </a:prstGeom>
          <a:ln w="12700">
            <a:miter lim="400000"/>
            <a:headEnd/>
            <a:tailEnd/>
          </a:ln>
        </p:spPr>
      </p:pic>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9" name="成组"/>
          <p:cNvGrpSpPr/>
          <p:nvPr/>
        </p:nvGrpSpPr>
        <p:grpSpPr>
          <a:xfrm>
            <a:off x="139669" y="752796"/>
            <a:ext cx="5462070" cy="567431"/>
            <a:chOff x="-1" y="0"/>
            <a:chExt cx="5462068" cy="567429"/>
          </a:xfrm>
        </p:grpSpPr>
        <p:sp>
          <p:nvSpPr>
            <p:cNvPr id="63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3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40" name="9551582601837_.pic_hd.jpg" descr="9551582601837_.pic_hd.jpg"/>
          <p:cNvPicPr>
            <a:picLocks noChangeAspect="1"/>
          </p:cNvPicPr>
          <p:nvPr/>
        </p:nvPicPr>
        <p:blipFill>
          <a:blip r:embed="rId2"/>
          <a:stretch>
            <a:fillRect/>
          </a:stretch>
        </p:blipFill>
        <p:spPr>
          <a:xfrm>
            <a:off x="3248" y="0"/>
            <a:ext cx="6539946" cy="9753601"/>
          </a:xfrm>
          <a:prstGeom prst="rect">
            <a:avLst/>
          </a:prstGeom>
          <a:ln w="12700">
            <a:miter lim="400000"/>
            <a:headEnd/>
            <a:tailEnd/>
          </a:ln>
        </p:spPr>
      </p:pic>
      <p:pic>
        <p:nvPicPr>
          <p:cNvPr id="641" name="9501582601832_.pic_hd.jpg" descr="9501582601832_.pic_hd.jpg"/>
          <p:cNvPicPr>
            <a:picLocks noChangeAspect="1"/>
          </p:cNvPicPr>
          <p:nvPr/>
        </p:nvPicPr>
        <p:blipFill>
          <a:blip r:embed="rId3"/>
          <a:stretch>
            <a:fillRect/>
          </a:stretch>
        </p:blipFill>
        <p:spPr>
          <a:xfrm>
            <a:off x="6599459" y="-3"/>
            <a:ext cx="6399701" cy="9753604"/>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光圈"/>
          <p:cNvSpPr txBox="1"/>
          <p:nvPr/>
        </p:nvSpPr>
        <p:spPr>
          <a:xfrm>
            <a:off x="6259436" y="8193637"/>
            <a:ext cx="8261272" cy="1011931"/>
          </a:xfrm>
          <a:prstGeom prst="rect">
            <a:avLst/>
          </a:prstGeom>
          <a:ln w="12700">
            <a:miter lim="400000"/>
          </a:ln>
        </p:spPr>
        <p:txBody>
          <a:bodyPr lIns="48765" tIns="48765" rIns="48765" bIns="48765">
            <a:spAutoFit/>
          </a:bodyPr>
          <a:lstStyle/>
          <a:p>
            <a: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pPr>
            <a:r>
              <a:t>《寄生虫》</a:t>
            </a:r>
          </a:p>
          <a:p>
            <a:pPr algn="ctr">
              <a:defRPr sz="1100">
                <a:latin typeface="微软雅黑" panose="020B0503020204020204" charset="-122"/>
                <a:ea typeface="微软雅黑" panose="020B0503020204020204" charset="-122"/>
                <a:cs typeface="微软雅黑" panose="020B0503020204020204" charset="-122"/>
                <a:sym typeface="微软雅黑" panose="020B0503020204020204" charset="-122"/>
              </a:defRPr>
            </a:pPr>
            <a:r>
              <a:t>导演：奉俊昊</a:t>
            </a:r>
          </a:p>
          <a:p>
            <a:pPr algn="ctr">
              <a:defRPr sz="1100">
                <a:latin typeface="微软雅黑" panose="020B0503020204020204" charset="-122"/>
                <a:ea typeface="微软雅黑" panose="020B0503020204020204" charset="-122"/>
                <a:cs typeface="微软雅黑" panose="020B0503020204020204" charset="-122"/>
                <a:sym typeface="微软雅黑" panose="020B0503020204020204" charset="-122"/>
              </a:defRPr>
            </a:pPr>
            <a:r>
              <a:t>韩国出品</a:t>
            </a:r>
          </a:p>
        </p:txBody>
      </p:sp>
      <p:grpSp>
        <p:nvGrpSpPr>
          <p:cNvPr id="647" name="成组"/>
          <p:cNvGrpSpPr/>
          <p:nvPr/>
        </p:nvGrpSpPr>
        <p:grpSpPr>
          <a:xfrm>
            <a:off x="11664003" y="9087534"/>
            <a:ext cx="1214954" cy="757973"/>
            <a:chOff x="-1" y="0"/>
            <a:chExt cx="1214953" cy="757971"/>
          </a:xfrm>
        </p:grpSpPr>
        <p:sp>
          <p:nvSpPr>
            <p:cNvPr id="64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4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4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50" name="成组"/>
          <p:cNvGrpSpPr/>
          <p:nvPr/>
        </p:nvGrpSpPr>
        <p:grpSpPr>
          <a:xfrm>
            <a:off x="139673" y="752796"/>
            <a:ext cx="5462068" cy="567431"/>
            <a:chOff x="-1" y="0"/>
            <a:chExt cx="5462066" cy="567429"/>
          </a:xfrm>
        </p:grpSpPr>
        <p:sp>
          <p:nvSpPr>
            <p:cNvPr id="648"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49"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51" name="9561582601838_.pic_hd.jpg" descr="9561582601838_.pic_hd.jpg"/>
          <p:cNvPicPr>
            <a:picLocks noChangeAspect="1"/>
          </p:cNvPicPr>
          <p:nvPr/>
        </p:nvPicPr>
        <p:blipFill>
          <a:blip r:embed="rId2"/>
          <a:stretch>
            <a:fillRect/>
          </a:stretch>
        </p:blipFill>
        <p:spPr>
          <a:xfrm>
            <a:off x="2711828" y="0"/>
            <a:ext cx="6583682" cy="9753601"/>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47"/>
                                        </p:tgtEl>
                                        <p:attrNameLst>
                                          <p:attrName>style.visibility</p:attrName>
                                        </p:attrNameLst>
                                      </p:cBhvr>
                                      <p:to>
                                        <p:strVal val="visible"/>
                                      </p:to>
                                    </p:set>
                                    <p:anim calcmode="lin" valueType="num">
                                      <p:cBhvr>
                                        <p:cTn id="7" dur="750" fill="hold"/>
                                        <p:tgtEl>
                                          <p:spTgt spid="647"/>
                                        </p:tgtEl>
                                        <p:attrNameLst>
                                          <p:attrName>ppt_x</p:attrName>
                                        </p:attrNameLst>
                                      </p:cBhvr>
                                      <p:tavLst>
                                        <p:tav tm="0">
                                          <p:val>
                                            <p:strVal val="1+#ppt_w/2"/>
                                          </p:val>
                                        </p:tav>
                                        <p:tav tm="100000">
                                          <p:val>
                                            <p:strVal val="#ppt_x"/>
                                          </p:val>
                                        </p:tav>
                                      </p:tavLst>
                                    </p:anim>
                                    <p:anim calcmode="lin" valueType="num">
                                      <p:cBhvr>
                                        <p:cTn id="8" dur="750" fill="hold"/>
                                        <p:tgtEl>
                                          <p:spTgt spid="64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2" fill="hold" grpId="2" nodeType="afterEffect">
                                  <p:stCondLst>
                                    <p:cond delay="0"/>
                                  </p:stCondLst>
                                  <p:childTnLst>
                                    <p:set>
                                      <p:cBhvr>
                                        <p:cTn id="11" dur="indefinite" fill="hold"/>
                                        <p:tgtEl>
                                          <p:spTgt spid="643"/>
                                        </p:tgtEl>
                                        <p:attrNameLst>
                                          <p:attrName>style.visibility</p:attrName>
                                        </p:attrNameLst>
                                      </p:cBhvr>
                                      <p:to>
                                        <p:strVal val="visible"/>
                                      </p:to>
                                    </p:set>
                                    <p:animEffect transition="in" filter="wipe(right)">
                                      <p:cBhvr>
                                        <p:cTn id="12" dur="10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 grpId="2" animBg="1" advAuto="0"/>
      <p:bldP spid="647" grpId="1" animBg="1" advAuto="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6" name="成组"/>
          <p:cNvGrpSpPr/>
          <p:nvPr/>
        </p:nvGrpSpPr>
        <p:grpSpPr>
          <a:xfrm>
            <a:off x="11101925" y="8248376"/>
            <a:ext cx="1214954" cy="757973"/>
            <a:chOff x="-1" y="0"/>
            <a:chExt cx="1214953" cy="757971"/>
          </a:xfrm>
        </p:grpSpPr>
        <p:sp>
          <p:nvSpPr>
            <p:cNvPr id="653"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54"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55"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59" name="成组"/>
          <p:cNvGrpSpPr/>
          <p:nvPr/>
        </p:nvGrpSpPr>
        <p:grpSpPr>
          <a:xfrm>
            <a:off x="139669" y="752796"/>
            <a:ext cx="5462070" cy="567431"/>
            <a:chOff x="-1" y="0"/>
            <a:chExt cx="5462068" cy="567429"/>
          </a:xfrm>
        </p:grpSpPr>
        <p:sp>
          <p:nvSpPr>
            <p:cNvPr id="657" name="矩形"/>
            <p:cNvSpPr/>
            <p:nvPr/>
          </p:nvSpPr>
          <p:spPr>
            <a:xfrm>
              <a:off x="-2" y="16375"/>
              <a:ext cx="1048170"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58" name="影像的分享…"/>
            <p:cNvSpPr txBox="1"/>
            <p:nvPr/>
          </p:nvSpPr>
          <p:spPr>
            <a:xfrm>
              <a:off x="1048156" y="0"/>
              <a:ext cx="4413912"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sp>
        <p:nvSpPr>
          <p:cNvPr id="660" name="DAU不是一部影像，而是一场视觉呈现，取材自上述那个“前苏联社会”复制品历时三年的资料记录。…"/>
          <p:cNvSpPr txBox="1"/>
          <p:nvPr/>
        </p:nvSpPr>
        <p:spPr>
          <a:xfrm>
            <a:off x="1907992" y="3475971"/>
            <a:ext cx="4340570" cy="973831"/>
          </a:xfrm>
          <a:prstGeom prst="rect">
            <a:avLst/>
          </a:prstGeom>
          <a:ln w="12700">
            <a:miter lim="400000"/>
          </a:ln>
        </p:spPr>
        <p:txBody>
          <a:bodyPr lIns="48765" tIns="48765" rIns="48765" bIns="48765">
            <a:spAutoFit/>
          </a:bodyPr>
          <a:lstStyle>
            <a:lvl1pPr>
              <a:defRPr sz="4900">
                <a:solidFill>
                  <a:srgbClr val="FF2600"/>
                </a:solidFill>
              </a:defRPr>
            </a:lvl1pPr>
          </a:lstStyle>
          <a:p>
            <a:r>
              <a:t>《 小 丑 》</a:t>
            </a:r>
          </a:p>
        </p:txBody>
      </p:sp>
      <p:pic>
        <p:nvPicPr>
          <p:cNvPr id="661" name="bd315c6034a85edfa4a4ae1146540923dd5475d3.jpeg" descr="bd315c6034a85edfa4a4ae1146540923dd5475d3.jpeg"/>
          <p:cNvPicPr>
            <a:picLocks noChangeAspect="1"/>
          </p:cNvPicPr>
          <p:nvPr/>
        </p:nvPicPr>
        <p:blipFill>
          <a:blip r:embed="rId2"/>
          <a:stretch>
            <a:fillRect/>
          </a:stretch>
        </p:blipFill>
        <p:spPr>
          <a:xfrm>
            <a:off x="5926028" y="1549193"/>
            <a:ext cx="5039583" cy="7465350"/>
          </a:xfrm>
          <a:prstGeom prst="rect">
            <a:avLst/>
          </a:prstGeom>
          <a:ln w="12700">
            <a:miter lim="400000"/>
            <a:headEnd/>
            <a:tailEnd/>
          </a:ln>
        </p:spPr>
      </p:pic>
      <p:sp>
        <p:nvSpPr>
          <p:cNvPr id="662" name="2019年…"/>
          <p:cNvSpPr txBox="1"/>
          <p:nvPr/>
        </p:nvSpPr>
        <p:spPr>
          <a:xfrm>
            <a:off x="2561281" y="4706377"/>
            <a:ext cx="2442677" cy="1150980"/>
          </a:xfrm>
          <a:prstGeom prst="rect">
            <a:avLst/>
          </a:prstGeom>
          <a:ln w="12700">
            <a:miter lim="400000"/>
          </a:ln>
        </p:spPr>
        <p:txBody>
          <a:bodyPr wrap="none" lIns="48765" tIns="48765" rIns="48765" bIns="48765">
            <a:spAutoFit/>
          </a:bodyPr>
          <a:lstStyle/>
          <a:p>
            <a:pPr defTabSz="457200">
              <a:defRPr sz="2900">
                <a:solidFill>
                  <a:srgbClr val="333333"/>
                </a:solidFill>
                <a:latin typeface="Arial" panose="020B0604020202020204"/>
                <a:ea typeface="Arial" panose="020B0604020202020204"/>
                <a:cs typeface="Arial" panose="020B0604020202020204"/>
                <a:sym typeface="Arial" panose="020B0604020202020204"/>
              </a:defRPr>
            </a:pPr>
            <a:r>
              <a:t>2019年 </a:t>
            </a:r>
          </a:p>
          <a:p>
            <a:pPr defTabSz="457200">
              <a:defRPr sz="2900">
                <a:solidFill>
                  <a:srgbClr val="333333"/>
                </a:solidFill>
                <a:latin typeface="Arial" panose="020B0604020202020204"/>
                <a:ea typeface="Arial" panose="020B0604020202020204"/>
                <a:cs typeface="Arial" panose="020B0604020202020204"/>
                <a:sym typeface="Arial" panose="020B0604020202020204"/>
              </a:defRPr>
            </a:pPr>
            <a:r>
              <a:t>托德·菲利普斯</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56"/>
                                        </p:tgtEl>
                                        <p:attrNameLst>
                                          <p:attrName>style.visibility</p:attrName>
                                        </p:attrNameLst>
                                      </p:cBhvr>
                                      <p:to>
                                        <p:strVal val="visible"/>
                                      </p:to>
                                    </p:set>
                                    <p:anim calcmode="lin" valueType="num">
                                      <p:cBhvr>
                                        <p:cTn id="7" dur="750" fill="hold"/>
                                        <p:tgtEl>
                                          <p:spTgt spid="656"/>
                                        </p:tgtEl>
                                        <p:attrNameLst>
                                          <p:attrName>ppt_x</p:attrName>
                                        </p:attrNameLst>
                                      </p:cBhvr>
                                      <p:tavLst>
                                        <p:tav tm="0">
                                          <p:val>
                                            <p:strVal val="1+#ppt_w/2"/>
                                          </p:val>
                                        </p:tav>
                                        <p:tav tm="100000">
                                          <p:val>
                                            <p:strVal val="#ppt_x"/>
                                          </p:val>
                                        </p:tav>
                                      </p:tavLst>
                                    </p:anim>
                                    <p:anim calcmode="lin" valueType="num">
                                      <p:cBhvr>
                                        <p:cTn id="8" dur="750" fill="hold"/>
                                        <p:tgtEl>
                                          <p:spTgt spid="6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 grpId="1" animBg="1" advAuto="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7" name="成组"/>
          <p:cNvGrpSpPr/>
          <p:nvPr/>
        </p:nvGrpSpPr>
        <p:grpSpPr>
          <a:xfrm>
            <a:off x="11664003" y="9087534"/>
            <a:ext cx="1214954" cy="757973"/>
            <a:chOff x="-1" y="0"/>
            <a:chExt cx="1214953" cy="757971"/>
          </a:xfrm>
        </p:grpSpPr>
        <p:sp>
          <p:nvSpPr>
            <p:cNvPr id="66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6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6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70" name="成组"/>
          <p:cNvGrpSpPr/>
          <p:nvPr/>
        </p:nvGrpSpPr>
        <p:grpSpPr>
          <a:xfrm>
            <a:off x="139673" y="752796"/>
            <a:ext cx="5462068" cy="567431"/>
            <a:chOff x="-1" y="0"/>
            <a:chExt cx="5462066" cy="567429"/>
          </a:xfrm>
        </p:grpSpPr>
        <p:sp>
          <p:nvSpPr>
            <p:cNvPr id="668"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69"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71" name="10191585817700_.pic_hd.jpg" descr="10191585817700_.pic_hd.jpg"/>
          <p:cNvPicPr>
            <a:picLocks noChangeAspect="1"/>
          </p:cNvPicPr>
          <p:nvPr/>
        </p:nvPicPr>
        <p:blipFill>
          <a:blip r:embed="rId2"/>
          <a:stretch>
            <a:fillRect/>
          </a:stretch>
        </p:blipFill>
        <p:spPr>
          <a:xfrm>
            <a:off x="-2" y="1995797"/>
            <a:ext cx="13004803" cy="6270173"/>
          </a:xfrm>
          <a:prstGeom prst="rect">
            <a:avLst/>
          </a:prstGeom>
          <a:ln w="12700">
            <a:miter lim="400000"/>
            <a:headEnd/>
            <a:tailEnd/>
          </a:ln>
        </p:spPr>
      </p:pic>
      <p:pic>
        <p:nvPicPr>
          <p:cNvPr id="672" name="10191585817700_.pic_hd.jpg" descr="10191585817700_.pic_hd.jpg"/>
          <p:cNvPicPr>
            <a:picLocks noChangeAspect="1"/>
          </p:cNvPicPr>
          <p:nvPr/>
        </p:nvPicPr>
        <p:blipFill>
          <a:blip r:embed="rId2"/>
          <a:stretch>
            <a:fillRect/>
          </a:stretch>
        </p:blipFill>
        <p:spPr>
          <a:xfrm>
            <a:off x="126998" y="2122796"/>
            <a:ext cx="13004803" cy="6270175"/>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67"/>
                                        </p:tgtEl>
                                        <p:attrNameLst>
                                          <p:attrName>style.visibility</p:attrName>
                                        </p:attrNameLst>
                                      </p:cBhvr>
                                      <p:to>
                                        <p:strVal val="visible"/>
                                      </p:to>
                                    </p:set>
                                    <p:anim calcmode="lin" valueType="num">
                                      <p:cBhvr>
                                        <p:cTn id="7" dur="750" fill="hold"/>
                                        <p:tgtEl>
                                          <p:spTgt spid="667"/>
                                        </p:tgtEl>
                                        <p:attrNameLst>
                                          <p:attrName>ppt_x</p:attrName>
                                        </p:attrNameLst>
                                      </p:cBhvr>
                                      <p:tavLst>
                                        <p:tav tm="0">
                                          <p:val>
                                            <p:strVal val="1+#ppt_w/2"/>
                                          </p:val>
                                        </p:tav>
                                        <p:tav tm="100000">
                                          <p:val>
                                            <p:strVal val="#ppt_x"/>
                                          </p:val>
                                        </p:tav>
                                      </p:tavLst>
                                    </p:anim>
                                    <p:anim calcmode="lin" valueType="num">
                                      <p:cBhvr>
                                        <p:cTn id="8" dur="750" fill="hold"/>
                                        <p:tgtEl>
                                          <p:spTgt spid="6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 grpId="1" animBg="1" advAuto="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7" name="成组"/>
          <p:cNvGrpSpPr/>
          <p:nvPr/>
        </p:nvGrpSpPr>
        <p:grpSpPr>
          <a:xfrm>
            <a:off x="11664003" y="9087534"/>
            <a:ext cx="1214954" cy="757973"/>
            <a:chOff x="-1" y="0"/>
            <a:chExt cx="1214953" cy="757971"/>
          </a:xfrm>
        </p:grpSpPr>
        <p:sp>
          <p:nvSpPr>
            <p:cNvPr id="67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7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7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80" name="成组"/>
          <p:cNvGrpSpPr/>
          <p:nvPr/>
        </p:nvGrpSpPr>
        <p:grpSpPr>
          <a:xfrm>
            <a:off x="139673" y="752796"/>
            <a:ext cx="5462068" cy="567431"/>
            <a:chOff x="-1" y="0"/>
            <a:chExt cx="5462066" cy="567429"/>
          </a:xfrm>
        </p:grpSpPr>
        <p:sp>
          <p:nvSpPr>
            <p:cNvPr id="678"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79"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81" name="10201585817701_.pic_hd.jpg" descr="10201585817701_.pic_hd.jpg"/>
          <p:cNvPicPr>
            <a:picLocks noChangeAspect="1"/>
          </p:cNvPicPr>
          <p:nvPr/>
        </p:nvPicPr>
        <p:blipFill>
          <a:blip r:embed="rId2"/>
          <a:stretch>
            <a:fillRect/>
          </a:stretch>
        </p:blipFill>
        <p:spPr>
          <a:xfrm>
            <a:off x="0" y="2258878"/>
            <a:ext cx="13004802" cy="6270172"/>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77"/>
                                        </p:tgtEl>
                                        <p:attrNameLst>
                                          <p:attrName>style.visibility</p:attrName>
                                        </p:attrNameLst>
                                      </p:cBhvr>
                                      <p:to>
                                        <p:strVal val="visible"/>
                                      </p:to>
                                    </p:set>
                                    <p:anim calcmode="lin" valueType="num">
                                      <p:cBhvr>
                                        <p:cTn id="7" dur="750" fill="hold"/>
                                        <p:tgtEl>
                                          <p:spTgt spid="677"/>
                                        </p:tgtEl>
                                        <p:attrNameLst>
                                          <p:attrName>ppt_x</p:attrName>
                                        </p:attrNameLst>
                                      </p:cBhvr>
                                      <p:tavLst>
                                        <p:tav tm="0">
                                          <p:val>
                                            <p:strVal val="1+#ppt_w/2"/>
                                          </p:val>
                                        </p:tav>
                                        <p:tav tm="100000">
                                          <p:val>
                                            <p:strVal val="#ppt_x"/>
                                          </p:val>
                                        </p:tav>
                                      </p:tavLst>
                                    </p:anim>
                                    <p:anim calcmode="lin" valueType="num">
                                      <p:cBhvr>
                                        <p:cTn id="8" dur="750" fill="hold"/>
                                        <p:tgtEl>
                                          <p:spTgt spid="6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 grpId="1" animBg="1" advAuto="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 name="成组"/>
          <p:cNvGrpSpPr/>
          <p:nvPr/>
        </p:nvGrpSpPr>
        <p:grpSpPr>
          <a:xfrm>
            <a:off x="11664003" y="9087534"/>
            <a:ext cx="1214954" cy="757973"/>
            <a:chOff x="-1" y="0"/>
            <a:chExt cx="1214953" cy="757971"/>
          </a:xfrm>
        </p:grpSpPr>
        <p:sp>
          <p:nvSpPr>
            <p:cNvPr id="683"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84"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85"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89" name="成组"/>
          <p:cNvGrpSpPr/>
          <p:nvPr/>
        </p:nvGrpSpPr>
        <p:grpSpPr>
          <a:xfrm>
            <a:off x="139673" y="752796"/>
            <a:ext cx="5462068" cy="567431"/>
            <a:chOff x="-1" y="0"/>
            <a:chExt cx="5462066" cy="567429"/>
          </a:xfrm>
        </p:grpSpPr>
        <p:sp>
          <p:nvSpPr>
            <p:cNvPr id="687"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88"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90" name="10241585817705_.pic_hd.jpg" descr="10241585817705_.pic_hd.jpg"/>
          <p:cNvPicPr>
            <a:picLocks noChangeAspect="1"/>
          </p:cNvPicPr>
          <p:nvPr/>
        </p:nvPicPr>
        <p:blipFill>
          <a:blip r:embed="rId2"/>
          <a:stretch>
            <a:fillRect/>
          </a:stretch>
        </p:blipFill>
        <p:spPr>
          <a:xfrm>
            <a:off x="-603926" y="2199930"/>
            <a:ext cx="13004802" cy="6270174"/>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86"/>
                                        </p:tgtEl>
                                        <p:attrNameLst>
                                          <p:attrName>style.visibility</p:attrName>
                                        </p:attrNameLst>
                                      </p:cBhvr>
                                      <p:to>
                                        <p:strVal val="visible"/>
                                      </p:to>
                                    </p:set>
                                    <p:anim calcmode="lin" valueType="num">
                                      <p:cBhvr>
                                        <p:cTn id="7" dur="750" fill="hold"/>
                                        <p:tgtEl>
                                          <p:spTgt spid="686"/>
                                        </p:tgtEl>
                                        <p:attrNameLst>
                                          <p:attrName>ppt_x</p:attrName>
                                        </p:attrNameLst>
                                      </p:cBhvr>
                                      <p:tavLst>
                                        <p:tav tm="0">
                                          <p:val>
                                            <p:strVal val="1+#ppt_w/2"/>
                                          </p:val>
                                        </p:tav>
                                        <p:tav tm="100000">
                                          <p:val>
                                            <p:strVal val="#ppt_x"/>
                                          </p:val>
                                        </p:tav>
                                      </p:tavLst>
                                    </p:anim>
                                    <p:anim calcmode="lin" valueType="num">
                                      <p:cBhvr>
                                        <p:cTn id="8" dur="750" fill="hold"/>
                                        <p:tgtEl>
                                          <p:spTgt spid="6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 grpId="1" animBg="1" advAuto="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5" name="成组"/>
          <p:cNvGrpSpPr/>
          <p:nvPr/>
        </p:nvGrpSpPr>
        <p:grpSpPr>
          <a:xfrm>
            <a:off x="11664003" y="9087534"/>
            <a:ext cx="1214954" cy="757973"/>
            <a:chOff x="-1" y="0"/>
            <a:chExt cx="1214953" cy="757971"/>
          </a:xfrm>
        </p:grpSpPr>
        <p:sp>
          <p:nvSpPr>
            <p:cNvPr id="692"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93"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694"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698" name="成组"/>
          <p:cNvGrpSpPr/>
          <p:nvPr/>
        </p:nvGrpSpPr>
        <p:grpSpPr>
          <a:xfrm>
            <a:off x="139673" y="752796"/>
            <a:ext cx="5462068" cy="567431"/>
            <a:chOff x="-1" y="0"/>
            <a:chExt cx="5462066" cy="567429"/>
          </a:xfrm>
        </p:grpSpPr>
        <p:sp>
          <p:nvSpPr>
            <p:cNvPr id="696"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697"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699" name="10231585817704_.pic_hd.jpg" descr="10231585817704_.pic_hd.jpg"/>
          <p:cNvPicPr>
            <a:picLocks noChangeAspect="1"/>
          </p:cNvPicPr>
          <p:nvPr/>
        </p:nvPicPr>
        <p:blipFill>
          <a:blip r:embed="rId2"/>
          <a:stretch>
            <a:fillRect/>
          </a:stretch>
        </p:blipFill>
        <p:spPr>
          <a:xfrm>
            <a:off x="-770944" y="2426531"/>
            <a:ext cx="13004802" cy="6270175"/>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695"/>
                                        </p:tgtEl>
                                        <p:attrNameLst>
                                          <p:attrName>style.visibility</p:attrName>
                                        </p:attrNameLst>
                                      </p:cBhvr>
                                      <p:to>
                                        <p:strVal val="visible"/>
                                      </p:to>
                                    </p:set>
                                    <p:anim calcmode="lin" valueType="num">
                                      <p:cBhvr>
                                        <p:cTn id="7" dur="750" fill="hold"/>
                                        <p:tgtEl>
                                          <p:spTgt spid="695"/>
                                        </p:tgtEl>
                                        <p:attrNameLst>
                                          <p:attrName>ppt_x</p:attrName>
                                        </p:attrNameLst>
                                      </p:cBhvr>
                                      <p:tavLst>
                                        <p:tav tm="0">
                                          <p:val>
                                            <p:strVal val="1+#ppt_w/2"/>
                                          </p:val>
                                        </p:tav>
                                        <p:tav tm="100000">
                                          <p:val>
                                            <p:strVal val="#ppt_x"/>
                                          </p:val>
                                        </p:tav>
                                      </p:tavLst>
                                    </p:anim>
                                    <p:anim calcmode="lin" valueType="num">
                                      <p:cBhvr>
                                        <p:cTn id="8" dur="750" fill="hold"/>
                                        <p:tgtEl>
                                          <p:spTgt spid="6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 grpId="1" animBg="1" advAuto="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 name="成组"/>
          <p:cNvGrpSpPr/>
          <p:nvPr/>
        </p:nvGrpSpPr>
        <p:grpSpPr>
          <a:xfrm>
            <a:off x="11664003" y="9087534"/>
            <a:ext cx="1214954" cy="757973"/>
            <a:chOff x="-1" y="0"/>
            <a:chExt cx="1214953" cy="757971"/>
          </a:xfrm>
        </p:grpSpPr>
        <p:sp>
          <p:nvSpPr>
            <p:cNvPr id="701"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702"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703"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707" name="成组"/>
          <p:cNvGrpSpPr/>
          <p:nvPr/>
        </p:nvGrpSpPr>
        <p:grpSpPr>
          <a:xfrm>
            <a:off x="139673" y="752796"/>
            <a:ext cx="5462068" cy="567431"/>
            <a:chOff x="-1" y="0"/>
            <a:chExt cx="5462066" cy="567429"/>
          </a:xfrm>
        </p:grpSpPr>
        <p:sp>
          <p:nvSpPr>
            <p:cNvPr id="705"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706"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708" name="10211585817702_.pic_hd.jpg" descr="10211585817702_.pic_hd.jpg"/>
          <p:cNvPicPr>
            <a:picLocks noChangeAspect="1"/>
          </p:cNvPicPr>
          <p:nvPr/>
        </p:nvPicPr>
        <p:blipFill>
          <a:blip r:embed="rId2"/>
          <a:stretch>
            <a:fillRect/>
          </a:stretch>
        </p:blipFill>
        <p:spPr>
          <a:xfrm>
            <a:off x="-320924" y="2059020"/>
            <a:ext cx="13004802" cy="6270174"/>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704"/>
                                        </p:tgtEl>
                                        <p:attrNameLst>
                                          <p:attrName>style.visibility</p:attrName>
                                        </p:attrNameLst>
                                      </p:cBhvr>
                                      <p:to>
                                        <p:strVal val="visible"/>
                                      </p:to>
                                    </p:set>
                                    <p:anim calcmode="lin" valueType="num">
                                      <p:cBhvr>
                                        <p:cTn id="7" dur="750" fill="hold"/>
                                        <p:tgtEl>
                                          <p:spTgt spid="704"/>
                                        </p:tgtEl>
                                        <p:attrNameLst>
                                          <p:attrName>ppt_x</p:attrName>
                                        </p:attrNameLst>
                                      </p:cBhvr>
                                      <p:tavLst>
                                        <p:tav tm="0">
                                          <p:val>
                                            <p:strVal val="1+#ppt_w/2"/>
                                          </p:val>
                                        </p:tav>
                                        <p:tav tm="100000">
                                          <p:val>
                                            <p:strVal val="#ppt_x"/>
                                          </p:val>
                                        </p:tav>
                                      </p:tavLst>
                                    </p:anim>
                                    <p:anim calcmode="lin" valueType="num">
                                      <p:cBhvr>
                                        <p:cTn id="8" dur="750" fill="hold"/>
                                        <p:tgtEl>
                                          <p:spTgt spid="7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 grpId="1" animBg="1" advAuto="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3" name="成组"/>
          <p:cNvGrpSpPr/>
          <p:nvPr/>
        </p:nvGrpSpPr>
        <p:grpSpPr>
          <a:xfrm>
            <a:off x="11664003" y="9087534"/>
            <a:ext cx="1214954" cy="757973"/>
            <a:chOff x="-1" y="0"/>
            <a:chExt cx="1214953" cy="757971"/>
          </a:xfrm>
        </p:grpSpPr>
        <p:sp>
          <p:nvSpPr>
            <p:cNvPr id="710"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711"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712"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716" name="成组"/>
          <p:cNvGrpSpPr/>
          <p:nvPr/>
        </p:nvGrpSpPr>
        <p:grpSpPr>
          <a:xfrm>
            <a:off x="139673" y="752796"/>
            <a:ext cx="5462068" cy="567431"/>
            <a:chOff x="-1" y="0"/>
            <a:chExt cx="5462066" cy="567429"/>
          </a:xfrm>
        </p:grpSpPr>
        <p:sp>
          <p:nvSpPr>
            <p:cNvPr id="714"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715"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717" name="10221585817703_.pic_hd.jpg" descr="10221585817703_.pic_hd.jpg"/>
          <p:cNvPicPr>
            <a:picLocks noChangeAspect="1"/>
          </p:cNvPicPr>
          <p:nvPr/>
        </p:nvPicPr>
        <p:blipFill>
          <a:blip r:embed="rId2"/>
          <a:stretch>
            <a:fillRect/>
          </a:stretch>
        </p:blipFill>
        <p:spPr>
          <a:xfrm>
            <a:off x="-445188" y="2021167"/>
            <a:ext cx="13004803" cy="6270174"/>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713"/>
                                        </p:tgtEl>
                                        <p:attrNameLst>
                                          <p:attrName>style.visibility</p:attrName>
                                        </p:attrNameLst>
                                      </p:cBhvr>
                                      <p:to>
                                        <p:strVal val="visible"/>
                                      </p:to>
                                    </p:set>
                                    <p:anim calcmode="lin" valueType="num">
                                      <p:cBhvr>
                                        <p:cTn id="7" dur="750" fill="hold"/>
                                        <p:tgtEl>
                                          <p:spTgt spid="713"/>
                                        </p:tgtEl>
                                        <p:attrNameLst>
                                          <p:attrName>ppt_x</p:attrName>
                                        </p:attrNameLst>
                                      </p:cBhvr>
                                      <p:tavLst>
                                        <p:tav tm="0">
                                          <p:val>
                                            <p:strVal val="1+#ppt_w/2"/>
                                          </p:val>
                                        </p:tav>
                                        <p:tav tm="100000">
                                          <p:val>
                                            <p:strVal val="#ppt_x"/>
                                          </p:val>
                                        </p:tav>
                                      </p:tavLst>
                                    </p:anim>
                                    <p:anim calcmode="lin" valueType="num">
                                      <p:cBhvr>
                                        <p:cTn id="8" dur="750" fill="hold"/>
                                        <p:tgtEl>
                                          <p:spTgt spid="7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 grpId="1" animBg="1" advAuto="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2" name="成组"/>
          <p:cNvGrpSpPr/>
          <p:nvPr/>
        </p:nvGrpSpPr>
        <p:grpSpPr>
          <a:xfrm>
            <a:off x="11664003" y="9087534"/>
            <a:ext cx="1214954" cy="757973"/>
            <a:chOff x="-1" y="0"/>
            <a:chExt cx="1214953" cy="757971"/>
          </a:xfrm>
        </p:grpSpPr>
        <p:sp>
          <p:nvSpPr>
            <p:cNvPr id="719"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720"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721"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725" name="成组"/>
          <p:cNvGrpSpPr/>
          <p:nvPr/>
        </p:nvGrpSpPr>
        <p:grpSpPr>
          <a:xfrm>
            <a:off x="139673" y="752796"/>
            <a:ext cx="5462068" cy="567431"/>
            <a:chOff x="-1" y="0"/>
            <a:chExt cx="5462066" cy="567429"/>
          </a:xfrm>
        </p:grpSpPr>
        <p:sp>
          <p:nvSpPr>
            <p:cNvPr id="723"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724"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726" name="10171585817698_.pic_hd.jpg" descr="10171585817698_.pic_hd.jpg"/>
          <p:cNvPicPr>
            <a:picLocks noChangeAspect="1"/>
          </p:cNvPicPr>
          <p:nvPr/>
        </p:nvPicPr>
        <p:blipFill>
          <a:blip r:embed="rId2"/>
          <a:stretch>
            <a:fillRect/>
          </a:stretch>
        </p:blipFill>
        <p:spPr>
          <a:xfrm>
            <a:off x="1874046" y="1390028"/>
            <a:ext cx="9745776" cy="8340285"/>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722"/>
                                        </p:tgtEl>
                                        <p:attrNameLst>
                                          <p:attrName>style.visibility</p:attrName>
                                        </p:attrNameLst>
                                      </p:cBhvr>
                                      <p:to>
                                        <p:strVal val="visible"/>
                                      </p:to>
                                    </p:set>
                                    <p:anim calcmode="lin" valueType="num">
                                      <p:cBhvr>
                                        <p:cTn id="7" dur="750" fill="hold"/>
                                        <p:tgtEl>
                                          <p:spTgt spid="722"/>
                                        </p:tgtEl>
                                        <p:attrNameLst>
                                          <p:attrName>ppt_x</p:attrName>
                                        </p:attrNameLst>
                                      </p:cBhvr>
                                      <p:tavLst>
                                        <p:tav tm="0">
                                          <p:val>
                                            <p:strVal val="1+#ppt_w/2"/>
                                          </p:val>
                                        </p:tav>
                                        <p:tav tm="100000">
                                          <p:val>
                                            <p:strVal val="#ppt_x"/>
                                          </p:val>
                                        </p:tav>
                                      </p:tavLst>
                                    </p:anim>
                                    <p:anim calcmode="lin" valueType="num">
                                      <p:cBhvr>
                                        <p:cTn id="8" dur="750" fill="hold"/>
                                        <p:tgtEl>
                                          <p:spTgt spid="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 grpId="1" animBg="1" advAuto="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1" name="成组"/>
          <p:cNvGrpSpPr/>
          <p:nvPr/>
        </p:nvGrpSpPr>
        <p:grpSpPr>
          <a:xfrm>
            <a:off x="11664003" y="9087534"/>
            <a:ext cx="1214954" cy="757973"/>
            <a:chOff x="-1" y="0"/>
            <a:chExt cx="1214953" cy="757971"/>
          </a:xfrm>
        </p:grpSpPr>
        <p:sp>
          <p:nvSpPr>
            <p:cNvPr id="728"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729"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730"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grpSp>
        <p:nvGrpSpPr>
          <p:cNvPr id="734" name="成组"/>
          <p:cNvGrpSpPr/>
          <p:nvPr/>
        </p:nvGrpSpPr>
        <p:grpSpPr>
          <a:xfrm>
            <a:off x="139673" y="752796"/>
            <a:ext cx="5462068" cy="567431"/>
            <a:chOff x="-1" y="0"/>
            <a:chExt cx="5462066" cy="567429"/>
          </a:xfrm>
        </p:grpSpPr>
        <p:sp>
          <p:nvSpPr>
            <p:cNvPr id="732" name="矩形"/>
            <p:cNvSpPr/>
            <p:nvPr/>
          </p:nvSpPr>
          <p:spPr>
            <a:xfrm>
              <a:off x="-2" y="16375"/>
              <a:ext cx="1048172" cy="497444"/>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endParaRPr/>
            </a:p>
          </p:txBody>
        </p:sp>
        <p:sp>
          <p:nvSpPr>
            <p:cNvPr id="733" name="影像的分享…"/>
            <p:cNvSpPr txBox="1"/>
            <p:nvPr/>
          </p:nvSpPr>
          <p:spPr>
            <a:xfrm>
              <a:off x="1048156" y="0"/>
              <a:ext cx="4413910" cy="567431"/>
            </a:xfrm>
            <a:prstGeom prst="rect">
              <a:avLst/>
            </a:prstGeom>
            <a:noFill/>
            <a:ln w="12700" cap="flat">
              <a:noFill/>
              <a:miter lim="400000"/>
            </a:ln>
            <a:effectLst/>
          </p:spPr>
          <p:txBody>
            <a:bodyPr wrap="square" lIns="48765" tIns="48765" rIns="48765" bIns="48765" numCol="1" anchor="t">
              <a:spAutoFit/>
            </a:bodyPr>
            <a:lstStyle/>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  视    鉴   赏</a:t>
              </a:r>
            </a:p>
            <a:p>
              <a:pPr>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pic>
        <p:nvPicPr>
          <p:cNvPr id="735" name="10181585817699_.pic_hd.jpg" descr="10181585817699_.pic_hd.jpg"/>
          <p:cNvPicPr>
            <a:picLocks noChangeAspect="1"/>
          </p:cNvPicPr>
          <p:nvPr/>
        </p:nvPicPr>
        <p:blipFill>
          <a:blip r:embed="rId2"/>
          <a:stretch>
            <a:fillRect/>
          </a:stretch>
        </p:blipFill>
        <p:spPr>
          <a:xfrm>
            <a:off x="-178" y="2395398"/>
            <a:ext cx="13004803" cy="6270173"/>
          </a:xfrm>
          <a:prstGeom prst="rect">
            <a:avLst/>
          </a:prstGeom>
          <a:ln w="12700">
            <a:miter lim="400000"/>
            <a:headEnd/>
            <a:tailEnd/>
          </a:ln>
        </p:spPr>
      </p:pic>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childTnLst>
                                    <p:set>
                                      <p:cBhvr>
                                        <p:cTn id="6" dur="indefinite" fill="hold"/>
                                        <p:tgtEl>
                                          <p:spTgt spid="731"/>
                                        </p:tgtEl>
                                        <p:attrNameLst>
                                          <p:attrName>style.visibility</p:attrName>
                                        </p:attrNameLst>
                                      </p:cBhvr>
                                      <p:to>
                                        <p:strVal val="visible"/>
                                      </p:to>
                                    </p:set>
                                    <p:anim calcmode="lin" valueType="num">
                                      <p:cBhvr>
                                        <p:cTn id="7" dur="750" fill="hold"/>
                                        <p:tgtEl>
                                          <p:spTgt spid="731"/>
                                        </p:tgtEl>
                                        <p:attrNameLst>
                                          <p:attrName>ppt_x</p:attrName>
                                        </p:attrNameLst>
                                      </p:cBhvr>
                                      <p:tavLst>
                                        <p:tav tm="0">
                                          <p:val>
                                            <p:strVal val="1+#ppt_w/2"/>
                                          </p:val>
                                        </p:tav>
                                        <p:tav tm="100000">
                                          <p:val>
                                            <p:strVal val="#ppt_x"/>
                                          </p:val>
                                        </p:tav>
                                      </p:tavLst>
                                    </p:anim>
                                    <p:anim calcmode="lin" valueType="num">
                                      <p:cBhvr>
                                        <p:cTn id="8" dur="750" fill="hold"/>
                                        <p:tgtEl>
                                          <p:spTgt spid="7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 grpId="1" animBg="1" advAuto="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1"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572" name="个人简介"/>
          <p:cNvSpPr txBox="1"/>
          <p:nvPr/>
        </p:nvSpPr>
        <p:spPr>
          <a:xfrm>
            <a:off x="-623905" y="5119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573"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577" name="成组"/>
          <p:cNvGrpSpPr/>
          <p:nvPr/>
        </p:nvGrpSpPr>
        <p:grpSpPr>
          <a:xfrm>
            <a:off x="11279725" y="8512683"/>
            <a:ext cx="1214954" cy="757973"/>
            <a:chOff x="-1" y="0"/>
            <a:chExt cx="1214953" cy="757971"/>
          </a:xfrm>
        </p:grpSpPr>
        <p:sp>
          <p:nvSpPr>
            <p:cNvPr id="57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57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57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579" name="构 图"/>
          <p:cNvSpPr txBox="1"/>
          <p:nvPr/>
        </p:nvSpPr>
        <p:spPr>
          <a:xfrm>
            <a:off x="620150" y="1608583"/>
            <a:ext cx="1670050" cy="677545"/>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solidFill>
                  <a:srgbClr val="FFFFFF"/>
                </a:solidFill>
              </a:defRPr>
            </a:lvl1pPr>
          </a:lstStyle>
          <a:p>
            <a:r>
              <a:t>镜  头 </a:t>
            </a:r>
            <a:endParaRPr lang="zh-CN">
              <a:ea typeface="宋体" panose="02010600030101010101" pitchFamily="2"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572"/>
                                        </p:tgtEl>
                                        <p:attrNameLst>
                                          <p:attrName>style.visibility</p:attrName>
                                        </p:attrNameLst>
                                      </p:cBhvr>
                                      <p:to>
                                        <p:strVal val="visible"/>
                                      </p:to>
                                    </p:set>
                                    <p:animEffect transition="in" filter="dissolve">
                                      <p:cBhvr>
                                        <p:cTn id="7" dur="1000"/>
                                        <p:tgtEl>
                                          <p:spTgt spid="572"/>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577"/>
                                        </p:tgtEl>
                                        <p:attrNameLst>
                                          <p:attrName>style.visibility</p:attrName>
                                        </p:attrNameLst>
                                      </p:cBhvr>
                                      <p:to>
                                        <p:strVal val="visible"/>
                                      </p:to>
                                    </p:set>
                                    <p:anim calcmode="lin" valueType="num">
                                      <p:cBhvr>
                                        <p:cTn id="11" dur="750" fill="hold"/>
                                        <p:tgtEl>
                                          <p:spTgt spid="577"/>
                                        </p:tgtEl>
                                        <p:attrNameLst>
                                          <p:attrName>ppt_x</p:attrName>
                                        </p:attrNameLst>
                                      </p:cBhvr>
                                      <p:tavLst>
                                        <p:tav tm="0">
                                          <p:val>
                                            <p:strVal val="1+#ppt_w/2"/>
                                          </p:val>
                                        </p:tav>
                                        <p:tav tm="100000">
                                          <p:val>
                                            <p:strVal val="#ppt_x"/>
                                          </p:val>
                                        </p:tav>
                                      </p:tavLst>
                                    </p:anim>
                                    <p:anim calcmode="lin" valueType="num">
                                      <p:cBhvr>
                                        <p:cTn id="12" dur="750" fill="hold"/>
                                        <p:tgtEl>
                                          <p:spTgt spid="577"/>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573"/>
                                        </p:tgtEl>
                                        <p:attrNameLst>
                                          <p:attrName>style.visibility</p:attrName>
                                        </p:attrNameLst>
                                      </p:cBhvr>
                                      <p:to>
                                        <p:strVal val="visible"/>
                                      </p:to>
                                    </p:set>
                                    <p:animEffect transition="in" filter="wipe(right)">
                                      <p:cBhvr>
                                        <p:cTn id="16" dur="10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1" animBg="1" advAuto="0"/>
      <p:bldP spid="573" grpId="3" animBg="1" advAuto="0"/>
      <p:bldP spid="577" grpId="2" bldLvl="0" animBg="1" advAuto="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1" name="屏幕快照 2020-04-09 10.14.02.png" descr="屏幕快照 2020-04-09 10.14.02.png"/>
          <p:cNvPicPr>
            <a:picLocks noChangeAspect="1"/>
          </p:cNvPicPr>
          <p:nvPr/>
        </p:nvPicPr>
        <p:blipFill>
          <a:blip r:embed="rId2"/>
          <a:srcRect t="33258" r="25143" b="37056"/>
          <a:stretch>
            <a:fillRect/>
          </a:stretch>
        </p:blipFill>
        <p:spPr>
          <a:xfrm>
            <a:off x="-32438" y="-136796"/>
            <a:ext cx="13006537" cy="3223760"/>
          </a:xfrm>
          <a:prstGeom prst="rect">
            <a:avLst/>
          </a:prstGeom>
          <a:ln w="12700">
            <a:miter lim="400000"/>
            <a:headEnd/>
            <a:tailEnd/>
          </a:ln>
        </p:spPr>
      </p:pic>
      <p:sp>
        <p:nvSpPr>
          <p:cNvPr id="572" name="个人简介"/>
          <p:cNvSpPr txBox="1"/>
          <p:nvPr/>
        </p:nvSpPr>
        <p:spPr>
          <a:xfrm>
            <a:off x="-623905" y="511947"/>
            <a:ext cx="4249155" cy="605531"/>
          </a:xfrm>
          <a:prstGeom prst="rect">
            <a:avLst/>
          </a:prstGeom>
          <a:ln w="12700">
            <a:miter lim="400000"/>
          </a:ln>
        </p:spPr>
        <p:txBody>
          <a:bodyPr lIns="48765" tIns="48765" rIns="48765" bIns="48765">
            <a:spAutoFit/>
          </a:bodyPr>
          <a:lstStyle>
            <a:lvl1pPr algn="ctr">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影视的声画元素</a:t>
            </a:r>
          </a:p>
        </p:txBody>
      </p:sp>
      <p:sp>
        <p:nvSpPr>
          <p:cNvPr id="573" name="光圈"/>
          <p:cNvSpPr txBox="1"/>
          <p:nvPr/>
        </p:nvSpPr>
        <p:spPr>
          <a:xfrm>
            <a:off x="5063178" y="8601602"/>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影视鉴赏的声画元素 </a:t>
            </a:r>
          </a:p>
        </p:txBody>
      </p:sp>
      <p:grpSp>
        <p:nvGrpSpPr>
          <p:cNvPr id="577" name="成组"/>
          <p:cNvGrpSpPr/>
          <p:nvPr/>
        </p:nvGrpSpPr>
        <p:grpSpPr>
          <a:xfrm>
            <a:off x="11279725" y="8512683"/>
            <a:ext cx="1214954" cy="757973"/>
            <a:chOff x="-1" y="0"/>
            <a:chExt cx="1214953" cy="757971"/>
          </a:xfrm>
        </p:grpSpPr>
        <p:sp>
          <p:nvSpPr>
            <p:cNvPr id="574" name="成组"/>
            <p:cNvSpPr/>
            <p:nvPr/>
          </p:nvSpPr>
          <p:spPr>
            <a:xfrm flipH="1">
              <a:off x="-2" y="-1"/>
              <a:ext cx="1214955" cy="75797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575" name="线条"/>
            <p:cNvSpPr/>
            <p:nvPr/>
          </p:nvSpPr>
          <p:spPr>
            <a:xfrm>
              <a:off x="1047730" y="196021"/>
              <a:ext cx="19"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sp>
          <p:nvSpPr>
            <p:cNvPr id="576" name="线条"/>
            <p:cNvSpPr/>
            <p:nvPr/>
          </p:nvSpPr>
          <p:spPr>
            <a:xfrm>
              <a:off x="869394" y="196021"/>
              <a:ext cx="20" cy="369849"/>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a:endParaRPr/>
            </a:p>
          </p:txBody>
        </p:sp>
      </p:grpSp>
      <p:sp>
        <p:nvSpPr>
          <p:cNvPr id="578" name="如何表现阶级差异"/>
          <p:cNvSpPr txBox="1"/>
          <p:nvPr/>
        </p:nvSpPr>
        <p:spPr>
          <a:xfrm>
            <a:off x="6244590" y="4912995"/>
            <a:ext cx="1635760" cy="927100"/>
          </a:xfrm>
          <a:prstGeom prst="rect">
            <a:avLst/>
          </a:prstGeom>
          <a:ln w="12700">
            <a:miter lim="400000"/>
          </a:ln>
        </p:spPr>
        <p:txBody>
          <a:bodyPr wrap="square" lIns="48765" tIns="48765" rIns="48765" bIns="48765">
            <a:spAutoFit/>
          </a:bodyPr>
          <a:lstStyle>
            <a:lvl1pPr algn="ctr">
              <a:lnSpc>
                <a:spcPct val="90000"/>
              </a:lnSpc>
              <a:defRPr sz="4500">
                <a:latin typeface="Calibri Light" panose="020F0302020204030204"/>
                <a:ea typeface="Calibri Light" panose="020F0302020204030204"/>
                <a:cs typeface="Calibri Light" panose="020F0302020204030204"/>
                <a:sym typeface="Calibri Light" panose="020F0302020204030204"/>
              </a:defRPr>
            </a:lvl1pPr>
          </a:lstStyle>
          <a:p>
            <a:r>
              <a:rPr lang="zh-CN" sz="6000">
                <a:ea typeface="宋体" panose="02010600030101010101" pitchFamily="2" charset="-122"/>
              </a:rPr>
              <a:t>光</a:t>
            </a:r>
          </a:p>
        </p:txBody>
      </p:sp>
      <p:sp>
        <p:nvSpPr>
          <p:cNvPr id="579" name="构 图"/>
          <p:cNvSpPr txBox="1"/>
          <p:nvPr/>
        </p:nvSpPr>
        <p:spPr>
          <a:xfrm>
            <a:off x="620150" y="1608583"/>
            <a:ext cx="3327039" cy="846831"/>
          </a:xfrm>
          <a:prstGeom prst="rect">
            <a:avLst/>
          </a:prstGeom>
          <a:ln w="12700">
            <a:miter lim="400000"/>
          </a:ln>
        </p:spPr>
        <p:txBody>
          <a:bodyPr wrap="none" lIns="48765" tIns="48765" rIns="48765" bIns="48765">
            <a:spAutoFit/>
          </a:bodyPr>
          <a:lstStyle>
            <a:lvl1pPr>
              <a:lnSpc>
                <a:spcPct val="90000"/>
              </a:lnSpc>
              <a:spcBef>
                <a:spcPts val="1400"/>
              </a:spcBef>
              <a:buSzPct val="100000"/>
              <a:buChar char="•"/>
              <a:defRPr sz="4200">
                <a:solidFill>
                  <a:srgbClr val="FFFFFF"/>
                </a:solidFill>
              </a:defRPr>
            </a:lvl1pPr>
          </a:lstStyle>
          <a:p>
            <a:r>
              <a:t>镜  头 运  动</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1" nodeType="afterEffect">
                                  <p:stCondLst>
                                    <p:cond delay="0"/>
                                  </p:stCondLst>
                                  <p:childTnLst>
                                    <p:set>
                                      <p:cBhvr>
                                        <p:cTn id="6" dur="indefinite" fill="hold"/>
                                        <p:tgtEl>
                                          <p:spTgt spid="572"/>
                                        </p:tgtEl>
                                        <p:attrNameLst>
                                          <p:attrName>style.visibility</p:attrName>
                                        </p:attrNameLst>
                                      </p:cBhvr>
                                      <p:to>
                                        <p:strVal val="visible"/>
                                      </p:to>
                                    </p:set>
                                    <p:animEffect transition="in" filter="dissolve">
                                      <p:cBhvr>
                                        <p:cTn id="7" dur="1000"/>
                                        <p:tgtEl>
                                          <p:spTgt spid="572"/>
                                        </p:tgtEl>
                                      </p:cBhvr>
                                    </p:animEffect>
                                  </p:childTnLst>
                                </p:cTn>
                              </p:par>
                            </p:childTnLst>
                          </p:cTn>
                        </p:par>
                        <p:par>
                          <p:cTn id="8" fill="hold">
                            <p:stCondLst>
                              <p:cond delay="1000"/>
                            </p:stCondLst>
                            <p:childTnLst>
                              <p:par>
                                <p:cTn id="9" presetID="2" presetClass="entr" presetSubtype="2" fill="hold" grpId="2" nodeType="afterEffect">
                                  <p:stCondLst>
                                    <p:cond delay="0"/>
                                  </p:stCondLst>
                                  <p:childTnLst>
                                    <p:set>
                                      <p:cBhvr>
                                        <p:cTn id="10" dur="indefinite" fill="hold"/>
                                        <p:tgtEl>
                                          <p:spTgt spid="577"/>
                                        </p:tgtEl>
                                        <p:attrNameLst>
                                          <p:attrName>style.visibility</p:attrName>
                                        </p:attrNameLst>
                                      </p:cBhvr>
                                      <p:to>
                                        <p:strVal val="visible"/>
                                      </p:to>
                                    </p:set>
                                    <p:anim calcmode="lin" valueType="num">
                                      <p:cBhvr>
                                        <p:cTn id="11" dur="750" fill="hold"/>
                                        <p:tgtEl>
                                          <p:spTgt spid="577"/>
                                        </p:tgtEl>
                                        <p:attrNameLst>
                                          <p:attrName>ppt_x</p:attrName>
                                        </p:attrNameLst>
                                      </p:cBhvr>
                                      <p:tavLst>
                                        <p:tav tm="0">
                                          <p:val>
                                            <p:strVal val="1+#ppt_w/2"/>
                                          </p:val>
                                        </p:tav>
                                        <p:tav tm="100000">
                                          <p:val>
                                            <p:strVal val="#ppt_x"/>
                                          </p:val>
                                        </p:tav>
                                      </p:tavLst>
                                    </p:anim>
                                    <p:anim calcmode="lin" valueType="num">
                                      <p:cBhvr>
                                        <p:cTn id="12" dur="750" fill="hold"/>
                                        <p:tgtEl>
                                          <p:spTgt spid="577"/>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2" presetClass="entr" presetSubtype="2" fill="hold" grpId="3" nodeType="afterEffect">
                                  <p:stCondLst>
                                    <p:cond delay="0"/>
                                  </p:stCondLst>
                                  <p:childTnLst>
                                    <p:set>
                                      <p:cBhvr>
                                        <p:cTn id="15" dur="indefinite" fill="hold"/>
                                        <p:tgtEl>
                                          <p:spTgt spid="573"/>
                                        </p:tgtEl>
                                        <p:attrNameLst>
                                          <p:attrName>style.visibility</p:attrName>
                                        </p:attrNameLst>
                                      </p:cBhvr>
                                      <p:to>
                                        <p:strVal val="visible"/>
                                      </p:to>
                                    </p:set>
                                    <p:animEffect transition="in" filter="wipe(right)">
                                      <p:cBhvr>
                                        <p:cTn id="16" dur="10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1" animBg="1" advAuto="0"/>
      <p:bldP spid="573" grpId="3" animBg="1" advAuto="0"/>
      <p:bldP spid="577" grpId="2" bldLvl="0" animBg="1" advAuto="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自然光效"/>
          <p:cNvSpPr txBox="1">
            <a:spLocks noGrp="1"/>
          </p:cNvSpPr>
          <p:nvPr>
            <p:ph type="title"/>
          </p:nvPr>
        </p:nvSpPr>
        <p:spPr>
          <a:xfrm>
            <a:off x="1625598" y="1427478"/>
            <a:ext cx="9753604" cy="2546776"/>
          </a:xfrm>
          <a:prstGeom prst="rect">
            <a:avLst/>
          </a:prstGeom>
        </p:spPr>
        <p:txBody>
          <a:bodyPr/>
          <a:lstStyle>
            <a:lvl1pPr>
              <a:lnSpc>
                <a:spcPct val="100000"/>
              </a:lnSpc>
              <a:defRPr sz="62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lvl1pPr>
          </a:lstStyle>
          <a:p>
            <a:r>
              <a:t>自然光效</a:t>
            </a:r>
          </a:p>
        </p:txBody>
      </p:sp>
      <p:sp>
        <p:nvSpPr>
          <p:cNvPr id="627" name="主要特点是强调光源：方向，性质…"/>
          <p:cNvSpPr txBox="1">
            <a:spLocks noGrp="1"/>
          </p:cNvSpPr>
          <p:nvPr>
            <p:ph type="body" sz="half" idx="1"/>
          </p:nvPr>
        </p:nvSpPr>
        <p:spPr>
          <a:xfrm>
            <a:off x="786496" y="4370489"/>
            <a:ext cx="11431806" cy="3260045"/>
          </a:xfrm>
          <a:prstGeom prst="rect">
            <a:avLst/>
          </a:prstGeom>
        </p:spPr>
        <p:txBody>
          <a:bodyPr/>
          <a:lstStyle/>
          <a:p>
            <a:pPr marL="281305" indent="-281305" defTabSz="770890">
              <a:spcBef>
                <a:spcPts val="600"/>
              </a:spcBef>
              <a:buSzPct val="100000"/>
              <a:buChar char="•"/>
              <a:defRPr sz="27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主要特点是强调光源：方向，性质</a:t>
            </a:r>
          </a:p>
          <a:p>
            <a:pPr marL="281305" indent="-281305" defTabSz="770890">
              <a:spcBef>
                <a:spcPts val="600"/>
              </a:spcBef>
              <a:buSzPct val="100000"/>
              <a:buChar char="•"/>
              <a:defRPr sz="27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外景：阴天戏，散射辅光，缩小反差</a:t>
            </a:r>
          </a:p>
          <a:p>
            <a:pPr marL="281305" indent="-281305" defTabSz="770890">
              <a:spcBef>
                <a:spcPts val="600"/>
              </a:spcBef>
              <a:buSzPct val="100000"/>
              <a:buChar char="•"/>
              <a:defRPr sz="27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内景：环境选择，光源设置</a:t>
            </a:r>
          </a:p>
          <a:p>
            <a:pPr marL="281305" indent="-281305" defTabSz="770890">
              <a:spcBef>
                <a:spcPts val="600"/>
              </a:spcBef>
              <a:buSzPct val="100000"/>
              <a:buChar char="•"/>
              <a:defRPr sz="27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人物：演员调度，低密度</a:t>
            </a:r>
          </a:p>
          <a:p>
            <a:pPr marL="281305" indent="-281305" defTabSz="770890">
              <a:spcBef>
                <a:spcPts val="600"/>
              </a:spcBef>
              <a:buSzPct val="100000"/>
              <a:buChar char="•"/>
              <a:defRPr sz="27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优点：自然真实，细腻</a:t>
            </a:r>
          </a:p>
          <a:p>
            <a:pPr marL="281305" indent="-281305" defTabSz="770890">
              <a:spcBef>
                <a:spcPts val="600"/>
              </a:spcBef>
              <a:buSzPct val="100000"/>
              <a:buChar char="•"/>
              <a:defRPr sz="2700">
                <a:latin typeface="黑体" panose="02010609060101010101" pitchFamily="49" charset="-122"/>
                <a:ea typeface="黑体" panose="02010609060101010101" pitchFamily="49" charset="-122"/>
                <a:cs typeface="黑体" panose="02010609060101010101" pitchFamily="49" charset="-122"/>
                <a:sym typeface="黑体" panose="02010609060101010101" pitchFamily="49" charset="-122"/>
              </a:defRPr>
            </a:pPr>
            <a:r>
              <a:t>局限性：不亮丽，重点不突出</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627">
                                            <p:txEl>
                                              <p:pRg st="0" end="0"/>
                                            </p:txEl>
                                          </p:spTgt>
                                        </p:tgtEl>
                                        <p:attrNameLst>
                                          <p:attrName>style.visibility</p:attrName>
                                        </p:attrNameLst>
                                      </p:cBhvr>
                                      <p:to>
                                        <p:strVal val="visible"/>
                                      </p:to>
                                    </p:set>
                                    <p:animEffect transition="in" filter="wipe(left)">
                                      <p:cBhvr>
                                        <p:cTn id="7" dur="500"/>
                                        <p:tgtEl>
                                          <p:spTgt spid="627">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indefinite" fill="hold"/>
                                        <p:tgtEl>
                                          <p:spTgt spid="627">
                                            <p:txEl>
                                              <p:pRg st="1" end="1"/>
                                            </p:txEl>
                                          </p:spTgt>
                                        </p:tgtEl>
                                        <p:attrNameLst>
                                          <p:attrName>style.visibility</p:attrName>
                                        </p:attrNameLst>
                                      </p:cBhvr>
                                      <p:to>
                                        <p:strVal val="visible"/>
                                      </p:to>
                                    </p:set>
                                    <p:animEffect transition="in" filter="wipe(left)">
                                      <p:cBhvr>
                                        <p:cTn id="11" dur="500"/>
                                        <p:tgtEl>
                                          <p:spTgt spid="627">
                                            <p:txEl>
                                              <p:pRg st="1" end="1"/>
                                            </p:txEl>
                                          </p:spTgt>
                                        </p:tgtEl>
                                      </p:cBhvr>
                                    </p:animEffect>
                                  </p:childTnLst>
                                </p:cTn>
                              </p:par>
                            </p:childTnLst>
                          </p:cTn>
                        </p:par>
                        <p:par>
                          <p:cTn id="12" fill="hold">
                            <p:stCondLst>
                              <p:cond delay="1000"/>
                            </p:stCondLst>
                            <p:childTnLst>
                              <p:par>
                                <p:cTn id="13" presetID="22" presetClass="entr" presetSubtype="8" fill="hold" grpId="1" nodeType="afterEffect">
                                  <p:stCondLst>
                                    <p:cond delay="0"/>
                                  </p:stCondLst>
                                  <p:childTnLst>
                                    <p:set>
                                      <p:cBhvr>
                                        <p:cTn id="14" dur="indefinite" fill="hold"/>
                                        <p:tgtEl>
                                          <p:spTgt spid="627">
                                            <p:txEl>
                                              <p:pRg st="2" end="2"/>
                                            </p:txEl>
                                          </p:spTgt>
                                        </p:tgtEl>
                                        <p:attrNameLst>
                                          <p:attrName>style.visibility</p:attrName>
                                        </p:attrNameLst>
                                      </p:cBhvr>
                                      <p:to>
                                        <p:strVal val="visible"/>
                                      </p:to>
                                    </p:set>
                                    <p:animEffect transition="in" filter="wipe(left)">
                                      <p:cBhvr>
                                        <p:cTn id="15" dur="500"/>
                                        <p:tgtEl>
                                          <p:spTgt spid="627">
                                            <p:txEl>
                                              <p:pRg st="2" end="2"/>
                                            </p:txEl>
                                          </p:spTgt>
                                        </p:tgtEl>
                                      </p:cBhvr>
                                    </p:animEffect>
                                  </p:childTnLst>
                                </p:cTn>
                              </p:par>
                            </p:childTnLst>
                          </p:cTn>
                        </p:par>
                        <p:par>
                          <p:cTn id="16" fill="hold">
                            <p:stCondLst>
                              <p:cond delay="1500"/>
                            </p:stCondLst>
                            <p:childTnLst>
                              <p:par>
                                <p:cTn id="17" presetID="22" presetClass="entr" presetSubtype="8" fill="hold" grpId="1" nodeType="afterEffect">
                                  <p:stCondLst>
                                    <p:cond delay="0"/>
                                  </p:stCondLst>
                                  <p:childTnLst>
                                    <p:set>
                                      <p:cBhvr>
                                        <p:cTn id="18" dur="indefinite" fill="hold"/>
                                        <p:tgtEl>
                                          <p:spTgt spid="627">
                                            <p:txEl>
                                              <p:pRg st="3" end="3"/>
                                            </p:txEl>
                                          </p:spTgt>
                                        </p:tgtEl>
                                        <p:attrNameLst>
                                          <p:attrName>style.visibility</p:attrName>
                                        </p:attrNameLst>
                                      </p:cBhvr>
                                      <p:to>
                                        <p:strVal val="visible"/>
                                      </p:to>
                                    </p:set>
                                    <p:animEffect transition="in" filter="wipe(left)">
                                      <p:cBhvr>
                                        <p:cTn id="19" dur="500"/>
                                        <p:tgtEl>
                                          <p:spTgt spid="627">
                                            <p:txEl>
                                              <p:pRg st="3" end="3"/>
                                            </p:txEl>
                                          </p:spTgt>
                                        </p:tgtEl>
                                      </p:cBhvr>
                                    </p:animEffect>
                                  </p:childTnLst>
                                </p:cTn>
                              </p:par>
                            </p:childTnLst>
                          </p:cTn>
                        </p:par>
                        <p:par>
                          <p:cTn id="20" fill="hold">
                            <p:stCondLst>
                              <p:cond delay="2000"/>
                            </p:stCondLst>
                            <p:childTnLst>
                              <p:par>
                                <p:cTn id="21" presetID="22" presetClass="entr" presetSubtype="8" fill="hold" grpId="1" nodeType="afterEffect">
                                  <p:stCondLst>
                                    <p:cond delay="0"/>
                                  </p:stCondLst>
                                  <p:childTnLst>
                                    <p:set>
                                      <p:cBhvr>
                                        <p:cTn id="22" dur="indefinite" fill="hold"/>
                                        <p:tgtEl>
                                          <p:spTgt spid="627">
                                            <p:txEl>
                                              <p:pRg st="4" end="4"/>
                                            </p:txEl>
                                          </p:spTgt>
                                        </p:tgtEl>
                                        <p:attrNameLst>
                                          <p:attrName>style.visibility</p:attrName>
                                        </p:attrNameLst>
                                      </p:cBhvr>
                                      <p:to>
                                        <p:strVal val="visible"/>
                                      </p:to>
                                    </p:set>
                                    <p:animEffect transition="in" filter="wipe(left)">
                                      <p:cBhvr>
                                        <p:cTn id="23" dur="500"/>
                                        <p:tgtEl>
                                          <p:spTgt spid="627">
                                            <p:txEl>
                                              <p:pRg st="4" end="4"/>
                                            </p:txEl>
                                          </p:spTgt>
                                        </p:tgtEl>
                                      </p:cBhvr>
                                    </p:animEffect>
                                  </p:childTnLst>
                                </p:cTn>
                              </p:par>
                            </p:childTnLst>
                          </p:cTn>
                        </p:par>
                        <p:par>
                          <p:cTn id="24" fill="hold">
                            <p:stCondLst>
                              <p:cond delay="2500"/>
                            </p:stCondLst>
                            <p:childTnLst>
                              <p:par>
                                <p:cTn id="25" presetID="22" presetClass="entr" presetSubtype="8" fill="hold" grpId="1" nodeType="afterEffect">
                                  <p:stCondLst>
                                    <p:cond delay="0"/>
                                  </p:stCondLst>
                                  <p:childTnLst>
                                    <p:set>
                                      <p:cBhvr>
                                        <p:cTn id="26" dur="indefinite" fill="hold"/>
                                        <p:tgtEl>
                                          <p:spTgt spid="627">
                                            <p:txEl>
                                              <p:pRg st="5" end="5"/>
                                            </p:txEl>
                                          </p:spTgt>
                                        </p:tgtEl>
                                        <p:attrNameLst>
                                          <p:attrName>style.visibility</p:attrName>
                                        </p:attrNameLst>
                                      </p:cBhvr>
                                      <p:to>
                                        <p:strVal val="visible"/>
                                      </p:to>
                                    </p:set>
                                    <p:animEffect transition="in" filter="wipe(left)">
                                      <p:cBhvr>
                                        <p:cTn id="27" dur="500"/>
                                        <p:tgtEl>
                                          <p:spTgt spid="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 grpId="1" build="p" bldLvl="5" animBg="1" advAuto="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 name="p2576680648.jpg" descr="p2576680648.jpg"/>
          <p:cNvPicPr>
            <a:picLocks noChangeAspect="1"/>
          </p:cNvPicPr>
          <p:nvPr/>
        </p:nvPicPr>
        <p:blipFill>
          <a:blip r:embed="rId2"/>
          <a:stretch>
            <a:fillRect/>
          </a:stretch>
        </p:blipFill>
        <p:spPr>
          <a:xfrm>
            <a:off x="-1620000" y="-48329"/>
            <a:ext cx="14795927" cy="9850258"/>
          </a:xfrm>
          <a:prstGeom prst="rect">
            <a:avLst/>
          </a:prstGeom>
          <a:ln w="12700">
            <a:miter lim="400000"/>
            <a:headEnd/>
            <a:tailEnd/>
          </a:ln>
        </p:spPr>
      </p:pic>
      <p:sp>
        <p:nvSpPr>
          <p:cNvPr id="738" name="矩形"/>
          <p:cNvSpPr/>
          <p:nvPr/>
        </p:nvSpPr>
        <p:spPr>
          <a:xfrm>
            <a:off x="8430282" y="6907206"/>
            <a:ext cx="4672625" cy="1615917"/>
          </a:xfrm>
          <a:prstGeom prst="rect">
            <a:avLst/>
          </a:prstGeom>
          <a:solidFill>
            <a:schemeClr val="accent1">
              <a:alpha val="80000"/>
            </a:schemeClr>
          </a:solidFill>
          <a:ln w="12700">
            <a:miter lim="400000"/>
          </a:ln>
        </p:spPr>
        <p:txBody>
          <a:bodyPr lIns="48765" tIns="48765" rIns="48765" bIns="48765" anchor="ctr"/>
          <a:lstStyle/>
          <a:p>
            <a:pPr algn="ctr">
              <a:defRPr>
                <a:solidFill>
                  <a:srgbClr val="FFFFFF"/>
                </a:solidFill>
              </a:defRPr>
            </a:pPr>
            <a:endParaRPr/>
          </a:p>
        </p:txBody>
      </p:sp>
      <p:sp>
        <p:nvSpPr>
          <p:cNvPr id="739" name="矩形"/>
          <p:cNvSpPr/>
          <p:nvPr/>
        </p:nvSpPr>
        <p:spPr>
          <a:xfrm>
            <a:off x="-22853" y="6907206"/>
            <a:ext cx="8448951" cy="1615917"/>
          </a:xfrm>
          <a:prstGeom prst="rect">
            <a:avLst/>
          </a:prstGeom>
          <a:solidFill>
            <a:srgbClr val="FFFFFF">
              <a:alpha val="70000"/>
            </a:srgbClr>
          </a:solidFill>
          <a:ln w="12700">
            <a:miter lim="400000"/>
          </a:ln>
        </p:spPr>
        <p:txBody>
          <a:bodyPr lIns="48765" tIns="48765" rIns="48765" bIns="48765" anchor="ctr"/>
          <a:lstStyle/>
          <a:p>
            <a:pPr algn="ctr">
              <a:defRPr>
                <a:solidFill>
                  <a:srgbClr val="FFFFFF"/>
                </a:solidFill>
              </a:defRPr>
            </a:pPr>
            <a:endParaRPr/>
          </a:p>
        </p:txBody>
      </p:sp>
      <p:sp>
        <p:nvSpPr>
          <p:cNvPr id="740" name="THANKS"/>
          <p:cNvSpPr txBox="1"/>
          <p:nvPr/>
        </p:nvSpPr>
        <p:spPr>
          <a:xfrm>
            <a:off x="8800141" y="7145694"/>
            <a:ext cx="4257512" cy="1138931"/>
          </a:xfrm>
          <a:prstGeom prst="rect">
            <a:avLst/>
          </a:prstGeom>
          <a:ln w="12700">
            <a:miter lim="400000"/>
          </a:ln>
        </p:spPr>
        <p:txBody>
          <a:bodyPr lIns="48765" tIns="48765" rIns="48765" bIns="48765">
            <a:spAutoFit/>
          </a:bodyPr>
          <a:lstStyle>
            <a:lvl1pPr>
              <a:defRPr sz="6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THANKS</a:t>
            </a:r>
          </a:p>
        </p:txBody>
      </p:sp>
      <p:sp>
        <p:nvSpPr>
          <p:cNvPr id="741" name="FOR YOUR WATCHING"/>
          <p:cNvSpPr txBox="1"/>
          <p:nvPr/>
        </p:nvSpPr>
        <p:spPr>
          <a:xfrm>
            <a:off x="8961715" y="8069112"/>
            <a:ext cx="4257510" cy="465831"/>
          </a:xfrm>
          <a:prstGeom prst="rect">
            <a:avLst/>
          </a:prstGeom>
          <a:ln w="12700">
            <a:miter lim="400000"/>
          </a:ln>
        </p:spPr>
        <p:txBody>
          <a:bodyPr lIns="48765" tIns="48765" rIns="48765" bIns="48765">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FOR YOUR WATCHING</a:t>
            </a:r>
          </a:p>
        </p:txBody>
      </p:sp>
      <p:sp>
        <p:nvSpPr>
          <p:cNvPr id="742" name="tuhui2003@163.com…"/>
          <p:cNvSpPr txBox="1"/>
          <p:nvPr/>
        </p:nvSpPr>
        <p:spPr>
          <a:xfrm>
            <a:off x="1538547" y="7353923"/>
            <a:ext cx="6537891" cy="1138931"/>
          </a:xfrm>
          <a:prstGeom prst="rect">
            <a:avLst/>
          </a:prstGeom>
          <a:ln w="12700">
            <a:miter lim="400000"/>
          </a:ln>
        </p:spPr>
        <p:txBody>
          <a:bodyPr lIns="48765" tIns="48765" rIns="48765" bIns="48765">
            <a:spAutoFit/>
          </a:bodyPr>
          <a:lstStyle/>
          <a:p>
            <a:pPr algn="r">
              <a:defRPr sz="2200" u="sng">
                <a:solidFill>
                  <a:srgbClr val="0000FF"/>
                </a:solidFill>
                <a:uFill>
                  <a:solidFill>
                    <a:srgbClr val="0000FF"/>
                  </a:solidFill>
                </a:uFill>
                <a:latin typeface="微软雅黑" panose="020B0503020204020204" charset="-122"/>
                <a:ea typeface="微软雅黑" panose="020B0503020204020204" charset="-122"/>
                <a:cs typeface="微软雅黑" panose="020B0503020204020204" charset="-122"/>
                <a:sym typeface="微软雅黑" panose="020B0503020204020204" charset="-122"/>
              </a:defRPr>
            </a:pPr>
            <a:r>
              <a:t>tuhui2003@163.com</a:t>
            </a:r>
            <a:endParaRPr>
              <a:solidFill>
                <a:srgbClr val="0563C1"/>
              </a:solidFill>
              <a:uFill>
                <a:solidFill>
                  <a:srgbClr val="0563C1"/>
                </a:solidFill>
              </a:uFill>
            </a:endParaRPr>
          </a:p>
          <a:p>
            <a:pPr algn="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15606622077</a:t>
            </a:r>
          </a:p>
          <a:p>
            <a:pPr algn="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三条鱼365</a:t>
            </a:r>
          </a:p>
        </p:txBody>
      </p:sp>
    </p:spTree>
  </p:cSld>
  <p:clrMapOvr>
    <a:masterClrMapping/>
  </p:clrMapOvr>
  <mc:AlternateContent xmlns:mc="http://schemas.openxmlformats.org/markup-compatibility/2006" xmlns:p14="http://schemas.microsoft.com/office/powerpoint/2010/main">
    <mc:Choice Requires="p14">
      <p:transition spd="slow" p14:dur="1200">
        <p:wipe dir="d"/>
      </p:transition>
    </mc:Choice>
    <mc:Fallback xmlns="">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738"/>
                                        </p:tgtEl>
                                        <p:attrNameLst>
                                          <p:attrName>style.visibility</p:attrName>
                                        </p:attrNameLst>
                                      </p:cBhvr>
                                      <p:to>
                                        <p:strVal val="visible"/>
                                      </p:to>
                                    </p:set>
                                    <p:animEffect transition="in" filter="wipe(right)">
                                      <p:cBhvr>
                                        <p:cTn id="7" dur="1000"/>
                                        <p:tgtEl>
                                          <p:spTgt spid="738"/>
                                        </p:tgtEl>
                                      </p:cBhvr>
                                    </p:animEffect>
                                  </p:childTnLst>
                                </p:cTn>
                              </p:par>
                            </p:childTnLst>
                          </p:cTn>
                        </p:par>
                        <p:par>
                          <p:cTn id="8" fill="hold">
                            <p:stCondLst>
                              <p:cond delay="1000"/>
                            </p:stCondLst>
                            <p:childTnLst>
                              <p:par>
                                <p:cTn id="9" presetID="22" presetClass="entr" presetSubtype="8" fill="hold" grpId="2" nodeType="afterEffect">
                                  <p:stCondLst>
                                    <p:cond delay="0"/>
                                  </p:stCondLst>
                                  <p:childTnLst>
                                    <p:set>
                                      <p:cBhvr>
                                        <p:cTn id="10" dur="indefinite" fill="hold"/>
                                        <p:tgtEl>
                                          <p:spTgt spid="739"/>
                                        </p:tgtEl>
                                        <p:attrNameLst>
                                          <p:attrName>style.visibility</p:attrName>
                                        </p:attrNameLst>
                                      </p:cBhvr>
                                      <p:to>
                                        <p:strVal val="visible"/>
                                      </p:to>
                                    </p:set>
                                    <p:animEffect transition="in" filter="wipe(left)">
                                      <p:cBhvr>
                                        <p:cTn id="11" dur="1000"/>
                                        <p:tgtEl>
                                          <p:spTgt spid="739"/>
                                        </p:tgtEl>
                                      </p:cBhvr>
                                    </p:animEffect>
                                  </p:childTnLst>
                                </p:cTn>
                              </p:par>
                            </p:childTnLst>
                          </p:cTn>
                        </p:par>
                        <p:par>
                          <p:cTn id="12" fill="hold">
                            <p:stCondLst>
                              <p:cond delay="2000"/>
                            </p:stCondLst>
                            <p:childTnLst>
                              <p:par>
                                <p:cTn id="13" presetID="9" presetClass="entr" presetSubtype="0" fill="hold" grpId="3" nodeType="afterEffect">
                                  <p:stCondLst>
                                    <p:cond delay="0"/>
                                  </p:stCondLst>
                                  <p:childTnLst>
                                    <p:set>
                                      <p:cBhvr>
                                        <p:cTn id="14" dur="indefinite" fill="hold"/>
                                        <p:tgtEl>
                                          <p:spTgt spid="740"/>
                                        </p:tgtEl>
                                        <p:attrNameLst>
                                          <p:attrName>style.visibility</p:attrName>
                                        </p:attrNameLst>
                                      </p:cBhvr>
                                      <p:to>
                                        <p:strVal val="visible"/>
                                      </p:to>
                                    </p:set>
                                    <p:animEffect transition="in" filter="dissolve">
                                      <p:cBhvr>
                                        <p:cTn id="15" dur="1000"/>
                                        <p:tgtEl>
                                          <p:spTgt spid="740"/>
                                        </p:tgtEl>
                                      </p:cBhvr>
                                    </p:animEffect>
                                  </p:childTnLst>
                                </p:cTn>
                              </p:par>
                            </p:childTnLst>
                          </p:cTn>
                        </p:par>
                        <p:par>
                          <p:cTn id="16" fill="hold">
                            <p:stCondLst>
                              <p:cond delay="3000"/>
                            </p:stCondLst>
                            <p:childTnLst>
                              <p:par>
                                <p:cTn id="17" presetID="9" presetClass="entr" presetSubtype="0" fill="hold" grpId="4" nodeType="afterEffect">
                                  <p:stCondLst>
                                    <p:cond delay="0"/>
                                  </p:stCondLst>
                                  <p:childTnLst>
                                    <p:set>
                                      <p:cBhvr>
                                        <p:cTn id="18" dur="indefinite" fill="hold"/>
                                        <p:tgtEl>
                                          <p:spTgt spid="741"/>
                                        </p:tgtEl>
                                        <p:attrNameLst>
                                          <p:attrName>style.visibility</p:attrName>
                                        </p:attrNameLst>
                                      </p:cBhvr>
                                      <p:to>
                                        <p:strVal val="visible"/>
                                      </p:to>
                                    </p:set>
                                    <p:animEffect transition="in" filter="dissolve">
                                      <p:cBhvr>
                                        <p:cTn id="19" dur="1000"/>
                                        <p:tgtEl>
                                          <p:spTgt spid="741"/>
                                        </p:tgtEl>
                                      </p:cBhvr>
                                    </p:animEffect>
                                  </p:childTnLst>
                                </p:cTn>
                              </p:par>
                            </p:childTnLst>
                          </p:cTn>
                        </p:par>
                        <p:par>
                          <p:cTn id="20" fill="hold">
                            <p:stCondLst>
                              <p:cond delay="4000"/>
                            </p:stCondLst>
                            <p:childTnLst>
                              <p:par>
                                <p:cTn id="21" presetID="2" presetClass="entr" presetSubtype="8" fill="hold" grpId="5" nodeType="afterEffect">
                                  <p:stCondLst>
                                    <p:cond delay="0"/>
                                  </p:stCondLst>
                                  <p:childTnLst>
                                    <p:set>
                                      <p:cBhvr>
                                        <p:cTn id="22" dur="indefinite" fill="hold"/>
                                        <p:tgtEl>
                                          <p:spTgt spid="742"/>
                                        </p:tgtEl>
                                        <p:attrNameLst>
                                          <p:attrName>style.visibility</p:attrName>
                                        </p:attrNameLst>
                                      </p:cBhvr>
                                      <p:to>
                                        <p:strVal val="visible"/>
                                      </p:to>
                                    </p:set>
                                    <p:anim calcmode="lin" valueType="num">
                                      <p:cBhvr>
                                        <p:cTn id="23" dur="1000" fill="hold"/>
                                        <p:tgtEl>
                                          <p:spTgt spid="742"/>
                                        </p:tgtEl>
                                        <p:attrNameLst>
                                          <p:attrName>ppt_x</p:attrName>
                                        </p:attrNameLst>
                                      </p:cBhvr>
                                      <p:tavLst>
                                        <p:tav tm="0">
                                          <p:val>
                                            <p:strVal val="0-#ppt_w/2"/>
                                          </p:val>
                                        </p:tav>
                                        <p:tav tm="100000">
                                          <p:val>
                                            <p:strVal val="#ppt_x"/>
                                          </p:val>
                                        </p:tav>
                                      </p:tavLst>
                                    </p:anim>
                                    <p:anim calcmode="lin" valueType="num">
                                      <p:cBhvr>
                                        <p:cTn id="24" dur="1000" fill="hold"/>
                                        <p:tgtEl>
                                          <p:spTgt spid="7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 grpId="1" animBg="1" advAuto="0"/>
      <p:bldP spid="739" grpId="2" animBg="1" advAuto="0"/>
      <p:bldP spid="740" grpId="3" animBg="1" advAuto="0"/>
      <p:bldP spid="741" grpId="4" animBg="1" advAuto="0"/>
      <p:bldP spid="742" grpId="5" animBg="1" advAuto="0"/>
    </p:bldLst>
  </p:timing>
</p:sld>
</file>

<file path=ppt/theme/theme1.xml><?xml version="1.0" encoding="utf-8"?>
<a:theme xmlns:a="http://schemas.openxmlformats.org/drawingml/2006/main" name="Office 主题">
  <a:themeElements>
    <a:clrScheme name="Office 主题">
      <a:dk1>
        <a:srgbClr val="000000"/>
      </a:dk1>
      <a:lt1>
        <a:srgbClr val="F8F8F8"/>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8765" tIns="48765" rIns="48765" bIns="48765" numCol="1" spcCol="38100" rtlCol="0" anchor="ctr">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8765" tIns="48765" rIns="48765" bIns="48765" numCol="1" spcCol="38100" rtlCol="0" anchor="t">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8765" tIns="48765" rIns="48765" bIns="48765" numCol="1" spcCol="38100" rtlCol="0" anchor="ctr">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8765" tIns="48765" rIns="48765" bIns="48765" numCol="1" spcCol="38100" rtlCol="0" anchor="t">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2046</Words>
  <Application>Microsoft Office PowerPoint</Application>
  <PresentationFormat>自定义</PresentationFormat>
  <Paragraphs>412</Paragraphs>
  <Slides>109</Slides>
  <Notes>0</Notes>
  <HiddenSlides>0</HiddenSlides>
  <MMClips>3</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109</vt:i4>
      </vt:variant>
    </vt:vector>
  </HeadingPairs>
  <TitlesOfParts>
    <vt:vector size="123" baseType="lpstr">
      <vt:lpstr>Arial Unicode MS</vt:lpstr>
      <vt:lpstr>Bodoni SvtyTwo ITC TT-Book</vt:lpstr>
      <vt:lpstr>Helvetica Neue</vt:lpstr>
      <vt:lpstr>黑体</vt:lpstr>
      <vt:lpstr>华文楷体</vt:lpstr>
      <vt:lpstr>楷体_GB2312</vt:lpstr>
      <vt:lpstr>微软雅黑</vt:lpstr>
      <vt:lpstr>Arial</vt:lpstr>
      <vt:lpstr>Arial Black</vt:lpstr>
      <vt:lpstr>Calibri</vt:lpstr>
      <vt:lpstr>Calibri Light</vt:lpstr>
      <vt:lpstr>Helvetica</vt:lpstr>
      <vt:lpstr>Times</vt:lpstr>
      <vt:lpstr>Office 主题</vt:lpstr>
      <vt:lpstr>PowerPoint 演示文稿</vt:lpstr>
      <vt:lpstr>PowerPoint 演示文稿</vt:lpstr>
      <vt:lpstr>PowerPoint 演示文稿</vt:lpstr>
      <vt:lpstr>PowerPoint 演示文稿</vt:lpstr>
      <vt:lpstr>主  题 ：贫富差距</vt:lpstr>
      <vt:lpstr>描写低层人生活状况的推荐电影：  《偷自行车的人》 《小偷家族》 《何以为家》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第一节  镜头语言  一、场面调度 二、镜头景别 三、镜头角度 四、镜头构图 五、镜头运动 六、几种特殊镜头</vt:lpstr>
      <vt:lpstr>导演精心设计每一个镜头语言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镜头的运用</vt:lpstr>
      <vt:lpstr>特 写 组</vt:lpstr>
      <vt:lpstr>PowerPoint 演示文稿</vt:lpstr>
      <vt:lpstr>特 写</vt:lpstr>
      <vt:lpstr>PowerPoint 演示文稿</vt:lpstr>
      <vt:lpstr>特 写</vt:lpstr>
      <vt:lpstr>PowerPoint 演示文稿</vt:lpstr>
      <vt:lpstr>近  景  组</vt:lpstr>
      <vt:lpstr>PowerPoint 演示文稿</vt:lpstr>
      <vt:lpstr>中  景  组</vt:lpstr>
      <vt:lpstr>PowerPoint 演示文稿</vt:lpstr>
      <vt:lpstr>中景的局限性</vt:lpstr>
      <vt:lpstr>全 景 组 </vt:lpstr>
      <vt:lpstr>全 景 </vt:lpstr>
      <vt:lpstr>PowerPoint 演示文稿</vt:lpstr>
      <vt:lpstr>PowerPoint 演示文稿</vt:lpstr>
      <vt:lpstr>PowerPoint 演示文稿</vt:lpstr>
      <vt:lpstr>全景的局限性</vt:lpstr>
      <vt:lpstr>PowerPoint 演示文稿</vt:lpstr>
      <vt:lpstr>PowerPoint 演示文稿</vt:lpstr>
      <vt:lpstr>PowerPoint 演示文稿</vt:lpstr>
      <vt:lpstr>PowerPoint 演示文稿</vt:lpstr>
      <vt:lpstr>摄影高度：平拍</vt:lpstr>
      <vt:lpstr>PowerPoint 演示文稿</vt:lpstr>
      <vt:lpstr>摄影高度：仰拍</vt:lpstr>
      <vt:lpstr>PowerPoint 演示文稿</vt:lpstr>
      <vt:lpstr>摄影高度：俯拍</vt:lpstr>
      <vt:lpstr>PowerPoint 演示文稿</vt:lpstr>
      <vt:lpstr>PowerPoint 演示文稿</vt:lpstr>
      <vt:lpstr>摄影方向：正拍</vt:lpstr>
      <vt:lpstr>PowerPoint 演示文稿</vt:lpstr>
      <vt:lpstr>PowerPoint 演示文稿</vt:lpstr>
      <vt:lpstr>摄影方向：侧拍</vt:lpstr>
      <vt:lpstr>PowerPoint 演示文稿</vt:lpstr>
      <vt:lpstr>PowerPoint 演示文稿</vt:lpstr>
      <vt:lpstr>摄影方向：反拍与正侧拍</vt:lpstr>
      <vt:lpstr>角度小结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推镜头</vt:lpstr>
      <vt:lpstr>PowerPoint 演示文稿</vt:lpstr>
      <vt:lpstr>PowerPoint 演示文稿</vt:lpstr>
      <vt:lpstr>镜头内容小结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自然光效</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gkq2414774255@163.com</cp:lastModifiedBy>
  <cp:revision>5</cp:revision>
  <dcterms:created xsi:type="dcterms:W3CDTF">2020-10-28T07:27:41Z</dcterms:created>
  <dcterms:modified xsi:type="dcterms:W3CDTF">2024-12-24T10:04:19Z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2052-11.1.0.9929</vt:lpwstr>
  </property>
</Properties>
</file>