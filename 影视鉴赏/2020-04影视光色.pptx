
<file path=[Content_Types].xml><?xml version="1.0" encoding="utf-8"?>
<Types xmlns="http://schemas.openxmlformats.org/package/2006/content-types">
  <Default Extension="jpeg" ContentType="image/jpeg"/>
  <Default Extension="png" ContentType="image/png"/>
  <Default Extension="bmp" ContentType="image/bmp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303" r:id="rId3"/>
    <p:sldId id="257" r:id="rId4"/>
    <p:sldId id="350" r:id="rId5"/>
    <p:sldId id="351" r:id="rId6"/>
    <p:sldId id="352" r:id="rId7"/>
    <p:sldId id="353" r:id="rId8"/>
    <p:sldId id="356" r:id="rId9"/>
    <p:sldId id="354" r:id="rId10"/>
    <p:sldId id="355" r:id="rId11"/>
    <p:sldId id="393" r:id="rId12"/>
    <p:sldId id="399" r:id="rId13"/>
    <p:sldId id="400" r:id="rId14"/>
    <p:sldId id="394" r:id="rId15"/>
    <p:sldId id="395" r:id="rId16"/>
    <p:sldId id="396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4" r:id="rId28"/>
    <p:sldId id="375" r:id="rId29"/>
    <p:sldId id="377" r:id="rId30"/>
    <p:sldId id="378" r:id="rId31"/>
    <p:sldId id="383" r:id="rId32"/>
    <p:sldId id="384" r:id="rId33"/>
    <p:sldId id="386" r:id="rId34"/>
    <p:sldId id="387" r:id="rId35"/>
    <p:sldId id="388" r:id="rId36"/>
    <p:sldId id="432" r:id="rId37"/>
    <p:sldId id="430" r:id="rId38"/>
    <p:sldId id="431" r:id="rId39"/>
    <p:sldId id="433" r:id="rId40"/>
    <p:sldId id="390" r:id="rId41"/>
    <p:sldId id="258" r:id="rId42"/>
    <p:sldId id="434" r:id="rId43"/>
    <p:sldId id="435" r:id="rId44"/>
    <p:sldId id="436" r:id="rId45"/>
    <p:sldId id="437" r:id="rId46"/>
    <p:sldId id="440" r:id="rId47"/>
    <p:sldId id="441" r:id="rId48"/>
    <p:sldId id="442" r:id="rId49"/>
    <p:sldId id="443" r:id="rId50"/>
    <p:sldId id="444" r:id="rId51"/>
    <p:sldId id="389" r:id="rId52"/>
    <p:sldId id="401" r:id="rId53"/>
    <p:sldId id="402" r:id="rId54"/>
    <p:sldId id="403" r:id="rId55"/>
    <p:sldId id="302" r:id="rId5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 hasCustomPrompt="1"/>
          </p:nvPr>
        </p:nvSpPr>
        <p:spPr>
          <a:xfrm>
            <a:off x="1524000" y="3602037"/>
            <a:ext cx="9144000" cy="165577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 hasCustomPrompt="1"/>
          </p:nvPr>
        </p:nvSpPr>
        <p:spPr>
          <a:xfrm>
            <a:off x="831850" y="4589462"/>
            <a:ext cx="10515600" cy="150019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 hasCustomPrompt="1"/>
          </p:nvPr>
        </p:nvSpPr>
        <p:spPr>
          <a:xfrm>
            <a:off x="839787" y="1681163"/>
            <a:ext cx="5157790" cy="823921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0">
              <a:buSzTx/>
              <a:buFontTx/>
              <a:buNone/>
              <a:defRPr sz="2400" b="1"/>
            </a:lvl2pPr>
            <a:lvl3pPr marL="0" indent="0">
              <a:buSzTx/>
              <a:buFontTx/>
              <a:buNone/>
              <a:defRPr sz="2400" b="1"/>
            </a:lvl3pPr>
            <a:lvl4pPr marL="0" indent="0">
              <a:buSzTx/>
              <a:buFontTx/>
              <a:buNone/>
              <a:defRPr sz="2400" b="1"/>
            </a:lvl4pPr>
            <a:lvl5pPr marL="0" indent="0"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Shape 49"/>
          <p:cNvSpPr/>
          <p:nvPr>
            <p:ph type="body" sz="quarter" idx="1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/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 hasCustomPrompt="1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Shape 74"/>
          <p:cNvSpPr/>
          <p:nvPr>
            <p:ph type="body" sz="quarter" idx="13"/>
          </p:nvPr>
        </p:nvSpPr>
        <p:spPr>
          <a:xfrm>
            <a:off x="839781" y="2057400"/>
            <a:ext cx="3932253" cy="3811588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 hasCustomPrompt="1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83" name="Shape 83"/>
          <p:cNvSpPr/>
          <p:nvPr>
            <p:ph type="pic" sz="half" idx="13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84" name="正文级别 1…"/>
          <p:cNvSpPr txBox="1"/>
          <p:nvPr>
            <p:ph type="body" sz="quarter" idx="1" hasCustomPrompt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3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文本"/>
          <p:cNvSpPr txBox="1"/>
          <p:nvPr>
            <p:ph type="title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2" name="正文级别 1…"/>
          <p:cNvSpPr txBox="1"/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/>
          <p:nvPr>
            <p:ph type="sldNum" sz="quarter" idx="2"/>
          </p:nvPr>
        </p:nvSpPr>
        <p:spPr>
          <a:xfrm>
            <a:off x="9928867" y="6245225"/>
            <a:ext cx="281937" cy="287083"/>
          </a:xfrm>
          <a:prstGeom prst="rect">
            <a:avLst/>
          </a:prstGeom>
        </p:spPr>
        <p:txBody>
          <a:bodyPr anchor="t"/>
          <a:lstStyle>
            <a:lvl1pPr defTabSz="457200">
              <a:defRPr sz="1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幻灯片编号"/>
          <p:cNvSpPr txBox="1"/>
          <p:nvPr>
            <p:ph type="sldNum" sz="quarter" idx="2"/>
          </p:nvPr>
        </p:nvSpPr>
        <p:spPr>
          <a:xfrm>
            <a:off x="9928867" y="6245225"/>
            <a:ext cx="281937" cy="287083"/>
          </a:xfrm>
          <a:prstGeom prst="rect">
            <a:avLst/>
          </a:prstGeom>
        </p:spPr>
        <p:txBody>
          <a:bodyPr anchor="t"/>
          <a:lstStyle>
            <a:lvl1pPr defTabSz="457200">
              <a:defRPr sz="1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线条"/>
          <p:cNvSpPr/>
          <p:nvPr/>
        </p:nvSpPr>
        <p:spPr>
          <a:xfrm flipH="1">
            <a:off x="10286999" y="-1"/>
            <a:ext cx="2" cy="6858002"/>
          </a:xfrm>
          <a:prstGeom prst="line">
            <a:avLst/>
          </a:prstGeom>
          <a:ln w="38100">
            <a:solidFill>
              <a:srgbClr val="BCCEBD">
                <a:alpha val="92939"/>
              </a:srgbClr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25" name="线条"/>
          <p:cNvSpPr/>
          <p:nvPr/>
        </p:nvSpPr>
        <p:spPr>
          <a:xfrm flipH="1">
            <a:off x="1600199" y="0"/>
            <a:ext cx="3" cy="6858001"/>
          </a:xfrm>
          <a:prstGeom prst="line">
            <a:avLst/>
          </a:prstGeom>
          <a:ln w="50800">
            <a:solidFill>
              <a:srgbClr val="BCCEBD"/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26" name="线条"/>
          <p:cNvSpPr/>
          <p:nvPr/>
        </p:nvSpPr>
        <p:spPr>
          <a:xfrm flipH="1">
            <a:off x="10515599" y="-1"/>
            <a:ext cx="2" cy="6858002"/>
          </a:xfrm>
          <a:prstGeom prst="line">
            <a:avLst/>
          </a:prstGeom>
          <a:ln w="12700">
            <a:solidFill>
              <a:srgbClr val="72A376"/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27" name="矩形"/>
          <p:cNvSpPr/>
          <p:nvPr/>
        </p:nvSpPr>
        <p:spPr>
          <a:xfrm>
            <a:off x="10363200" y="0"/>
            <a:ext cx="304800" cy="6858000"/>
          </a:xfrm>
          <a:prstGeom prst="rect">
            <a:avLst/>
          </a:prstGeom>
          <a:solidFill>
            <a:srgbClr val="BCCEBD">
              <a:alpha val="87057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pPr>
          </a:p>
        </p:txBody>
      </p:sp>
      <p:sp>
        <p:nvSpPr>
          <p:cNvPr id="128" name="线条"/>
          <p:cNvSpPr/>
          <p:nvPr/>
        </p:nvSpPr>
        <p:spPr>
          <a:xfrm flipH="1">
            <a:off x="10439399" y="-1"/>
            <a:ext cx="2" cy="6858002"/>
          </a:xfrm>
          <a:prstGeom prst="line">
            <a:avLst/>
          </a:prstGeom>
          <a:ln w="3175">
            <a:solidFill>
              <a:srgbClr val="72A376"/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29" name="圆形"/>
          <p:cNvSpPr/>
          <p:nvPr/>
        </p:nvSpPr>
        <p:spPr>
          <a:xfrm>
            <a:off x="9680574" y="5714999"/>
            <a:ext cx="549278" cy="549278"/>
          </a:xfrm>
          <a:prstGeom prst="ellipse">
            <a:avLst/>
          </a:prstGeom>
          <a:solidFill>
            <a:srgbClr val="72A37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pPr>
          </a:p>
        </p:txBody>
      </p:sp>
      <p:sp>
        <p:nvSpPr>
          <p:cNvPr id="130" name="幻灯片编号"/>
          <p:cNvSpPr txBox="1"/>
          <p:nvPr>
            <p:ph type="sldNum" sz="quarter" idx="2"/>
          </p:nvPr>
        </p:nvSpPr>
        <p:spPr>
          <a:xfrm>
            <a:off x="9804222" y="5840730"/>
            <a:ext cx="308331" cy="307339"/>
          </a:xfrm>
          <a:prstGeom prst="rect">
            <a:avLst/>
          </a:prstGeom>
        </p:spPr>
        <p:txBody>
          <a:bodyPr lIns="45718" tIns="45718" rIns="45718" bIns="45718"/>
          <a:lstStyle>
            <a:lvl1pPr algn="ctr">
              <a:defRPr sz="14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线条"/>
          <p:cNvSpPr/>
          <p:nvPr/>
        </p:nvSpPr>
        <p:spPr>
          <a:xfrm flipH="1">
            <a:off x="10286999" y="-1"/>
            <a:ext cx="2" cy="6858002"/>
          </a:xfrm>
          <a:prstGeom prst="line">
            <a:avLst/>
          </a:prstGeom>
          <a:ln w="38100">
            <a:solidFill>
              <a:srgbClr val="BCCEBD">
                <a:alpha val="92939"/>
              </a:srgbClr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38" name="线条"/>
          <p:cNvSpPr/>
          <p:nvPr/>
        </p:nvSpPr>
        <p:spPr>
          <a:xfrm flipH="1">
            <a:off x="1600199" y="0"/>
            <a:ext cx="3" cy="6858001"/>
          </a:xfrm>
          <a:prstGeom prst="line">
            <a:avLst/>
          </a:prstGeom>
          <a:ln w="50800">
            <a:solidFill>
              <a:srgbClr val="BCCEBD"/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39" name="线条"/>
          <p:cNvSpPr/>
          <p:nvPr/>
        </p:nvSpPr>
        <p:spPr>
          <a:xfrm flipH="1">
            <a:off x="10515599" y="-1"/>
            <a:ext cx="2" cy="6858002"/>
          </a:xfrm>
          <a:prstGeom prst="line">
            <a:avLst/>
          </a:prstGeom>
          <a:ln w="12700">
            <a:solidFill>
              <a:srgbClr val="72A376"/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40" name="矩形"/>
          <p:cNvSpPr/>
          <p:nvPr/>
        </p:nvSpPr>
        <p:spPr>
          <a:xfrm>
            <a:off x="10363200" y="0"/>
            <a:ext cx="304800" cy="6858000"/>
          </a:xfrm>
          <a:prstGeom prst="rect">
            <a:avLst/>
          </a:prstGeom>
          <a:solidFill>
            <a:srgbClr val="BCCEBD">
              <a:alpha val="87057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pPr>
          </a:p>
        </p:txBody>
      </p:sp>
      <p:sp>
        <p:nvSpPr>
          <p:cNvPr id="141" name="线条"/>
          <p:cNvSpPr/>
          <p:nvPr/>
        </p:nvSpPr>
        <p:spPr>
          <a:xfrm flipH="1">
            <a:off x="10439399" y="-1"/>
            <a:ext cx="2" cy="6858002"/>
          </a:xfrm>
          <a:prstGeom prst="line">
            <a:avLst/>
          </a:prstGeom>
          <a:ln w="3175">
            <a:solidFill>
              <a:srgbClr val="72A376"/>
            </a:solidFill>
          </a:ln>
        </p:spPr>
        <p:txBody>
          <a:bodyPr lIns="45718" tIns="45718" rIns="45718" bIns="45718"/>
          <a:lstStyle/>
          <a:p/>
        </p:txBody>
      </p:sp>
      <p:sp>
        <p:nvSpPr>
          <p:cNvPr id="142" name="圆形"/>
          <p:cNvSpPr/>
          <p:nvPr/>
        </p:nvSpPr>
        <p:spPr>
          <a:xfrm>
            <a:off x="9680574" y="5714999"/>
            <a:ext cx="549278" cy="549278"/>
          </a:xfrm>
          <a:prstGeom prst="ellipse">
            <a:avLst/>
          </a:prstGeom>
          <a:solidFill>
            <a:srgbClr val="72A37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pPr>
          </a:p>
        </p:txBody>
      </p:sp>
      <p:sp>
        <p:nvSpPr>
          <p:cNvPr id="143" name="幻灯片编号"/>
          <p:cNvSpPr txBox="1"/>
          <p:nvPr>
            <p:ph type="sldNum" sz="quarter" idx="2"/>
          </p:nvPr>
        </p:nvSpPr>
        <p:spPr>
          <a:xfrm>
            <a:off x="9804222" y="5840730"/>
            <a:ext cx="308331" cy="307339"/>
          </a:xfrm>
          <a:prstGeom prst="rect">
            <a:avLst/>
          </a:prstGeom>
        </p:spPr>
        <p:txBody>
          <a:bodyPr lIns="45718" tIns="45718" rIns="45718" bIns="45718"/>
          <a:lstStyle>
            <a:lvl1pPr algn="ctr">
              <a:defRPr sz="14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089827" y="6404294"/>
            <a:ext cx="263979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bmp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bm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45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2791605686249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1930" y="-271145"/>
            <a:ext cx="13051790" cy="7399655"/>
          </a:xfrm>
          <a:prstGeom prst="rect">
            <a:avLst/>
          </a:prstGeom>
        </p:spPr>
      </p:pic>
      <p:sp>
        <p:nvSpPr>
          <p:cNvPr id="122" name="矩形"/>
          <p:cNvSpPr/>
          <p:nvPr/>
        </p:nvSpPr>
        <p:spPr>
          <a:xfrm>
            <a:off x="3258391" y="5560192"/>
            <a:ext cx="3275468" cy="1136190"/>
          </a:xfrm>
          <a:prstGeom prst="rect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34287" tIns="34287" rIns="34287" bIns="34287" anchor="ctr"/>
          <a:lstStyle/>
          <a:p>
            <a:pPr algn="ctr">
              <a:defRPr>
                <a:solidFill>
                  <a:srgbClr val="FF9300"/>
                </a:solidFill>
              </a:defRPr>
            </a:pPr>
            <a:endParaRPr sz="1265"/>
          </a:p>
        </p:txBody>
      </p:sp>
      <p:sp>
        <p:nvSpPr>
          <p:cNvPr id="123" name="矩形"/>
          <p:cNvSpPr/>
          <p:nvPr/>
        </p:nvSpPr>
        <p:spPr>
          <a:xfrm>
            <a:off x="5082092" y="5560192"/>
            <a:ext cx="5909062" cy="1136190"/>
          </a:xfrm>
          <a:prstGeom prst="rect">
            <a:avLst/>
          </a:prstGeom>
          <a:solidFill>
            <a:srgbClr val="FFFFFF">
              <a:alpha val="51332"/>
            </a:srgbClr>
          </a:solidFill>
          <a:ln w="12700">
            <a:miter lim="400000"/>
          </a:ln>
        </p:spPr>
        <p:txBody>
          <a:bodyPr lIns="34287" tIns="34287" rIns="34287" bIns="34287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265"/>
          </a:p>
        </p:txBody>
      </p:sp>
      <p:sp>
        <p:nvSpPr>
          <p:cNvPr id="124" name="手机摄影"/>
          <p:cNvSpPr txBox="1"/>
          <p:nvPr/>
        </p:nvSpPr>
        <p:spPr>
          <a:xfrm>
            <a:off x="3339869" y="6023232"/>
            <a:ext cx="3194439" cy="673100"/>
          </a:xfrm>
          <a:prstGeom prst="rect">
            <a:avLst/>
          </a:prstGeom>
          <a:ln w="12700">
            <a:miter lim="400000"/>
          </a:ln>
        </p:spPr>
        <p:txBody>
          <a:bodyPr lIns="34287" tIns="34287" rIns="34287" bIns="34287">
            <a:spAutoFit/>
          </a:bodyPr>
          <a:lstStyle>
            <a:lvl1pPr algn="ctr">
              <a:defRPr sz="56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lvl1pPr>
          </a:lstStyle>
          <a:p>
            <a:r>
              <a:rPr sz="3940"/>
              <a:t>影  视  鉴  赏</a:t>
            </a:r>
            <a:endParaRPr sz="3940"/>
          </a:p>
        </p:txBody>
      </p:sp>
      <p:sp>
        <p:nvSpPr>
          <p:cNvPr id="125" name="宁波大学潘天寿艺术学院  涂慧"/>
          <p:cNvSpPr txBox="1"/>
          <p:nvPr/>
        </p:nvSpPr>
        <p:spPr>
          <a:xfrm>
            <a:off x="6533835" y="6352562"/>
            <a:ext cx="2869488" cy="261620"/>
          </a:xfrm>
          <a:prstGeom prst="rect">
            <a:avLst/>
          </a:prstGeom>
          <a:ln w="12700">
            <a:miter lim="400000"/>
          </a:ln>
        </p:spPr>
        <p:txBody>
          <a:bodyPr lIns="34287" tIns="34287" rIns="34287" bIns="34287">
            <a:spAutoFit/>
          </a:bodyPr>
          <a:lstStyle>
            <a:lvl1pPr>
              <a:defRPr sz="1800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lvl1pPr>
          </a:lstStyle>
          <a:p>
            <a:r>
              <a:rPr sz="1265"/>
              <a:t>宁波大学潘天寿建筑与艺术学院  涂慧</a:t>
            </a:r>
            <a:endParaRPr sz="1265"/>
          </a:p>
        </p:txBody>
      </p:sp>
      <p:sp>
        <p:nvSpPr>
          <p:cNvPr id="126" name="20190326"/>
          <p:cNvSpPr txBox="1"/>
          <p:nvPr/>
        </p:nvSpPr>
        <p:spPr>
          <a:xfrm>
            <a:off x="5081905" y="5810885"/>
            <a:ext cx="3911600" cy="633730"/>
          </a:xfrm>
          <a:prstGeom prst="rect">
            <a:avLst/>
          </a:prstGeom>
          <a:ln w="12700">
            <a:miter lim="400000"/>
          </a:ln>
        </p:spPr>
        <p:txBody>
          <a:bodyPr wrap="square" lIns="34287" tIns="34287" rIns="34287" bIns="34287">
            <a:spAutoFit/>
          </a:bodyPr>
          <a:lstStyle/>
          <a:p>
            <a:pPr indent="1024255">
              <a:spcBef>
                <a:spcPts val="700"/>
              </a:spcBef>
              <a:defRPr sz="2200"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endParaRPr sz="1545"/>
          </a:p>
          <a:p>
            <a:pPr indent="1024255">
              <a:spcBef>
                <a:spcPts val="700"/>
              </a:spcBef>
              <a:defRPr sz="2200"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545"/>
              <a:t>       202</a:t>
            </a:r>
            <a:r>
              <a:rPr lang="en-US" sz="1545"/>
              <a:t>0</a:t>
            </a:r>
            <a:r>
              <a:rPr sz="1545"/>
              <a:t>-202</a:t>
            </a:r>
            <a:r>
              <a:rPr lang="en-US" sz="1545"/>
              <a:t>1</a:t>
            </a:r>
            <a:endParaRPr lang="en-US" sz="1545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1" bldLvl="0" animBg="1" advAuto="0"/>
      <p:bldP spid="123" grpId="2" bldLvl="0" animBg="1" advAuto="0"/>
      <p:bldP spid="124" grpId="3" animBg="1" advAuto="0"/>
      <p:bldP spid="125" grpId="4" animBg="1" advAuto="0"/>
      <p:bldP spid="126" grpId="5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认 识 镜 头"/>
          <p:cNvSpPr txBox="1"/>
          <p:nvPr>
            <p:ph type="ctrTitle"/>
          </p:nvPr>
        </p:nvSpPr>
        <p:spPr>
          <a:xfrm>
            <a:off x="4178300" y="1643059"/>
            <a:ext cx="9144000" cy="2387608"/>
          </a:xfrm>
          <a:prstGeom prst="rect">
            <a:avLst/>
          </a:prstGeom>
        </p:spPr>
        <p:txBody>
          <a:bodyPr/>
          <a:lstStyle>
            <a:lvl1pPr algn="l">
              <a:defRPr sz="4400"/>
            </a:lvl1pPr>
          </a:lstStyle>
          <a:p>
            <a:r>
              <a:t>电 影 的 </a:t>
            </a:r>
            <a:r>
              <a:rPr lang="zh-CN"/>
              <a:t>色 彩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2.png" descr="image2.png"/>
          <p:cNvPicPr>
            <a:picLocks noChangeAspect="1"/>
          </p:cNvPicPr>
          <p:nvPr/>
        </p:nvPicPr>
        <p:blipFill>
          <a:blip r:embed="rId1"/>
          <a:srcRect t="33436" b="43385"/>
          <a:stretch>
            <a:fillRect/>
          </a:stretch>
        </p:blipFill>
        <p:spPr>
          <a:xfrm>
            <a:off x="1383665" y="647303"/>
            <a:ext cx="9144000" cy="11566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7" name="矩形"/>
          <p:cNvSpPr/>
          <p:nvPr/>
        </p:nvSpPr>
        <p:spPr>
          <a:xfrm>
            <a:off x="1383551" y="647302"/>
            <a:ext cx="2262117" cy="1156649"/>
          </a:xfrm>
          <a:prstGeom prst="rect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38" name="色彩构成"/>
          <p:cNvSpPr txBox="1"/>
          <p:nvPr/>
        </p:nvSpPr>
        <p:spPr>
          <a:xfrm>
            <a:off x="1775194" y="994792"/>
            <a:ext cx="1960161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rgbClr val="31517D"/>
                </a:solidFill>
              </a:defRPr>
            </a:pPr>
            <a:r>
              <a:t> </a:t>
            </a:r>
            <a:r>
              <a:rPr>
                <a:latin typeface="黑体" panose="02010800040101010101" charset="-122"/>
                <a:ea typeface="黑体" panose="02010800040101010101" charset="-122"/>
                <a:cs typeface="黑体" panose="02010800040101010101" charset="-122"/>
                <a:sym typeface="黑体" panose="02010800040101010101" charset="-122"/>
              </a:rPr>
              <a:t>色彩构成</a:t>
            </a:r>
            <a:endParaRPr>
              <a:latin typeface="黑体" panose="02010800040101010101" charset="-122"/>
              <a:ea typeface="黑体" panose="02010800040101010101" charset="-122"/>
              <a:cs typeface="黑体" panose="02010800040101010101" charset="-122"/>
              <a:sym typeface="黑体" panose="02010800040101010101" charset="-122"/>
            </a:endParaRPr>
          </a:p>
        </p:txBody>
      </p:sp>
      <p:sp>
        <p:nvSpPr>
          <p:cNvPr id="139" name="课程目标：…"/>
          <p:cNvSpPr txBox="1"/>
          <p:nvPr/>
        </p:nvSpPr>
        <p:spPr>
          <a:xfrm>
            <a:off x="2531745" y="2014855"/>
            <a:ext cx="7677150" cy="367157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1">
              <a:lnSpc>
                <a:spcPct val="150000"/>
              </a:lnSpc>
              <a:spcBef>
                <a:spcPts val="1000"/>
              </a:spcBef>
              <a:defRPr sz="1600"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defRPr>
            </a:pPr>
            <a:r>
              <a:t>课程目标：</a:t>
            </a:r>
          </a:p>
          <a:p>
            <a:pPr lvl="1">
              <a:lnSpc>
                <a:spcPct val="150000"/>
              </a:lnSpc>
              <a:spcBef>
                <a:spcPts val="1000"/>
              </a:spcBef>
              <a:defRPr sz="1600"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defRPr>
            </a:pPr>
            <a:r>
              <a:t>       </a:t>
            </a:r>
            <a:r>
              <a:rPr b="1">
                <a:latin typeface="宋体"/>
                <a:ea typeface="宋体"/>
                <a:cs typeface="宋体"/>
                <a:sym typeface="宋体"/>
              </a:rPr>
              <a:t>了解色彩现象、滤镜原理，并掌握</a:t>
            </a:r>
            <a:r>
              <a:rPr lang="zh-CN" b="1">
                <a:latin typeface="宋体"/>
                <a:ea typeface="宋体"/>
                <a:cs typeface="宋体"/>
                <a:sym typeface="宋体"/>
              </a:rPr>
              <a:t>色彩在电影中表意与叙事性作用；</a:t>
            </a:r>
            <a:r>
              <a:rPr b="1">
                <a:latin typeface="宋体"/>
                <a:ea typeface="宋体"/>
                <a:cs typeface="宋体"/>
                <a:sym typeface="宋体"/>
              </a:rPr>
              <a:t>       </a:t>
            </a:r>
            <a:endParaRPr b="1">
              <a:latin typeface="宋体"/>
              <a:ea typeface="宋体"/>
              <a:cs typeface="宋体"/>
              <a:sym typeface="宋体"/>
            </a:endParaRPr>
          </a:p>
          <a:p>
            <a:pPr lvl="1">
              <a:lnSpc>
                <a:spcPct val="150000"/>
              </a:lnSpc>
              <a:spcBef>
                <a:spcPts val="1000"/>
              </a:spcBef>
              <a:defRPr sz="1600"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defRPr>
            </a:pPr>
            <a:r>
              <a:rPr b="1">
                <a:latin typeface="宋体"/>
                <a:ea typeface="宋体"/>
                <a:cs typeface="宋体"/>
                <a:sym typeface="宋体"/>
              </a:rPr>
              <a:t>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      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marR="15875" indent="57150" algn="just" defTabSz="266700">
              <a:lnSpc>
                <a:spcPct val="150000"/>
              </a:lnSpc>
              <a:tabLst>
                <a:tab pos="4635500" algn="l"/>
              </a:tabLst>
              <a:defRPr sz="160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      </a:t>
            </a:r>
            <a:r>
              <a:rPr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rPr>
              <a:t>  </a:t>
            </a:r>
            <a:r>
              <a:rPr lang="zh-CN"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rPr>
              <a:t>拉片</a:t>
            </a:r>
            <a:r>
              <a:rPr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rPr>
              <a:t>案例分析：</a:t>
            </a:r>
            <a:r>
              <a:rPr lang="zh-CN">
                <a:latin typeface="凸版文久見出しゴシック" panose="020B0900000000000000" charset="-128"/>
                <a:ea typeface="宋体" charset="0"/>
                <a:cs typeface="凸版文久見出しゴシック" panose="020B0900000000000000" charset="-128"/>
                <a:sym typeface="凸版文久見出しゴシック" panose="020B0900000000000000" charset="-128"/>
              </a:rPr>
              <a:t>《布达佩斯大饭店》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       </a:t>
            </a:r>
            <a:r>
              <a:rPr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rPr>
              <a:t>  </a:t>
            </a:r>
            <a:endParaRPr>
              <a:latin typeface="凸版文久見出しゴシック" panose="020B0900000000000000" charset="-128"/>
              <a:ea typeface="凸版文久見出しゴシック" panose="020B0900000000000000" charset="-128"/>
              <a:cs typeface="凸版文久見出しゴシック" panose="020B0900000000000000" charset="-128"/>
              <a:sym typeface="凸版文久見出しゴシック" panose="020B0900000000000000" charset="-128"/>
            </a:endParaRPr>
          </a:p>
          <a:p>
            <a:pPr marR="15875" indent="57150" algn="just" defTabSz="266700">
              <a:lnSpc>
                <a:spcPct val="150000"/>
              </a:lnSpc>
              <a:tabLst>
                <a:tab pos="4635500" algn="l"/>
              </a:tabLst>
              <a:defRPr sz="160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rPr>
              <a:t>       知识链接：</a:t>
            </a:r>
            <a:r>
              <a:rPr>
                <a:sym typeface="+mn-ea"/>
              </a:rPr>
              <a:t>  https://v.qq.com/x/cover/tlvwiitova3d9m1.html</a:t>
            </a:r>
            <a:endParaRPr>
              <a:sym typeface="+mn-ea"/>
            </a:endParaRPr>
          </a:p>
          <a:p>
            <a:pPr marR="15875" indent="57150" algn="just" defTabSz="266700">
              <a:lnSpc>
                <a:spcPct val="150000"/>
              </a:lnSpc>
              <a:tabLst>
                <a:tab pos="4635500" algn="l"/>
              </a:tabLst>
              <a:defRPr sz="160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     </a:t>
            </a:r>
            <a:r>
              <a:rPr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rPr>
              <a:t>   关 键 词: </a:t>
            </a:r>
            <a:endParaRPr>
              <a:latin typeface="凸版文久見出しゴシック" panose="020B0900000000000000" charset="-128"/>
              <a:ea typeface="凸版文久見出しゴシック" panose="020B0900000000000000" charset="-128"/>
              <a:cs typeface="凸版文久見出しゴシック" panose="020B0900000000000000" charset="-128"/>
              <a:sym typeface="凸版文久見出しゴシック" panose="020B0900000000000000" charset="-128"/>
            </a:endParaRPr>
          </a:p>
          <a:p>
            <a:pPr marL="914400" marR="15875" indent="-857250" algn="just" defTabSz="266700">
              <a:lnSpc>
                <a:spcPct val="150000"/>
              </a:lnSpc>
              <a:tabLst>
                <a:tab pos="4635500" algn="l"/>
              </a:tabLst>
              <a:defRPr sz="160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凸版文久見出しゴシック" panose="020B0900000000000000" charset="-128"/>
                <a:ea typeface="凸版文久見出しゴシック" panose="020B0900000000000000" charset="-128"/>
                <a:cs typeface="凸版文久見出しゴシック" panose="020B0900000000000000" charset="-128"/>
                <a:sym typeface="凸版文久見出しゴシック" panose="020B0900000000000000" charset="-128"/>
              </a:rPr>
              <a:t>                   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三原色、三补色、色相、明度、饱和度、冷色、暖色、和谐色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marL="914400" marR="15875" indent="-857250" algn="just" defTabSz="266700">
              <a:lnSpc>
                <a:spcPct val="150000"/>
              </a:lnSpc>
              <a:tabLst>
                <a:tab pos="4635500" algn="l"/>
              </a:tabLst>
              <a:defRPr sz="160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                           </a:t>
            </a:r>
            <a:r>
              <a:rPr lang="zh-CN">
                <a:latin typeface="宋体"/>
                <a:ea typeface="宋体"/>
                <a:cs typeface="宋体"/>
                <a:sym typeface="宋体"/>
              </a:rPr>
              <a:t>色彩叙事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marR="15875" indent="114300" algn="just" defTabSz="266700">
              <a:lnSpc>
                <a:spcPct val="150000"/>
              </a:lnSpc>
              <a:tabLst>
                <a:tab pos="4635500" algn="l"/>
              </a:tabLst>
              <a:defRPr sz="160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        课       时：课堂教学</a:t>
            </a:r>
            <a:r>
              <a:rPr lang="en-US">
                <a:latin typeface="宋体"/>
                <a:ea typeface="宋体"/>
                <a:cs typeface="宋体"/>
                <a:sym typeface="宋体"/>
              </a:rPr>
              <a:t>2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课时</a:t>
            </a:r>
            <a:endParaRPr>
              <a:latin typeface="宋体"/>
              <a:ea typeface="宋体"/>
              <a:cs typeface="宋体"/>
              <a:sym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1" bldLvl="0" animBg="1" advAuto="0"/>
      <p:bldP spid="138" grpId="2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42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143" name="DSC02345.JPG" descr="DSC023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530" y="1112644"/>
            <a:ext cx="8409040" cy="549725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46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147" name="DSC02348.JPG" descr="DSC023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517" y="1130135"/>
            <a:ext cx="8313761" cy="545205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50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151" name="DSC02332.JPG" descr="DSC023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970" y="1411585"/>
            <a:ext cx="7588060" cy="500881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62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163" name="DSC02305.JPG" descr="DSC023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739" y="940383"/>
            <a:ext cx="9144001" cy="600772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54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155" name="DSC02333.JPG" descr="DSC023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267" y="835233"/>
            <a:ext cx="3873579" cy="592116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58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159" name="DSC02334.JPG" descr="DSC0233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262" y="1029819"/>
            <a:ext cx="8306134" cy="548776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42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791605686249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15" y="462280"/>
            <a:ext cx="10058400" cy="570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54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821605687377_.pic_h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" y="55880"/>
            <a:ext cx="12247880" cy="6842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58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831605687378_.pic_h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6995" y="-73660"/>
            <a:ext cx="12365355" cy="7005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46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781605686248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275" y="462280"/>
            <a:ext cx="10058400" cy="5657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50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771605686246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462280"/>
            <a:ext cx="10245090" cy="5777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62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761605686245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180" y="462280"/>
            <a:ext cx="10058400" cy="5735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90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191" name="一、色彩的产生…"/>
          <p:cNvSpPr txBox="1"/>
          <p:nvPr/>
        </p:nvSpPr>
        <p:spPr>
          <a:xfrm>
            <a:off x="1416050" y="1507490"/>
            <a:ext cx="9575800" cy="48234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1" indent="1120140" algn="l" defTabSz="266700">
              <a:lnSpc>
                <a:spcPct val="150000"/>
              </a:lnSpc>
              <a:tabLst>
                <a:tab pos="5334000" algn="l"/>
              </a:tabLst>
              <a:defRPr sz="2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>
                <a:latin typeface="宋体"/>
                <a:ea typeface="宋体"/>
                <a:cs typeface="宋体"/>
                <a:sym typeface="宋体"/>
              </a:rPr>
              <a:t>一、色彩的产生</a:t>
            </a:r>
            <a:endParaRPr b="1">
              <a:latin typeface="宋体"/>
              <a:ea typeface="宋体"/>
              <a:cs typeface="宋体"/>
              <a:sym typeface="宋体"/>
            </a:endParaRPr>
          </a:p>
          <a:p>
            <a:pPr lvl="1" indent="1118870" algn="l" defTabSz="266700">
              <a:lnSpc>
                <a:spcPct val="150000"/>
              </a:lnSpc>
              <a:tabLst>
                <a:tab pos="5334000" algn="l"/>
              </a:tabLst>
              <a:defRPr sz="2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大千世界五彩斑斓。色彩是如何产生的呢？事实上，色彩并不</a:t>
            </a:r>
            <a:r>
              <a:rPr lang="zh-CN">
                <a:latin typeface="宋体"/>
                <a:ea typeface="宋体"/>
                <a:cs typeface="宋体"/>
                <a:sym typeface="宋体"/>
              </a:rPr>
              <a:t>是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想象的那样是物体天生具有的东西。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lvl="1" indent="1118870" algn="l" defTabSz="266700">
              <a:lnSpc>
                <a:spcPct val="150000"/>
              </a:lnSpc>
              <a:tabLst>
                <a:tab pos="5334000" algn="l"/>
              </a:tabLst>
              <a:defRPr sz="2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英国科学家牛顿在</a:t>
            </a:r>
            <a:r>
              <a:t>1676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年的一次实验中（图</a:t>
            </a:r>
            <a:r>
              <a:t>4-1-1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），用一只三棱镜将太阳光分离出多种神奇的色谱时，人们才第一次从科学的角度了解了色彩产生的原理</a:t>
            </a:r>
            <a:r>
              <a:t>——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白色的阳光是由红、橙、黄、绿、青、蓝、紫等色光组合而成的。而每一个物体的固有色彩，实际上是这个物体本身吸收与反射色光波时产生的结果。比如说，一个红苹果，从科学的原理上说，是这个苹果的表面吸收了光谱中其他的几种光波，仅仅反射出红色光波的结果。可以这么说，是光在左右着视觉中的这个五彩缤纷、绚丽多彩。</a:t>
            </a:r>
            <a:endParaRPr>
              <a:latin typeface="宋体"/>
              <a:ea typeface="宋体"/>
              <a:cs typeface="宋体"/>
              <a:sym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94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195" name="图4-1-1 三棱镜分离出有色光"/>
          <p:cNvSpPr txBox="1"/>
          <p:nvPr/>
        </p:nvSpPr>
        <p:spPr>
          <a:xfrm>
            <a:off x="7312140" y="5825197"/>
            <a:ext cx="1845945" cy="25273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algn="just" defTabSz="266700">
              <a:defRPr sz="1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图</a:t>
            </a:r>
            <a:r>
              <a:t>4-1-1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　三棱镜分离出有色光</a:t>
            </a:r>
            <a:endParaRPr b="1"/>
          </a:p>
        </p:txBody>
      </p:sp>
      <p:pic>
        <p:nvPicPr>
          <p:cNvPr id="196" name="image.p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1235" y="1359535"/>
            <a:ext cx="8834120" cy="413956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99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00" name="二、物体的色彩…"/>
          <p:cNvSpPr txBox="1"/>
          <p:nvPr/>
        </p:nvSpPr>
        <p:spPr>
          <a:xfrm>
            <a:off x="2229762" y="1521436"/>
            <a:ext cx="7732476" cy="43732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just" defTabSz="266700">
              <a:lnSpc>
                <a:spcPct val="150000"/>
              </a:lnSpc>
              <a:defRPr sz="25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>
                <a:latin typeface="宋体"/>
                <a:ea typeface="宋体"/>
                <a:cs typeface="宋体"/>
                <a:sym typeface="宋体"/>
              </a:rPr>
              <a:t>二、物体的色彩</a:t>
            </a:r>
            <a:endParaRPr b="1">
              <a:latin typeface="宋体"/>
              <a:ea typeface="宋体"/>
              <a:cs typeface="宋体"/>
              <a:sym typeface="宋体"/>
            </a:endParaRPr>
          </a:p>
          <a:p>
            <a:pPr indent="267970" algn="just" defTabSz="266700">
              <a:lnSpc>
                <a:spcPct val="150000"/>
              </a:lnSpc>
              <a:defRPr sz="25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>
                <a:latin typeface="宋体"/>
                <a:ea typeface="宋体"/>
                <a:cs typeface="宋体"/>
                <a:sym typeface="宋体"/>
              </a:rPr>
              <a:t>消色物体的色、有色物体的色</a:t>
            </a:r>
            <a:endParaRPr b="1">
              <a:latin typeface="宋体"/>
              <a:ea typeface="宋体"/>
              <a:cs typeface="宋体"/>
              <a:sym typeface="宋体"/>
            </a:endParaRPr>
          </a:p>
          <a:p>
            <a:pPr indent="266700" algn="just" defTabSz="266700">
              <a:lnSpc>
                <a:spcPct val="150000"/>
              </a:lnSpc>
              <a:defRPr sz="25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从大的方面来说，世界万物可分为消色物体和有色物体两大类。所谓消色物体指黑、白</a:t>
            </a:r>
            <a:r>
              <a:t>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、灰色物体，它对照明光线有非选择性吸收的特性。当白光照射到消色物体上时，反光率的</a:t>
            </a:r>
            <a:r>
              <a:t>75%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以上为白色，反光率的</a:t>
            </a:r>
            <a:r>
              <a:t>10%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以下为黑色，反光率的两者之间为灰色。 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indent="266700" algn="just" defTabSz="266700">
              <a:defRPr sz="1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03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04" name="有色物体的色，有色物体对照明光线具有选择性吸收的特点，即光线照射到有色物体上时，入射光中被吸收的各种波长的色光不等量的。如果物体反射了红光、吸收了绿光、蓝光，物体呈现红色如（图4-1-2）。…"/>
          <p:cNvSpPr txBox="1"/>
          <p:nvPr/>
        </p:nvSpPr>
        <p:spPr>
          <a:xfrm>
            <a:off x="5302250" y="1827530"/>
            <a:ext cx="5182235" cy="39344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indent="266700"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有色物体的色，有色物体对照明光线具有选择性吸收的特点，即光线照射到有色物体上时，入射光中被吸收的各种波长的色光不等量的。如果物体反射了红光、吸收了绿光、蓝光，物体呈现红色如（图</a:t>
            </a:r>
            <a:r>
              <a:t>4-1-2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）。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indent="266700"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同样物体反射了绿光、吸收了红光、蓝光，物体呈现绿色。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algn="just" defTabSz="266700"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</a:p>
          <a:p>
            <a:pPr algn="just" defTabSz="266700"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                   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algn="ctr" defTabSz="266700"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/>
              <a:t>        </a:t>
            </a:r>
            <a:endParaRPr b="1"/>
          </a:p>
        </p:txBody>
      </p:sp>
      <p:pic>
        <p:nvPicPr>
          <p:cNvPr id="205" name="五27.jpeg" descr="五2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320" y="1748790"/>
            <a:ext cx="3743325" cy="244411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6" name="图4-1-2       有色物体的色"/>
          <p:cNvSpPr txBox="1"/>
          <p:nvPr/>
        </p:nvSpPr>
        <p:spPr>
          <a:xfrm>
            <a:off x="1290003" y="4498339"/>
            <a:ext cx="2830195" cy="37592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algn="just" defTabSz="266700"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图</a:t>
            </a:r>
            <a:r>
              <a:t>4-1-2      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有色物体的色   </a:t>
            </a:r>
            <a:endParaRPr>
              <a:latin typeface="宋体"/>
              <a:ea typeface="宋体"/>
              <a:cs typeface="宋体"/>
              <a:sym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09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10" name="三、三原色…"/>
          <p:cNvSpPr txBox="1"/>
          <p:nvPr/>
        </p:nvSpPr>
        <p:spPr>
          <a:xfrm>
            <a:off x="2303035" y="1049997"/>
            <a:ext cx="7585930" cy="265366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>
                <a:latin typeface="宋体"/>
                <a:ea typeface="宋体"/>
                <a:cs typeface="宋体"/>
                <a:sym typeface="宋体"/>
              </a:rPr>
              <a:t>三、三原色</a:t>
            </a:r>
            <a:endParaRPr b="1"/>
          </a:p>
          <a:p>
            <a:pPr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（一）、三原色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indent="276225"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红、绿、蓝三色光称作三原色，在光谱中，它们是独立的三种基本颜色，既不能分解为其他颜色，也不能由另两色相配而成，但却可以按不同比例混合构成其他色彩。摄影学上讲的三原色是指色光而言，三原色光相混合而成可产生白光。而绘画中这三种颜料相混合则变成黑色。</a:t>
            </a:r>
            <a:endParaRPr>
              <a:latin typeface="宋体"/>
              <a:ea typeface="宋体"/>
              <a:cs typeface="宋体"/>
              <a:sym typeface="宋体"/>
            </a:endParaRPr>
          </a:p>
        </p:txBody>
      </p:sp>
      <p:pic>
        <p:nvPicPr>
          <p:cNvPr id="211" name="五2.jpeg" descr="五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7501" y="4050491"/>
            <a:ext cx="3686262" cy="2791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2" name="(图4-1-3)…"/>
          <p:cNvSpPr txBox="1"/>
          <p:nvPr/>
        </p:nvSpPr>
        <p:spPr>
          <a:xfrm>
            <a:off x="2572120" y="5297859"/>
            <a:ext cx="3956799" cy="94551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indent="276225"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t>(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图</a:t>
            </a:r>
            <a:r>
              <a:t>4-1-3)</a:t>
            </a:r>
          </a:p>
          <a:p>
            <a:pPr indent="276225"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红光</a:t>
            </a:r>
            <a:r>
              <a:t>+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绿光</a:t>
            </a:r>
            <a:r>
              <a:t>+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蓝光＝白光</a:t>
            </a:r>
            <a:endParaRPr>
              <a:latin typeface="宋体"/>
              <a:ea typeface="宋体"/>
              <a:cs typeface="宋体"/>
              <a:sym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15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16" name="五3.jpeg" descr="五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9830" y="3195097"/>
            <a:ext cx="3625221" cy="331640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7" name="(二)、三补色：黄、品红、青。…"/>
          <p:cNvSpPr txBox="1"/>
          <p:nvPr/>
        </p:nvSpPr>
        <p:spPr>
          <a:xfrm>
            <a:off x="6476672" y="1102385"/>
            <a:ext cx="3775929" cy="52031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just" defTabSz="266700">
              <a:defRPr sz="2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t>(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二</a:t>
            </a:r>
            <a:r>
              <a:t>)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、三补色：黄、品红、青。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indent="266700" defTabSz="266700">
              <a:lnSpc>
                <a:spcPts val="4100"/>
              </a:lnSpc>
              <a:spcBef>
                <a:spcPts val="500"/>
              </a:spcBef>
              <a:defRPr sz="205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三原色和三补色的关系：从白光中减去某个原色，即可得到与其相对应的补色；每种补色由两种原色组成，每种原色由两种补色组成(4-4)。也可以说任何两种色光相加后能产生白光，就互称为补色光。红光和青光互称补色光。绿光和品光互称为补色光。蓝光和黄光互称为补色光。</a:t>
            </a:r>
          </a:p>
        </p:txBody>
      </p:sp>
      <p:sp>
        <p:nvSpPr>
          <p:cNvPr id="218" name="黄光+品光+青光＝黑光…"/>
          <p:cNvSpPr txBox="1"/>
          <p:nvPr/>
        </p:nvSpPr>
        <p:spPr>
          <a:xfrm>
            <a:off x="2450031" y="859790"/>
            <a:ext cx="3103504" cy="233553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indent="400050" defTabSz="266700">
              <a:lnSpc>
                <a:spcPts val="4000"/>
              </a:lnSpc>
              <a:spcBef>
                <a:spcPts val="500"/>
              </a:spcBef>
              <a:defRPr sz="195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黄光+品光+青光＝黑光</a:t>
            </a:r>
          </a:p>
          <a:p>
            <a:pPr indent="400050" defTabSz="266700">
              <a:lnSpc>
                <a:spcPts val="4000"/>
              </a:lnSpc>
              <a:spcBef>
                <a:spcPts val="500"/>
              </a:spcBef>
              <a:defRPr sz="195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红光＋青光＝白光</a:t>
            </a:r>
          </a:p>
          <a:p>
            <a:pPr indent="400050" defTabSz="266700">
              <a:lnSpc>
                <a:spcPts val="4000"/>
              </a:lnSpc>
              <a:spcBef>
                <a:spcPts val="500"/>
              </a:spcBef>
              <a:defRPr sz="195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绿光＋品光＝白光</a:t>
            </a:r>
          </a:p>
          <a:p>
            <a:pPr indent="400050" defTabSz="266700">
              <a:lnSpc>
                <a:spcPts val="4000"/>
              </a:lnSpc>
              <a:spcBef>
                <a:spcPts val="500"/>
              </a:spcBef>
              <a:defRPr sz="195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蓝光＋黄光＝白光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21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22" name="四、色彩的三要素…"/>
          <p:cNvSpPr txBox="1"/>
          <p:nvPr/>
        </p:nvSpPr>
        <p:spPr>
          <a:xfrm>
            <a:off x="2368222" y="1224305"/>
            <a:ext cx="7920942" cy="38436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indent="266700" algn="just" defTabSz="266700">
              <a:lnSpc>
                <a:spcPct val="12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>
                <a:latin typeface="宋体"/>
                <a:ea typeface="宋体"/>
                <a:cs typeface="宋体"/>
                <a:sym typeface="宋体"/>
              </a:rPr>
              <a:t>四、</a:t>
            </a:r>
            <a:r>
              <a:rPr b="1">
                <a:ln>
                  <a:solidFill>
                    <a:srgbClr val="C00000"/>
                  </a:solidFill>
                </a:ln>
                <a:latin typeface="宋体"/>
                <a:ea typeface="宋体"/>
                <a:cs typeface="宋体"/>
                <a:sym typeface="宋体"/>
              </a:rPr>
              <a:t>色彩的三要素</a:t>
            </a:r>
            <a:endParaRPr b="1">
              <a:ln>
                <a:solidFill>
                  <a:srgbClr val="C00000"/>
                </a:solidFill>
              </a:ln>
            </a:endParaRPr>
          </a:p>
          <a:p>
            <a:pPr algn="just" defTabSz="266700">
              <a:lnSpc>
                <a:spcPct val="12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</a:p>
          <a:p>
            <a:pPr indent="276225" algn="just" defTabSz="266700">
              <a:lnSpc>
                <a:spcPct val="12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色彩的三大要素在进行彩色摄影、数字摄影后期影像调整的学习时，有三个方面的关系是十分重要的，这就是色彩的三大要素</a:t>
            </a:r>
            <a:r>
              <a:t>——</a:t>
            </a:r>
            <a:r>
              <a:rPr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宋体"/>
                <a:ea typeface="宋体"/>
                <a:cs typeface="宋体"/>
                <a:sym typeface="宋体"/>
              </a:rPr>
              <a:t>色相、明度与饱和度。</a:t>
            </a:r>
            <a:endParaRPr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宋体"/>
              <a:ea typeface="宋体"/>
              <a:cs typeface="宋体"/>
              <a:sym typeface="宋体"/>
            </a:endParaRPr>
          </a:p>
          <a:p>
            <a:pPr indent="276225" algn="just" defTabSz="266700">
              <a:lnSpc>
                <a:spcPct val="12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宋体"/>
                <a:ea typeface="宋体"/>
                <a:cs typeface="宋体"/>
                <a:sym typeface="宋体"/>
              </a:rPr>
              <a:t>色相，又称色别，指色与色之间的差别，如红、黄、绿、蓝、青、橙、紫</a:t>
            </a:r>
            <a:endParaRPr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宋体"/>
              <a:ea typeface="宋体"/>
              <a:cs typeface="宋体"/>
              <a:sym typeface="宋体"/>
            </a:endParaRPr>
          </a:p>
          <a:p>
            <a:pPr indent="276225" algn="just" defTabSz="266700">
              <a:lnSpc>
                <a:spcPct val="12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宋体"/>
                <a:ea typeface="宋体"/>
                <a:cs typeface="宋体"/>
                <a:sym typeface="宋体"/>
              </a:rPr>
              <a:t>明度，色彩的明暗程度。在反光率相同时，不同色别的明暗程度不同，例如，黄比红更明亮；</a:t>
            </a:r>
            <a:endParaRPr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宋体"/>
              <a:ea typeface="宋体"/>
              <a:cs typeface="宋体"/>
              <a:sym typeface="宋体"/>
            </a:endParaRPr>
          </a:p>
          <a:p>
            <a:pPr indent="276225" algn="just" defTabSz="266700">
              <a:lnSpc>
                <a:spcPct val="12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宋体"/>
                <a:ea typeface="宋体"/>
                <a:cs typeface="宋体"/>
                <a:sym typeface="宋体"/>
              </a:rPr>
              <a:t>饱和度，指同一色别的纯净度和鲜明度的变化。同一色相因饱和度的差异也呈现为不同的颜色，如红分为深红、品红等。影响饱和度的因素有照明条件和物体表面的结构等原因。</a:t>
            </a:r>
            <a:endParaRPr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宋体"/>
              <a:ea typeface="宋体"/>
              <a:cs typeface="宋体"/>
              <a:sym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25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26" name="屏幕快照 2018-04-15 14.45.11.png" descr="屏幕快照 2018-04-15 14.45.11.png"/>
          <p:cNvPicPr>
            <a:picLocks noChangeAspect="1"/>
          </p:cNvPicPr>
          <p:nvPr/>
        </p:nvPicPr>
        <p:blipFill>
          <a:blip r:embed="rId1"/>
          <a:srcRect l="49966" t="8656" r="6344" b="10208"/>
          <a:stretch>
            <a:fillRect/>
          </a:stretch>
        </p:blipFill>
        <p:spPr>
          <a:xfrm>
            <a:off x="3897144" y="669726"/>
            <a:ext cx="4754503" cy="551853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29" name="色彩构成："/>
          <p:cNvSpPr txBox="1"/>
          <p:nvPr/>
        </p:nvSpPr>
        <p:spPr>
          <a:xfrm>
            <a:off x="2362579" y="394802"/>
            <a:ext cx="3103504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30" name="五、色彩的特性…"/>
          <p:cNvSpPr txBox="1"/>
          <p:nvPr/>
        </p:nvSpPr>
        <p:spPr>
          <a:xfrm>
            <a:off x="2457122" y="1122704"/>
            <a:ext cx="7704198" cy="435038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indent="293370" algn="just" defTabSz="266700">
              <a:lnSpc>
                <a:spcPct val="150000"/>
              </a:lnSpc>
              <a:defRPr sz="2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>
                <a:latin typeface="宋体"/>
                <a:ea typeface="宋体"/>
                <a:cs typeface="宋体"/>
                <a:sym typeface="宋体"/>
              </a:rPr>
              <a:t>五、色彩的特性</a:t>
            </a:r>
            <a:endParaRPr b="1"/>
          </a:p>
          <a:p>
            <a:pPr indent="292100" algn="just" defTabSz="266700">
              <a:lnSpc>
                <a:spcPct val="150000"/>
              </a:lnSpc>
              <a:defRPr sz="20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色彩是这个大千世界的直接产物，色彩又在直接或间接地刺激着人的感官世界，左右着我们的情绪与影响着我们的生活品质。当然，我们应当看到，不同的人对色彩的心理感知与对色彩的喜好是不同的。这其中，不同的年龄、不同的性别、不同的民族与地区、不同的国度、不同的文化背景、不同的宗教信仰等各个方面都会对人的色彩喜好有着直接的影响。因此，从人类的视觉认知心理上看，色彩具有冷暖、轻重、快慢、进退、胀缩等特性。（图</a:t>
            </a:r>
            <a:r>
              <a:t>4-1-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５至图</a:t>
            </a:r>
            <a:r>
              <a:t>4-1-7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</a:t>
            </a:r>
            <a:endParaRPr>
              <a:latin typeface="宋体"/>
              <a:ea typeface="宋体"/>
              <a:cs typeface="宋体"/>
              <a:sym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33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34" name="屏幕快照 2018-04-15 14.47.52.png" descr="屏幕快照 2018-04-15 14.47.52.png"/>
          <p:cNvPicPr>
            <a:picLocks noChangeAspect="1"/>
          </p:cNvPicPr>
          <p:nvPr/>
        </p:nvPicPr>
        <p:blipFill>
          <a:blip r:embed="rId1"/>
          <a:srcRect l="6008" t="7172" r="6008" b="11295"/>
          <a:stretch>
            <a:fillRect/>
          </a:stretch>
        </p:blipFill>
        <p:spPr>
          <a:xfrm>
            <a:off x="2004162" y="1710134"/>
            <a:ext cx="8022743" cy="46465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5" name="冷色  暖色"/>
          <p:cNvSpPr txBox="1"/>
          <p:nvPr/>
        </p:nvSpPr>
        <p:spPr>
          <a:xfrm>
            <a:off x="5182438" y="952968"/>
            <a:ext cx="1685290" cy="50673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7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冷色  暖色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43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44" name="屏幕快照 2018-04-15 14.47.34.png" descr="屏幕快照 2018-04-15 14.47.34.png"/>
          <p:cNvPicPr>
            <a:picLocks noChangeAspect="1"/>
          </p:cNvPicPr>
          <p:nvPr/>
        </p:nvPicPr>
        <p:blipFill>
          <a:blip r:embed="rId1"/>
          <a:srcRect l="9261" t="7632" r="53072" b="11662"/>
          <a:stretch>
            <a:fillRect/>
          </a:stretch>
        </p:blipFill>
        <p:spPr>
          <a:xfrm>
            <a:off x="4376420" y="101600"/>
            <a:ext cx="4971415" cy="665543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47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48" name="屏幕快照 2018-04-15 14.43.14.png" descr="屏幕快照 2018-04-15 14.43.14.png"/>
          <p:cNvPicPr>
            <a:picLocks noChangeAspect="1"/>
          </p:cNvPicPr>
          <p:nvPr/>
        </p:nvPicPr>
        <p:blipFill>
          <a:blip r:embed="rId1"/>
          <a:srcRect l="51152" t="7403" r="6191" b="25464"/>
          <a:stretch>
            <a:fillRect/>
          </a:stretch>
        </p:blipFill>
        <p:spPr>
          <a:xfrm>
            <a:off x="3510915" y="737870"/>
            <a:ext cx="5877560" cy="578104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55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56" name="屏幕快照 2018-04-15 14.43.28.png" descr="屏幕快照 2018-04-15 14.43.28.png"/>
          <p:cNvPicPr>
            <a:picLocks noChangeAspect="1"/>
          </p:cNvPicPr>
          <p:nvPr/>
        </p:nvPicPr>
        <p:blipFill>
          <a:blip r:embed="rId1"/>
          <a:srcRect l="7024" t="8774" r="52353" b="14287"/>
          <a:stretch>
            <a:fillRect/>
          </a:stretch>
        </p:blipFill>
        <p:spPr>
          <a:xfrm>
            <a:off x="5364480" y="44450"/>
            <a:ext cx="5718810" cy="6769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7" name="暖   色"/>
          <p:cNvSpPr txBox="1"/>
          <p:nvPr/>
        </p:nvSpPr>
        <p:spPr>
          <a:xfrm>
            <a:off x="2419966" y="1109980"/>
            <a:ext cx="1111250" cy="50673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7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暖   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60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61" name="屏幕快照 2018-04-15 14.46.59.png" descr="屏幕快照 2018-04-15 14.46.59.png"/>
          <p:cNvPicPr>
            <a:picLocks noChangeAspect="1"/>
          </p:cNvPicPr>
          <p:nvPr/>
        </p:nvPicPr>
        <p:blipFill>
          <a:blip r:embed="rId1"/>
          <a:srcRect l="5872" t="20424" r="47992" b="40261"/>
          <a:stretch>
            <a:fillRect/>
          </a:stretch>
        </p:blipFill>
        <p:spPr>
          <a:xfrm>
            <a:off x="1443990" y="951230"/>
            <a:ext cx="9857105" cy="524954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81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82" name="屏幕快照 2018-04-15 14.43.10.png" descr="屏幕快照 2018-04-15 14.43.10.png"/>
          <p:cNvPicPr>
            <a:picLocks noChangeAspect="1"/>
          </p:cNvPicPr>
          <p:nvPr/>
        </p:nvPicPr>
        <p:blipFill>
          <a:blip r:embed="rId1"/>
          <a:srcRect l="8432" t="8432" r="8432" b="8432"/>
          <a:stretch>
            <a:fillRect/>
          </a:stretch>
        </p:blipFill>
        <p:spPr>
          <a:xfrm>
            <a:off x="2266354" y="1648754"/>
            <a:ext cx="8090953" cy="5056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3" name="冷暖色"/>
          <p:cNvSpPr txBox="1"/>
          <p:nvPr/>
        </p:nvSpPr>
        <p:spPr>
          <a:xfrm>
            <a:off x="5529579" y="855980"/>
            <a:ext cx="1118870" cy="50673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7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冷暖色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86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87" name="屏幕快照 2018-04-15 14.42.45.png" descr="屏幕快照 2018-04-15 14.42.45.png"/>
          <p:cNvPicPr>
            <a:picLocks noChangeAspect="1"/>
          </p:cNvPicPr>
          <p:nvPr/>
        </p:nvPicPr>
        <p:blipFill>
          <a:blip r:embed="rId1"/>
          <a:srcRect l="8079" t="6577" r="8079" b="11120"/>
          <a:stretch>
            <a:fillRect/>
          </a:stretch>
        </p:blipFill>
        <p:spPr>
          <a:xfrm>
            <a:off x="2443807" y="1716807"/>
            <a:ext cx="7863146" cy="48243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8" name="冷暖色"/>
          <p:cNvSpPr txBox="1"/>
          <p:nvPr/>
        </p:nvSpPr>
        <p:spPr>
          <a:xfrm>
            <a:off x="5694710" y="919480"/>
            <a:ext cx="1118870" cy="50673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7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冷暖色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95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96" name="屏幕快照 2018-04-15 14.46.29.png" descr="屏幕快照 2018-04-15 14.46.29.png"/>
          <p:cNvPicPr>
            <a:picLocks noChangeAspect="1"/>
          </p:cNvPicPr>
          <p:nvPr/>
        </p:nvPicPr>
        <p:blipFill>
          <a:blip r:embed="rId1"/>
          <a:srcRect l="6951" t="9734" r="5211" b="9734"/>
          <a:stretch>
            <a:fillRect/>
          </a:stretch>
        </p:blipFill>
        <p:spPr>
          <a:xfrm>
            <a:off x="2235844" y="1127918"/>
            <a:ext cx="8031809" cy="460236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99" name="色彩构成："/>
          <p:cNvSpPr txBox="1"/>
          <p:nvPr/>
        </p:nvSpPr>
        <p:spPr>
          <a:xfrm>
            <a:off x="2311778" y="5006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300" name="有数字相机的色彩还原性能、被摄体本身的色彩、光源的色彩、环境的色彩、滤光镜的影响等。…"/>
          <p:cNvSpPr txBox="1"/>
          <p:nvPr/>
        </p:nvSpPr>
        <p:spPr>
          <a:xfrm>
            <a:off x="2657316" y="2570479"/>
            <a:ext cx="7121288" cy="30816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indent="326390" defTabSz="266700">
              <a:lnSpc>
                <a:spcPts val="3800"/>
              </a:lnSpc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Songti SC Regular" panose="02010800040101010101" charset="-122"/>
              </a:defRPr>
            </a:pPr>
            <a:r>
              <a:t>有数字相机的色彩还原性能、被摄体本身的色彩、光源的色彩、环境的色彩、滤光镜的影响等。</a:t>
            </a:r>
          </a:p>
          <a:p>
            <a:pPr indent="45847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Songti SC Regular" panose="02010800040101010101" charset="-122"/>
              </a:defRPr>
            </a:pPr>
            <a:r>
              <a:t>（一）、被摄体本身的色彩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Songti SC Regular" panose="02010800040101010101" charset="-122"/>
              </a:defRPr>
            </a:pPr>
            <a:r>
              <a:t>  被摄体本身的色彩，在色彩学上称为“固有色”。景物之所以呈现清楚不同的色彩，是因为物体对光线具有选择吸收、反射的特点。被摄体呈现为绿色，是因为它反射了绿光而吸收了红、黄、橙等色光；呈现为红色的物体是由于反射红光而吸收蓝、绿等色光；反射了全部光线的物体呈白色；吸收了全部光线的物体呈黑色。  </a:t>
            </a:r>
            <a:endParaRPr sz="1050"/>
          </a:p>
          <a:p>
            <a:pPr indent="326390" defTabSz="266700">
              <a:spcBef>
                <a:spcPts val="500"/>
              </a:spcBef>
              <a:defRPr sz="120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rPr sz="1050"/>
              <a:t> </a:t>
            </a:r>
            <a:endParaRPr sz="1050"/>
          </a:p>
        </p:txBody>
      </p:sp>
      <p:sp>
        <p:nvSpPr>
          <p:cNvPr id="301" name="影响照片色彩的因素"/>
          <p:cNvSpPr txBox="1"/>
          <p:nvPr/>
        </p:nvSpPr>
        <p:spPr>
          <a:xfrm>
            <a:off x="3556634" y="1414891"/>
            <a:ext cx="4823045" cy="8604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indent="326390" defTabSz="266700">
              <a:lnSpc>
                <a:spcPts val="6000"/>
              </a:lnSpc>
              <a:spcBef>
                <a:spcPts val="500"/>
              </a:spcBef>
              <a:defRPr sz="360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影响</a:t>
            </a:r>
            <a:r>
              <a:rPr lang="zh-CN"/>
              <a:t>影像</a:t>
            </a:r>
            <a:r>
              <a:t>色彩的因素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04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305" name="采用奥林巴斯E-3拍摄.bmp" descr="采用奥林巴斯E-3拍摄.b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817" y="3988212"/>
            <a:ext cx="3013583" cy="22601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6" name="采用尼康D300拍摄.jpg" descr="采用尼康D300拍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044" y="1263399"/>
            <a:ext cx="3115128" cy="206900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7" name="采用松下L10拍摄.jpg" descr="采用松下L10拍摄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97" y="3797712"/>
            <a:ext cx="3013584" cy="22601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8" name="采用索尼α700拍摄.bmp" descr="采用索尼α700拍摄.bm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137" y="1263399"/>
            <a:ext cx="3103504" cy="206900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矩形"/>
          <p:cNvSpPr/>
          <p:nvPr/>
        </p:nvSpPr>
        <p:spPr>
          <a:xfrm>
            <a:off x="1165225" y="247238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04" name="色彩构成："/>
          <p:cNvSpPr txBox="1"/>
          <p:nvPr/>
        </p:nvSpPr>
        <p:spPr>
          <a:xfrm>
            <a:off x="1902203" y="247238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881605774823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225" y="1355725"/>
            <a:ext cx="10058400" cy="4579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04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861605774822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367790"/>
            <a:ext cx="10058400" cy="4579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矩形"/>
          <p:cNvSpPr/>
          <p:nvPr/>
        </p:nvSpPr>
        <p:spPr>
          <a:xfrm>
            <a:off x="1021715" y="31899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04" name="色彩构成："/>
          <p:cNvSpPr txBox="1"/>
          <p:nvPr/>
        </p:nvSpPr>
        <p:spPr>
          <a:xfrm>
            <a:off x="1758693" y="31899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pic>
        <p:nvPicPr>
          <p:cNvPr id="2" name="图片 1" descr="12871605774823_.pic_h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15" y="1285240"/>
            <a:ext cx="10339705" cy="4048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2891605774824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20" y="281940"/>
            <a:ext cx="9789160" cy="6293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15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316" name="（三）、光源的色彩…"/>
          <p:cNvSpPr txBox="1"/>
          <p:nvPr/>
        </p:nvSpPr>
        <p:spPr>
          <a:xfrm>
            <a:off x="2595910" y="1744980"/>
            <a:ext cx="4098780" cy="264858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（三）、光源的色彩</a:t>
            </a:r>
          </a:p>
          <a:p>
            <a:pPr indent="11303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光源的色彩，被称为“光源色”。 一天之内光线的角度、亮度，以及日光、阴影的变化，都会影响彩色照片的色彩效果。例如日出时光线照射在物体上会使物体发红，日落时光线照射在物体上会使物体的金黄，如下（图4-1-13）。而阴天、雨天、雪天拍摄的景物则偏青、蓝。</a:t>
            </a:r>
          </a:p>
        </p:txBody>
      </p:sp>
      <p:pic>
        <p:nvPicPr>
          <p:cNvPr id="317" name="24620003.jpeg" descr="2462000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505" y="1636892"/>
            <a:ext cx="3332990" cy="327941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8" name="图4-1-13夕阳下石柱呈现金黄色   李济山  摄"/>
          <p:cNvSpPr txBox="1"/>
          <p:nvPr/>
        </p:nvSpPr>
        <p:spPr>
          <a:xfrm>
            <a:off x="6992504" y="5294629"/>
            <a:ext cx="2668270" cy="25273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defTabSz="266700">
              <a:spcBef>
                <a:spcPts val="500"/>
              </a:spcBef>
              <a:defRPr sz="1200"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rPr sz="1050"/>
              <a:t>图4-1-13夕阳下石柱呈现金黄色   李济山  摄</a:t>
            </a:r>
            <a:endParaRPr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全景组"/>
          <p:cNvSpPr txBox="1"/>
          <p:nvPr>
            <p:ph type="ctrTitle"/>
          </p:nvPr>
        </p:nvSpPr>
        <p:spPr>
          <a:xfrm>
            <a:off x="1322070" y="800735"/>
            <a:ext cx="9144000" cy="1135380"/>
          </a:xfrm>
          <a:prstGeom prst="rect">
            <a:avLst/>
          </a:prstGeom>
        </p:spPr>
        <p:txBody>
          <a:bodyPr/>
          <a:lstStyle>
            <a:lvl1pPr>
              <a:defRPr sz="4900">
                <a:latin typeface="楷体_GB2312"/>
                <a:ea typeface="楷体_GB2312"/>
                <a:cs typeface="楷体_GB2312"/>
                <a:sym typeface="楷体_GB2312"/>
              </a:defRPr>
            </a:lvl1pPr>
          </a:lstStyle>
          <a:p>
            <a:r>
              <a:t>例    片</a:t>
            </a:r>
          </a:p>
        </p:txBody>
      </p:sp>
      <p:sp>
        <p:nvSpPr>
          <p:cNvPr id="162" name="人全full-length shot——人的全身…"/>
          <p:cNvSpPr txBox="1"/>
          <p:nvPr>
            <p:ph type="subTitle" sz="half" idx="1"/>
          </p:nvPr>
        </p:nvSpPr>
        <p:spPr>
          <a:xfrm>
            <a:off x="745490" y="1806575"/>
            <a:ext cx="10700385" cy="4181475"/>
          </a:xfrm>
          <a:prstGeom prst="rect">
            <a:avLst/>
          </a:prstGeom>
        </p:spPr>
        <p:txBody>
          <a:bodyPr>
            <a:normAutofit fontScale="60000"/>
          </a:bodyPr>
          <a:lstStyle/>
          <a:p>
            <a:pPr marL="103505" indent="-103505" defTabSz="276225">
              <a:lnSpc>
                <a:spcPct val="150000"/>
              </a:lnSpc>
              <a:spcBef>
                <a:spcPts val="200"/>
              </a:spcBef>
              <a:buSzPct val="100000"/>
              <a:buChar char="•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endParaRPr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03505" indent="-103505" defTabSz="276225">
              <a:lnSpc>
                <a:spcPct val="150000"/>
              </a:lnSpc>
              <a:spcBef>
                <a:spcPts val="200"/>
              </a:spcBef>
              <a:buSzPct val="100000"/>
              <a:buChar char="•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rPr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《布达佩斯大饭店》</a:t>
            </a:r>
            <a:endParaRPr lang="zh-CN"/>
          </a:p>
          <a:p>
            <a:pPr marL="103505" indent="-103505" defTabSz="276225">
              <a:lnSpc>
                <a:spcPct val="150000"/>
              </a:lnSpc>
              <a:spcBef>
                <a:spcPts val="200"/>
              </a:spcBef>
              <a:buSzPct val="100000"/>
              <a:buChar char="•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rPr lang="zh-CN"/>
              <a:t>《银翼杀手</a:t>
            </a:r>
            <a:r>
              <a:rPr lang="en-US" altLang="zh-CN"/>
              <a:t>2049</a:t>
            </a:r>
            <a:r>
              <a:rPr lang="zh-CN"/>
              <a:t>》</a:t>
            </a:r>
            <a:endParaRPr lang="zh-CN"/>
          </a:p>
          <a:p>
            <a:pPr marL="103505" indent="-103505" defTabSz="276225">
              <a:lnSpc>
                <a:spcPct val="150000"/>
              </a:lnSpc>
              <a:spcBef>
                <a:spcPts val="200"/>
              </a:spcBef>
              <a:buSzPct val="100000"/>
              <a:buChar char="•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rPr lang="zh-CN">
                <a:solidFill>
                  <a:srgbClr val="FF0000"/>
                </a:solidFill>
                <a:sym typeface="+mn-ea"/>
              </a:rPr>
              <a:t>《英 雄》</a:t>
            </a:r>
            <a:endParaRPr lang="zh-CN"/>
          </a:p>
          <a:p>
            <a:pPr marL="103505" indent="-103505" defTabSz="276225">
              <a:lnSpc>
                <a:spcPct val="150000"/>
              </a:lnSpc>
              <a:spcBef>
                <a:spcPts val="200"/>
              </a:spcBef>
              <a:buSzPct val="100000"/>
              <a:buChar char="•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rPr lang="zh-CN">
                <a:sym typeface="+mn-ea"/>
              </a:rPr>
              <a:t>《红高梁》</a:t>
            </a:r>
            <a:endParaRPr lang="zh-CN"/>
          </a:p>
          <a:p>
            <a:pPr algn="ctr" defTabSz="276225"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</a:p>
          <a:p>
            <a:pPr algn="ctr" defTabSz="219075">
              <a:lnSpc>
                <a:spcPct val="100000"/>
              </a:lnSpc>
              <a:spcBef>
                <a:spcPts val="0"/>
              </a:spcBef>
              <a:defRPr sz="1800" baseline="-6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</a:p>
          <a:p>
            <a:pPr algn="ctr" defTabSz="2190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  <a:r>
              <a:t>       </a:t>
            </a:r>
            <a:r>
              <a:rPr sz="3600"/>
              <a:t>https://v.qq.com/x/cover/tlvwiitova3d9m1.html</a:t>
            </a:r>
            <a:endParaRPr sz="3600"/>
          </a:p>
          <a:p>
            <a:pPr algn="l" defTabSz="2190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1" bldLvl="5" animBg="1" advAuto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全景组"/>
          <p:cNvSpPr txBox="1"/>
          <p:nvPr>
            <p:ph type="ctrTitle"/>
          </p:nvPr>
        </p:nvSpPr>
        <p:spPr>
          <a:xfrm>
            <a:off x="1322070" y="508000"/>
            <a:ext cx="9144000" cy="1135380"/>
          </a:xfrm>
          <a:prstGeom prst="rect">
            <a:avLst/>
          </a:prstGeom>
        </p:spPr>
        <p:txBody>
          <a:bodyPr/>
          <a:lstStyle>
            <a:lvl1pPr>
              <a:defRPr sz="4900">
                <a:latin typeface="楷体_GB2312"/>
                <a:ea typeface="楷体_GB2312"/>
                <a:cs typeface="楷体_GB2312"/>
                <a:sym typeface="楷体_GB2312"/>
              </a:defRPr>
            </a:lvl1pPr>
          </a:lstStyle>
          <a:p>
            <a:r>
              <a:rPr lang="zh-CN">
                <a:sym typeface="+mn-ea"/>
              </a:rPr>
              <a:t>《红高梁》</a:t>
            </a:r>
          </a:p>
        </p:txBody>
      </p:sp>
      <p:pic>
        <p:nvPicPr>
          <p:cNvPr id="3" name="图片 2" descr="屏幕快照 2020-11-19 16.44.42"/>
          <p:cNvPicPr>
            <a:picLocks noChangeAspect="1"/>
          </p:cNvPicPr>
          <p:nvPr/>
        </p:nvPicPr>
        <p:blipFill>
          <a:blip r:embed="rId1"/>
          <a:srcRect l="3356" t="21903" r="3811" b="8759"/>
          <a:stretch>
            <a:fillRect/>
          </a:stretch>
        </p:blipFill>
        <p:spPr>
          <a:xfrm>
            <a:off x="25400" y="1854200"/>
            <a:ext cx="12623165" cy="4831080"/>
          </a:xfrm>
          <a:prstGeom prst="rect">
            <a:avLst/>
          </a:prstGeom>
        </p:spPr>
      </p:pic>
      <p:sp>
        <p:nvSpPr>
          <p:cNvPr id="162" name="人全full-length shot——人的全身…"/>
          <p:cNvSpPr txBox="1"/>
          <p:nvPr>
            <p:ph type="subTitle" sz="half" idx="1"/>
          </p:nvPr>
        </p:nvSpPr>
        <p:spPr>
          <a:xfrm>
            <a:off x="200025" y="3392805"/>
            <a:ext cx="10266045" cy="3292475"/>
          </a:xfrm>
          <a:prstGeom prst="rect">
            <a:avLst/>
          </a:prstGeom>
        </p:spPr>
        <p:txBody>
          <a:bodyPr>
            <a:normAutofit fontScale="25000"/>
          </a:bodyPr>
          <a:lstStyle/>
          <a:p>
            <a:pPr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</a:p>
          <a:p>
            <a:pPr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导演: 张艺谋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编剧: 莫言 / 陈剑雨 / 朱伟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主演: 巩俐 / 姜文 / 滕汝骏 / 钱明 / 陈志刚 / 更多...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类型: 剧情 / 爱情 / 历史 / 战争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制片国家/地区: 中国大陆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语言: 汉语普通话 / 日语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上映日期: 1988-10-10(中国大陆) / 2018-10-12(中国大陆重映) / 1988-02(柏林电影节)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片长: 91分钟</a:t>
            </a:r>
          </a:p>
          <a:p>
            <a:pPr algn="ctr" defTabSz="2190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1" bldLvl="5" animBg="1" advAuto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全景组"/>
          <p:cNvSpPr txBox="1"/>
          <p:nvPr>
            <p:ph type="ctrTitle"/>
          </p:nvPr>
        </p:nvSpPr>
        <p:spPr>
          <a:xfrm>
            <a:off x="1322070" y="508000"/>
            <a:ext cx="9144000" cy="1135380"/>
          </a:xfrm>
          <a:prstGeom prst="rect">
            <a:avLst/>
          </a:prstGeom>
        </p:spPr>
        <p:txBody>
          <a:bodyPr/>
          <a:lstStyle>
            <a:lvl1pPr>
              <a:defRPr sz="4900">
                <a:latin typeface="楷体_GB2312"/>
                <a:ea typeface="楷体_GB2312"/>
                <a:cs typeface="楷体_GB2312"/>
                <a:sym typeface="楷体_GB2312"/>
              </a:defRPr>
            </a:lvl1pPr>
          </a:lstStyle>
          <a:p>
            <a:r>
              <a:rPr lang="zh-CN">
                <a:sym typeface="+mn-ea"/>
              </a:rPr>
              <a:t>《红高梁》</a:t>
            </a:r>
            <a:endParaRPr lang="zh-CN">
              <a:sym typeface="+mn-ea"/>
            </a:endParaRPr>
          </a:p>
        </p:txBody>
      </p:sp>
      <p:pic>
        <p:nvPicPr>
          <p:cNvPr id="3" name="图片 2" descr="屏幕快照 2020-11-19 16.44.42"/>
          <p:cNvPicPr>
            <a:picLocks noChangeAspect="1"/>
          </p:cNvPicPr>
          <p:nvPr/>
        </p:nvPicPr>
        <p:blipFill>
          <a:blip r:embed="rId1"/>
          <a:srcRect l="3356" t="21903" r="3811" b="8759"/>
          <a:stretch>
            <a:fillRect/>
          </a:stretch>
        </p:blipFill>
        <p:spPr>
          <a:xfrm>
            <a:off x="25400" y="1854200"/>
            <a:ext cx="12623165" cy="4831080"/>
          </a:xfrm>
          <a:prstGeom prst="rect">
            <a:avLst/>
          </a:prstGeom>
        </p:spPr>
      </p:pic>
      <p:sp>
        <p:nvSpPr>
          <p:cNvPr id="162" name="人全full-length shot——人的全身…"/>
          <p:cNvSpPr txBox="1"/>
          <p:nvPr>
            <p:ph type="subTitle" sz="half" idx="1"/>
          </p:nvPr>
        </p:nvSpPr>
        <p:spPr>
          <a:xfrm>
            <a:off x="200025" y="3392805"/>
            <a:ext cx="10266045" cy="3292475"/>
          </a:xfrm>
          <a:prstGeom prst="rect">
            <a:avLst/>
          </a:prstGeom>
        </p:spPr>
        <p:txBody>
          <a:bodyPr>
            <a:normAutofit fontScale="25000"/>
          </a:bodyPr>
          <a:lstStyle/>
          <a:p>
            <a:pPr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</a:p>
          <a:p>
            <a:pPr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导演: 张艺谋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编剧: 莫言 / 陈剑雨 / 朱伟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主演: 巩俐 / 姜文 / 滕汝骏 / 钱明 / 陈志刚 / 更多...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类型: 剧情 / 爱情 / 历史 / 战争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制片国家/地区: 中国大陆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语言: 汉语普通话 / 日语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上映日期: 1988-10-10(中国大陆) / 2018-10-12(中国大陆重映) / 1988-02(柏林电影节)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片长: 91分钟</a:t>
            </a:r>
          </a:p>
          <a:p>
            <a:pPr algn="ctr" defTabSz="2190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1" bldLvl="5" animBg="1" advAuto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全景组"/>
          <p:cNvSpPr txBox="1"/>
          <p:nvPr>
            <p:ph type="ctrTitle"/>
          </p:nvPr>
        </p:nvSpPr>
        <p:spPr>
          <a:xfrm>
            <a:off x="1322070" y="508000"/>
            <a:ext cx="9144000" cy="1135380"/>
          </a:xfrm>
          <a:prstGeom prst="rect">
            <a:avLst/>
          </a:prstGeom>
        </p:spPr>
        <p:txBody>
          <a:bodyPr/>
          <a:lstStyle>
            <a:lvl1pPr>
              <a:defRPr sz="4900">
                <a:latin typeface="楷体_GB2312"/>
                <a:ea typeface="楷体_GB2312"/>
                <a:cs typeface="楷体_GB2312"/>
                <a:sym typeface="楷体_GB2312"/>
              </a:defRPr>
            </a:lvl1pPr>
          </a:lstStyle>
          <a:p>
            <a:r>
              <a:rPr lang="zh-CN">
                <a:sym typeface="+mn-ea"/>
              </a:rPr>
              <a:t>《红高梁》</a:t>
            </a:r>
            <a:endParaRPr lang="zh-CN">
              <a:sym typeface="+mn-ea"/>
            </a:endParaRPr>
          </a:p>
        </p:txBody>
      </p:sp>
      <p:pic>
        <p:nvPicPr>
          <p:cNvPr id="3" name="图片 2" descr="屏幕快照 2020-11-19 16.44.42"/>
          <p:cNvPicPr>
            <a:picLocks noChangeAspect="1"/>
          </p:cNvPicPr>
          <p:nvPr/>
        </p:nvPicPr>
        <p:blipFill>
          <a:blip r:embed="rId1"/>
          <a:srcRect l="3356" t="21903" r="3811" b="8759"/>
          <a:stretch>
            <a:fillRect/>
          </a:stretch>
        </p:blipFill>
        <p:spPr>
          <a:xfrm>
            <a:off x="25400" y="1854200"/>
            <a:ext cx="12623165" cy="4831080"/>
          </a:xfrm>
          <a:prstGeom prst="rect">
            <a:avLst/>
          </a:prstGeom>
        </p:spPr>
      </p:pic>
      <p:sp>
        <p:nvSpPr>
          <p:cNvPr id="162" name="人全full-length shot——人的全身…"/>
          <p:cNvSpPr txBox="1"/>
          <p:nvPr>
            <p:ph type="subTitle" sz="half" idx="1"/>
          </p:nvPr>
        </p:nvSpPr>
        <p:spPr>
          <a:xfrm>
            <a:off x="200025" y="3392805"/>
            <a:ext cx="10266045" cy="3292475"/>
          </a:xfrm>
          <a:prstGeom prst="rect">
            <a:avLst/>
          </a:prstGeom>
        </p:spPr>
        <p:txBody>
          <a:bodyPr>
            <a:normAutofit fontScale="25000"/>
          </a:bodyPr>
          <a:lstStyle/>
          <a:p>
            <a:pPr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</a:p>
          <a:p>
            <a:pPr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导演: 张艺谋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编剧: 莫言 / 陈剑雨 / 朱伟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主演: 巩俐 / 姜文 / 滕汝骏 / 钱明 / 陈志刚 / 更多...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类型: 剧情 / 爱情 / 历史 / 战争</a:t>
            </a:r>
          </a:p>
          <a:p>
            <a:pPr algn="l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制片国家/地区: 中国大陆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语言: 汉语普通话 / 日语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上映日期: 1988-10-10(中国大陆) / 2018-10-12(中国大陆重映) / 1988-02(柏林电影节)</a:t>
            </a:r>
          </a:p>
          <a:p>
            <a:pPr algn="ctr" defTabSz="276225">
              <a:lnSpc>
                <a:spcPct val="150000"/>
              </a:lnSpc>
              <a:spcBef>
                <a:spcPts val="200"/>
              </a:spcBef>
              <a:buSzPct val="100000"/>
              <a:defRPr sz="4000">
                <a:latin typeface="楷体_GB2312"/>
                <a:ea typeface="楷体_GB2312"/>
                <a:cs typeface="楷体_GB2312"/>
                <a:sym typeface="楷体_GB2312"/>
              </a:defRPr>
            </a:pPr>
            <a:r>
              <a:t>片长: 91分钟</a:t>
            </a:r>
          </a:p>
          <a:p>
            <a:pPr algn="ctr" defTabSz="2190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1" bldLvl="5" animBg="1" advAuto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屏幕快照 2020-11-19 16.45.06"/>
          <p:cNvPicPr>
            <a:picLocks noChangeAspect="1"/>
          </p:cNvPicPr>
          <p:nvPr/>
        </p:nvPicPr>
        <p:blipFill>
          <a:blip r:embed="rId1"/>
          <a:srcRect t="21033"/>
          <a:stretch>
            <a:fillRect/>
          </a:stretch>
        </p:blipFill>
        <p:spPr>
          <a:xfrm>
            <a:off x="457200" y="758190"/>
            <a:ext cx="11486515" cy="56692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快照 2020-11-19 16.48.38"/>
          <p:cNvPicPr>
            <a:picLocks noChangeAspect="1"/>
          </p:cNvPicPr>
          <p:nvPr/>
        </p:nvPicPr>
        <p:blipFill>
          <a:blip r:embed="rId1"/>
          <a:srcRect l="1848" t="22013" r="2786" b="9722"/>
          <a:stretch>
            <a:fillRect/>
          </a:stretch>
        </p:blipFill>
        <p:spPr>
          <a:xfrm>
            <a:off x="767080" y="1268730"/>
            <a:ext cx="10585450" cy="43205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快照 2020-11-19 16.48.45"/>
          <p:cNvPicPr>
            <a:picLocks noChangeAspect="1"/>
          </p:cNvPicPr>
          <p:nvPr/>
        </p:nvPicPr>
        <p:blipFill>
          <a:blip r:embed="rId1"/>
          <a:srcRect l="492" t="23303" r="2633" b="7212"/>
          <a:stretch>
            <a:fillRect/>
          </a:stretch>
        </p:blipFill>
        <p:spPr>
          <a:xfrm>
            <a:off x="-205740" y="525145"/>
            <a:ext cx="12602845" cy="56502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快照 2020-11-19 16.48.57"/>
          <p:cNvPicPr>
            <a:picLocks noChangeAspect="1"/>
          </p:cNvPicPr>
          <p:nvPr/>
        </p:nvPicPr>
        <p:blipFill>
          <a:blip r:embed="rId1"/>
          <a:srcRect l="2866" t="19838" r="2985" b="10177"/>
          <a:stretch>
            <a:fillRect/>
          </a:stretch>
        </p:blipFill>
        <p:spPr>
          <a:xfrm>
            <a:off x="12700" y="773430"/>
            <a:ext cx="12166600" cy="53111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快照 2020-11-19 16.45.50"/>
          <p:cNvPicPr>
            <a:picLocks noChangeAspect="1"/>
          </p:cNvPicPr>
          <p:nvPr/>
        </p:nvPicPr>
        <p:blipFill>
          <a:blip r:embed="rId1"/>
          <a:srcRect t="13424"/>
          <a:stretch>
            <a:fillRect/>
          </a:stretch>
        </p:blipFill>
        <p:spPr>
          <a:xfrm>
            <a:off x="-332105" y="-164465"/>
            <a:ext cx="13281025" cy="71869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快照 2020-11-19 16.45.42"/>
          <p:cNvPicPr>
            <a:picLocks noChangeAspect="1"/>
          </p:cNvPicPr>
          <p:nvPr/>
        </p:nvPicPr>
        <p:blipFill>
          <a:blip r:embed="rId1"/>
          <a:srcRect t="12560" b="7119"/>
          <a:stretch>
            <a:fillRect/>
          </a:stretch>
        </p:blipFill>
        <p:spPr>
          <a:xfrm>
            <a:off x="-328930" y="593725"/>
            <a:ext cx="13112750" cy="56705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11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312" name="（二）、数字相机的色彩还原性能…"/>
          <p:cNvSpPr txBox="1"/>
          <p:nvPr/>
        </p:nvSpPr>
        <p:spPr>
          <a:xfrm>
            <a:off x="1524000" y="1162050"/>
            <a:ext cx="5269865" cy="461073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《布达佩斯大饭店》</a:t>
            </a:r>
            <a:endParaRPr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导演: 韦斯·安德森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编剧: 韦斯·安德森 / 雨果·吉尼斯 / 斯蒂芬·茨威格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主演: 拉尔夫·费因斯 / 托尼·雷沃罗利 / 艾德里安·布洛迪 / 威廉·达福 / 裘德·洛 / 更多...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类型: 剧情 / 喜剧 / 冒险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官方网站: www.grandbudapesthotel.com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制片国家/地区: 美国 / 德国 / 英国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语言: 英语 / 法语 / 德语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上映日期: 2014-02-06(柏林电影节) / 2014-03-28(美国)</a:t>
            </a:r>
          </a:p>
          <a:p>
            <a:pPr indent="326390" defTabSz="266700">
              <a:spcBef>
                <a:spcPts val="5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pPr>
            <a:r>
              <a:t>片长: 99分钟</a:t>
            </a:r>
          </a:p>
        </p:txBody>
      </p:sp>
      <p:pic>
        <p:nvPicPr>
          <p:cNvPr id="2" name="图片 1" descr="布达佩斯大饭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865" y="1162050"/>
            <a:ext cx="4397375" cy="5380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03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04" name="有色物体的色，有色物体对照明光线具有选择性吸收的特点，即光线照射到有色物体上时，入射光中被吸收的各种波长的色光不等量的。如果物体反射了红光、吸收了绿光、蓝光，物体呈现红色如（图4-1-2）。…"/>
          <p:cNvSpPr txBox="1"/>
          <p:nvPr/>
        </p:nvSpPr>
        <p:spPr>
          <a:xfrm>
            <a:off x="1714500" y="1249680"/>
            <a:ext cx="5685790" cy="517334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just" defTabSz="266700"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sz="3200"/>
              <a:t>叙事结构：</a:t>
            </a:r>
            <a:endParaRPr lang="zh-CN"/>
          </a:p>
          <a:p>
            <a:pPr algn="ctr" defTabSz="266700">
              <a:lnSpc>
                <a:spcPct val="150000"/>
              </a:lnSpc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      </a:t>
            </a:r>
            <a:r>
              <a:rPr lang="zh-CN" sz="2000"/>
              <a:t> 套层式结构构成四层空间</a:t>
            </a:r>
            <a:endParaRPr lang="zh-CN"/>
          </a:p>
          <a:p>
            <a:pPr algn="ctr" defTabSz="266700">
              <a:lnSpc>
                <a:spcPct val="150000"/>
              </a:lnSpc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endParaRPr lang="zh-CN"/>
          </a:p>
          <a:p>
            <a:pPr marL="342900" indent="-342900" algn="just" defTabSz="266700">
              <a:lnSpc>
                <a:spcPct val="150000"/>
              </a:lnSpc>
              <a:buFont typeface="Arial" panose="020B0604020202090204" pitchFamily="34" charset="0"/>
              <a:buChar char="•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第一层 女子来到墓地缅怀故去作家。时间不详。</a:t>
            </a:r>
            <a:endParaRPr lang="zh-CN"/>
          </a:p>
          <a:p>
            <a:pPr marL="342900" indent="-342900" algn="just" defTabSz="266700">
              <a:lnSpc>
                <a:spcPct val="150000"/>
              </a:lnSpc>
              <a:buFont typeface="Arial" panose="020B0604020202090204" pitchFamily="34" charset="0"/>
              <a:buChar char="•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第二层  老年作家对着观影者讲述他的经历。时间是</a:t>
            </a:r>
            <a:r>
              <a:rPr lang="en-US" altLang="zh-CN"/>
              <a:t>80</a:t>
            </a:r>
            <a:r>
              <a:rPr lang="zh-CN" altLang="en-US"/>
              <a:t>年代。</a:t>
            </a:r>
            <a:endParaRPr lang="zh-CN" altLang="en-US"/>
          </a:p>
          <a:p>
            <a:pPr marL="342900" indent="-342900" algn="just" defTabSz="266700">
              <a:lnSpc>
                <a:spcPct val="150000"/>
              </a:lnSpc>
              <a:buFont typeface="Arial" panose="020B0604020202090204" pitchFamily="34" charset="0"/>
              <a:buChar char="•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第三层  老年泽罗对青年作家讲述故事。时间是</a:t>
            </a:r>
            <a:r>
              <a:rPr lang="en-US" altLang="zh-CN"/>
              <a:t>60</a:t>
            </a:r>
            <a:r>
              <a:rPr lang="zh-CN" altLang="en-US"/>
              <a:t>年代。</a:t>
            </a:r>
            <a:endParaRPr lang="zh-CN" altLang="en-US"/>
          </a:p>
          <a:p>
            <a:pPr marL="342900" indent="-342900" algn="just" defTabSz="266700">
              <a:lnSpc>
                <a:spcPct val="150000"/>
              </a:lnSpc>
              <a:buFont typeface="Arial" panose="020B0604020202090204" pitchFamily="34" charset="0"/>
              <a:buChar char="•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第四层  老年泽罗讲他记忆中的布达佩斯饭店的故事。时间</a:t>
            </a:r>
            <a:r>
              <a:rPr lang="en-US" altLang="zh-CN"/>
              <a:t>30</a:t>
            </a:r>
            <a:r>
              <a:rPr lang="zh-CN" altLang="en-US"/>
              <a:t>年代。</a:t>
            </a:r>
            <a:endParaRPr lang="zh-CN" altLang="en-US"/>
          </a:p>
          <a:p>
            <a:pPr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                   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algn="ctr" defTabSz="266700"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/>
              <a:t>        </a:t>
            </a:r>
            <a:endParaRPr b="1"/>
          </a:p>
        </p:txBody>
      </p:sp>
      <p:pic>
        <p:nvPicPr>
          <p:cNvPr id="3" name="图片 2" descr="12841605690464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1770" y="2371090"/>
            <a:ext cx="4274185" cy="31889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03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04" name="有色物体的色，有色物体对照明光线具有选择性吸收的特点，即光线照射到有色物体上时，入射光中被吸收的各种波长的色光不等量的。如果物体反射了红光、吸收了绿光、蓝光，物体呈现红色如（图4-1-2）。…"/>
          <p:cNvSpPr txBox="1"/>
          <p:nvPr/>
        </p:nvSpPr>
        <p:spPr>
          <a:xfrm>
            <a:off x="1718310" y="1528445"/>
            <a:ext cx="4017010" cy="343090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just" defTabSz="266700"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sz="3200"/>
              <a:t>画幅解读空间变化：</a:t>
            </a:r>
            <a:endParaRPr lang="zh-CN"/>
          </a:p>
          <a:p>
            <a:pPr marL="457200" indent="-457200" algn="l" defTabSz="266700">
              <a:lnSpc>
                <a:spcPct val="150000"/>
              </a:lnSpc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第一层  时间不详</a:t>
            </a:r>
            <a:r>
              <a:rPr lang="en-US" altLang="zh-CN"/>
              <a:t>1.85:1</a:t>
            </a:r>
            <a:r>
              <a:rPr lang="zh-CN" altLang="en-US"/>
              <a:t>画幅 </a:t>
            </a:r>
            <a:endParaRPr lang="zh-CN"/>
          </a:p>
          <a:p>
            <a:pPr marL="457200" indent="-457200" algn="just" defTabSz="266700">
              <a:lnSpc>
                <a:spcPct val="150000"/>
              </a:lnSpc>
              <a:buFont typeface="Arial" panose="020B0604020202090204" pitchFamily="34" charset="0"/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第二层  </a:t>
            </a:r>
            <a:r>
              <a:rPr lang="en-US" altLang="zh-CN">
                <a:sym typeface="+mn-ea"/>
              </a:rPr>
              <a:t>80</a:t>
            </a:r>
            <a:r>
              <a:rPr lang="zh-CN" altLang="en-US">
                <a:sym typeface="+mn-ea"/>
              </a:rPr>
              <a:t>年代，</a:t>
            </a:r>
            <a:r>
              <a:rPr lang="en-US" altLang="zh-CN">
                <a:sym typeface="+mn-ea"/>
              </a:rPr>
              <a:t>1.85:1 </a:t>
            </a:r>
            <a:r>
              <a:rPr lang="zh-CN" altLang="en-US">
                <a:sym typeface="+mn-ea"/>
              </a:rPr>
              <a:t>画幅</a:t>
            </a:r>
            <a:endParaRPr lang="zh-CN" altLang="en-US"/>
          </a:p>
          <a:p>
            <a:pPr marL="457200" indent="-457200" algn="just" defTabSz="266700">
              <a:lnSpc>
                <a:spcPct val="150000"/>
              </a:lnSpc>
              <a:buFont typeface="Arial" panose="020B0604020202090204" pitchFamily="34" charset="0"/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第三层  </a:t>
            </a:r>
            <a:r>
              <a:rPr lang="en-US" altLang="zh-CN">
                <a:sym typeface="+mn-ea"/>
              </a:rPr>
              <a:t>60</a:t>
            </a:r>
            <a:r>
              <a:rPr lang="zh-CN" altLang="en-US">
                <a:sym typeface="+mn-ea"/>
              </a:rPr>
              <a:t>年代</a:t>
            </a:r>
            <a:r>
              <a:rPr lang="en-US"/>
              <a:t>2</a:t>
            </a:r>
            <a:r>
              <a:rPr lang="zh-CN" altLang="en-US">
                <a:ea typeface="宋体" charset="0"/>
              </a:rPr>
              <a:t>：</a:t>
            </a:r>
            <a:r>
              <a:rPr lang="en-US" altLang="zh-CN">
                <a:ea typeface="宋体" charset="0"/>
              </a:rPr>
              <a:t>35</a:t>
            </a:r>
            <a:r>
              <a:rPr lang="zh-CN" altLang="en-US">
                <a:ea typeface="宋体" charset="0"/>
              </a:rPr>
              <a:t>：</a:t>
            </a:r>
            <a:r>
              <a:rPr lang="en-US" altLang="zh-CN">
                <a:ea typeface="宋体" charset="0"/>
              </a:rPr>
              <a:t>1 </a:t>
            </a:r>
            <a:r>
              <a:rPr lang="zh-CN" altLang="en-US">
                <a:ea typeface="宋体" charset="0"/>
              </a:rPr>
              <a:t>画幅</a:t>
            </a:r>
            <a:endParaRPr lang="zh-CN" altLang="en-US">
              <a:ea typeface="宋体" charset="0"/>
            </a:endParaRPr>
          </a:p>
          <a:p>
            <a:pPr marL="457200" indent="-457200" algn="just" defTabSz="266700">
              <a:lnSpc>
                <a:spcPct val="150000"/>
              </a:lnSpc>
              <a:buFont typeface="Arial" panose="020B0604020202090204" pitchFamily="34" charset="0"/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第四层 时间</a:t>
            </a:r>
            <a:r>
              <a:rPr lang="en-US" altLang="zh-CN"/>
              <a:t>30</a:t>
            </a:r>
            <a:r>
              <a:rPr lang="zh-CN" altLang="en-US"/>
              <a:t>年代，采用</a:t>
            </a:r>
            <a:r>
              <a:rPr lang="en-US" altLang="zh-CN"/>
              <a:t>1.37:1</a:t>
            </a:r>
            <a:r>
              <a:rPr lang="zh-CN" altLang="en-US"/>
              <a:t>的老电影的画幅。</a:t>
            </a:r>
            <a:endParaRPr lang="zh-CN" altLang="en-US"/>
          </a:p>
          <a:p>
            <a:pPr algn="just" defTabSz="266700">
              <a:lnSpc>
                <a:spcPct val="150000"/>
              </a:lnSpc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                   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algn="ctr" defTabSz="266700"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/>
              <a:t>        </a:t>
            </a:r>
            <a:endParaRPr b="1"/>
          </a:p>
        </p:txBody>
      </p:sp>
      <p:pic>
        <p:nvPicPr>
          <p:cNvPr id="2" name="图片 1" descr="布局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650" y="1677670"/>
            <a:ext cx="5252720" cy="3502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"/>
          <p:cNvSpPr/>
          <p:nvPr/>
        </p:nvSpPr>
        <p:spPr>
          <a:xfrm>
            <a:off x="1524000" y="462503"/>
            <a:ext cx="736979" cy="3497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03" name="色彩构成："/>
          <p:cNvSpPr txBox="1"/>
          <p:nvPr/>
        </p:nvSpPr>
        <p:spPr>
          <a:xfrm>
            <a:off x="2260978" y="462503"/>
            <a:ext cx="3103505" cy="275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  色彩构成：</a:t>
            </a:r>
          </a:p>
        </p:txBody>
      </p:sp>
      <p:sp>
        <p:nvSpPr>
          <p:cNvPr id="204" name="有色物体的色，有色物体对照明光线具有选择性吸收的特点，即光线照射到有色物体上时，入射光中被吸收的各种波长的色光不等量的。如果物体反射了红光、吸收了绿光、蓝光，物体呈现红色如（图4-1-2）。…"/>
          <p:cNvSpPr txBox="1"/>
          <p:nvPr/>
        </p:nvSpPr>
        <p:spPr>
          <a:xfrm>
            <a:off x="1701165" y="1501775"/>
            <a:ext cx="5685790" cy="42849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just" defTabSz="266700"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sz="3200"/>
              <a:t>色彩构成叙事变化：</a:t>
            </a:r>
            <a:endParaRPr lang="zh-CN"/>
          </a:p>
          <a:p>
            <a:pPr marL="457200" indent="-457200" algn="l" defTabSz="266700">
              <a:lnSpc>
                <a:spcPct val="150000"/>
              </a:lnSpc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第一部分  在大饭店 色彩明亮，鲜艳，主要色彩以橙、粉、紫色为主。介绍人物，节奏上具有喜剧特性。</a:t>
            </a:r>
            <a:endParaRPr lang="zh-CN"/>
          </a:p>
          <a:p>
            <a:pPr marL="457200" indent="-457200" algn="just" defTabSz="266700">
              <a:lnSpc>
                <a:spcPct val="150000"/>
              </a:lnSpc>
              <a:buFont typeface="Arial" panose="020B0604020202090204" pitchFamily="34" charset="0"/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第二部分 在火车上， 色彩暗沉，饱和度低。 </a:t>
            </a:r>
            <a:endParaRPr lang="zh-CN"/>
          </a:p>
          <a:p>
            <a:pPr marL="457200" indent="-457200" algn="just" defTabSz="266700">
              <a:lnSpc>
                <a:spcPct val="150000"/>
              </a:lnSpc>
              <a:buFont typeface="Arial" panose="020B0604020202090204" pitchFamily="34" charset="0"/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第三部分  </a:t>
            </a:r>
            <a:r>
              <a:rPr lang="zh-CN" altLang="en-US">
                <a:sym typeface="+mn-ea"/>
              </a:rPr>
              <a:t>在监狱 ，以明度高，饱和度低的蓝色为主。</a:t>
            </a:r>
            <a:endParaRPr lang="zh-CN" altLang="en-US">
              <a:sym typeface="+mn-ea"/>
            </a:endParaRPr>
          </a:p>
          <a:p>
            <a:pPr marL="457200" indent="-457200" algn="just" defTabSz="266700">
              <a:lnSpc>
                <a:spcPct val="150000"/>
              </a:lnSpc>
              <a:buFont typeface="Arial" panose="020B0604020202090204" pitchFamily="34" charset="0"/>
              <a:buAutoNum type="arabicPeriod"/>
              <a:defRPr sz="1850" b="1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/>
              <a:t>第四部分  泽罗爱情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 </a:t>
            </a:r>
            <a:r>
              <a:rPr lang="zh-CN" altLang="en-US">
                <a:sym typeface="+mn-ea"/>
              </a:rPr>
              <a:t>以高明度、中灰调的马卡龙为主，表现泽罗的爱情，甜蜜中暗含悲伤。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                  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algn="ctr" defTabSz="266700">
              <a:defRPr sz="1850"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b="1"/>
              <a:t>        </a:t>
            </a:r>
            <a:endParaRPr b="1"/>
          </a:p>
        </p:txBody>
      </p:sp>
      <p:pic>
        <p:nvPicPr>
          <p:cNvPr id="2" name="图片 1" descr="12801605686250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1435" y="2336165"/>
            <a:ext cx="4255770" cy="318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wipe dir="d"/>
      </p:transition>
    </mc:Choice>
    <mc:Fallback>
      <p:transition spd="slow">
        <p:wipe dir="d"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image7.png" descr="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8" name="Shape 773"/>
          <p:cNvSpPr/>
          <p:nvPr/>
        </p:nvSpPr>
        <p:spPr>
          <a:xfrm>
            <a:off x="7824716" y="3125334"/>
            <a:ext cx="4367288" cy="1514912"/>
          </a:xfrm>
          <a:prstGeom prst="rect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Shape 774"/>
          <p:cNvSpPr/>
          <p:nvPr/>
        </p:nvSpPr>
        <p:spPr>
          <a:xfrm>
            <a:off x="-1" y="3125334"/>
            <a:ext cx="7824717" cy="151491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Shape 775"/>
          <p:cNvSpPr txBox="1"/>
          <p:nvPr/>
        </p:nvSpPr>
        <p:spPr>
          <a:xfrm>
            <a:off x="7933900" y="3412699"/>
            <a:ext cx="3991405" cy="8280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>
              <a:defRPr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THANKS</a:t>
            </a:r>
          </a:p>
        </p:txBody>
      </p:sp>
      <p:sp>
        <p:nvSpPr>
          <p:cNvPr id="441" name="Shape 776"/>
          <p:cNvSpPr txBox="1"/>
          <p:nvPr/>
        </p:nvSpPr>
        <p:spPr>
          <a:xfrm>
            <a:off x="7933900" y="4137547"/>
            <a:ext cx="3991405" cy="3708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FOR YOUR WATCHING</a:t>
            </a:r>
          </a:p>
        </p:txBody>
      </p:sp>
      <p:sp>
        <p:nvSpPr>
          <p:cNvPr id="442" name="Shape 777"/>
          <p:cNvSpPr txBox="1"/>
          <p:nvPr/>
        </p:nvSpPr>
        <p:spPr>
          <a:xfrm>
            <a:off x="1750035" y="3722049"/>
            <a:ext cx="6129282" cy="8534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algn="r"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tuhui2003@163.com</a:t>
            </a:r>
            <a:endParaRPr>
              <a:solidFill>
                <a:srgbClr val="0563C1"/>
              </a:solidFill>
              <a:uFill>
                <a:solidFill>
                  <a:srgbClr val="0563C1"/>
                </a:solidFill>
              </a:uFill>
            </a:endParaRPr>
          </a:p>
          <a:p>
            <a:pPr algn="r">
              <a:defRPr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15606622077</a:t>
            </a:r>
          </a:p>
          <a:p>
            <a:pPr algn="r">
              <a:defRPr sz="1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三条鱼365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" grpId="5" animBg="1" advAuto="0"/>
      <p:bldP spid="438" grpId="1" animBg="1" advAuto="0"/>
      <p:bldP spid="439" grpId="2" animBg="1" advAuto="0"/>
      <p:bldP spid="441" grpId="4" animBg="1" advAuto="0"/>
      <p:bldP spid="440" grpId="3" animBg="1" advAuto="0"/>
    </p:bldLst>
  </p:timing>
</p:sld>
</file>

<file path=ppt/tags/tag1.xml><?xml version="1.0" encoding="utf-8"?>
<p:tagLst xmlns:p="http://schemas.openxmlformats.org/presentationml/2006/main">
  <p:tag name="KSO_WM_SLIDE_MODEL_TYPE" val="timeline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8F8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8F8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3732</Words>
  <Application>WPS 演示</Application>
  <PresentationFormat/>
  <Paragraphs>256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8" baseType="lpstr">
      <vt:lpstr>Arial</vt:lpstr>
      <vt:lpstr>方正书宋_GBK</vt:lpstr>
      <vt:lpstr>Wingdings</vt:lpstr>
      <vt:lpstr>Calibri</vt:lpstr>
      <vt:lpstr>Helvetica Neue</vt:lpstr>
      <vt:lpstr>Calibri Light</vt:lpstr>
      <vt:lpstr>Arial</vt:lpstr>
      <vt:lpstr>Times New Roman</vt:lpstr>
      <vt:lpstr>Century Schoolbook</vt:lpstr>
      <vt:lpstr>Thonburi</vt:lpstr>
      <vt:lpstr>微软雅黑</vt:lpstr>
      <vt:lpstr>汉仪旗黑</vt:lpstr>
      <vt:lpstr>黑体</vt:lpstr>
      <vt:lpstr>凸版文久見出しゴシック</vt:lpstr>
      <vt:lpstr>宋体</vt:lpstr>
      <vt:lpstr>汉仪书宋二KW</vt:lpstr>
      <vt:lpstr>宋体</vt:lpstr>
      <vt:lpstr>微软雅黑</vt:lpstr>
      <vt:lpstr>Songti SC Regular</vt:lpstr>
      <vt:lpstr>楷体_GB2312</vt:lpstr>
      <vt:lpstr>汉仪楷体简</vt:lpstr>
      <vt:lpstr>Arial Unicode MS</vt:lpstr>
      <vt:lpstr>Calibri</vt:lpstr>
      <vt:lpstr>Office 主题</vt:lpstr>
      <vt:lpstr>PowerPoint 演示文稿</vt:lpstr>
      <vt:lpstr>电 影 的 色 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   片</vt:lpstr>
      <vt:lpstr>例    片</vt:lpstr>
      <vt:lpstr>《红高梁》</vt:lpstr>
      <vt:lpstr>《红高梁》</vt:lpstr>
      <vt:lpstr>《红高梁》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tuhui</cp:lastModifiedBy>
  <cp:revision>5</cp:revision>
  <dcterms:created xsi:type="dcterms:W3CDTF">2020-11-19T09:12:31Z</dcterms:created>
  <dcterms:modified xsi:type="dcterms:W3CDTF">2020-11-19T09:12:31Z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2052-2.4.0.3964</vt:lpwstr>
  </property>
</Properties>
</file>