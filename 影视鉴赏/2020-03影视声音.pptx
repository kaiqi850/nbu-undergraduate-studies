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303" r:id="rId3"/>
    <p:sldId id="257" r:id="rId4"/>
    <p:sldId id="351" r:id="rId5"/>
    <p:sldId id="362" r:id="rId6"/>
    <p:sldId id="352" r:id="rId7"/>
    <p:sldId id="260" r:id="rId8"/>
    <p:sldId id="258" r:id="rId9"/>
    <p:sldId id="259" r:id="rId10"/>
    <p:sldId id="357" r:id="rId11"/>
    <p:sldId id="358" r:id="rId12"/>
    <p:sldId id="360" r:id="rId13"/>
    <p:sldId id="361" r:id="rId14"/>
    <p:sldId id="350"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5" r:id="rId48"/>
    <p:sldId id="294" r:id="rId49"/>
    <p:sldId id="296" r:id="rId50"/>
    <p:sldId id="302" r:id="rId5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notesMaster" Target="notesMasters/notesMaster1.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9" name="Shape 149"/>
          <p:cNvSpPr>
            <a:spLocks noGrp="1" noRot="1" noChangeAspect="1"/>
          </p:cNvSpPr>
          <p:nvPr>
            <p:ph type="sldImg"/>
          </p:nvPr>
        </p:nvSpPr>
        <p:spPr>
          <a:xfrm>
            <a:off x="1143000" y="685800"/>
            <a:ext cx="4572000" cy="3429000"/>
          </a:xfrm>
          <a:prstGeom prst="rect">
            <a:avLst/>
          </a:prstGeom>
        </p:spPr>
        <p:txBody>
          <a:bodyPr/>
          <a:lstStyle/>
          <a:p/>
        </p:txBody>
      </p:sp>
      <p:sp>
        <p:nvSpPr>
          <p:cNvPr id="150" name="Shape 150"/>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panose="020F0502020204030204"/>
      </a:defRPr>
    </a:lvl1pPr>
    <a:lvl2pPr indent="228600" latinLnBrk="0">
      <a:defRPr sz="1200">
        <a:latin typeface="+mn-lt"/>
        <a:ea typeface="+mn-ea"/>
        <a:cs typeface="+mn-cs"/>
        <a:sym typeface="Calibri" panose="020F0502020204030204"/>
      </a:defRPr>
    </a:lvl2pPr>
    <a:lvl3pPr indent="457200" latinLnBrk="0">
      <a:defRPr sz="1200">
        <a:latin typeface="+mn-lt"/>
        <a:ea typeface="+mn-ea"/>
        <a:cs typeface="+mn-cs"/>
        <a:sym typeface="Calibri" panose="020F0502020204030204"/>
      </a:defRPr>
    </a:lvl3pPr>
    <a:lvl4pPr indent="685800" latinLnBrk="0">
      <a:defRPr sz="1200">
        <a:latin typeface="+mn-lt"/>
        <a:ea typeface="+mn-ea"/>
        <a:cs typeface="+mn-cs"/>
        <a:sym typeface="Calibri" panose="020F0502020204030204"/>
      </a:defRPr>
    </a:lvl4pPr>
    <a:lvl5pPr indent="914400" latinLnBrk="0">
      <a:defRPr sz="1200">
        <a:latin typeface="+mn-lt"/>
        <a:ea typeface="+mn-ea"/>
        <a:cs typeface="+mn-cs"/>
        <a:sym typeface="Calibri" panose="020F0502020204030204"/>
      </a:defRPr>
    </a:lvl5pPr>
    <a:lvl6pPr indent="1143000" latinLnBrk="0">
      <a:defRPr sz="1200">
        <a:latin typeface="+mn-lt"/>
        <a:ea typeface="+mn-ea"/>
        <a:cs typeface="+mn-cs"/>
        <a:sym typeface="Calibri" panose="020F0502020204030204"/>
      </a:defRPr>
    </a:lvl6pPr>
    <a:lvl7pPr indent="1371600" latinLnBrk="0">
      <a:defRPr sz="1200">
        <a:latin typeface="+mn-lt"/>
        <a:ea typeface="+mn-ea"/>
        <a:cs typeface="+mn-cs"/>
        <a:sym typeface="Calibri" panose="020F0502020204030204"/>
      </a:defRPr>
    </a:lvl7pPr>
    <a:lvl8pPr indent="1600200" latinLnBrk="0">
      <a:defRPr sz="1200">
        <a:latin typeface="+mn-lt"/>
        <a:ea typeface="+mn-ea"/>
        <a:cs typeface="+mn-cs"/>
        <a:sym typeface="Calibri" panose="020F0502020204030204"/>
      </a:defRPr>
    </a:lvl8pPr>
    <a:lvl9pPr indent="1828800" latinLnBrk="0">
      <a:defRPr sz="1200">
        <a:latin typeface="+mn-lt"/>
        <a:ea typeface="+mn-ea"/>
        <a:cs typeface="+mn-cs"/>
        <a:sym typeface="Calibri" panose="020F050202020403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1" name="标题文本"/>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标题文本</a:t>
            </a:r>
          </a:p>
        </p:txBody>
      </p:sp>
      <p:sp>
        <p:nvSpPr>
          <p:cNvPr id="12" name="正文级别 1…"/>
          <p:cNvSpPr txBox="1">
            <a:spLocks noGrp="1"/>
          </p:cNvSpPr>
          <p:nvPr>
            <p:ph type="body" sz="quarter" idx="1" hasCustomPrompt="1"/>
          </p:nvPr>
        </p:nvSpPr>
        <p:spPr>
          <a:xfrm>
            <a:off x="1524000" y="3602037"/>
            <a:ext cx="9144000" cy="1655771"/>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0" name="标题文本"/>
          <p:cNvSpPr txBox="1">
            <a:spLocks noGrp="1"/>
          </p:cNvSpPr>
          <p:nvPr>
            <p:ph type="title" hasCustomPrompt="1"/>
          </p:nvPr>
        </p:nvSpPr>
        <p:spPr>
          <a:prstGeom prst="rect">
            <a:avLst/>
          </a:prstGeom>
        </p:spPr>
        <p:txBody>
          <a:bodyPr/>
          <a:lstStyle/>
          <a:p>
            <a:r>
              <a:t>标题文本</a:t>
            </a:r>
          </a:p>
        </p:txBody>
      </p:sp>
      <p:sp>
        <p:nvSpPr>
          <p:cNvPr id="21"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29" name="标题文本"/>
          <p:cNvSpPr txBox="1">
            <a:spLocks noGrp="1"/>
          </p:cNvSpPr>
          <p:nvPr>
            <p:ph type="title" hasCustomPrompt="1"/>
          </p:nvPr>
        </p:nvSpPr>
        <p:spPr>
          <a:xfrm>
            <a:off x="831850" y="1709738"/>
            <a:ext cx="10515600" cy="2852737"/>
          </a:xfrm>
          <a:prstGeom prst="rect">
            <a:avLst/>
          </a:prstGeom>
        </p:spPr>
        <p:txBody>
          <a:bodyPr anchor="b"/>
          <a:lstStyle>
            <a:lvl1pPr>
              <a:defRPr sz="6000"/>
            </a:lvl1pPr>
          </a:lstStyle>
          <a:p>
            <a:r>
              <a:t>标题文本</a:t>
            </a:r>
          </a:p>
        </p:txBody>
      </p:sp>
      <p:sp>
        <p:nvSpPr>
          <p:cNvPr id="30" name="正文级别 1…"/>
          <p:cNvSpPr txBox="1">
            <a:spLocks noGrp="1"/>
          </p:cNvSpPr>
          <p:nvPr>
            <p:ph type="body" sz="quarter" idx="1" hasCustomPrompt="1"/>
          </p:nvPr>
        </p:nvSpPr>
        <p:spPr>
          <a:xfrm>
            <a:off x="831850" y="4589462"/>
            <a:ext cx="10515600" cy="1500196"/>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38" name="标题文本"/>
          <p:cNvSpPr txBox="1">
            <a:spLocks noGrp="1"/>
          </p:cNvSpPr>
          <p:nvPr>
            <p:ph type="title" hasCustomPrompt="1"/>
          </p:nvPr>
        </p:nvSpPr>
        <p:spPr>
          <a:prstGeom prst="rect">
            <a:avLst/>
          </a:prstGeom>
        </p:spPr>
        <p:txBody>
          <a:bodyPr/>
          <a:lstStyle/>
          <a:p>
            <a:r>
              <a:t>标题文本</a:t>
            </a:r>
          </a:p>
        </p:txBody>
      </p:sp>
      <p:sp>
        <p:nvSpPr>
          <p:cNvPr id="39" name="正文级别 1…"/>
          <p:cNvSpPr txBox="1">
            <a:spLocks noGrp="1"/>
          </p:cNvSpPr>
          <p:nvPr>
            <p:ph type="body" sz="half" idx="1" hasCustomPrompt="1"/>
          </p:nvPr>
        </p:nvSpPr>
        <p:spPr>
          <a:xfrm>
            <a:off x="838200" y="1825625"/>
            <a:ext cx="5181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4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47" name="标题文本"/>
          <p:cNvSpPr txBox="1">
            <a:spLocks noGrp="1"/>
          </p:cNvSpPr>
          <p:nvPr>
            <p:ph type="title" hasCustomPrompt="1"/>
          </p:nvPr>
        </p:nvSpPr>
        <p:spPr>
          <a:xfrm>
            <a:off x="839787" y="365125"/>
            <a:ext cx="10515601" cy="1325563"/>
          </a:xfrm>
          <a:prstGeom prst="rect">
            <a:avLst/>
          </a:prstGeom>
        </p:spPr>
        <p:txBody>
          <a:bodyPr/>
          <a:lstStyle/>
          <a:p>
            <a:r>
              <a:t>标题文本</a:t>
            </a:r>
          </a:p>
        </p:txBody>
      </p:sp>
      <p:sp>
        <p:nvSpPr>
          <p:cNvPr id="48" name="正文级别 1…"/>
          <p:cNvSpPr txBox="1">
            <a:spLocks noGrp="1"/>
          </p:cNvSpPr>
          <p:nvPr>
            <p:ph type="body" sz="quarter" idx="1" hasCustomPrompt="1"/>
          </p:nvPr>
        </p:nvSpPr>
        <p:spPr>
          <a:xfrm>
            <a:off x="839787" y="1681163"/>
            <a:ext cx="5157790" cy="823921"/>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正文级别 1</a:t>
            </a:r>
          </a:p>
          <a:p>
            <a:pPr lvl="1"/>
            <a:r>
              <a:t>正文级别 2</a:t>
            </a:r>
          </a:p>
          <a:p>
            <a:pPr lvl="2"/>
            <a:r>
              <a:t>正文级别 3</a:t>
            </a:r>
          </a:p>
          <a:p>
            <a:pPr lvl="3"/>
            <a:r>
              <a:t>正文级别 4</a:t>
            </a:r>
          </a:p>
          <a:p>
            <a:pPr lvl="4"/>
            <a:r>
              <a:t>正文级别 5</a:t>
            </a:r>
          </a:p>
        </p:txBody>
      </p:sp>
      <p:sp>
        <p:nvSpPr>
          <p:cNvPr id="49" name="Shape 49"/>
          <p:cNvSpPr>
            <a:spLocks noGrp="1"/>
          </p:cNvSpPr>
          <p:nvPr>
            <p:ph type="body" sz="quarter" idx="13"/>
          </p:nvPr>
        </p:nvSpPr>
        <p:spPr>
          <a:xfrm>
            <a:off x="6172200" y="1681163"/>
            <a:ext cx="5183188" cy="823914"/>
          </a:xfrm>
          <a:prstGeom prst="rect">
            <a:avLst/>
          </a:prstGeom>
        </p:spPr>
        <p:txBody>
          <a:bodyPr anchor="b"/>
          <a:lstStyle/>
          <a:p/>
        </p:txBody>
      </p:sp>
      <p:sp>
        <p:nvSpPr>
          <p:cNvPr id="5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57" name="标题文本"/>
          <p:cNvSpPr txBox="1">
            <a:spLocks noGrp="1"/>
          </p:cNvSpPr>
          <p:nvPr>
            <p:ph type="title" hasCustomPrompt="1"/>
          </p:nvPr>
        </p:nvSpPr>
        <p:spPr>
          <a:prstGeom prst="rect">
            <a:avLst/>
          </a:prstGeom>
        </p:spPr>
        <p:txBody>
          <a:bodyPr/>
          <a:lstStyle/>
          <a:p>
            <a:r>
              <a:t>标题文本</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6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72"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73" name="正文级别 1…"/>
          <p:cNvSpPr txBox="1">
            <a:spLocks noGrp="1"/>
          </p:cNvSpPr>
          <p:nvPr>
            <p:ph type="body" sz="half" idx="1" hasCustomPrompt="1"/>
          </p:nvPr>
        </p:nvSpPr>
        <p:spPr>
          <a:xfrm>
            <a:off x="5183187" y="987425"/>
            <a:ext cx="6172204"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正文级别 1</a:t>
            </a:r>
          </a:p>
          <a:p>
            <a:pPr lvl="1"/>
            <a:r>
              <a:t>正文级别 2</a:t>
            </a:r>
          </a:p>
          <a:p>
            <a:pPr lvl="2"/>
            <a:r>
              <a:t>正文级别 3</a:t>
            </a:r>
          </a:p>
          <a:p>
            <a:pPr lvl="3"/>
            <a:r>
              <a:t>正文级别 4</a:t>
            </a:r>
          </a:p>
          <a:p>
            <a:pPr lvl="4"/>
            <a:r>
              <a:t>正文级别 5</a:t>
            </a:r>
          </a:p>
        </p:txBody>
      </p:sp>
      <p:sp>
        <p:nvSpPr>
          <p:cNvPr id="74" name="Shape 74"/>
          <p:cNvSpPr>
            <a:spLocks noGrp="1"/>
          </p:cNvSpPr>
          <p:nvPr>
            <p:ph type="body" sz="quarter" idx="13"/>
          </p:nvPr>
        </p:nvSpPr>
        <p:spPr>
          <a:xfrm>
            <a:off x="839781" y="2057400"/>
            <a:ext cx="3932253" cy="3811588"/>
          </a:xfrm>
          <a:prstGeom prst="rect">
            <a:avLst/>
          </a:prstGeom>
        </p:spPr>
        <p:txBody>
          <a:bodyPr/>
          <a:lstStyle/>
          <a:p/>
        </p:txBody>
      </p:sp>
      <p:sp>
        <p:nvSpPr>
          <p:cNvPr id="7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82"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83" name="Shape 83"/>
          <p:cNvSpPr>
            <a:spLocks noGrp="1"/>
          </p:cNvSpPr>
          <p:nvPr>
            <p:ph type="pic" sz="half" idx="13"/>
          </p:nvPr>
        </p:nvSpPr>
        <p:spPr>
          <a:xfrm>
            <a:off x="5183187" y="987425"/>
            <a:ext cx="6172204" cy="4873625"/>
          </a:xfrm>
          <a:prstGeom prst="rect">
            <a:avLst/>
          </a:prstGeom>
        </p:spPr>
        <p:txBody>
          <a:bodyPr lIns="91439" tIns="45719" rIns="91439" bIns="45719">
            <a:noAutofit/>
          </a:bodyPr>
          <a:lstStyle/>
          <a:p/>
        </p:txBody>
      </p:sp>
      <p:sp>
        <p:nvSpPr>
          <p:cNvPr id="84" name="正文级别 1…"/>
          <p:cNvSpPr txBox="1">
            <a:spLocks noGrp="1"/>
          </p:cNvSpPr>
          <p:nvPr>
            <p:ph type="body" sz="quarter" idx="1" hasCustomPrompt="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正文级别 1</a:t>
            </a:r>
          </a:p>
          <a:p>
            <a:pPr lvl="1"/>
            <a:r>
              <a:t>正文级别 2</a:t>
            </a:r>
          </a:p>
          <a:p>
            <a:pPr lvl="2"/>
            <a:r>
              <a:t>正文级别 3</a:t>
            </a:r>
          </a:p>
          <a:p>
            <a:pPr lvl="3"/>
            <a:r>
              <a:t>正文级别 4</a:t>
            </a:r>
          </a:p>
          <a:p>
            <a:pPr lvl="4"/>
            <a:r>
              <a:t>正文级别 5</a:t>
            </a:r>
          </a:p>
        </p:txBody>
      </p:sp>
      <p:sp>
        <p:nvSpPr>
          <p:cNvPr id="8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标题和竖排文字">
    <p:spTree>
      <p:nvGrpSpPr>
        <p:cNvPr id="1" name=""/>
        <p:cNvGrpSpPr/>
        <p:nvPr/>
      </p:nvGrpSpPr>
      <p:grpSpPr>
        <a:xfrm>
          <a:off x="0" y="0"/>
          <a:ext cx="0" cy="0"/>
          <a:chOff x="0" y="0"/>
          <a:chExt cx="0" cy="0"/>
        </a:xfrm>
      </p:grpSpPr>
      <p:sp>
        <p:nvSpPr>
          <p:cNvPr id="92" name="标题文本"/>
          <p:cNvSpPr txBox="1">
            <a:spLocks noGrp="1"/>
          </p:cNvSpPr>
          <p:nvPr>
            <p:ph type="title" hasCustomPrompt="1"/>
          </p:nvPr>
        </p:nvSpPr>
        <p:spPr>
          <a:prstGeom prst="rect">
            <a:avLst/>
          </a:prstGeom>
        </p:spPr>
        <p:txBody>
          <a:bodyPr/>
          <a:lstStyle/>
          <a:p>
            <a:r>
              <a:t>标题文本</a:t>
            </a:r>
          </a:p>
        </p:txBody>
      </p:sp>
      <p:sp>
        <p:nvSpPr>
          <p:cNvPr id="93"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9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垂直排列标题与&#10;文本">
    <p:spTree>
      <p:nvGrpSpPr>
        <p:cNvPr id="1" name=""/>
        <p:cNvGrpSpPr/>
        <p:nvPr/>
      </p:nvGrpSpPr>
      <p:grpSpPr>
        <a:xfrm>
          <a:off x="0" y="0"/>
          <a:ext cx="0" cy="0"/>
          <a:chOff x="0" y="0"/>
          <a:chExt cx="0" cy="0"/>
        </a:xfrm>
      </p:grpSpPr>
      <p:sp>
        <p:nvSpPr>
          <p:cNvPr id="101" name="标题文本"/>
          <p:cNvSpPr txBox="1">
            <a:spLocks noGrp="1"/>
          </p:cNvSpPr>
          <p:nvPr>
            <p:ph type="title" hasCustomPrompt="1"/>
          </p:nvPr>
        </p:nvSpPr>
        <p:spPr>
          <a:xfrm>
            <a:off x="8724900" y="365125"/>
            <a:ext cx="2628900" cy="5811838"/>
          </a:xfrm>
          <a:prstGeom prst="rect">
            <a:avLst/>
          </a:prstGeom>
        </p:spPr>
        <p:txBody>
          <a:bodyPr/>
          <a:lstStyle/>
          <a:p>
            <a:r>
              <a:t>标题文本</a:t>
            </a:r>
          </a:p>
        </p:txBody>
      </p:sp>
      <p:sp>
        <p:nvSpPr>
          <p:cNvPr id="102" name="正文级别 1…"/>
          <p:cNvSpPr txBox="1">
            <a:spLocks noGrp="1"/>
          </p:cNvSpPr>
          <p:nvPr>
            <p:ph type="body" idx="1" hasCustomPrompt="1"/>
          </p:nvPr>
        </p:nvSpPr>
        <p:spPr>
          <a:xfrm>
            <a:off x="838200" y="365125"/>
            <a:ext cx="7734300" cy="58118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xfrm>
            <a:off x="9928867" y="6245225"/>
            <a:ext cx="281937" cy="287083"/>
          </a:xfrm>
          <a:prstGeom prst="rect">
            <a:avLst/>
          </a:prstGeom>
        </p:spPr>
        <p:txBody>
          <a:bodyPr anchor="t"/>
          <a:lstStyle>
            <a:lvl1pPr defTabSz="457200">
              <a:defRPr sz="1400">
                <a:solidFill>
                  <a:srgbClr val="000000"/>
                </a:solidFill>
                <a:latin typeface="Times New Roman" panose="02020503050405090304"/>
                <a:ea typeface="Times New Roman" panose="02020503050405090304"/>
                <a:cs typeface="Times New Roman" panose="02020503050405090304"/>
                <a:sym typeface="Times New Roman" panose="02020503050405090304"/>
              </a:defRPr>
            </a:lvl1pPr>
          </a:lstStyle>
          <a:p>
            <a:fld id="{86CB4B4D-7CA3-9044-876B-883B54F8677D}" type="slidenum">
              <a:rPr/>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7" name="幻灯片编号"/>
          <p:cNvSpPr txBox="1">
            <a:spLocks noGrp="1"/>
          </p:cNvSpPr>
          <p:nvPr>
            <p:ph type="sldNum" sz="quarter" idx="2"/>
          </p:nvPr>
        </p:nvSpPr>
        <p:spPr>
          <a:xfrm>
            <a:off x="9928867" y="6245225"/>
            <a:ext cx="281937" cy="287083"/>
          </a:xfrm>
          <a:prstGeom prst="rect">
            <a:avLst/>
          </a:prstGeom>
        </p:spPr>
        <p:txBody>
          <a:bodyPr anchor="t"/>
          <a:lstStyle>
            <a:lvl1pPr defTabSz="457200">
              <a:defRPr sz="1400">
                <a:solidFill>
                  <a:srgbClr val="000000"/>
                </a:solidFill>
                <a:latin typeface="Times New Roman" panose="02020503050405090304"/>
                <a:ea typeface="Times New Roman" panose="02020503050405090304"/>
                <a:cs typeface="Times New Roman" panose="02020503050405090304"/>
                <a:sym typeface="Times New Roman" panose="02020503050405090304"/>
              </a:defRPr>
            </a:lvl1pPr>
          </a:lstStyle>
          <a:p>
            <a:fld id="{86CB4B4D-7CA3-9044-876B-883B54F8677D}" type="slidenum">
              <a:rPr/>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efault">
    <p:bg>
      <p:bgPr>
        <a:solidFill>
          <a:srgbClr val="FFFFFF"/>
        </a:solidFill>
        <a:effectLst/>
      </p:bgPr>
    </p:bg>
    <p:spTree>
      <p:nvGrpSpPr>
        <p:cNvPr id="1" name=""/>
        <p:cNvGrpSpPr/>
        <p:nvPr/>
      </p:nvGrpSpPr>
      <p:grpSpPr>
        <a:xfrm>
          <a:off x="0" y="0"/>
          <a:ext cx="0" cy="0"/>
          <a:chOff x="0" y="0"/>
          <a:chExt cx="0" cy="0"/>
        </a:xfrm>
      </p:grpSpPr>
      <p:sp>
        <p:nvSpPr>
          <p:cNvPr id="124" name="线条"/>
          <p:cNvSpPr/>
          <p:nvPr/>
        </p:nvSpPr>
        <p:spPr>
          <a:xfrm flipH="1">
            <a:off x="10286999" y="-1"/>
            <a:ext cx="2" cy="6858002"/>
          </a:xfrm>
          <a:prstGeom prst="line">
            <a:avLst/>
          </a:prstGeom>
          <a:ln w="38100">
            <a:solidFill>
              <a:srgbClr val="BCCEBD">
                <a:alpha val="92939"/>
              </a:srgbClr>
            </a:solidFill>
          </a:ln>
        </p:spPr>
        <p:txBody>
          <a:bodyPr lIns="45718" tIns="45718" rIns="45718" bIns="45718"/>
          <a:lstStyle/>
          <a:p/>
        </p:txBody>
      </p:sp>
      <p:sp>
        <p:nvSpPr>
          <p:cNvPr id="125" name="线条"/>
          <p:cNvSpPr/>
          <p:nvPr/>
        </p:nvSpPr>
        <p:spPr>
          <a:xfrm flipH="1">
            <a:off x="1600199" y="0"/>
            <a:ext cx="3" cy="6858001"/>
          </a:xfrm>
          <a:prstGeom prst="line">
            <a:avLst/>
          </a:prstGeom>
          <a:ln w="50800">
            <a:solidFill>
              <a:srgbClr val="BCCEBD"/>
            </a:solidFill>
          </a:ln>
        </p:spPr>
        <p:txBody>
          <a:bodyPr lIns="45718" tIns="45718" rIns="45718" bIns="45718"/>
          <a:lstStyle/>
          <a:p/>
        </p:txBody>
      </p:sp>
      <p:sp>
        <p:nvSpPr>
          <p:cNvPr id="126" name="线条"/>
          <p:cNvSpPr/>
          <p:nvPr/>
        </p:nvSpPr>
        <p:spPr>
          <a:xfrm flipH="1">
            <a:off x="10515599" y="-1"/>
            <a:ext cx="2" cy="6858002"/>
          </a:xfrm>
          <a:prstGeom prst="line">
            <a:avLst/>
          </a:prstGeom>
          <a:ln w="12700">
            <a:solidFill>
              <a:srgbClr val="72A376"/>
            </a:solidFill>
          </a:ln>
        </p:spPr>
        <p:txBody>
          <a:bodyPr lIns="45718" tIns="45718" rIns="45718" bIns="45718"/>
          <a:lstStyle/>
          <a:p/>
        </p:txBody>
      </p:sp>
      <p:sp>
        <p:nvSpPr>
          <p:cNvPr id="127" name="矩形"/>
          <p:cNvSpPr/>
          <p:nvPr/>
        </p:nvSpPr>
        <p:spPr>
          <a:xfrm>
            <a:off x="10363200" y="0"/>
            <a:ext cx="304800" cy="6858000"/>
          </a:xfrm>
          <a:prstGeom prst="rect">
            <a:avLst/>
          </a:prstGeom>
          <a:solidFill>
            <a:srgbClr val="BCCEBD">
              <a:alpha val="87057"/>
            </a:srgbClr>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28" name="线条"/>
          <p:cNvSpPr/>
          <p:nvPr/>
        </p:nvSpPr>
        <p:spPr>
          <a:xfrm flipH="1">
            <a:off x="10439399" y="-1"/>
            <a:ext cx="2" cy="6858002"/>
          </a:xfrm>
          <a:prstGeom prst="line">
            <a:avLst/>
          </a:prstGeom>
          <a:ln w="3175">
            <a:solidFill>
              <a:srgbClr val="72A376"/>
            </a:solidFill>
          </a:ln>
        </p:spPr>
        <p:txBody>
          <a:bodyPr lIns="45718" tIns="45718" rIns="45718" bIns="45718"/>
          <a:lstStyle/>
          <a:p/>
        </p:txBody>
      </p:sp>
      <p:sp>
        <p:nvSpPr>
          <p:cNvPr id="129" name="圆形"/>
          <p:cNvSpPr/>
          <p:nvPr/>
        </p:nvSpPr>
        <p:spPr>
          <a:xfrm>
            <a:off x="9680574" y="5714999"/>
            <a:ext cx="549278" cy="549278"/>
          </a:xfrm>
          <a:prstGeom prst="ellipse">
            <a:avLst/>
          </a:prstGeom>
          <a:solidFill>
            <a:srgbClr val="72A376"/>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30" name="幻灯片编号"/>
          <p:cNvSpPr txBox="1">
            <a:spLocks noGrp="1"/>
          </p:cNvSpPr>
          <p:nvPr>
            <p:ph type="sldNum" sz="quarter" idx="2"/>
          </p:nvPr>
        </p:nvSpPr>
        <p:spPr>
          <a:xfrm>
            <a:off x="9804222" y="5840730"/>
            <a:ext cx="308331" cy="307339"/>
          </a:xfrm>
          <a:prstGeom prst="rect">
            <a:avLst/>
          </a:prstGeom>
        </p:spPr>
        <p:txBody>
          <a:bodyPr lIns="45718" tIns="45718" rIns="45718" bIns="45718"/>
          <a:lstStyle>
            <a:lvl1pPr algn="ctr">
              <a:defRPr sz="1400" b="1">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lvl1pPr>
          </a:lstStyle>
          <a:p>
            <a:fld id="{86CB4B4D-7CA3-9044-876B-883B54F8677D}" type="slidenum">
              <a:rPr/>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Default">
    <p:bg>
      <p:bgPr>
        <a:solidFill>
          <a:srgbClr val="FFFFFF"/>
        </a:solidFill>
        <a:effectLst/>
      </p:bgPr>
    </p:bg>
    <p:spTree>
      <p:nvGrpSpPr>
        <p:cNvPr id="1" name=""/>
        <p:cNvGrpSpPr/>
        <p:nvPr/>
      </p:nvGrpSpPr>
      <p:grpSpPr>
        <a:xfrm>
          <a:off x="0" y="0"/>
          <a:ext cx="0" cy="0"/>
          <a:chOff x="0" y="0"/>
          <a:chExt cx="0" cy="0"/>
        </a:xfrm>
      </p:grpSpPr>
      <p:sp>
        <p:nvSpPr>
          <p:cNvPr id="137" name="线条"/>
          <p:cNvSpPr/>
          <p:nvPr/>
        </p:nvSpPr>
        <p:spPr>
          <a:xfrm flipH="1">
            <a:off x="10286999" y="-1"/>
            <a:ext cx="2" cy="6858002"/>
          </a:xfrm>
          <a:prstGeom prst="line">
            <a:avLst/>
          </a:prstGeom>
          <a:ln w="38100">
            <a:solidFill>
              <a:srgbClr val="BCCEBD">
                <a:alpha val="92939"/>
              </a:srgbClr>
            </a:solidFill>
          </a:ln>
        </p:spPr>
        <p:txBody>
          <a:bodyPr lIns="45718" tIns="45718" rIns="45718" bIns="45718"/>
          <a:lstStyle/>
          <a:p/>
        </p:txBody>
      </p:sp>
      <p:sp>
        <p:nvSpPr>
          <p:cNvPr id="138" name="线条"/>
          <p:cNvSpPr/>
          <p:nvPr/>
        </p:nvSpPr>
        <p:spPr>
          <a:xfrm flipH="1">
            <a:off x="1600199" y="0"/>
            <a:ext cx="3" cy="6858001"/>
          </a:xfrm>
          <a:prstGeom prst="line">
            <a:avLst/>
          </a:prstGeom>
          <a:ln w="50800">
            <a:solidFill>
              <a:srgbClr val="BCCEBD"/>
            </a:solidFill>
          </a:ln>
        </p:spPr>
        <p:txBody>
          <a:bodyPr lIns="45718" tIns="45718" rIns="45718" bIns="45718"/>
          <a:lstStyle/>
          <a:p/>
        </p:txBody>
      </p:sp>
      <p:sp>
        <p:nvSpPr>
          <p:cNvPr id="139" name="线条"/>
          <p:cNvSpPr/>
          <p:nvPr/>
        </p:nvSpPr>
        <p:spPr>
          <a:xfrm flipH="1">
            <a:off x="10515599" y="-1"/>
            <a:ext cx="2" cy="6858002"/>
          </a:xfrm>
          <a:prstGeom prst="line">
            <a:avLst/>
          </a:prstGeom>
          <a:ln w="12700">
            <a:solidFill>
              <a:srgbClr val="72A376"/>
            </a:solidFill>
          </a:ln>
        </p:spPr>
        <p:txBody>
          <a:bodyPr lIns="45718" tIns="45718" rIns="45718" bIns="45718"/>
          <a:lstStyle/>
          <a:p/>
        </p:txBody>
      </p:sp>
      <p:sp>
        <p:nvSpPr>
          <p:cNvPr id="140" name="矩形"/>
          <p:cNvSpPr/>
          <p:nvPr/>
        </p:nvSpPr>
        <p:spPr>
          <a:xfrm>
            <a:off x="10363200" y="0"/>
            <a:ext cx="304800" cy="6858000"/>
          </a:xfrm>
          <a:prstGeom prst="rect">
            <a:avLst/>
          </a:prstGeom>
          <a:solidFill>
            <a:srgbClr val="BCCEBD">
              <a:alpha val="87057"/>
            </a:srgbClr>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41" name="线条"/>
          <p:cNvSpPr/>
          <p:nvPr/>
        </p:nvSpPr>
        <p:spPr>
          <a:xfrm flipH="1">
            <a:off x="10439399" y="-1"/>
            <a:ext cx="2" cy="6858002"/>
          </a:xfrm>
          <a:prstGeom prst="line">
            <a:avLst/>
          </a:prstGeom>
          <a:ln w="3175">
            <a:solidFill>
              <a:srgbClr val="72A376"/>
            </a:solidFill>
          </a:ln>
        </p:spPr>
        <p:txBody>
          <a:bodyPr lIns="45718" tIns="45718" rIns="45718" bIns="45718"/>
          <a:lstStyle/>
          <a:p/>
        </p:txBody>
      </p:sp>
      <p:sp>
        <p:nvSpPr>
          <p:cNvPr id="142" name="圆形"/>
          <p:cNvSpPr/>
          <p:nvPr/>
        </p:nvSpPr>
        <p:spPr>
          <a:xfrm>
            <a:off x="9680574" y="5714999"/>
            <a:ext cx="549278" cy="549278"/>
          </a:xfrm>
          <a:prstGeom prst="ellipse">
            <a:avLst/>
          </a:prstGeom>
          <a:solidFill>
            <a:srgbClr val="72A376"/>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43" name="幻灯片编号"/>
          <p:cNvSpPr txBox="1">
            <a:spLocks noGrp="1"/>
          </p:cNvSpPr>
          <p:nvPr>
            <p:ph type="sldNum" sz="quarter" idx="2"/>
          </p:nvPr>
        </p:nvSpPr>
        <p:spPr>
          <a:xfrm>
            <a:off x="9804222" y="5840730"/>
            <a:ext cx="308331" cy="307339"/>
          </a:xfrm>
          <a:prstGeom prst="rect">
            <a:avLst/>
          </a:prstGeom>
        </p:spPr>
        <p:txBody>
          <a:bodyPr lIns="45718" tIns="45718" rIns="45718" bIns="45718"/>
          <a:lstStyle>
            <a:lvl1pPr algn="ctr">
              <a:defRPr sz="1400" b="1">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lvl1pPr>
          </a:lstStyle>
          <a:p>
            <a:fld id="{86CB4B4D-7CA3-9044-876B-883B54F8677D}" type="slidenum">
              <a:rPr/>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838200" y="365125"/>
            <a:ext cx="10515600" cy="1325563"/>
          </a:xfrm>
          <a:prstGeom prst="rect">
            <a:avLst/>
          </a:prstGeom>
          <a:ln w="12700">
            <a:miter lim="400000"/>
          </a:ln>
        </p:spPr>
        <p:txBody>
          <a:bodyPr lIns="45718" tIns="45718" rIns="45718" bIns="45718" anchor="ctr">
            <a:normAutofit/>
          </a:bodyPr>
          <a:lstStyle/>
          <a:p>
            <a:r>
              <a:t>标题文本</a:t>
            </a:r>
          </a:p>
        </p:txBody>
      </p:sp>
      <p:sp>
        <p:nvSpPr>
          <p:cNvPr id="3" name="正文级别 1…"/>
          <p:cNvSpPr txBox="1">
            <a:spLocks noGrp="1"/>
          </p:cNvSpPr>
          <p:nvPr>
            <p:ph type="body" idx="1"/>
          </p:nvPr>
        </p:nvSpPr>
        <p:spPr>
          <a:xfrm>
            <a:off x="838200" y="1825625"/>
            <a:ext cx="10515600" cy="4351338"/>
          </a:xfrm>
          <a:prstGeom prst="rect">
            <a:avLst/>
          </a:prstGeom>
          <a:ln w="12700">
            <a:miter lim="400000"/>
          </a:ln>
        </p:spPr>
        <p:txBody>
          <a:bodyPr lIns="45718" tIns="45718" rIns="45718" bIns="45718">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11089827" y="6404294"/>
            <a:ext cx="263979" cy="269237"/>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s://baike.baidu.com/item/%E8%92%99%E5%A4%AA%E5%A5%87/112961" TargetMode="External"/><Relationship Id="rId5" Type="http://schemas.openxmlformats.org/officeDocument/2006/relationships/hyperlink" Target="https://baike.baidu.com/item/%E7%88%B1%E6%A3%AE%E6%96%AF%E5%9D%A6/994934" TargetMode="External"/><Relationship Id="rId4" Type="http://schemas.openxmlformats.org/officeDocument/2006/relationships/hyperlink" Target="https://baike.baidu.com/item/%E5%8D%93%E5%88%AB%E6%9E%97/554509" TargetMode="External"/><Relationship Id="rId3" Type="http://schemas.openxmlformats.org/officeDocument/2006/relationships/hyperlink" Target="https://baike.baidu.com/item/%E6%A0%BC%E9%87%8C%E8%8F%B2%E6%96%AF" TargetMode="External"/><Relationship Id="rId2" Type="http://schemas.openxmlformats.org/officeDocument/2006/relationships/hyperlink" Target="https://baike.baidu.com/item/%E6%A2%85%E9%87%8C%E7%88%B1" TargetMode="External"/><Relationship Id="rId1" Type="http://schemas.openxmlformats.org/officeDocument/2006/relationships/hyperlink" Target="https://baike.baidu.com/item/%E9%BB%98%E7%89%87/8034941" TargetMode="External"/></Relationships>
</file>

<file path=ppt/slides/_rels/slide11.xml.rels><?xml version="1.0" encoding="UTF-8" standalone="yes"?>
<Relationships xmlns="http://schemas.openxmlformats.org/package/2006/relationships"><Relationship Id="rId9" Type="http://schemas.openxmlformats.org/officeDocument/2006/relationships/hyperlink" Target="https://baike.baidu.com/item/%E9%A9%AC%E6%88%8F%E5%9B%A2/523584" TargetMode="External"/><Relationship Id="rId8" Type="http://schemas.openxmlformats.org/officeDocument/2006/relationships/hyperlink" Target="https://baike.baidu.com/item/%E6%B7%98%E9%87%91%E8%AE%B0/24412" TargetMode="External"/><Relationship Id="rId7" Type="http://schemas.openxmlformats.org/officeDocument/2006/relationships/hyperlink" Target="https://baike.baidu.com/item/%E5%B7%B4%E9%BB%8E%E4%B8%80%E5%A6%87%E4%BA%BA/9883440" TargetMode="External"/><Relationship Id="rId6" Type="http://schemas.openxmlformats.org/officeDocument/2006/relationships/hyperlink" Target="https://baike.baidu.com/item/%E5%AE%89%E4%B9%90%E8%A1%97/6291970" TargetMode="External"/><Relationship Id="rId5" Type="http://schemas.openxmlformats.org/officeDocument/2006/relationships/hyperlink" Target="https://baike.baidu.com/item/%E7%A7%BB%E6%B0%91/2250753" TargetMode="External"/><Relationship Id="rId4" Type="http://schemas.openxmlformats.org/officeDocument/2006/relationships/hyperlink" Target="https://baike.baidu.com/item/%E8%B0%8B%E7%94%9F/16040843" TargetMode="External"/><Relationship Id="rId3" Type="http://schemas.openxmlformats.org/officeDocument/2006/relationships/hyperlink" Target="https://baike.baidu.com/item/%E4%BC%A6%E6%95%A6/862" TargetMode="External"/><Relationship Id="rId2" Type="http://schemas.openxmlformats.org/officeDocument/2006/relationships/hyperlink" Target="https://baike.baidu.com/item/%E8%8B%B1%E5%9B%BD/144602" TargetMode="External"/><Relationship Id="rId15" Type="http://schemas.openxmlformats.org/officeDocument/2006/relationships/slideLayout" Target="../slideLayouts/slideLayout9.xml"/><Relationship Id="rId14" Type="http://schemas.openxmlformats.org/officeDocument/2006/relationships/hyperlink" Target="https://baike.baidu.com/item/%E9%A6%99%E6%B8%AF%E5%A5%B3%E4%BC%AF%E7%88%B5/1811986" TargetMode="External"/><Relationship Id="rId13" Type="http://schemas.openxmlformats.org/officeDocument/2006/relationships/hyperlink" Target="https://baike.baidu.com/item/%E8%88%9E%E5%8F%B0%E7%94%9F%E6%B6%AF/4218451" TargetMode="External"/><Relationship Id="rId12" Type="http://schemas.openxmlformats.org/officeDocument/2006/relationships/hyperlink" Target="https://baike.baidu.com/item/%E5%A4%A7%E7%8B%AC%E8%A3%81%E8%80%85/2916018" TargetMode="External"/><Relationship Id="rId11" Type="http://schemas.openxmlformats.org/officeDocument/2006/relationships/hyperlink" Target="https://baike.baidu.com/item/%E6%91%A9%E7%99%BB%E6%97%B6%E4%BB%A3/24410" TargetMode="External"/><Relationship Id="rId10" Type="http://schemas.openxmlformats.org/officeDocument/2006/relationships/hyperlink" Target="https://baike.baidu.com/item/%E5%9F%8E%E5%B8%82%E4%B9%8B%E5%85%89/7003" TargetMode="Externa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bilibili.com/bangumi/play/ss34029?t=185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8.jpeg"/><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3.jpe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42.png"/><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48.png"/><Relationship Id="rId1"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p2584064467.jpg" descr="p2584064467.jpg"/>
          <p:cNvPicPr>
            <a:picLocks noChangeAspect="1"/>
          </p:cNvPicPr>
          <p:nvPr/>
        </p:nvPicPr>
        <p:blipFill>
          <a:blip r:embed="rId1"/>
          <a:stretch>
            <a:fillRect/>
          </a:stretch>
        </p:blipFill>
        <p:spPr>
          <a:xfrm>
            <a:off x="706240" y="-60276"/>
            <a:ext cx="12195764" cy="6978689"/>
          </a:xfrm>
          <a:prstGeom prst="rect">
            <a:avLst/>
          </a:prstGeom>
          <a:ln w="12700">
            <a:miter lim="400000"/>
            <a:headEnd/>
            <a:tailEnd/>
          </a:ln>
        </p:spPr>
      </p:pic>
      <p:sp>
        <p:nvSpPr>
          <p:cNvPr id="122" name="矩形"/>
          <p:cNvSpPr/>
          <p:nvPr/>
        </p:nvSpPr>
        <p:spPr>
          <a:xfrm>
            <a:off x="1548971" y="4701672"/>
            <a:ext cx="3275468" cy="1136190"/>
          </a:xfrm>
          <a:prstGeom prst="rect">
            <a:avLst/>
          </a:prstGeom>
          <a:solidFill>
            <a:schemeClr val="accent1">
              <a:alpha val="80000"/>
            </a:schemeClr>
          </a:solidFill>
          <a:ln w="12700">
            <a:miter lim="400000"/>
          </a:ln>
        </p:spPr>
        <p:txBody>
          <a:bodyPr lIns="34287" tIns="34287" rIns="34287" bIns="34287" anchor="ctr"/>
          <a:lstStyle/>
          <a:p>
            <a:pPr algn="ctr">
              <a:defRPr>
                <a:solidFill>
                  <a:srgbClr val="FF9300"/>
                </a:solidFill>
              </a:defRPr>
            </a:pPr>
            <a:endParaRPr sz="1265"/>
          </a:p>
        </p:txBody>
      </p:sp>
      <p:sp>
        <p:nvSpPr>
          <p:cNvPr id="123" name="矩形"/>
          <p:cNvSpPr/>
          <p:nvPr/>
        </p:nvSpPr>
        <p:spPr>
          <a:xfrm>
            <a:off x="4828727" y="4701672"/>
            <a:ext cx="5909062" cy="1136190"/>
          </a:xfrm>
          <a:prstGeom prst="rect">
            <a:avLst/>
          </a:prstGeom>
          <a:solidFill>
            <a:srgbClr val="FFFFFF">
              <a:alpha val="51332"/>
            </a:srgbClr>
          </a:solidFill>
          <a:ln w="12700">
            <a:miter lim="400000"/>
          </a:ln>
        </p:spPr>
        <p:txBody>
          <a:bodyPr lIns="34287" tIns="34287" rIns="34287" bIns="34287" anchor="ctr"/>
          <a:lstStyle/>
          <a:p>
            <a:pPr algn="ctr">
              <a:defRPr>
                <a:solidFill>
                  <a:srgbClr val="FFFFFF"/>
                </a:solidFill>
              </a:defRPr>
            </a:pPr>
            <a:endParaRPr sz="1265"/>
          </a:p>
        </p:txBody>
      </p:sp>
      <p:sp>
        <p:nvSpPr>
          <p:cNvPr id="124" name="手机摄影"/>
          <p:cNvSpPr txBox="1"/>
          <p:nvPr/>
        </p:nvSpPr>
        <p:spPr>
          <a:xfrm>
            <a:off x="1712999" y="4887217"/>
            <a:ext cx="3194439" cy="673100"/>
          </a:xfrm>
          <a:prstGeom prst="rect">
            <a:avLst/>
          </a:prstGeom>
          <a:ln w="12700">
            <a:miter lim="400000"/>
          </a:ln>
        </p:spPr>
        <p:txBody>
          <a:bodyPr lIns="34287" tIns="34287" rIns="34287" bIns="34287">
            <a:spAutoFit/>
          </a:bodyPr>
          <a:lstStyle>
            <a:lvl1pPr algn="ctr">
              <a:defRPr sz="5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3940"/>
              <a:t>影  视  鉴  赏</a:t>
            </a:r>
            <a:endParaRPr sz="3940"/>
          </a:p>
        </p:txBody>
      </p:sp>
      <p:sp>
        <p:nvSpPr>
          <p:cNvPr id="125" name="宁波大学潘天寿艺术学院  涂慧"/>
          <p:cNvSpPr txBox="1"/>
          <p:nvPr/>
        </p:nvSpPr>
        <p:spPr>
          <a:xfrm>
            <a:off x="1875475" y="5506107"/>
            <a:ext cx="2869488" cy="261620"/>
          </a:xfrm>
          <a:prstGeom prst="rect">
            <a:avLst/>
          </a:prstGeom>
          <a:ln w="12700">
            <a:miter lim="400000"/>
          </a:ln>
        </p:spPr>
        <p:txBody>
          <a:bodyPr lIns="34287" tIns="34287" rIns="34287" bIns="34287">
            <a:spAutoFit/>
          </a:bodyPr>
          <a:lstStyle>
            <a:lvl1pPr>
              <a:defRPr sz="1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1265"/>
              <a:t>宁波大学潘天寿建筑与艺术学院  涂慧</a:t>
            </a:r>
            <a:endParaRPr sz="1265"/>
          </a:p>
        </p:txBody>
      </p:sp>
      <p:sp>
        <p:nvSpPr>
          <p:cNvPr id="126" name="20190326"/>
          <p:cNvSpPr txBox="1"/>
          <p:nvPr/>
        </p:nvSpPr>
        <p:spPr>
          <a:xfrm>
            <a:off x="3883025" y="5198745"/>
            <a:ext cx="3911600" cy="633730"/>
          </a:xfrm>
          <a:prstGeom prst="rect">
            <a:avLst/>
          </a:prstGeom>
          <a:ln w="12700">
            <a:miter lim="400000"/>
          </a:ln>
        </p:spPr>
        <p:txBody>
          <a:bodyPr wrap="square" lIns="34287" tIns="34287" rIns="34287" bIns="34287">
            <a:spAutoFit/>
          </a:bodyPr>
          <a:lstStyle/>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545"/>
          </a:p>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545"/>
              <a:t>       202</a:t>
            </a:r>
            <a:r>
              <a:rPr lang="en-US" sz="1545"/>
              <a:t>0</a:t>
            </a:r>
            <a:r>
              <a:rPr sz="1545"/>
              <a:t>-202</a:t>
            </a:r>
            <a:r>
              <a:rPr lang="en-US" sz="1545"/>
              <a:t>1</a:t>
            </a:r>
            <a:endParaRPr lang="en-US" sz="1545"/>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childTnLst>
                                    <p:set>
                                      <p:cBhvr>
                                        <p:cTn id="6" dur="indefinite" fill="hold"/>
                                        <p:tgtEl>
                                          <p:spTgt spid="122"/>
                                        </p:tgtEl>
                                        <p:attrNameLst>
                                          <p:attrName>style.visibility</p:attrName>
                                        </p:attrNameLst>
                                      </p:cBhvr>
                                      <p:to>
                                        <p:strVal val="visible"/>
                                      </p:to>
                                    </p:set>
                                    <p:animEffect transition="in" filter="wipe(right)">
                                      <p:cBhvr>
                                        <p:cTn id="7" dur="1000"/>
                                        <p:tgtEl>
                                          <p:spTgt spid="122"/>
                                        </p:tgtEl>
                                      </p:cBhvr>
                                    </p:animEffect>
                                  </p:childTnLst>
                                </p:cTn>
                              </p:par>
                            </p:childTnLst>
                          </p:cTn>
                        </p:par>
                        <p:par>
                          <p:cTn id="8" fill="hold">
                            <p:stCondLst>
                              <p:cond delay="1000"/>
                            </p:stCondLst>
                            <p:childTnLst>
                              <p:par>
                                <p:cTn id="9" presetID="22" presetClass="entr" presetSubtype="8" fill="hold" grpId="2" nodeType="afterEffect">
                                  <p:stCondLst>
                                    <p:cond delay="0"/>
                                  </p:stCondLst>
                                  <p:childTnLst>
                                    <p:set>
                                      <p:cBhvr>
                                        <p:cTn id="10" dur="indefinite" fill="hold"/>
                                        <p:tgtEl>
                                          <p:spTgt spid="123"/>
                                        </p:tgtEl>
                                        <p:attrNameLst>
                                          <p:attrName>style.visibility</p:attrName>
                                        </p:attrNameLst>
                                      </p:cBhvr>
                                      <p:to>
                                        <p:strVal val="visible"/>
                                      </p:to>
                                    </p:set>
                                    <p:animEffect transition="in" filter="wipe(left)">
                                      <p:cBhvr>
                                        <p:cTn id="11" dur="1000"/>
                                        <p:tgtEl>
                                          <p:spTgt spid="123"/>
                                        </p:tgtEl>
                                      </p:cBhvr>
                                    </p:animEffect>
                                  </p:childTnLst>
                                </p:cTn>
                              </p:par>
                            </p:childTnLst>
                          </p:cTn>
                        </p:par>
                        <p:par>
                          <p:cTn id="12" fill="hold">
                            <p:stCondLst>
                              <p:cond delay="2000"/>
                            </p:stCondLst>
                            <p:childTnLst>
                              <p:par>
                                <p:cTn id="13" presetID="9" presetClass="entr" presetSubtype="0" fill="hold" grpId="3" nodeType="afterEffect">
                                  <p:stCondLst>
                                    <p:cond delay="0"/>
                                  </p:stCondLst>
                                  <p:childTnLst>
                                    <p:set>
                                      <p:cBhvr>
                                        <p:cTn id="14" dur="indefinite" fill="hold"/>
                                        <p:tgtEl>
                                          <p:spTgt spid="124"/>
                                        </p:tgtEl>
                                        <p:attrNameLst>
                                          <p:attrName>style.visibility</p:attrName>
                                        </p:attrNameLst>
                                      </p:cBhvr>
                                      <p:to>
                                        <p:strVal val="visible"/>
                                      </p:to>
                                    </p:set>
                                    <p:animEffect transition="in" filter="dissolve">
                                      <p:cBhvr>
                                        <p:cTn id="15" dur="1000"/>
                                        <p:tgtEl>
                                          <p:spTgt spid="124"/>
                                        </p:tgtEl>
                                      </p:cBhvr>
                                    </p:animEffect>
                                  </p:childTnLst>
                                </p:cTn>
                              </p:par>
                            </p:childTnLst>
                          </p:cTn>
                        </p:par>
                        <p:par>
                          <p:cTn id="16" fill="hold">
                            <p:stCondLst>
                              <p:cond delay="3000"/>
                            </p:stCondLst>
                            <p:childTnLst>
                              <p:par>
                                <p:cTn id="17" presetID="9" presetClass="entr" presetSubtype="0" fill="hold" grpId="4" nodeType="afterEffect">
                                  <p:stCondLst>
                                    <p:cond delay="0"/>
                                  </p:stCondLst>
                                  <p:childTnLst>
                                    <p:set>
                                      <p:cBhvr>
                                        <p:cTn id="18" dur="indefinite" fill="hold"/>
                                        <p:tgtEl>
                                          <p:spTgt spid="125"/>
                                        </p:tgtEl>
                                        <p:attrNameLst>
                                          <p:attrName>style.visibility</p:attrName>
                                        </p:attrNameLst>
                                      </p:cBhvr>
                                      <p:to>
                                        <p:strVal val="visible"/>
                                      </p:to>
                                    </p:set>
                                    <p:animEffect transition="in" filter="dissolve">
                                      <p:cBhvr>
                                        <p:cTn id="19" dur="1000"/>
                                        <p:tgtEl>
                                          <p:spTgt spid="125"/>
                                        </p:tgtEl>
                                      </p:cBhvr>
                                    </p:animEffect>
                                  </p:childTnLst>
                                </p:cTn>
                              </p:par>
                            </p:childTnLst>
                          </p:cTn>
                        </p:par>
                        <p:par>
                          <p:cTn id="20" fill="hold">
                            <p:stCondLst>
                              <p:cond delay="4000"/>
                            </p:stCondLst>
                            <p:childTnLst>
                              <p:par>
                                <p:cTn id="21" presetID="2" presetClass="entr" presetSubtype="2" fill="hold" grpId="5" nodeType="afterEffect">
                                  <p:stCondLst>
                                    <p:cond delay="0"/>
                                  </p:stCondLst>
                                  <p:childTnLst>
                                    <p:set>
                                      <p:cBhvr>
                                        <p:cTn id="22" dur="indefinite" fill="hold"/>
                                        <p:tgtEl>
                                          <p:spTgt spid="126"/>
                                        </p:tgtEl>
                                        <p:attrNameLst>
                                          <p:attrName>style.visibility</p:attrName>
                                        </p:attrNameLst>
                                      </p:cBhvr>
                                      <p:to>
                                        <p:strVal val="visible"/>
                                      </p:to>
                                    </p:set>
                                    <p:anim calcmode="lin" valueType="num">
                                      <p:cBhvr>
                                        <p:cTn id="23" dur="1000" fill="hold"/>
                                        <p:tgtEl>
                                          <p:spTgt spid="126"/>
                                        </p:tgtEl>
                                        <p:attrNameLst>
                                          <p:attrName>ppt_x</p:attrName>
                                        </p:attrNameLst>
                                      </p:cBhvr>
                                      <p:tavLst>
                                        <p:tav tm="0">
                                          <p:val>
                                            <p:strVal val="1+#ppt_w/2"/>
                                          </p:val>
                                        </p:tav>
                                        <p:tav tm="100000">
                                          <p:val>
                                            <p:strVal val="#ppt_x"/>
                                          </p:val>
                                        </p:tav>
                                      </p:tavLst>
                                    </p:anim>
                                    <p:anim calcmode="lin" valueType="num">
                                      <p:cBhvr>
                                        <p:cTn id="24" dur="1000" fill="hold"/>
                                        <p:tgtEl>
                                          <p:spTgt spid="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1" bldLvl="0" animBg="1" advAuto="0"/>
      <p:bldP spid="123" grpId="2" bldLvl="0" animBg="1" advAuto="0"/>
      <p:bldP spid="124" grpId="3" animBg="1" advAuto="0"/>
      <p:bldP spid="125" grpId="4" animBg="1" advAuto="0"/>
      <p:bldP spid="126" grpId="5"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认 识 镜 头"/>
          <p:cNvSpPr txBox="1">
            <a:spLocks noGrp="1"/>
          </p:cNvSpPr>
          <p:nvPr>
            <p:ph type="ctrTitle"/>
          </p:nvPr>
        </p:nvSpPr>
        <p:spPr>
          <a:xfrm>
            <a:off x="4178300" y="1643059"/>
            <a:ext cx="9144000" cy="2387608"/>
          </a:xfrm>
          <a:prstGeom prst="rect">
            <a:avLst/>
          </a:prstGeom>
        </p:spPr>
        <p:txBody>
          <a:bodyPr/>
          <a:lstStyle>
            <a:lvl1pPr algn="l">
              <a:defRPr sz="4400"/>
            </a:lvl1pPr>
          </a:lstStyle>
          <a:p>
            <a:r>
              <a:t>电 影 的 声 音</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87120" y="614045"/>
            <a:ext cx="10266680" cy="1076960"/>
          </a:xfrm>
        </p:spPr>
        <p:txBody>
          <a:bodyPr/>
          <a:lstStyle/>
          <a:p>
            <a:r>
              <a:rPr lang="zh-CN" altLang="en-US"/>
              <a:t>教学目标</a:t>
            </a:r>
            <a:endParaRPr lang="zh-CN" altLang="en-US"/>
          </a:p>
        </p:txBody>
      </p:sp>
      <p:sp>
        <p:nvSpPr>
          <p:cNvPr id="3" name="文本占位符 2"/>
          <p:cNvSpPr>
            <a:spLocks noGrp="1"/>
          </p:cNvSpPr>
          <p:nvPr>
            <p:ph type="body" idx="1"/>
          </p:nvPr>
        </p:nvSpPr>
        <p:spPr>
          <a:xfrm>
            <a:off x="2451735" y="2518410"/>
            <a:ext cx="7613015" cy="3301365"/>
          </a:xfrm>
        </p:spPr>
        <p:txBody>
          <a:bodyPr>
            <a:normAutofit fontScale="90000"/>
          </a:bodyPr>
          <a:lstStyle/>
          <a:p>
            <a:pPr>
              <a:lnSpc>
                <a:spcPct val="200000"/>
              </a:lnSpc>
            </a:pPr>
            <a:r>
              <a:rPr lang="zh-CN" altLang="en-US" sz="2400"/>
              <a:t>理解掌握声音进入电影的历史及声音在分镜头设计的重要性。</a:t>
            </a:r>
            <a:endParaRPr lang="zh-CN" altLang="en-US" sz="2400"/>
          </a:p>
          <a:p>
            <a:pPr>
              <a:lnSpc>
                <a:spcPct val="200000"/>
              </a:lnSpc>
            </a:pPr>
            <a:r>
              <a:rPr lang="zh-CN" altLang="en-US" sz="2400"/>
              <a:t>声音元素的加入给电影带来的重大变革。电影最初是无声的艺术，直到</a:t>
            </a:r>
            <a:r>
              <a:rPr lang="en-US" altLang="zh-CN" sz="2400"/>
              <a:t>1927</a:t>
            </a:r>
            <a:r>
              <a:rPr lang="zh-CN" altLang="en-US" sz="2400"/>
              <a:t>年《爵士歌王》的上映，电影成为视听艺术。</a:t>
            </a:r>
            <a:endParaRPr lang="zh-CN" altLang="en-US" sz="240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87120" y="614045"/>
            <a:ext cx="10266680" cy="1076960"/>
          </a:xfrm>
        </p:spPr>
        <p:txBody>
          <a:bodyPr/>
          <a:lstStyle/>
          <a:p>
            <a:r>
              <a:rPr lang="zh-CN" altLang="en-US" dirty="0" smtClean="0"/>
              <a:t>作业：</a:t>
            </a:r>
            <a:endParaRPr lang="zh-CN" altLang="en-US" dirty="0"/>
          </a:p>
        </p:txBody>
      </p:sp>
      <p:sp>
        <p:nvSpPr>
          <p:cNvPr id="3" name="文本占位符 2"/>
          <p:cNvSpPr>
            <a:spLocks noGrp="1"/>
          </p:cNvSpPr>
          <p:nvPr>
            <p:ph type="body" idx="1"/>
          </p:nvPr>
        </p:nvSpPr>
        <p:spPr>
          <a:xfrm>
            <a:off x="2289175" y="1778635"/>
            <a:ext cx="7613015" cy="3301365"/>
          </a:xfrm>
        </p:spPr>
        <p:txBody>
          <a:bodyPr>
            <a:normAutofit/>
          </a:bodyPr>
          <a:lstStyle/>
          <a:p>
            <a:pPr>
              <a:lnSpc>
                <a:spcPct val="200000"/>
              </a:lnSpc>
            </a:pPr>
            <a:r>
              <a:rPr lang="zh-CN" altLang="en-US" sz="2400" dirty="0" smtClean="0"/>
              <a:t>试论述电影</a:t>
            </a:r>
            <a:r>
              <a:rPr lang="en-US" altLang="zh-CN" sz="2400" dirty="0" smtClean="0"/>
              <a:t>《</a:t>
            </a:r>
            <a:r>
              <a:rPr lang="zh-CN" altLang="en-US" sz="2400" dirty="0"/>
              <a:t>黑店狂想曲</a:t>
            </a:r>
            <a:r>
              <a:rPr lang="en-US" altLang="zh-CN" sz="2400" dirty="0" smtClean="0"/>
              <a:t>》</a:t>
            </a:r>
            <a:r>
              <a:rPr lang="zh-CN" altLang="en-US" sz="2400" dirty="0" smtClean="0"/>
              <a:t>声音艺术特色或论述</a:t>
            </a:r>
            <a:r>
              <a:rPr lang="zh-CN" altLang="en-US" sz="2400" dirty="0"/>
              <a:t>电影</a:t>
            </a:r>
            <a:r>
              <a:rPr lang="en-US" altLang="zh-CN" sz="2400" dirty="0" smtClean="0"/>
              <a:t>《</a:t>
            </a:r>
            <a:r>
              <a:rPr lang="zh-CN" altLang="en-US" sz="2400" dirty="0" smtClean="0"/>
              <a:t>八佰</a:t>
            </a:r>
            <a:r>
              <a:rPr lang="en-US" altLang="zh-CN" sz="2400" dirty="0" smtClean="0"/>
              <a:t>》</a:t>
            </a:r>
            <a:r>
              <a:rPr lang="zh-CN" altLang="en-US" sz="2400" dirty="0" smtClean="0"/>
              <a:t>声音的</a:t>
            </a:r>
            <a:r>
              <a:rPr lang="zh-CN" altLang="en-US" sz="2400" smtClean="0"/>
              <a:t>运用。文字要求：</a:t>
            </a:r>
            <a:r>
              <a:rPr lang="en-US" altLang="zh-CN" sz="2400" smtClean="0"/>
              <a:t>400</a:t>
            </a:r>
            <a:r>
              <a:rPr lang="zh-CN" altLang="en-US" sz="2400" smtClean="0"/>
              <a:t>字（选一）</a:t>
            </a:r>
            <a:endParaRPr lang="en-US" altLang="zh-CN" sz="2400" dirty="0" smtClean="0"/>
          </a:p>
          <a:p>
            <a:pPr>
              <a:lnSpc>
                <a:spcPct val="200000"/>
              </a:lnSpc>
            </a:pPr>
            <a:r>
              <a:rPr lang="zh-CN" altLang="en-US" sz="2400" dirty="0" smtClean="0"/>
              <a:t>截止时间：</a:t>
            </a:r>
            <a:r>
              <a:rPr lang="en-US" altLang="zh-CN" sz="2400" dirty="0" smtClean="0"/>
              <a:t>12</a:t>
            </a:r>
            <a:r>
              <a:rPr lang="zh-CN" altLang="en-US" sz="2400" dirty="0" smtClean="0"/>
              <a:t>月</a:t>
            </a:r>
            <a:r>
              <a:rPr lang="en-US" altLang="zh-CN" sz="2400" dirty="0" smtClean="0"/>
              <a:t>11</a:t>
            </a:r>
            <a:r>
              <a:rPr lang="zh-CN" altLang="en-US" sz="2400" dirty="0" smtClean="0"/>
              <a:t>日</a:t>
            </a:r>
            <a:endParaRPr lang="zh-CN" altLang="en-US" sz="2400"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本讲要点"/>
          <p:cNvSpPr txBox="1">
            <a:spLocks noGrp="1"/>
          </p:cNvSpPr>
          <p:nvPr>
            <p:ph type="title"/>
          </p:nvPr>
        </p:nvSpPr>
        <p:spPr>
          <a:xfrm>
            <a:off x="1188544" y="-294210"/>
            <a:ext cx="3932242" cy="1600202"/>
          </a:xfrm>
          <a:prstGeom prst="rect">
            <a:avLst/>
          </a:prstGeom>
        </p:spPr>
        <p:txBody>
          <a:bodyPr/>
          <a:lstStyle>
            <a:lvl1pPr>
              <a:defRPr>
                <a:solidFill>
                  <a:srgbClr val="FF0000"/>
                </a:solidFill>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本讲要点</a:t>
            </a:r>
          </a:p>
        </p:txBody>
      </p:sp>
      <p:sp>
        <p:nvSpPr>
          <p:cNvPr id="169" name="影视声音播放技术的发展…"/>
          <p:cNvSpPr txBox="1">
            <a:spLocks noGrp="1"/>
          </p:cNvSpPr>
          <p:nvPr>
            <p:ph type="body" sz="half" idx="1"/>
          </p:nvPr>
        </p:nvSpPr>
        <p:spPr>
          <a:xfrm>
            <a:off x="5120786" y="1584976"/>
            <a:ext cx="7740015" cy="4284345"/>
          </a:xfrm>
          <a:prstGeom prst="rect">
            <a:avLst/>
          </a:prstGeom>
        </p:spPr>
        <p:txBody>
          <a:bodyPr/>
          <a:lstStyle/>
          <a:p>
            <a:pPr defTabSz="758825">
              <a:spcBef>
                <a:spcPts val="800"/>
              </a:spcBef>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dirty="0"/>
          </a:p>
          <a:p>
            <a:pPr marL="170180" indent="-170180" defTabSz="758825">
              <a:spcBef>
                <a:spcPts val="800"/>
              </a:spcBef>
              <a:buSzPct val="60000"/>
              <a:buBlip>
                <a:blip r:embed="rId1"/>
              </a:buBlip>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solidFill>
                  <a:srgbClr val="FF0000"/>
                </a:solidFill>
              </a:rPr>
              <a:t>视听艺术中</a:t>
            </a:r>
            <a:r>
              <a:rPr dirty="0" err="1">
                <a:solidFill>
                  <a:srgbClr val="FF0000"/>
                </a:solidFill>
                <a:latin typeface="+mn-lt"/>
                <a:ea typeface="+mn-ea"/>
                <a:cs typeface="+mn-cs"/>
                <a:sym typeface="Calibri" panose="020F0502020204030204"/>
              </a:rPr>
              <a:t>“</a:t>
            </a:r>
            <a:r>
              <a:rPr dirty="0" err="1">
                <a:solidFill>
                  <a:srgbClr val="FF0000"/>
                </a:solidFill>
              </a:rPr>
              <a:t>声</a:t>
            </a:r>
            <a:r>
              <a:rPr dirty="0" err="1">
                <a:solidFill>
                  <a:srgbClr val="FF0000"/>
                </a:solidFill>
                <a:latin typeface="+mn-lt"/>
                <a:ea typeface="+mn-ea"/>
                <a:cs typeface="+mn-cs"/>
                <a:sym typeface="Calibri" panose="020F0502020204030204"/>
              </a:rPr>
              <a:t>”</a:t>
            </a:r>
            <a:r>
              <a:rPr dirty="0" err="1">
                <a:solidFill>
                  <a:srgbClr val="FF0000"/>
                </a:solidFill>
              </a:rPr>
              <a:t>的三大要素</a:t>
            </a:r>
            <a:endParaRPr dirty="0">
              <a:solidFill>
                <a:srgbClr val="FF0000"/>
              </a:solidFill>
            </a:endParaRPr>
          </a:p>
          <a:p>
            <a:pPr defTabSz="758825">
              <a:spcBef>
                <a:spcPts val="800"/>
              </a:spcBef>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t>       人 </a:t>
            </a:r>
            <a:r>
              <a:rPr dirty="0" err="1"/>
              <a:t>声（语言</a:t>
            </a:r>
            <a:r>
              <a:rPr dirty="0"/>
              <a:t>）</a:t>
            </a:r>
            <a:endParaRPr dirty="0"/>
          </a:p>
          <a:p>
            <a:pPr defTabSz="758825">
              <a:spcBef>
                <a:spcPts val="800"/>
              </a:spcBef>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t>       音 </a:t>
            </a:r>
            <a:r>
              <a:rPr dirty="0" err="1"/>
              <a:t>响（音效</a:t>
            </a:r>
            <a:r>
              <a:rPr dirty="0"/>
              <a:t>）</a:t>
            </a:r>
            <a:endParaRPr dirty="0"/>
          </a:p>
          <a:p>
            <a:pPr defTabSz="758825">
              <a:spcBef>
                <a:spcPts val="800"/>
              </a:spcBef>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t>       音 乐</a:t>
            </a:r>
            <a:endParaRPr dirty="0"/>
          </a:p>
          <a:p>
            <a:pPr defTabSz="758825">
              <a:spcBef>
                <a:spcPts val="800"/>
              </a:spcBef>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dirty="0"/>
          </a:p>
          <a:p>
            <a:pPr marL="170180" indent="-170180" defTabSz="758825">
              <a:spcBef>
                <a:spcPts val="800"/>
              </a:spcBef>
              <a:buSzPct val="60000"/>
              <a:buBlip>
                <a:blip r:embed="rId1"/>
              </a:buBlip>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t> </a:t>
            </a:r>
            <a:r>
              <a:rPr dirty="0">
                <a:solidFill>
                  <a:srgbClr val="FF0000"/>
                </a:solidFill>
              </a:rPr>
              <a:t> </a:t>
            </a:r>
            <a:r>
              <a:rPr dirty="0" err="1">
                <a:solidFill>
                  <a:srgbClr val="FF0000"/>
                </a:solidFill>
              </a:rPr>
              <a:t>音画关系（音乐与画面</a:t>
            </a:r>
            <a:r>
              <a:rPr dirty="0">
                <a:solidFill>
                  <a:srgbClr val="FF0000"/>
                </a:solidFill>
              </a:rPr>
              <a:t>）</a:t>
            </a:r>
            <a:endParaRPr dirty="0">
              <a:solidFill>
                <a:srgbClr val="FF0000"/>
              </a:solidFill>
            </a:endParaRPr>
          </a:p>
          <a:p>
            <a:pPr defTabSz="758825">
              <a:spcBef>
                <a:spcPts val="800"/>
              </a:spcBef>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dirty="0">
              <a:solidFill>
                <a:srgbClr val="FF0000"/>
              </a:solidFill>
            </a:endParaRPr>
          </a:p>
          <a:p>
            <a:pPr marL="170180" indent="-170180" defTabSz="758825">
              <a:spcBef>
                <a:spcPts val="800"/>
              </a:spcBef>
              <a:buSzPct val="60000"/>
              <a:buBlip>
                <a:blip r:embed="rId1"/>
              </a:buBlip>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solidFill>
                  <a:srgbClr val="FF0000"/>
                </a:solidFill>
              </a:rPr>
              <a:t>  </a:t>
            </a:r>
            <a:r>
              <a:rPr dirty="0" err="1">
                <a:solidFill>
                  <a:srgbClr val="FF0000"/>
                </a:solidFill>
              </a:rPr>
              <a:t>声音的剪辑功能</a:t>
            </a:r>
            <a:endParaRPr dirty="0">
              <a:solidFill>
                <a:srgbClr val="FF0000"/>
              </a:solidFill>
            </a:endParaRPr>
          </a:p>
        </p:txBody>
      </p:sp>
      <p:sp>
        <p:nvSpPr>
          <p:cNvPr id="170" name="电 影 声 音"/>
          <p:cNvSpPr txBox="1"/>
          <p:nvPr/>
        </p:nvSpPr>
        <p:spPr>
          <a:xfrm>
            <a:off x="2042662" y="2924512"/>
            <a:ext cx="2595272" cy="802637"/>
          </a:xfrm>
          <a:prstGeom prst="rect">
            <a:avLst/>
          </a:prstGeom>
          <a:ln w="12700">
            <a:miter lim="400000"/>
          </a:ln>
        </p:spPr>
        <p:txBody>
          <a:bodyPr wrap="none" lIns="45718" tIns="45718" rIns="45718" bIns="45718">
            <a:spAutoFit/>
          </a:bodyPr>
          <a:lstStyle>
            <a:lvl1pPr algn="ctr">
              <a:lnSpc>
                <a:spcPct val="90000"/>
              </a:lnSpc>
              <a:defRPr sz="4000">
                <a:latin typeface="Calibri Light" panose="020F0302020204030204"/>
                <a:ea typeface="Calibri Light" panose="020F0302020204030204"/>
                <a:cs typeface="Calibri Light" panose="020F0302020204030204"/>
                <a:sym typeface="Calibri Light" panose="020F0302020204030204"/>
              </a:defRPr>
            </a:lvl1pPr>
          </a:lstStyle>
          <a:p>
            <a:r>
              <a:t>电 影 声 音</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超大特写…"/>
          <p:cNvSpPr txBox="1">
            <a:spLocks noGrp="1"/>
          </p:cNvSpPr>
          <p:nvPr>
            <p:ph type="subTitle" sz="half" idx="1"/>
          </p:nvPr>
        </p:nvSpPr>
        <p:spPr>
          <a:xfrm>
            <a:off x="1632677" y="1354131"/>
            <a:ext cx="9759847" cy="4102289"/>
          </a:xfrm>
          <a:prstGeom prst="rect">
            <a:avLst/>
          </a:prstGeom>
        </p:spPr>
        <p:txBody>
          <a:bodyPr>
            <a:normAutofit fontScale="67500" lnSpcReduction="20000"/>
          </a:bodyPr>
          <a:lstStyle>
            <a:lvl1pPr algn="l" defTabSz="457200">
              <a:lnSpc>
                <a:spcPct val="150000"/>
              </a:lnSpc>
              <a:spcBef>
                <a:spcPts val="0"/>
              </a:spcBef>
              <a:defRPr sz="2100">
                <a:latin typeface="+mj-lt"/>
                <a:ea typeface="+mj-ea"/>
                <a:cs typeface="+mj-cs"/>
                <a:sym typeface="Helvetica"/>
              </a:defRPr>
            </a:lvl1pPr>
          </a:lstStyle>
          <a:p>
            <a:pPr>
              <a:lnSpc>
                <a:spcPct val="200000"/>
              </a:lnSpc>
            </a:pPr>
            <a:r>
              <a:rPr dirty="0"/>
              <a:t>     </a:t>
            </a:r>
            <a:r>
              <a:rPr lang="en-US" dirty="0" smtClean="0"/>
              <a:t>       </a:t>
            </a:r>
            <a:r>
              <a:rPr dirty="0" smtClean="0"/>
              <a:t> </a:t>
            </a:r>
            <a:r>
              <a:rPr lang="en-US" dirty="0" smtClean="0"/>
              <a:t> </a:t>
            </a:r>
            <a:r>
              <a:rPr sz="4000" dirty="0" smtClean="0"/>
              <a:t>电影声音</a:t>
            </a:r>
            <a:r>
              <a:rPr sz="4000" dirty="0"/>
              <a:t>，是使电影从纯视觉的媒介变为视听结合的媒介，使得过去在无声电影中是通过视觉因素表现出来的相对时空结构，变为通过视觉和听觉因素表现出来的相对时空结构，是电影媒介基本元素之一。合适的声音也会使画面更具有表现力。</a:t>
            </a:r>
            <a:endParaRPr sz="4000"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166">
                                            <p:txEl>
                                              <p:pRg st="0" end="0"/>
                                            </p:txEl>
                                          </p:spTgt>
                                        </p:tgtEl>
                                        <p:attrNameLst>
                                          <p:attrName>style.visibility</p:attrName>
                                        </p:attrNameLst>
                                      </p:cBhvr>
                                      <p:to>
                                        <p:strVal val="visible"/>
                                      </p:to>
                                    </p:set>
                                    <p:animEffect transition="in" filter="wipe(left)">
                                      <p:cBhvr>
                                        <p:cTn id="7" dur="500"/>
                                        <p:tgtEl>
                                          <p:spTgt spid="1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1" bldLvl="5" animBg="1" advAuto="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全景组"/>
          <p:cNvSpPr txBox="1">
            <a:spLocks noGrp="1"/>
          </p:cNvSpPr>
          <p:nvPr>
            <p:ph type="ctrTitle"/>
          </p:nvPr>
        </p:nvSpPr>
        <p:spPr>
          <a:xfrm>
            <a:off x="1333500" y="-147955"/>
            <a:ext cx="9144000" cy="1455420"/>
          </a:xfrm>
          <a:prstGeom prst="rect">
            <a:avLst/>
          </a:prstGeom>
        </p:spPr>
        <p:txBody>
          <a:bodyPr/>
          <a:lstStyle>
            <a:lvl1pPr>
              <a:defRPr sz="4900">
                <a:latin typeface="楷体_GB2312"/>
                <a:ea typeface="楷体_GB2312"/>
                <a:cs typeface="楷体_GB2312"/>
                <a:sym typeface="楷体_GB2312"/>
              </a:defRPr>
            </a:lvl1pPr>
          </a:lstStyle>
          <a:p>
            <a:r>
              <a:t>例    片</a:t>
            </a:r>
          </a:p>
        </p:txBody>
      </p:sp>
      <p:sp>
        <p:nvSpPr>
          <p:cNvPr id="162" name="人全full-length shot——人的全身…"/>
          <p:cNvSpPr txBox="1">
            <a:spLocks noGrp="1"/>
          </p:cNvSpPr>
          <p:nvPr>
            <p:ph type="subTitle" sz="half" idx="1"/>
          </p:nvPr>
        </p:nvSpPr>
        <p:spPr>
          <a:xfrm>
            <a:off x="1202690" y="2061210"/>
            <a:ext cx="10150475" cy="4509135"/>
          </a:xfrm>
          <a:prstGeom prst="rect">
            <a:avLst/>
          </a:prstGeom>
        </p:spPr>
        <p:txBody>
          <a:bodyPr>
            <a:normAutofit/>
          </a:bodyPr>
          <a:lstStyle/>
          <a:p>
            <a:pPr marL="103505" indent="-103505" defTabSz="276225">
              <a:spcBef>
                <a:spcPts val="200"/>
              </a:spcBef>
              <a:buSzPct val="100000"/>
              <a:buChar char="•"/>
              <a:defRPr sz="4000">
                <a:latin typeface="楷体_GB2312"/>
                <a:ea typeface="楷体_GB2312"/>
                <a:cs typeface="楷体_GB2312"/>
                <a:sym typeface="楷体_GB2312"/>
              </a:defRPr>
            </a:pPr>
            <a:endParaRPr dirty="0"/>
          </a:p>
          <a:p>
            <a:pPr marL="103505" indent="-103505" defTabSz="276225">
              <a:spcBef>
                <a:spcPts val="200"/>
              </a:spcBef>
              <a:buSzPct val="100000"/>
              <a:buChar char="•"/>
              <a:defRPr sz="4000">
                <a:latin typeface="楷体_GB2312"/>
                <a:ea typeface="楷体_GB2312"/>
                <a:cs typeface="楷体_GB2312"/>
                <a:sym typeface="楷体_GB2312"/>
              </a:defRPr>
            </a:pPr>
            <a:r>
              <a:rPr dirty="0"/>
              <a:t>《</a:t>
            </a:r>
            <a:r>
              <a:rPr dirty="0" err="1"/>
              <a:t>黑店狂想曲</a:t>
            </a:r>
            <a:r>
              <a:rPr dirty="0"/>
              <a:t>》</a:t>
            </a:r>
            <a:endParaRPr sz="1000" dirty="0"/>
          </a:p>
          <a:p>
            <a:pPr algn="l" defTabSz="219710">
              <a:lnSpc>
                <a:spcPct val="100000"/>
              </a:lnSpc>
              <a:spcBef>
                <a:spcPts val="0"/>
              </a:spcBef>
              <a:defRPr sz="1800" baseline="-6000">
                <a:solidFill>
                  <a:srgbClr val="333333"/>
                </a:solidFill>
                <a:latin typeface="Arial" panose="020B0604020202090204"/>
                <a:ea typeface="Arial" panose="020B0604020202090204"/>
                <a:cs typeface="Arial" panose="020B0604020202090204"/>
                <a:sym typeface="Arial" panose="020B0604020202090204"/>
              </a:defRPr>
            </a:pPr>
            <a:endParaRPr sz="1000" dirty="0"/>
          </a:p>
          <a:p>
            <a:pPr algn="l" defTabSz="219710">
              <a:lnSpc>
                <a:spcPct val="200000"/>
              </a:lnSpc>
              <a:spcBef>
                <a:spcPts val="0"/>
              </a:spcBef>
              <a:defRPr sz="1800">
                <a:solidFill>
                  <a:srgbClr val="333333"/>
                </a:solidFill>
                <a:latin typeface="Arial" panose="020B0604020202090204"/>
                <a:ea typeface="Arial" panose="020B0604020202090204"/>
                <a:cs typeface="Arial" panose="020B0604020202090204"/>
                <a:sym typeface="Arial" panose="020B0604020202090204"/>
              </a:defRPr>
            </a:pPr>
            <a:r>
              <a:rPr dirty="0"/>
              <a:t>      </a:t>
            </a:r>
            <a:r>
              <a:rPr dirty="0">
                <a:solidFill>
                  <a:srgbClr val="FF0000"/>
                </a:solidFill>
              </a:rPr>
              <a:t> 叙事性声音蒙太奇又</a:t>
            </a:r>
            <a:r>
              <a:rPr dirty="0"/>
              <a:t>可称为叙述性蒙太奇。它是一种以</a:t>
            </a:r>
            <a:r>
              <a:rPr dirty="0">
                <a:solidFill>
                  <a:srgbClr val="FF0000"/>
                </a:solidFill>
              </a:rPr>
              <a:t>交待情节</a:t>
            </a:r>
            <a:r>
              <a:rPr dirty="0"/>
              <a:t>和</a:t>
            </a:r>
            <a:r>
              <a:rPr dirty="0">
                <a:solidFill>
                  <a:srgbClr val="FF0000"/>
                </a:solidFill>
              </a:rPr>
              <a:t>展示事件</a:t>
            </a:r>
            <a:r>
              <a:rPr dirty="0"/>
              <a:t>中的真实声音为主的蒙太奇，即按故事的发展脉络、事件的逻辑顺序和因果关系，来组接声音和画面、声音和声音的一种客观的、写实性的声音蒙太奇。它主要表现为</a:t>
            </a:r>
            <a:r>
              <a:rPr dirty="0">
                <a:solidFill>
                  <a:srgbClr val="FF0000"/>
                </a:solidFill>
              </a:rPr>
              <a:t>画面内外的声音</a:t>
            </a:r>
            <a:r>
              <a:rPr dirty="0"/>
              <a:t>是客观存在着的，</a:t>
            </a:r>
            <a:r>
              <a:rPr dirty="0">
                <a:solidFill>
                  <a:srgbClr val="FF0000"/>
                </a:solidFill>
              </a:rPr>
              <a:t>声音形象</a:t>
            </a:r>
            <a:r>
              <a:rPr dirty="0"/>
              <a:t>与</a:t>
            </a:r>
            <a:r>
              <a:rPr dirty="0">
                <a:solidFill>
                  <a:srgbClr val="FF0000"/>
                </a:solidFill>
              </a:rPr>
              <a:t>画面内容</a:t>
            </a:r>
            <a:r>
              <a:rPr dirty="0"/>
              <a:t>紧密结合，声音造型的情绪与画面造型的情绪保持一致，声音的动态节奏与画面的动态节奏完全吻合。</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162">
                                            <p:txEl>
                                              <p:pRg st="1" end="1"/>
                                            </p:txEl>
                                          </p:spTgt>
                                        </p:tgtEl>
                                        <p:attrNameLst>
                                          <p:attrName>style.visibility</p:attrName>
                                        </p:attrNameLst>
                                      </p:cBhvr>
                                      <p:to>
                                        <p:strVal val="visible"/>
                                      </p:to>
                                    </p:set>
                                    <p:animEffect transition="in" filter="wipe(left)">
                                      <p:cBhvr>
                                        <p:cTn id="7" dur="500"/>
                                        <p:tgtEl>
                                          <p:spTgt spid="1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162">
                                            <p:txEl>
                                              <p:pRg st="2" end="2"/>
                                            </p:txEl>
                                          </p:spTgt>
                                        </p:tgtEl>
                                        <p:attrNameLst>
                                          <p:attrName>style.visibility</p:attrName>
                                        </p:attrNameLst>
                                      </p:cBhvr>
                                      <p:to>
                                        <p:strVal val="visible"/>
                                      </p:to>
                                    </p:set>
                                    <p:animEffect transition="in" filter="wipe(left)">
                                      <p:cBhvr>
                                        <p:cTn id="12" dur="500"/>
                                        <p:tgtEl>
                                          <p:spTgt spid="1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162">
                                            <p:txEl>
                                              <p:pRg st="3" end="3"/>
                                            </p:txEl>
                                          </p:spTgt>
                                        </p:tgtEl>
                                        <p:attrNameLst>
                                          <p:attrName>style.visibility</p:attrName>
                                        </p:attrNameLst>
                                      </p:cBhvr>
                                      <p:to>
                                        <p:strVal val="visible"/>
                                      </p:to>
                                    </p:set>
                                    <p:animEffect transition="in" filter="wipe(left)">
                                      <p:cBhvr>
                                        <p:cTn id="17" dur="500"/>
                                        <p:tgtEl>
                                          <p:spTgt spid="1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1" bldLvl="5" animBg="1" advAuto="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 name="屏幕快照 2019-12-12 17.32.52.png" descr="屏幕快照 2019-12-12 17.32.52.png"/>
          <p:cNvPicPr>
            <a:picLocks noChangeAspect="1"/>
          </p:cNvPicPr>
          <p:nvPr/>
        </p:nvPicPr>
        <p:blipFill>
          <a:blip r:embed="rId1"/>
          <a:stretch>
            <a:fillRect/>
          </a:stretch>
        </p:blipFill>
        <p:spPr>
          <a:xfrm>
            <a:off x="-795673" y="-673972"/>
            <a:ext cx="13129510" cy="8205945"/>
          </a:xfrm>
          <a:prstGeom prst="rect">
            <a:avLst/>
          </a:prstGeom>
          <a:ln w="12700">
            <a:miter lim="400000"/>
            <a:headEnd/>
            <a:tailEnd/>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电影的声音技术史</a:t>
            </a:r>
            <a:endParaRPr lang="zh-CN" altLang="en-US" dirty="0"/>
          </a:p>
        </p:txBody>
      </p:sp>
      <p:sp>
        <p:nvSpPr>
          <p:cNvPr id="3" name="文本占位符 2"/>
          <p:cNvSpPr>
            <a:spLocks noGrp="1"/>
          </p:cNvSpPr>
          <p:nvPr>
            <p:ph type="body" idx="1"/>
          </p:nvPr>
        </p:nvSpPr>
        <p:spPr>
          <a:xfrm>
            <a:off x="2488367" y="3013022"/>
            <a:ext cx="9165236" cy="3658615"/>
          </a:xfrm>
        </p:spPr>
        <p:txBody>
          <a:bodyPr/>
          <a:lstStyle/>
          <a:p>
            <a:r>
              <a:rPr lang="en-US" altLang="zh-CN" dirty="0" smtClean="0">
                <a:solidFill>
                  <a:srgbClr val="FF0000"/>
                </a:solidFill>
              </a:rPr>
              <a:t>1895</a:t>
            </a:r>
            <a:r>
              <a:rPr lang="zh-CN" altLang="en-US" dirty="0" smtClean="0">
                <a:solidFill>
                  <a:srgbClr val="FF0000"/>
                </a:solidFill>
              </a:rPr>
              <a:t>年</a:t>
            </a:r>
            <a:r>
              <a:rPr lang="en-US" altLang="zh-CN" dirty="0" smtClean="0">
                <a:solidFill>
                  <a:srgbClr val="FF0000"/>
                </a:solidFill>
              </a:rPr>
              <a:t>—1927</a:t>
            </a:r>
            <a:r>
              <a:rPr lang="zh-CN" altLang="en-US" dirty="0" smtClean="0">
                <a:solidFill>
                  <a:srgbClr val="FF0000"/>
                </a:solidFill>
              </a:rPr>
              <a:t>年    无声电影</a:t>
            </a:r>
            <a:endParaRPr lang="en-US" altLang="zh-CN" dirty="0" smtClean="0">
              <a:solidFill>
                <a:srgbClr val="FF0000"/>
              </a:solidFill>
            </a:endParaRPr>
          </a:p>
          <a:p>
            <a:r>
              <a:rPr lang="en-US" altLang="zh-CN" dirty="0" smtClean="0">
                <a:solidFill>
                  <a:srgbClr val="FF0000"/>
                </a:solidFill>
              </a:rPr>
              <a:t>1927</a:t>
            </a:r>
            <a:r>
              <a:rPr lang="zh-CN" altLang="en-US" dirty="0" smtClean="0">
                <a:solidFill>
                  <a:srgbClr val="FF0000"/>
                </a:solidFill>
              </a:rPr>
              <a:t>年</a:t>
            </a:r>
            <a:r>
              <a:rPr lang="en-US" altLang="zh-CN" dirty="0">
                <a:solidFill>
                  <a:srgbClr val="FF0000"/>
                </a:solidFill>
              </a:rPr>
              <a:t> </a:t>
            </a:r>
            <a:r>
              <a:rPr lang="en-US" altLang="zh-CN" dirty="0" smtClean="0">
                <a:solidFill>
                  <a:srgbClr val="FF0000"/>
                </a:solidFill>
              </a:rPr>
              <a:t>                    </a:t>
            </a:r>
            <a:r>
              <a:rPr lang="zh-CN" altLang="en-US" dirty="0" smtClean="0">
                <a:solidFill>
                  <a:srgbClr val="FF0000"/>
                </a:solidFill>
              </a:rPr>
              <a:t>进入有声电影</a:t>
            </a:r>
            <a:endParaRPr lang="zh-CN" altLang="en-US" dirty="0">
              <a:solidFill>
                <a:srgbClr val="FF0000"/>
              </a:solidFill>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电影的声音技术史</a:t>
            </a:r>
            <a:endParaRPr lang="zh-CN" altLang="en-US" dirty="0"/>
          </a:p>
        </p:txBody>
      </p:sp>
      <p:sp>
        <p:nvSpPr>
          <p:cNvPr id="3" name="文本占位符 2"/>
          <p:cNvSpPr>
            <a:spLocks noGrp="1"/>
          </p:cNvSpPr>
          <p:nvPr>
            <p:ph type="body" idx="1"/>
          </p:nvPr>
        </p:nvSpPr>
        <p:spPr>
          <a:xfrm>
            <a:off x="2188564" y="1798819"/>
            <a:ext cx="8754256" cy="4302178"/>
          </a:xfrm>
        </p:spPr>
        <p:txBody>
          <a:bodyPr>
            <a:normAutofit fontScale="85000" lnSpcReduction="10000"/>
          </a:bodyPr>
          <a:lstStyle/>
          <a:p>
            <a:pPr>
              <a:lnSpc>
                <a:spcPct val="160000"/>
              </a:lnSpc>
            </a:pPr>
            <a:r>
              <a:rPr lang="en-US" altLang="zh-CN" dirty="0" smtClean="0">
                <a:solidFill>
                  <a:schemeClr val="tx1"/>
                </a:solidFill>
                <a:latin typeface="宋体" panose="02010600030101010101" pitchFamily="2" charset="-122"/>
                <a:ea typeface="宋体" panose="02010600030101010101" pitchFamily="2" charset="-122"/>
              </a:rPr>
              <a:t>1895</a:t>
            </a:r>
            <a:r>
              <a:rPr lang="zh-CN" altLang="en-US" dirty="0" smtClean="0">
                <a:solidFill>
                  <a:schemeClr val="tx1"/>
                </a:solidFill>
                <a:latin typeface="宋体" panose="02010600030101010101" pitchFamily="2" charset="-122"/>
                <a:ea typeface="宋体" panose="02010600030101010101" pitchFamily="2" charset="-122"/>
              </a:rPr>
              <a:t>年</a:t>
            </a:r>
            <a:r>
              <a:rPr lang="en-US" altLang="zh-CN" dirty="0" smtClean="0">
                <a:solidFill>
                  <a:schemeClr val="tx1"/>
                </a:solidFill>
                <a:latin typeface="宋体" panose="02010600030101010101" pitchFamily="2" charset="-122"/>
                <a:ea typeface="宋体" panose="02010600030101010101" pitchFamily="2" charset="-122"/>
              </a:rPr>
              <a:t>—1927</a:t>
            </a:r>
            <a:r>
              <a:rPr lang="zh-CN" altLang="en-US" dirty="0" smtClean="0">
                <a:solidFill>
                  <a:schemeClr val="tx1"/>
                </a:solidFill>
                <a:latin typeface="宋体" panose="02010600030101010101" pitchFamily="2" charset="-122"/>
                <a:ea typeface="宋体" panose="02010600030101010101" pitchFamily="2" charset="-122"/>
              </a:rPr>
              <a:t>年    无声电影</a:t>
            </a:r>
            <a:endParaRPr lang="en-US" altLang="zh-CN" dirty="0" smtClean="0">
              <a:solidFill>
                <a:schemeClr val="tx1"/>
              </a:solidFill>
              <a:latin typeface="宋体" panose="02010600030101010101" pitchFamily="2" charset="-122"/>
              <a:ea typeface="宋体" panose="02010600030101010101" pitchFamily="2" charset="-122"/>
            </a:endParaRPr>
          </a:p>
          <a:p>
            <a:pPr lvl="0">
              <a:lnSpc>
                <a:spcPct val="160000"/>
              </a:lnSpc>
            </a:pPr>
            <a:r>
              <a:rPr lang="zh-CN" altLang="zh-CN" dirty="0">
                <a:solidFill>
                  <a:schemeClr val="tx1"/>
                </a:solidFill>
                <a:latin typeface="宋体" panose="02010600030101010101" pitchFamily="2" charset="-122"/>
                <a:ea typeface="宋体" panose="02010600030101010101" pitchFamily="2" charset="-122"/>
              </a:rPr>
              <a:t>无声电影</a:t>
            </a:r>
            <a:r>
              <a:rPr lang="zh-CN" altLang="zh-CN" dirty="0" smtClean="0">
                <a:solidFill>
                  <a:schemeClr val="tx1"/>
                </a:solidFill>
                <a:latin typeface="宋体" panose="02010600030101010101" pitchFamily="2" charset="-122"/>
                <a:ea typeface="宋体" panose="02010600030101010101" pitchFamily="2" charset="-122"/>
              </a:rPr>
              <a:t>，</a:t>
            </a:r>
            <a:r>
              <a:rPr lang="zh-CN" altLang="en-US" dirty="0" smtClean="0">
                <a:solidFill>
                  <a:schemeClr val="tx1"/>
                </a:solidFill>
                <a:latin typeface="宋体" panose="02010600030101010101" pitchFamily="2" charset="-122"/>
                <a:ea typeface="宋体" panose="02010600030101010101" pitchFamily="2" charset="-122"/>
              </a:rPr>
              <a:t>也</a:t>
            </a:r>
            <a:r>
              <a:rPr lang="zh-CN" altLang="zh-CN" dirty="0" smtClean="0">
                <a:solidFill>
                  <a:schemeClr val="tx1"/>
                </a:solidFill>
                <a:latin typeface="宋体" panose="02010600030101010101" pitchFamily="2" charset="-122"/>
                <a:ea typeface="宋体" panose="02010600030101010101" pitchFamily="2" charset="-122"/>
              </a:rPr>
              <a:t>称</a:t>
            </a:r>
            <a:r>
              <a:rPr lang="en-US" altLang="zh-CN" dirty="0">
                <a:solidFill>
                  <a:schemeClr val="tx1"/>
                </a:solidFill>
                <a:latin typeface="宋体" panose="02010600030101010101" pitchFamily="2" charset="-122"/>
                <a:ea typeface="宋体" panose="02010600030101010101" pitchFamily="2" charset="-122"/>
              </a:rPr>
              <a:t>“</a:t>
            </a:r>
            <a:r>
              <a:rPr lang="en-US" altLang="zh-CN" dirty="0" err="1">
                <a:solidFill>
                  <a:schemeClr val="tx1"/>
                </a:solidFill>
                <a:latin typeface="宋体" panose="02010600030101010101" pitchFamily="2" charset="-122"/>
                <a:ea typeface="宋体" panose="02010600030101010101" pitchFamily="2" charset="-122"/>
                <a:hlinkClick r:id="rId1"/>
              </a:rPr>
              <a:t>默片</a:t>
            </a:r>
            <a:r>
              <a:rPr lang="en-US" altLang="zh-CN" dirty="0">
                <a:solidFill>
                  <a:schemeClr val="tx1"/>
                </a:solidFill>
                <a:latin typeface="宋体" panose="02010600030101010101" pitchFamily="2" charset="-122"/>
                <a:ea typeface="宋体" panose="02010600030101010101" pitchFamily="2" charset="-122"/>
              </a:rPr>
              <a:t>”</a:t>
            </a:r>
            <a:r>
              <a:rPr lang="zh-CN" altLang="zh-CN" dirty="0">
                <a:solidFill>
                  <a:schemeClr val="tx1"/>
                </a:solidFill>
                <a:latin typeface="宋体" panose="02010600030101010101" pitchFamily="2" charset="-122"/>
                <a:ea typeface="宋体" panose="02010600030101010101" pitchFamily="2" charset="-122"/>
              </a:rPr>
              <a:t>，是指没有任何配音、配乐或</a:t>
            </a:r>
            <a:r>
              <a:rPr lang="zh-CN" altLang="zh-CN" dirty="0" smtClean="0">
                <a:solidFill>
                  <a:schemeClr val="tx1"/>
                </a:solidFill>
                <a:latin typeface="宋体" panose="02010600030101010101" pitchFamily="2" charset="-122"/>
                <a:ea typeface="宋体" panose="02010600030101010101" pitchFamily="2" charset="-122"/>
              </a:rPr>
              <a:t>与</a:t>
            </a:r>
            <a:r>
              <a:rPr lang="zh-CN" altLang="en-US" dirty="0" smtClean="0">
                <a:solidFill>
                  <a:schemeClr val="tx1"/>
                </a:solidFill>
                <a:latin typeface="宋体" panose="02010600030101010101" pitchFamily="2" charset="-122"/>
                <a:ea typeface="宋体" panose="02010600030101010101" pitchFamily="2" charset="-122"/>
              </a:rPr>
              <a:t>人</a:t>
            </a:r>
            <a:r>
              <a:rPr lang="zh-CN" altLang="zh-CN" dirty="0" smtClean="0">
                <a:solidFill>
                  <a:schemeClr val="tx1"/>
                </a:solidFill>
                <a:latin typeface="宋体" panose="02010600030101010101" pitchFamily="2" charset="-122"/>
                <a:ea typeface="宋体" panose="02010600030101010101" pitchFamily="2" charset="-122"/>
              </a:rPr>
              <a:t>声的</a:t>
            </a:r>
            <a:r>
              <a:rPr lang="zh-CN" altLang="zh-CN" dirty="0">
                <a:solidFill>
                  <a:schemeClr val="tx1"/>
                </a:solidFill>
                <a:latin typeface="宋体" panose="02010600030101010101" pitchFamily="2" charset="-122"/>
                <a:ea typeface="宋体" panose="02010600030101010101" pitchFamily="2" charset="-122"/>
              </a:rPr>
              <a:t>电影。默片非常依赖大量的身体动作和面部表情</a:t>
            </a:r>
            <a:r>
              <a:rPr lang="zh-CN" altLang="zh-CN" dirty="0" smtClean="0">
                <a:solidFill>
                  <a:schemeClr val="tx1"/>
                </a:solidFill>
                <a:latin typeface="宋体" panose="02010600030101010101" pitchFamily="2" charset="-122"/>
                <a:ea typeface="宋体" panose="02010600030101010101" pitchFamily="2" charset="-122"/>
              </a:rPr>
              <a:t>，</a:t>
            </a:r>
            <a:r>
              <a:rPr lang="zh-CN" altLang="en-US" dirty="0" smtClean="0">
                <a:solidFill>
                  <a:schemeClr val="tx1"/>
                </a:solidFill>
                <a:latin typeface="宋体" panose="02010600030101010101" pitchFamily="2" charset="-122"/>
                <a:ea typeface="宋体" panose="02010600030101010101" pitchFamily="2" charset="-122"/>
              </a:rPr>
              <a:t>以</a:t>
            </a:r>
            <a:r>
              <a:rPr lang="zh-CN" altLang="zh-CN" dirty="0" smtClean="0">
                <a:solidFill>
                  <a:schemeClr val="tx1"/>
                </a:solidFill>
                <a:latin typeface="宋体" panose="02010600030101010101" pitchFamily="2" charset="-122"/>
                <a:ea typeface="宋体" panose="02010600030101010101" pitchFamily="2" charset="-122"/>
              </a:rPr>
              <a:t>让</a:t>
            </a:r>
            <a:r>
              <a:rPr lang="zh-CN" altLang="zh-CN" dirty="0">
                <a:solidFill>
                  <a:schemeClr val="tx1"/>
                </a:solidFill>
                <a:latin typeface="宋体" panose="02010600030101010101" pitchFamily="2" charset="-122"/>
                <a:ea typeface="宋体" panose="02010600030101010101" pitchFamily="2" charset="-122"/>
              </a:rPr>
              <a:t>观众知道和了解角色的内心</a:t>
            </a:r>
            <a:r>
              <a:rPr lang="zh-CN" altLang="zh-CN" dirty="0" smtClean="0">
                <a:solidFill>
                  <a:schemeClr val="tx1"/>
                </a:solidFill>
                <a:latin typeface="宋体" panose="02010600030101010101" pitchFamily="2" charset="-122"/>
                <a:ea typeface="宋体" panose="02010600030101010101" pitchFamily="2" charset="-122"/>
              </a:rPr>
              <a:t>思想</a:t>
            </a:r>
            <a:endParaRPr lang="zh-CN" altLang="zh-CN" dirty="0">
              <a:solidFill>
                <a:schemeClr val="tx1"/>
              </a:solidFill>
              <a:latin typeface="宋体" panose="02010600030101010101" pitchFamily="2" charset="-122"/>
              <a:ea typeface="宋体" panose="02010600030101010101" pitchFamily="2" charset="-122"/>
            </a:endParaRPr>
          </a:p>
          <a:p>
            <a:pPr>
              <a:lnSpc>
                <a:spcPct val="160000"/>
              </a:lnSpc>
            </a:pPr>
            <a:r>
              <a:rPr lang="zh-CN" altLang="zh-CN" dirty="0">
                <a:solidFill>
                  <a:schemeClr val="tx1"/>
                </a:solidFill>
                <a:latin typeface="宋体" panose="02010600030101010101" pitchFamily="2" charset="-122"/>
                <a:ea typeface="宋体" panose="02010600030101010101" pitchFamily="2" charset="-122"/>
              </a:rPr>
              <a:t>无声电影时期，诞生了一大批电影艺术大师，</a:t>
            </a:r>
            <a:r>
              <a:rPr lang="en-US" altLang="zh-CN" dirty="0" err="1">
                <a:solidFill>
                  <a:schemeClr val="tx1"/>
                </a:solidFill>
                <a:latin typeface="宋体" panose="02010600030101010101" pitchFamily="2" charset="-122"/>
                <a:ea typeface="宋体" panose="02010600030101010101" pitchFamily="2" charset="-122"/>
                <a:hlinkClick r:id="rId2"/>
              </a:rPr>
              <a:t>梅里爱</a:t>
            </a:r>
            <a:r>
              <a:rPr lang="zh-CN" altLang="zh-CN" dirty="0">
                <a:solidFill>
                  <a:schemeClr val="tx1"/>
                </a:solidFill>
                <a:latin typeface="宋体" panose="02010600030101010101" pitchFamily="2" charset="-122"/>
                <a:ea typeface="宋体" panose="02010600030101010101" pitchFamily="2" charset="-122"/>
              </a:rPr>
              <a:t>、</a:t>
            </a:r>
            <a:r>
              <a:rPr lang="en-US" altLang="zh-CN" dirty="0" err="1">
                <a:solidFill>
                  <a:schemeClr val="tx1"/>
                </a:solidFill>
                <a:latin typeface="宋体" panose="02010600030101010101" pitchFamily="2" charset="-122"/>
                <a:ea typeface="宋体" panose="02010600030101010101" pitchFamily="2" charset="-122"/>
                <a:hlinkClick r:id="rId3"/>
              </a:rPr>
              <a:t>格里菲斯</a:t>
            </a:r>
            <a:r>
              <a:rPr lang="zh-CN" altLang="zh-CN" dirty="0">
                <a:solidFill>
                  <a:schemeClr val="tx1"/>
                </a:solidFill>
                <a:latin typeface="宋体" panose="02010600030101010101" pitchFamily="2" charset="-122"/>
                <a:ea typeface="宋体" panose="02010600030101010101" pitchFamily="2" charset="-122"/>
              </a:rPr>
              <a:t>、</a:t>
            </a:r>
            <a:r>
              <a:rPr lang="en-US" altLang="zh-CN" dirty="0" err="1">
                <a:solidFill>
                  <a:schemeClr val="tx1"/>
                </a:solidFill>
                <a:latin typeface="宋体" panose="02010600030101010101" pitchFamily="2" charset="-122"/>
                <a:ea typeface="宋体" panose="02010600030101010101" pitchFamily="2" charset="-122"/>
                <a:hlinkClick r:id="rId4"/>
              </a:rPr>
              <a:t>卓别林</a:t>
            </a:r>
            <a:r>
              <a:rPr lang="zh-CN" altLang="zh-CN" dirty="0">
                <a:solidFill>
                  <a:schemeClr val="tx1"/>
                </a:solidFill>
                <a:latin typeface="宋体" panose="02010600030101010101" pitchFamily="2" charset="-122"/>
                <a:ea typeface="宋体" panose="02010600030101010101" pitchFamily="2" charset="-122"/>
              </a:rPr>
              <a:t>、</a:t>
            </a:r>
            <a:r>
              <a:rPr lang="en-US" altLang="zh-CN" dirty="0" err="1">
                <a:solidFill>
                  <a:schemeClr val="tx1"/>
                </a:solidFill>
                <a:latin typeface="宋体" panose="02010600030101010101" pitchFamily="2" charset="-122"/>
                <a:ea typeface="宋体" panose="02010600030101010101" pitchFamily="2" charset="-122"/>
                <a:hlinkClick r:id="rId5"/>
              </a:rPr>
              <a:t>爱森斯坦</a:t>
            </a:r>
            <a:r>
              <a:rPr lang="zh-CN" altLang="zh-CN" dirty="0">
                <a:solidFill>
                  <a:schemeClr val="tx1"/>
                </a:solidFill>
                <a:latin typeface="宋体" panose="02010600030101010101" pitchFamily="2" charset="-122"/>
                <a:ea typeface="宋体" panose="02010600030101010101" pitchFamily="2" charset="-122"/>
              </a:rPr>
              <a:t>、勒内</a:t>
            </a:r>
            <a:r>
              <a:rPr lang="en-US" altLang="zh-CN" dirty="0">
                <a:solidFill>
                  <a:schemeClr val="tx1"/>
                </a:solidFill>
                <a:latin typeface="宋体" panose="02010600030101010101" pitchFamily="2" charset="-122"/>
                <a:ea typeface="宋体" panose="02010600030101010101" pitchFamily="2" charset="-122"/>
              </a:rPr>
              <a:t>·</a:t>
            </a:r>
            <a:r>
              <a:rPr lang="zh-CN" altLang="zh-CN" dirty="0">
                <a:solidFill>
                  <a:schemeClr val="tx1"/>
                </a:solidFill>
                <a:latin typeface="宋体" panose="02010600030101010101" pitchFamily="2" charset="-122"/>
                <a:ea typeface="宋体" panose="02010600030101010101" pitchFamily="2" charset="-122"/>
              </a:rPr>
              <a:t>克莱</a:t>
            </a:r>
            <a:r>
              <a:rPr lang="zh-CN" altLang="zh-CN" dirty="0" smtClean="0">
                <a:solidFill>
                  <a:schemeClr val="tx1"/>
                </a:solidFill>
                <a:latin typeface="宋体" panose="02010600030101010101" pitchFamily="2" charset="-122"/>
                <a:ea typeface="宋体" panose="02010600030101010101" pitchFamily="2" charset="-122"/>
              </a:rPr>
              <a:t>尔等</a:t>
            </a:r>
            <a:r>
              <a:rPr lang="zh-CN" altLang="zh-CN" dirty="0">
                <a:solidFill>
                  <a:schemeClr val="tx1"/>
                </a:solidFill>
                <a:latin typeface="宋体" panose="02010600030101010101" pitchFamily="2" charset="-122"/>
                <a:ea typeface="宋体" panose="02010600030101010101" pitchFamily="2" charset="-122"/>
              </a:rPr>
              <a:t>，他们在电影创作实践中已经积累和完善了一套成熟的影像</a:t>
            </a:r>
            <a:r>
              <a:rPr lang="en-US" altLang="zh-CN" dirty="0" err="1">
                <a:solidFill>
                  <a:schemeClr val="tx1"/>
                </a:solidFill>
                <a:latin typeface="宋体" panose="02010600030101010101" pitchFamily="2" charset="-122"/>
                <a:ea typeface="宋体" panose="02010600030101010101" pitchFamily="2" charset="-122"/>
                <a:hlinkClick r:id="rId6"/>
              </a:rPr>
              <a:t>蒙太奇</a:t>
            </a:r>
            <a:r>
              <a:rPr lang="zh-CN" altLang="zh-CN" dirty="0">
                <a:solidFill>
                  <a:schemeClr val="tx1"/>
                </a:solidFill>
                <a:latin typeface="宋体" panose="02010600030101010101" pitchFamily="2" charset="-122"/>
                <a:ea typeface="宋体" panose="02010600030101010101" pitchFamily="2" charset="-122"/>
              </a:rPr>
              <a:t>艺术</a:t>
            </a:r>
            <a:r>
              <a:rPr lang="zh-CN" altLang="zh-CN" dirty="0"/>
              <a:t>。</a:t>
            </a:r>
            <a:endParaRPr lang="zh-CN" altLang="zh-CN" dirty="0"/>
          </a:p>
          <a:p>
            <a:endParaRPr lang="en-US" altLang="zh-CN" dirty="0" smtClean="0">
              <a:solidFill>
                <a:srgbClr val="FF0000"/>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786" y="-389745"/>
            <a:ext cx="6490403" cy="1592705"/>
          </a:xfrm>
        </p:spPr>
        <p:txBody>
          <a:bodyPr>
            <a:normAutofit/>
          </a:bodyPr>
          <a:lstStyle/>
          <a:p>
            <a:r>
              <a:rPr lang="zh-CN" altLang="zh-CN" dirty="0">
                <a:solidFill>
                  <a:schemeClr val="tx1"/>
                </a:solidFill>
                <a:latin typeface="宋体" panose="02010600030101010101" pitchFamily="2" charset="-122"/>
                <a:ea typeface="宋体" panose="02010600030101010101" pitchFamily="2" charset="-122"/>
              </a:rPr>
              <a:t>默片</a:t>
            </a:r>
            <a:r>
              <a:rPr lang="zh-CN" altLang="en-US" dirty="0">
                <a:solidFill>
                  <a:schemeClr val="tx1"/>
                </a:solidFill>
                <a:latin typeface="宋体" panose="02010600030101010101" pitchFamily="2" charset="-122"/>
                <a:ea typeface="宋体" panose="02010600030101010101" pitchFamily="2" charset="-122"/>
              </a:rPr>
              <a:t>表演大师：</a:t>
            </a:r>
            <a:r>
              <a:rPr lang="zh-CN" altLang="en-US" b="1" dirty="0" smtClean="0">
                <a:solidFill>
                  <a:srgbClr val="FF0000"/>
                </a:solidFill>
                <a:latin typeface="宋体" panose="02010600030101010101" pitchFamily="2" charset="-122"/>
                <a:ea typeface="宋体" panose="02010600030101010101" pitchFamily="2" charset="-122"/>
              </a:rPr>
              <a:t>卓别林</a:t>
            </a:r>
            <a:br>
              <a:rPr lang="en-US" altLang="zh-CN" b="1" dirty="0">
                <a:solidFill>
                  <a:srgbClr val="FF0000"/>
                </a:solidFill>
                <a:latin typeface="宋体" panose="02010600030101010101" pitchFamily="2" charset="-122"/>
                <a:ea typeface="宋体" panose="02010600030101010101" pitchFamily="2" charset="-122"/>
              </a:rPr>
            </a:br>
            <a:r>
              <a:rPr lang="en-US" altLang="zh-CN" sz="1200" b="1" dirty="0">
                <a:solidFill>
                  <a:schemeClr val="tx1"/>
                </a:solidFill>
                <a:latin typeface="宋体" panose="02010600030101010101" pitchFamily="2" charset="-122"/>
                <a:ea typeface="宋体" panose="02010600030101010101" pitchFamily="2" charset="-122"/>
              </a:rPr>
              <a:t>https://www.iqiyi.com/v_19rrj5uk9k.html?vfm=m_502_sgss&amp;fv=p_05_01&amp;fv=bf562ffc1cd15119&amp;fromvsogou=1</a:t>
            </a:r>
            <a:endParaRPr lang="zh-CN" altLang="en-US" sz="1200" dirty="0">
              <a:solidFill>
                <a:schemeClr val="tx1"/>
              </a:solidFill>
              <a:latin typeface="宋体" panose="02010600030101010101" pitchFamily="2" charset="-122"/>
              <a:ea typeface="宋体" panose="02010600030101010101" pitchFamily="2" charset="-122"/>
            </a:endParaRPr>
          </a:p>
        </p:txBody>
      </p:sp>
      <p:pic>
        <p:nvPicPr>
          <p:cNvPr id="5" name="图片占位符 4"/>
          <p:cNvPicPr>
            <a:picLocks noGrp="1" noChangeAspect="1"/>
          </p:cNvPicPr>
          <p:nvPr>
            <p:ph type="pic" sz="half" idx="13"/>
          </p:nvPr>
        </p:nvPicPr>
        <p:blipFill>
          <a:blip r:embed="rId1" cstate="print">
            <a:extLst>
              <a:ext uri="{28A0092B-C50C-407E-A947-70E740481C1C}">
                <a14:useLocalDpi xmlns:a14="http://schemas.microsoft.com/office/drawing/2010/main" val="0"/>
              </a:ext>
            </a:extLst>
          </a:blip>
          <a:srcRect l="2583" r="2583"/>
          <a:stretch>
            <a:fillRect/>
          </a:stretch>
        </p:blipFill>
        <p:spPr>
          <a:xfrm>
            <a:off x="7467765" y="479685"/>
            <a:ext cx="3830255" cy="6176404"/>
          </a:xfrm>
        </p:spPr>
      </p:pic>
      <p:sp>
        <p:nvSpPr>
          <p:cNvPr id="4" name="文本占位符 3"/>
          <p:cNvSpPr>
            <a:spLocks noGrp="1"/>
          </p:cNvSpPr>
          <p:nvPr>
            <p:ph type="body" sz="quarter" idx="1"/>
          </p:nvPr>
        </p:nvSpPr>
        <p:spPr>
          <a:xfrm>
            <a:off x="839470" y="1454150"/>
            <a:ext cx="6338570" cy="5291455"/>
          </a:xfrm>
        </p:spPr>
        <p:txBody>
          <a:bodyPr>
            <a:normAutofit fontScale="92500"/>
          </a:bodyPr>
          <a:lstStyle/>
          <a:p>
            <a:pPr>
              <a:lnSpc>
                <a:spcPct val="150000"/>
              </a:lnSpc>
            </a:pPr>
            <a:r>
              <a:rPr lang="zh-CN" altLang="en-US" dirty="0"/>
              <a:t> 查理</a:t>
            </a:r>
            <a:r>
              <a:rPr lang="en-US" altLang="zh-CN" dirty="0"/>
              <a:t>·</a:t>
            </a:r>
            <a:r>
              <a:rPr lang="zh-CN" altLang="en-US" dirty="0"/>
              <a:t>卓别林（</a:t>
            </a:r>
            <a:r>
              <a:rPr lang="en-US" altLang="zh-CN" dirty="0"/>
              <a:t>Charlie Chaplin</a:t>
            </a:r>
            <a:r>
              <a:rPr lang="zh-CN" altLang="en-US" dirty="0"/>
              <a:t>，</a:t>
            </a:r>
            <a:r>
              <a:rPr lang="en-US" altLang="zh-CN" dirty="0"/>
              <a:t>1889</a:t>
            </a:r>
            <a:r>
              <a:rPr lang="zh-CN" altLang="en-US" dirty="0"/>
              <a:t>年</a:t>
            </a:r>
            <a:r>
              <a:rPr lang="en-US" altLang="zh-CN" dirty="0"/>
              <a:t>4</a:t>
            </a:r>
            <a:r>
              <a:rPr lang="zh-CN" altLang="en-US" dirty="0"/>
              <a:t>月</a:t>
            </a:r>
            <a:r>
              <a:rPr lang="en-US" altLang="zh-CN" dirty="0"/>
              <a:t>16</a:t>
            </a:r>
            <a:r>
              <a:rPr lang="zh-CN" altLang="en-US" dirty="0"/>
              <a:t>日</a:t>
            </a:r>
            <a:r>
              <a:rPr lang="en-US" altLang="zh-CN" dirty="0"/>
              <a:t>—1977</a:t>
            </a:r>
            <a:r>
              <a:rPr lang="zh-CN" altLang="en-US" dirty="0"/>
              <a:t>年</a:t>
            </a:r>
            <a:r>
              <a:rPr lang="en-US" altLang="zh-CN" dirty="0"/>
              <a:t>12</a:t>
            </a:r>
            <a:r>
              <a:rPr lang="zh-CN" altLang="en-US" dirty="0"/>
              <a:t>月</a:t>
            </a:r>
            <a:r>
              <a:rPr lang="en-US" altLang="zh-CN" dirty="0"/>
              <a:t>25</a:t>
            </a:r>
            <a:r>
              <a:rPr lang="zh-CN" altLang="en-US" dirty="0"/>
              <a:t>日）</a:t>
            </a:r>
            <a:endParaRPr lang="en-US" altLang="zh-CN" dirty="0"/>
          </a:p>
          <a:p>
            <a:pPr>
              <a:lnSpc>
                <a:spcPct val="150000"/>
              </a:lnSpc>
            </a:pPr>
            <a:r>
              <a:rPr lang="zh-CN" altLang="en-US" dirty="0"/>
              <a:t>生于</a:t>
            </a:r>
            <a:r>
              <a:rPr lang="zh-CN" altLang="en-US" dirty="0">
                <a:solidFill>
                  <a:schemeClr val="tx1"/>
                </a:solidFill>
                <a:hlinkClick r:id="rId2"/>
              </a:rPr>
              <a:t>英国</a:t>
            </a:r>
            <a:r>
              <a:rPr lang="zh-CN" altLang="en-US" dirty="0">
                <a:solidFill>
                  <a:schemeClr val="tx1"/>
                </a:solidFill>
                <a:hlinkClick r:id="rId3"/>
              </a:rPr>
              <a:t>伦敦</a:t>
            </a:r>
            <a:r>
              <a:rPr lang="zh-CN" altLang="en-US" dirty="0">
                <a:solidFill>
                  <a:schemeClr val="tx1"/>
                </a:solidFill>
              </a:rPr>
              <a:t>，英国影视男演员、导演、编剧。</a:t>
            </a:r>
            <a:endParaRPr lang="zh-CN" altLang="en-US" dirty="0">
              <a:solidFill>
                <a:schemeClr val="tx1"/>
              </a:solidFill>
            </a:endParaRPr>
          </a:p>
          <a:p>
            <a:pPr>
              <a:lnSpc>
                <a:spcPct val="150000"/>
              </a:lnSpc>
            </a:pPr>
            <a:r>
              <a:rPr lang="zh-CN" altLang="en-US" dirty="0" smtClean="0">
                <a:solidFill>
                  <a:schemeClr val="tx1"/>
                </a:solidFill>
              </a:rPr>
              <a:t>       第一</a:t>
            </a:r>
            <a:r>
              <a:rPr lang="zh-CN" altLang="en-US" dirty="0">
                <a:solidFill>
                  <a:schemeClr val="tx1"/>
                </a:solidFill>
              </a:rPr>
              <a:t>部电影是</a:t>
            </a:r>
            <a:r>
              <a:rPr lang="en-US" altLang="zh-CN" dirty="0">
                <a:solidFill>
                  <a:schemeClr val="tx1"/>
                </a:solidFill>
              </a:rPr>
              <a:t>《</a:t>
            </a:r>
            <a:r>
              <a:rPr lang="zh-CN" altLang="en-US" dirty="0">
                <a:solidFill>
                  <a:schemeClr val="tx1"/>
                </a:solidFill>
                <a:hlinkClick r:id="rId4"/>
              </a:rPr>
              <a:t>谋生</a:t>
            </a:r>
            <a:r>
              <a:rPr lang="en-US" altLang="zh-CN" dirty="0">
                <a:solidFill>
                  <a:schemeClr val="tx1"/>
                </a:solidFill>
              </a:rPr>
              <a:t>》</a:t>
            </a:r>
            <a:r>
              <a:rPr lang="zh-CN" altLang="en-US" dirty="0" smtClean="0">
                <a:solidFill>
                  <a:schemeClr val="tx1"/>
                </a:solidFill>
              </a:rPr>
              <a:t>。</a:t>
            </a:r>
            <a:endParaRPr lang="en-US" altLang="zh-CN" dirty="0" smtClean="0">
              <a:solidFill>
                <a:schemeClr val="tx1"/>
              </a:solidFill>
            </a:endParaRPr>
          </a:p>
          <a:p>
            <a:pPr>
              <a:lnSpc>
                <a:spcPct val="150000"/>
              </a:lnSpc>
            </a:pPr>
            <a:r>
              <a:rPr lang="en-US" altLang="zh-CN" dirty="0">
                <a:solidFill>
                  <a:schemeClr val="tx1"/>
                </a:solidFill>
              </a:rPr>
              <a:t> </a:t>
            </a:r>
            <a:r>
              <a:rPr lang="en-US" altLang="zh-CN" dirty="0" smtClean="0">
                <a:solidFill>
                  <a:schemeClr val="tx1"/>
                </a:solidFill>
              </a:rPr>
              <a:t>     1915</a:t>
            </a:r>
            <a:r>
              <a:rPr lang="zh-CN" altLang="en-US" dirty="0">
                <a:solidFill>
                  <a:schemeClr val="tx1"/>
                </a:solidFill>
              </a:rPr>
              <a:t>年开始卓别林开始自编自导自</a:t>
            </a:r>
            <a:r>
              <a:rPr lang="zh-CN" altLang="en-US" dirty="0" smtClean="0">
                <a:solidFill>
                  <a:schemeClr val="tx1"/>
                </a:solidFill>
              </a:rPr>
              <a:t>演。</a:t>
            </a:r>
            <a:endParaRPr lang="en-US" altLang="zh-CN" dirty="0" smtClean="0">
              <a:solidFill>
                <a:schemeClr val="tx1"/>
              </a:solidFill>
            </a:endParaRPr>
          </a:p>
          <a:p>
            <a:pPr>
              <a:lnSpc>
                <a:spcPct val="150000"/>
              </a:lnSpc>
            </a:pPr>
            <a:r>
              <a:rPr lang="en-US" altLang="zh-CN" dirty="0" smtClean="0">
                <a:solidFill>
                  <a:schemeClr val="tx1"/>
                </a:solidFill>
              </a:rPr>
              <a:t>      1917</a:t>
            </a:r>
            <a:r>
              <a:rPr lang="zh-CN" altLang="en-US" dirty="0">
                <a:solidFill>
                  <a:schemeClr val="tx1"/>
                </a:solidFill>
              </a:rPr>
              <a:t>年出品了</a:t>
            </a:r>
            <a:r>
              <a:rPr lang="en-US" altLang="zh-CN" dirty="0">
                <a:solidFill>
                  <a:schemeClr val="tx1"/>
                </a:solidFill>
              </a:rPr>
              <a:t>《</a:t>
            </a:r>
            <a:r>
              <a:rPr lang="zh-CN" altLang="en-US" dirty="0">
                <a:solidFill>
                  <a:schemeClr val="tx1"/>
                </a:solidFill>
                <a:hlinkClick r:id="rId5"/>
              </a:rPr>
              <a:t>移民</a:t>
            </a:r>
            <a:r>
              <a:rPr lang="en-US" altLang="zh-CN" dirty="0">
                <a:solidFill>
                  <a:schemeClr val="tx1"/>
                </a:solidFill>
              </a:rPr>
              <a:t>》</a:t>
            </a:r>
            <a:r>
              <a:rPr lang="zh-CN" altLang="en-US" dirty="0">
                <a:solidFill>
                  <a:schemeClr val="tx1"/>
                </a:solidFill>
              </a:rPr>
              <a:t>和</a:t>
            </a:r>
            <a:r>
              <a:rPr lang="en-US" altLang="zh-CN" dirty="0">
                <a:solidFill>
                  <a:schemeClr val="tx1"/>
                </a:solidFill>
              </a:rPr>
              <a:t>《</a:t>
            </a:r>
            <a:r>
              <a:rPr lang="zh-CN" altLang="en-US" dirty="0">
                <a:solidFill>
                  <a:schemeClr val="tx1"/>
                </a:solidFill>
                <a:hlinkClick r:id="rId6"/>
              </a:rPr>
              <a:t>安乐街</a:t>
            </a:r>
            <a:r>
              <a:rPr lang="en-US" altLang="zh-CN" dirty="0" smtClean="0">
                <a:solidFill>
                  <a:schemeClr val="tx1"/>
                </a:solidFill>
              </a:rPr>
              <a:t>》</a:t>
            </a:r>
            <a:r>
              <a:rPr lang="zh-CN" altLang="en-US" dirty="0" smtClean="0">
                <a:solidFill>
                  <a:schemeClr val="tx1"/>
                </a:solidFill>
              </a:rPr>
              <a:t>。</a:t>
            </a:r>
            <a:endParaRPr lang="en-US" altLang="zh-CN" dirty="0" smtClean="0">
              <a:solidFill>
                <a:schemeClr val="tx1"/>
              </a:solidFill>
            </a:endParaRPr>
          </a:p>
          <a:p>
            <a:pPr>
              <a:lnSpc>
                <a:spcPct val="150000"/>
              </a:lnSpc>
            </a:pPr>
            <a:r>
              <a:rPr lang="en-US" altLang="zh-CN" dirty="0">
                <a:solidFill>
                  <a:schemeClr val="tx1"/>
                </a:solidFill>
              </a:rPr>
              <a:t> </a:t>
            </a:r>
            <a:r>
              <a:rPr lang="en-US" altLang="zh-CN" dirty="0" smtClean="0">
                <a:solidFill>
                  <a:schemeClr val="tx1"/>
                </a:solidFill>
              </a:rPr>
              <a:t>      1923</a:t>
            </a:r>
            <a:r>
              <a:rPr lang="zh-CN" altLang="en-US" dirty="0">
                <a:solidFill>
                  <a:schemeClr val="tx1"/>
                </a:solidFill>
              </a:rPr>
              <a:t>年</a:t>
            </a:r>
            <a:r>
              <a:rPr lang="zh-CN" altLang="en-US" dirty="0" smtClean="0">
                <a:solidFill>
                  <a:schemeClr val="tx1"/>
                </a:solidFill>
              </a:rPr>
              <a:t>，</a:t>
            </a:r>
            <a:r>
              <a:rPr lang="en-US" altLang="zh-CN" dirty="0" smtClean="0">
                <a:solidFill>
                  <a:schemeClr val="tx1"/>
                </a:solidFill>
              </a:rPr>
              <a:t>《</a:t>
            </a:r>
            <a:r>
              <a:rPr lang="zh-CN" altLang="en-US" dirty="0">
                <a:solidFill>
                  <a:schemeClr val="tx1"/>
                </a:solidFill>
                <a:hlinkClick r:id="rId7"/>
              </a:rPr>
              <a:t>巴黎一妇人</a:t>
            </a:r>
            <a:r>
              <a:rPr lang="en-US" altLang="zh-CN" dirty="0">
                <a:solidFill>
                  <a:schemeClr val="tx1"/>
                </a:solidFill>
              </a:rPr>
              <a:t>》</a:t>
            </a:r>
            <a:r>
              <a:rPr lang="zh-CN" altLang="en-US" dirty="0" smtClean="0">
                <a:solidFill>
                  <a:schemeClr val="tx1"/>
                </a:solidFill>
              </a:rPr>
              <a:t>。</a:t>
            </a:r>
            <a:endParaRPr lang="en-US" altLang="zh-CN" dirty="0" smtClean="0">
              <a:solidFill>
                <a:schemeClr val="tx1"/>
              </a:solidFill>
            </a:endParaRPr>
          </a:p>
          <a:p>
            <a:pPr>
              <a:lnSpc>
                <a:spcPct val="150000"/>
              </a:lnSpc>
            </a:pPr>
            <a:r>
              <a:rPr lang="en-US" altLang="zh-CN" dirty="0">
                <a:solidFill>
                  <a:schemeClr val="tx1"/>
                </a:solidFill>
              </a:rPr>
              <a:t> </a:t>
            </a:r>
            <a:r>
              <a:rPr lang="en-US" altLang="zh-CN" dirty="0" smtClean="0">
                <a:solidFill>
                  <a:schemeClr val="tx1"/>
                </a:solidFill>
              </a:rPr>
              <a:t>      1925</a:t>
            </a:r>
            <a:r>
              <a:rPr lang="zh-CN" altLang="en-US" dirty="0">
                <a:solidFill>
                  <a:schemeClr val="tx1"/>
                </a:solidFill>
              </a:rPr>
              <a:t>年的</a:t>
            </a:r>
            <a:r>
              <a:rPr lang="en-US" altLang="zh-CN" dirty="0">
                <a:solidFill>
                  <a:schemeClr val="tx1"/>
                </a:solidFill>
              </a:rPr>
              <a:t>《</a:t>
            </a:r>
            <a:r>
              <a:rPr lang="zh-CN" altLang="en-US" dirty="0">
                <a:solidFill>
                  <a:schemeClr val="tx1"/>
                </a:solidFill>
                <a:hlinkClick r:id="rId8"/>
              </a:rPr>
              <a:t>淘金记</a:t>
            </a:r>
            <a:r>
              <a:rPr lang="en-US" altLang="zh-CN" dirty="0" smtClean="0">
                <a:solidFill>
                  <a:schemeClr val="tx1"/>
                </a:solidFill>
              </a:rPr>
              <a:t>》</a:t>
            </a:r>
            <a:r>
              <a:rPr lang="zh-CN" altLang="en-US" dirty="0" smtClean="0">
                <a:solidFill>
                  <a:schemeClr val="tx1"/>
                </a:solidFill>
              </a:rPr>
              <a:t>。</a:t>
            </a:r>
            <a:endParaRPr lang="en-US" altLang="zh-CN" dirty="0" smtClean="0">
              <a:solidFill>
                <a:schemeClr val="tx1"/>
              </a:solidFill>
            </a:endParaRPr>
          </a:p>
          <a:p>
            <a:pPr>
              <a:lnSpc>
                <a:spcPct val="150000"/>
              </a:lnSpc>
            </a:pPr>
            <a:r>
              <a:rPr lang="en-US" altLang="zh-CN" dirty="0">
                <a:solidFill>
                  <a:schemeClr val="tx1"/>
                </a:solidFill>
              </a:rPr>
              <a:t> </a:t>
            </a:r>
            <a:r>
              <a:rPr lang="en-US" altLang="zh-CN" dirty="0" smtClean="0">
                <a:solidFill>
                  <a:schemeClr val="tx1"/>
                </a:solidFill>
              </a:rPr>
              <a:t>      1928</a:t>
            </a:r>
            <a:r>
              <a:rPr lang="zh-CN" altLang="en-US" dirty="0">
                <a:solidFill>
                  <a:schemeClr val="tx1"/>
                </a:solidFill>
              </a:rPr>
              <a:t>年的</a:t>
            </a:r>
            <a:r>
              <a:rPr lang="en-US" altLang="zh-CN" dirty="0">
                <a:solidFill>
                  <a:schemeClr val="tx1"/>
                </a:solidFill>
              </a:rPr>
              <a:t>《</a:t>
            </a:r>
            <a:r>
              <a:rPr lang="zh-CN" altLang="en-US" dirty="0">
                <a:solidFill>
                  <a:schemeClr val="tx1"/>
                </a:solidFill>
                <a:hlinkClick r:id="rId9"/>
              </a:rPr>
              <a:t>马戏团</a:t>
            </a:r>
            <a:r>
              <a:rPr lang="en-US" altLang="zh-CN" dirty="0">
                <a:solidFill>
                  <a:schemeClr val="tx1"/>
                </a:solidFill>
              </a:rPr>
              <a:t>》</a:t>
            </a:r>
            <a:r>
              <a:rPr lang="zh-CN" altLang="en-US" dirty="0">
                <a:solidFill>
                  <a:schemeClr val="tx1"/>
                </a:solidFill>
              </a:rPr>
              <a:t>为卓别林赢得了学院奖。</a:t>
            </a:r>
            <a:endParaRPr lang="zh-CN" altLang="en-US" dirty="0">
              <a:solidFill>
                <a:schemeClr val="tx1"/>
              </a:solidFill>
            </a:endParaRPr>
          </a:p>
          <a:p>
            <a:pPr>
              <a:lnSpc>
                <a:spcPct val="150000"/>
              </a:lnSpc>
            </a:pPr>
            <a:r>
              <a:rPr lang="en-US" altLang="zh-CN" dirty="0" smtClean="0">
                <a:solidFill>
                  <a:schemeClr val="tx1"/>
                </a:solidFill>
              </a:rPr>
              <a:t>       1931</a:t>
            </a:r>
            <a:r>
              <a:rPr lang="zh-CN" altLang="en-US" dirty="0" smtClean="0">
                <a:solidFill>
                  <a:schemeClr val="tx1"/>
                </a:solidFill>
              </a:rPr>
              <a:t>年</a:t>
            </a:r>
            <a:r>
              <a:rPr lang="en-US" altLang="zh-CN" dirty="0" smtClean="0">
                <a:solidFill>
                  <a:schemeClr val="tx1"/>
                </a:solidFill>
              </a:rPr>
              <a:t>《</a:t>
            </a:r>
            <a:r>
              <a:rPr lang="zh-CN" altLang="en-US" dirty="0">
                <a:solidFill>
                  <a:schemeClr val="tx1"/>
                </a:solidFill>
                <a:hlinkClick r:id="rId10"/>
              </a:rPr>
              <a:t>城市之光</a:t>
            </a:r>
            <a:r>
              <a:rPr lang="en-US" altLang="zh-CN" dirty="0" smtClean="0">
                <a:solidFill>
                  <a:schemeClr val="tx1"/>
                </a:solidFill>
              </a:rPr>
              <a:t>》</a:t>
            </a:r>
            <a:r>
              <a:rPr lang="zh-CN" altLang="en-US" dirty="0" smtClean="0">
                <a:solidFill>
                  <a:schemeClr val="tx1"/>
                </a:solidFill>
              </a:rPr>
              <a:t>、</a:t>
            </a:r>
            <a:r>
              <a:rPr lang="en-US" altLang="zh-CN" dirty="0" smtClean="0">
                <a:solidFill>
                  <a:schemeClr val="tx1"/>
                </a:solidFill>
              </a:rPr>
              <a:t>1936</a:t>
            </a:r>
            <a:r>
              <a:rPr lang="zh-CN" altLang="en-US" dirty="0">
                <a:solidFill>
                  <a:schemeClr val="tx1"/>
                </a:solidFill>
              </a:rPr>
              <a:t>年的</a:t>
            </a:r>
            <a:r>
              <a:rPr lang="en-US" altLang="zh-CN" dirty="0">
                <a:solidFill>
                  <a:schemeClr val="tx1"/>
                </a:solidFill>
              </a:rPr>
              <a:t>《</a:t>
            </a:r>
            <a:r>
              <a:rPr lang="zh-CN" altLang="en-US" dirty="0">
                <a:solidFill>
                  <a:schemeClr val="tx1"/>
                </a:solidFill>
                <a:hlinkClick r:id="rId11"/>
              </a:rPr>
              <a:t>摩登时代</a:t>
            </a:r>
            <a:r>
              <a:rPr lang="en-US" altLang="zh-CN" dirty="0">
                <a:solidFill>
                  <a:schemeClr val="tx1"/>
                </a:solidFill>
              </a:rPr>
              <a:t>》</a:t>
            </a:r>
            <a:r>
              <a:rPr lang="zh-CN" altLang="en-US" dirty="0" smtClean="0">
                <a:solidFill>
                  <a:schemeClr val="tx1"/>
                </a:solidFill>
              </a:rPr>
              <a:t>。</a:t>
            </a:r>
            <a:r>
              <a:rPr lang="en-US" altLang="zh-CN" dirty="0" smtClean="0">
                <a:solidFill>
                  <a:schemeClr val="tx1"/>
                </a:solidFill>
              </a:rPr>
              <a:t>1940</a:t>
            </a:r>
            <a:r>
              <a:rPr lang="zh-CN" altLang="en-US" dirty="0">
                <a:solidFill>
                  <a:schemeClr val="tx1"/>
                </a:solidFill>
              </a:rPr>
              <a:t>年</a:t>
            </a:r>
            <a:r>
              <a:rPr lang="en-US" altLang="zh-CN" dirty="0" smtClean="0">
                <a:solidFill>
                  <a:schemeClr val="tx1"/>
                </a:solidFill>
              </a:rPr>
              <a:t>《</a:t>
            </a:r>
            <a:r>
              <a:rPr lang="zh-CN" altLang="en-US" dirty="0">
                <a:solidFill>
                  <a:schemeClr val="tx1"/>
                </a:solidFill>
                <a:hlinkClick r:id="rId12"/>
              </a:rPr>
              <a:t>大独裁者</a:t>
            </a:r>
            <a:r>
              <a:rPr lang="en-US" altLang="zh-CN" dirty="0">
                <a:solidFill>
                  <a:schemeClr val="tx1"/>
                </a:solidFill>
              </a:rPr>
              <a:t>》</a:t>
            </a:r>
            <a:r>
              <a:rPr lang="zh-CN" altLang="en-US" dirty="0" smtClean="0">
                <a:solidFill>
                  <a:schemeClr val="tx1"/>
                </a:solidFill>
              </a:rPr>
              <a:t>。</a:t>
            </a:r>
            <a:endParaRPr lang="en-US" altLang="zh-CN" dirty="0" smtClean="0">
              <a:solidFill>
                <a:schemeClr val="tx1"/>
              </a:solidFill>
            </a:endParaRPr>
          </a:p>
          <a:p>
            <a:pPr>
              <a:lnSpc>
                <a:spcPct val="150000"/>
              </a:lnSpc>
            </a:pPr>
            <a:r>
              <a:rPr lang="en-US" altLang="zh-CN" dirty="0">
                <a:solidFill>
                  <a:schemeClr val="tx1"/>
                </a:solidFill>
              </a:rPr>
              <a:t> </a:t>
            </a:r>
            <a:r>
              <a:rPr lang="en-US" altLang="zh-CN" dirty="0" smtClean="0">
                <a:solidFill>
                  <a:schemeClr val="tx1"/>
                </a:solidFill>
              </a:rPr>
              <a:t>     1952</a:t>
            </a:r>
            <a:r>
              <a:rPr lang="zh-CN" altLang="en-US" dirty="0">
                <a:solidFill>
                  <a:schemeClr val="tx1"/>
                </a:solidFill>
              </a:rPr>
              <a:t>年，他的有声电影</a:t>
            </a:r>
            <a:r>
              <a:rPr lang="en-US" altLang="zh-CN" dirty="0">
                <a:solidFill>
                  <a:schemeClr val="tx1"/>
                </a:solidFill>
              </a:rPr>
              <a:t>《</a:t>
            </a:r>
            <a:r>
              <a:rPr lang="zh-CN" altLang="en-US" dirty="0">
                <a:solidFill>
                  <a:schemeClr val="tx1"/>
                </a:solidFill>
                <a:hlinkClick r:id="rId13"/>
              </a:rPr>
              <a:t>舞台生涯</a:t>
            </a:r>
            <a:r>
              <a:rPr lang="en-US" altLang="zh-CN" dirty="0" smtClean="0">
                <a:solidFill>
                  <a:schemeClr val="tx1"/>
                </a:solidFill>
              </a:rPr>
              <a:t>》</a:t>
            </a:r>
            <a:r>
              <a:rPr lang="zh-CN" altLang="en-US" dirty="0" smtClean="0">
                <a:solidFill>
                  <a:schemeClr val="tx1"/>
                </a:solidFill>
              </a:rPr>
              <a:t>。</a:t>
            </a:r>
            <a:endParaRPr lang="en-US" altLang="zh-CN" dirty="0">
              <a:solidFill>
                <a:schemeClr val="tx1"/>
              </a:solidFill>
            </a:endParaRPr>
          </a:p>
          <a:p>
            <a:pPr>
              <a:lnSpc>
                <a:spcPct val="150000"/>
              </a:lnSpc>
            </a:pPr>
            <a:r>
              <a:rPr lang="en-US" altLang="zh-CN" dirty="0" smtClean="0">
                <a:solidFill>
                  <a:schemeClr val="tx1"/>
                </a:solidFill>
              </a:rPr>
              <a:t>      1967</a:t>
            </a:r>
            <a:r>
              <a:rPr lang="zh-CN" altLang="en-US" dirty="0">
                <a:solidFill>
                  <a:schemeClr val="tx1"/>
                </a:solidFill>
              </a:rPr>
              <a:t>年他拍摄了他的最后一部影片</a:t>
            </a:r>
            <a:r>
              <a:rPr lang="en-US" altLang="zh-CN" dirty="0">
                <a:solidFill>
                  <a:schemeClr val="tx1"/>
                </a:solidFill>
              </a:rPr>
              <a:t>《</a:t>
            </a:r>
            <a:r>
              <a:rPr lang="zh-CN" altLang="en-US" dirty="0">
                <a:solidFill>
                  <a:schemeClr val="tx1"/>
                </a:solidFill>
                <a:hlinkClick r:id="rId14"/>
              </a:rPr>
              <a:t>香港女伯爵</a:t>
            </a:r>
            <a:r>
              <a:rPr lang="en-US" altLang="zh-CN" dirty="0">
                <a:solidFill>
                  <a:schemeClr val="tx1"/>
                </a:solidFill>
              </a:rPr>
              <a:t>》</a:t>
            </a:r>
            <a:r>
              <a:rPr lang="zh-CN" altLang="en-US" dirty="0" smtClean="0">
                <a:solidFill>
                  <a:schemeClr val="tx1"/>
                </a:solidFill>
              </a:rPr>
              <a:t>，</a:t>
            </a:r>
            <a:endParaRPr lang="zh-CN" altLang="en-US" dirty="0">
              <a:solidFill>
                <a:schemeClr val="tx1"/>
              </a:solidFill>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电影的声音技术史</a:t>
            </a:r>
            <a:endParaRPr lang="zh-CN" altLang="en-US" dirty="0"/>
          </a:p>
        </p:txBody>
      </p:sp>
      <p:sp>
        <p:nvSpPr>
          <p:cNvPr id="3" name="文本占位符 2"/>
          <p:cNvSpPr>
            <a:spLocks noGrp="1"/>
          </p:cNvSpPr>
          <p:nvPr>
            <p:ph type="body" idx="1"/>
          </p:nvPr>
        </p:nvSpPr>
        <p:spPr>
          <a:xfrm>
            <a:off x="1783830" y="3043002"/>
            <a:ext cx="9165236" cy="3658615"/>
          </a:xfrm>
        </p:spPr>
        <p:txBody>
          <a:bodyPr/>
          <a:lstStyle/>
          <a:p>
            <a:r>
              <a:rPr lang="en-US" altLang="zh-CN" dirty="0" smtClean="0">
                <a:solidFill>
                  <a:srgbClr val="FF0000"/>
                </a:solidFill>
              </a:rPr>
              <a:t>1927</a:t>
            </a:r>
            <a:r>
              <a:rPr lang="zh-CN" altLang="en-US" dirty="0" smtClean="0">
                <a:solidFill>
                  <a:srgbClr val="FF0000"/>
                </a:solidFill>
              </a:rPr>
              <a:t>年</a:t>
            </a:r>
            <a:r>
              <a:rPr lang="en-US" altLang="zh-CN" dirty="0">
                <a:solidFill>
                  <a:srgbClr val="FF0000"/>
                </a:solidFill>
              </a:rPr>
              <a:t> </a:t>
            </a:r>
            <a:r>
              <a:rPr lang="en-US" altLang="zh-CN" dirty="0" smtClean="0">
                <a:solidFill>
                  <a:srgbClr val="FF0000"/>
                </a:solidFill>
              </a:rPr>
              <a:t>                  </a:t>
            </a:r>
            <a:r>
              <a:rPr lang="zh-CN" altLang="en-US" dirty="0" smtClean="0">
                <a:solidFill>
                  <a:srgbClr val="FF0000"/>
                </a:solidFill>
              </a:rPr>
              <a:t>有声电影</a:t>
            </a:r>
            <a:endParaRPr lang="en-US" altLang="zh-CN" dirty="0" smtClean="0">
              <a:solidFill>
                <a:srgbClr val="FF0000"/>
              </a:solidFill>
            </a:endParaRPr>
          </a:p>
          <a:p>
            <a:r>
              <a:rPr lang="en-US" altLang="zh-CN" dirty="0">
                <a:hlinkClick r:id="rId1"/>
              </a:rPr>
              <a:t>https://www.bilibili.com/bangumi/play/ss34029?t=1850</a:t>
            </a:r>
            <a:endParaRPr lang="zh-CN" altLang="en-US" dirty="0">
              <a:solidFill>
                <a:srgbClr val="FF0000"/>
              </a:solidFill>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电影的声音技术史</a:t>
            </a:r>
            <a:endParaRPr lang="zh-CN" altLang="en-US" dirty="0"/>
          </a:p>
        </p:txBody>
      </p:sp>
      <p:sp>
        <p:nvSpPr>
          <p:cNvPr id="5" name="文本框 4"/>
          <p:cNvSpPr txBox="1"/>
          <p:nvPr/>
        </p:nvSpPr>
        <p:spPr>
          <a:xfrm>
            <a:off x="4861275" y="2121462"/>
            <a:ext cx="2472623" cy="203132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西哈诺 Cyrano de Bergerac</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smtClean="0">
                <a:ln>
                  <a:noFill/>
                </a:ln>
                <a:solidFill>
                  <a:srgbClr val="000000"/>
                </a:solidFill>
                <a:effectLst/>
                <a:uFillTx/>
                <a:latin typeface="+mn-lt"/>
                <a:ea typeface="+mn-ea"/>
                <a:cs typeface="+mn-cs"/>
                <a:sym typeface="Calibri" panose="020F0502020204030204"/>
              </a:rPr>
              <a:t>导演</a:t>
            </a: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 Clément Maurice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类型: 剧情 / 短片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制片国家/地区: 法国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年份: 1900</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p:txBody>
      </p:sp>
      <p:sp>
        <p:nvSpPr>
          <p:cNvPr id="6" name="文本框 5"/>
          <p:cNvSpPr txBox="1"/>
          <p:nvPr/>
        </p:nvSpPr>
        <p:spPr>
          <a:xfrm>
            <a:off x="2027232" y="2357061"/>
            <a:ext cx="2484807" cy="230832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迪克森的实验性有声电影 Dickson Experimental Sound Film</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smtClean="0">
                <a:ln>
                  <a:noFill/>
                </a:ln>
                <a:solidFill>
                  <a:srgbClr val="000000"/>
                </a:solidFill>
                <a:effectLst/>
                <a:uFillTx/>
                <a:latin typeface="+mn-lt"/>
                <a:ea typeface="+mn-ea"/>
                <a:cs typeface="+mn-cs"/>
                <a:sym typeface="Calibri" panose="020F0502020204030204"/>
              </a:rPr>
              <a:t>导演</a:t>
            </a: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 威廉·K·L·迪克森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主演: 威廉·K·L·迪克森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类型: 短片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制片国家/地区: 美国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年份: 1899</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p:txBody>
      </p:sp>
      <p:sp>
        <p:nvSpPr>
          <p:cNvPr id="7" name="文本框 6"/>
          <p:cNvSpPr txBox="1"/>
          <p:nvPr/>
        </p:nvSpPr>
        <p:spPr>
          <a:xfrm>
            <a:off x="7333898" y="2189272"/>
            <a:ext cx="3313033" cy="286231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暗杀吉斯公爵 L'assassinat du duc de Guise</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smtClean="0">
                <a:ln>
                  <a:noFill/>
                </a:ln>
                <a:solidFill>
                  <a:srgbClr val="000000"/>
                </a:solidFill>
                <a:effectLst/>
                <a:uFillTx/>
                <a:latin typeface="+mn-lt"/>
                <a:ea typeface="+mn-ea"/>
                <a:cs typeface="+mn-cs"/>
                <a:sym typeface="Calibri" panose="020F0502020204030204"/>
              </a:rPr>
              <a:t>导演</a:t>
            </a: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 夏尔·勒·巴尔吉 / 安德烈·卡尔梅特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主演: Charles Le Bargy / Albert Lambert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类型: 短片 / 历史 / 剧情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制片国家/地区: 法国 </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年份: 1908</a:t>
            </a:r>
            <a:endPar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一、声音播放技术的发展"/>
          <p:cNvSpPr txBox="1">
            <a:spLocks noGrp="1"/>
          </p:cNvSpPr>
          <p:nvPr>
            <p:ph type="title"/>
          </p:nvPr>
        </p:nvSpPr>
        <p:spPr>
          <a:xfrm>
            <a:off x="839786" y="-238022"/>
            <a:ext cx="5357669" cy="1600203"/>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dirty="0" err="1"/>
              <a:t>一、声音播放技术的发展</a:t>
            </a:r>
            <a:endParaRPr dirty="0"/>
          </a:p>
        </p:txBody>
      </p:sp>
      <p:sp>
        <p:nvSpPr>
          <p:cNvPr id="173" name="单声道：声音以单线条的方向和空间传播。…"/>
          <p:cNvSpPr txBox="1">
            <a:spLocks noGrp="1"/>
          </p:cNvSpPr>
          <p:nvPr>
            <p:ph type="body" sz="quarter" idx="1"/>
          </p:nvPr>
        </p:nvSpPr>
        <p:spPr>
          <a:xfrm>
            <a:off x="1603594" y="1644799"/>
            <a:ext cx="4047698" cy="4651069"/>
          </a:xfrm>
          <a:prstGeom prst="rect">
            <a:avLst/>
          </a:prstGeom>
        </p:spPr>
        <p:txBody>
          <a:bodyPr>
            <a:normAutofit/>
          </a:bodyPr>
          <a:lstStyle/>
          <a:p>
            <a:pPr defTabSz="658495">
              <a:spcBef>
                <a:spcPts val="700"/>
              </a:spcBef>
              <a:defRPr sz="11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t>单声道：声音以单线条的方向和空间传播</a:t>
            </a:r>
            <a:r>
              <a:rPr dirty="0"/>
              <a:t>。</a:t>
            </a:r>
            <a:endParaRPr dirty="0"/>
          </a:p>
          <a:p>
            <a:pPr marL="196850" indent="-196850" defTabSz="658495">
              <a:spcBef>
                <a:spcPts val="700"/>
              </a:spcBef>
              <a:defRPr sz="11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dirty="0"/>
          </a:p>
          <a:p>
            <a:pPr defTabSz="658495">
              <a:spcBef>
                <a:spcPts val="700"/>
              </a:spcBef>
              <a:defRPr sz="11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t>双声道：</a:t>
            </a:r>
            <a:r>
              <a:rPr dirty="0">
                <a:sym typeface="Calibri" panose="020F0502020204030204"/>
              </a:rPr>
              <a:t>180</a:t>
            </a:r>
            <a:r>
              <a:rPr dirty="0"/>
              <a:t>度立体声场。</a:t>
            </a:r>
            <a:endParaRPr dirty="0"/>
          </a:p>
          <a:p>
            <a:pPr marL="196850" indent="-196850" defTabSz="658495">
              <a:spcBef>
                <a:spcPts val="700"/>
              </a:spcBef>
              <a:defRPr sz="1400"/>
            </a:pPr>
            <a:r>
              <a:rPr dirty="0"/>
              <a:t>     </a:t>
            </a:r>
            <a:r>
              <a:rPr dirty="0" err="1">
                <a:latin typeface="华文楷体" panose="02010600040101010101" charset="-122"/>
                <a:ea typeface="华文楷体" panose="02010600040101010101" charset="-122"/>
                <a:cs typeface="华文楷体" panose="02010600040101010101" charset="-122"/>
                <a:sym typeface="华文楷体" panose="02010600040101010101" charset="-122"/>
              </a:rPr>
              <a:t>可细腻地表现声音的音色、动态、空间感、方位感和纵深感</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196850" indent="-196850" defTabSz="658495">
              <a:spcBef>
                <a:spcPts val="700"/>
              </a:spcBef>
              <a:defRPr sz="1400"/>
            </a:pP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196850" indent="-196850" defTabSz="658495">
              <a:spcBef>
                <a:spcPts val="700"/>
              </a:spcBef>
              <a:defRPr sz="1400"/>
            </a:pPr>
            <a:r>
              <a:rPr dirty="0"/>
              <a:t>     </a:t>
            </a:r>
            <a:r>
              <a:rPr dirty="0" err="1">
                <a:solidFill>
                  <a:srgbClr val="C0000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立体双声道</a:t>
            </a:r>
            <a:r>
              <a:rPr dirty="0">
                <a:solidFill>
                  <a:srgbClr val="C00000"/>
                </a:solidFill>
              </a:rPr>
              <a:t>           </a:t>
            </a:r>
            <a:r>
              <a:rPr dirty="0" err="1">
                <a:solidFill>
                  <a:srgbClr val="C0000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高保真（</a:t>
            </a:r>
            <a:r>
              <a:rPr dirty="0" err="1">
                <a:solidFill>
                  <a:srgbClr val="C00000"/>
                </a:solidFill>
              </a:rPr>
              <a:t>Hi-fi</a:t>
            </a:r>
            <a:r>
              <a:rPr dirty="0">
                <a:solidFill>
                  <a:srgbClr val="C0000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a:t>
            </a:r>
            <a:endParaRPr dirty="0">
              <a:solidFill>
                <a:srgbClr val="C00000"/>
              </a:solidFill>
            </a:endParaRPr>
          </a:p>
          <a:p>
            <a:pPr marL="196850" indent="-196850" defTabSz="658495">
              <a:spcBef>
                <a:spcPts val="700"/>
              </a:spcBef>
              <a:defRPr sz="1400"/>
            </a:pPr>
            <a:endParaRPr dirty="0">
              <a:solidFill>
                <a:srgbClr val="C00000"/>
              </a:solidFill>
            </a:endParaRPr>
          </a:p>
          <a:p>
            <a:pPr defTabSz="658495">
              <a:spcBef>
                <a:spcPts val="700"/>
              </a:spcBef>
              <a:defRPr sz="1400"/>
            </a:pPr>
            <a:endParaRPr dirty="0">
              <a:solidFill>
                <a:srgbClr val="C00000"/>
              </a:solidFill>
            </a:endParaRPr>
          </a:p>
          <a:p>
            <a:pPr defTabSz="658495">
              <a:spcBef>
                <a:spcPts val="700"/>
              </a:spcBef>
              <a:defRPr sz="11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t>环绕声系统：</a:t>
            </a:r>
            <a:r>
              <a:rPr dirty="0">
                <a:sym typeface="Calibri" panose="020F0502020204030204"/>
              </a:rPr>
              <a:t>360</a:t>
            </a:r>
            <a:r>
              <a:rPr dirty="0"/>
              <a:t>度立体声场。</a:t>
            </a:r>
            <a:endParaRPr dirty="0"/>
          </a:p>
          <a:p>
            <a:pPr marL="196850" indent="-196850" defTabSz="658495">
              <a:spcBef>
                <a:spcPts val="700"/>
              </a:spcBef>
              <a:defRPr sz="1100"/>
            </a:pPr>
            <a:r>
              <a:rPr dirty="0"/>
              <a:t>    </a:t>
            </a:r>
            <a:r>
              <a:rPr dirty="0" err="1"/>
              <a:t>身临其境的逼真感受</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196850" indent="-196850" defTabSz="658495">
              <a:spcBef>
                <a:spcPts val="700"/>
              </a:spcBef>
              <a:defRPr sz="1100"/>
            </a:pPr>
            <a:r>
              <a:rPr dirty="0"/>
              <a:t>    </a:t>
            </a:r>
            <a:r>
              <a:rPr dirty="0" err="1">
                <a:latin typeface="华文楷体" panose="02010600040101010101" charset="-122"/>
                <a:ea typeface="华文楷体" panose="02010600040101010101" charset="-122"/>
                <a:cs typeface="华文楷体" panose="02010600040101010101" charset="-122"/>
                <a:sym typeface="华文楷体" panose="02010600040101010101" charset="-122"/>
              </a:rPr>
              <a:t>国际通行的三种环绕声认证标准</a:t>
            </a:r>
            <a:r>
              <a:rPr dirty="0">
                <a:latin typeface="华文楷体" panose="02010600040101010101" charset="-122"/>
                <a:ea typeface="华文楷体" panose="02010600040101010101" charset="-122"/>
                <a:cs typeface="华文楷体" panose="02010600040101010101" charset="-122"/>
                <a:sym typeface="华文楷体" panose="02010600040101010101" charset="-122"/>
              </a:rPr>
              <a:t>       </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196850" indent="-196850" defTabSz="658495">
              <a:spcBef>
                <a:spcPts val="700"/>
              </a:spcBef>
              <a:defRPr sz="1400"/>
            </a:pPr>
            <a:r>
              <a:rPr dirty="0"/>
              <a:t>    </a:t>
            </a:r>
            <a:r>
              <a:rPr dirty="0" err="1"/>
              <a:t>杜比SR</a:t>
            </a:r>
            <a:r>
              <a:rPr dirty="0"/>
              <a:t>· </a:t>
            </a:r>
            <a:r>
              <a:rPr dirty="0" err="1"/>
              <a:t>D制式</a:t>
            </a:r>
            <a:r>
              <a:rPr dirty="0"/>
              <a:t>       </a:t>
            </a:r>
            <a:r>
              <a:rPr dirty="0" err="1"/>
              <a:t>索尼SDDS制式</a:t>
            </a:r>
            <a:r>
              <a:rPr dirty="0"/>
              <a:t>        </a:t>
            </a:r>
            <a:r>
              <a:rPr dirty="0" err="1"/>
              <a:t>美国DTS制式</a:t>
            </a:r>
            <a:endParaRPr dirty="0"/>
          </a:p>
        </p:txBody>
      </p:sp>
      <p:grpSp>
        <p:nvGrpSpPr>
          <p:cNvPr id="177" name="成组"/>
          <p:cNvGrpSpPr/>
          <p:nvPr/>
        </p:nvGrpSpPr>
        <p:grpSpPr>
          <a:xfrm>
            <a:off x="679144" y="-3946127"/>
            <a:ext cx="11692739" cy="9535570"/>
            <a:chOff x="0" y="0"/>
            <a:chExt cx="11692737" cy="9535568"/>
          </a:xfrm>
        </p:grpSpPr>
        <p:sp>
          <p:nvSpPr>
            <p:cNvPr id="174" name="线条"/>
            <p:cNvSpPr/>
            <p:nvPr/>
          </p:nvSpPr>
          <p:spPr>
            <a:xfrm>
              <a:off x="-1" y="5857164"/>
              <a:ext cx="924450" cy="2936"/>
            </a:xfrm>
            <a:prstGeom prst="line">
              <a:avLst/>
            </a:prstGeom>
            <a:noFill/>
            <a:ln w="12700" cap="flat">
              <a:solidFill>
                <a:srgbClr val="56955B"/>
              </a:solidFill>
              <a:prstDash val="solid"/>
              <a:round/>
              <a:tailEnd type="triangle" w="med" len="med"/>
            </a:ln>
            <a:effectLst/>
          </p:spPr>
          <p:txBody>
            <a:bodyPr wrap="square" lIns="45718" tIns="45718" rIns="45718" bIns="45718" numCol="1" anchor="t">
              <a:noAutofit/>
            </a:bodyPr>
            <a:lstStyle/>
            <a:p/>
          </p:txBody>
        </p:sp>
        <p:pic>
          <p:nvPicPr>
            <p:cNvPr id="175" name="L:\grundlagen-zimmer-dolby-surround.jpg" descr="L:\grundlagen-zimmer-dolby-surround.jpg"/>
            <p:cNvPicPr>
              <a:picLocks noChangeAspect="1"/>
            </p:cNvPicPr>
            <p:nvPr/>
          </p:nvPicPr>
          <p:blipFill>
            <a:blip r:embed="rId1"/>
            <a:stretch>
              <a:fillRect/>
            </a:stretch>
          </p:blipFill>
          <p:spPr>
            <a:xfrm>
              <a:off x="5291021" y="5590926"/>
              <a:ext cx="5928591" cy="3944644"/>
            </a:xfrm>
            <a:prstGeom prst="rect">
              <a:avLst/>
            </a:prstGeom>
            <a:ln w="12700" cap="flat">
              <a:noFill/>
              <a:miter lim="400000"/>
              <a:headEnd/>
              <a:tailEnd/>
            </a:ln>
            <a:effectLst>
              <a:outerShdw blurRad="190500" rotWithShape="0">
                <a:srgbClr val="000000">
                  <a:alpha val="69999"/>
                </a:srgbClr>
              </a:outerShdw>
            </a:effectLst>
          </p:spPr>
        </p:pic>
        <p:pic>
          <p:nvPicPr>
            <p:cNvPr id="176" name="L:\20089925138835_2.jpg" descr="L:\20089925138835_2.jpg"/>
            <p:cNvPicPr>
              <a:picLocks noChangeAspect="1"/>
            </p:cNvPicPr>
            <p:nvPr/>
          </p:nvPicPr>
          <p:blipFill>
            <a:blip r:embed="rId2"/>
            <a:srcRect t="6463"/>
            <a:stretch>
              <a:fillRect/>
            </a:stretch>
          </p:blipFill>
          <p:spPr>
            <a:xfrm>
              <a:off x="8086511" y="0"/>
              <a:ext cx="3606226" cy="3373093"/>
            </a:xfrm>
            <a:prstGeom prst="rect">
              <a:avLst/>
            </a:prstGeom>
            <a:ln w="12700" cap="flat">
              <a:noFill/>
              <a:miter lim="400000"/>
              <a:headEnd/>
              <a:tailEnd/>
            </a:ln>
            <a:effectLst/>
          </p:spPr>
        </p:pic>
      </p:gr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二、视听艺术中“声”的三大要素"/>
          <p:cNvSpPr txBox="1">
            <a:spLocks noGrp="1"/>
          </p:cNvSpPr>
          <p:nvPr>
            <p:ph type="title"/>
          </p:nvPr>
        </p:nvSpPr>
        <p:spPr>
          <a:xfrm>
            <a:off x="2670276" y="529837"/>
            <a:ext cx="8191239" cy="1600203"/>
          </a:xfrm>
          <a:prstGeom prst="rect">
            <a:avLst/>
          </a:prstGeom>
        </p:spPr>
        <p:txBody>
          <a:bodyPr/>
          <a:lstStyle/>
          <a:p>
            <a:pPr>
              <a:defRPr>
                <a:latin typeface="华文楷体" panose="02010600040101010101" charset="-122"/>
                <a:ea typeface="华文楷体" panose="02010600040101010101" charset="-122"/>
                <a:cs typeface="华文楷体" panose="02010600040101010101" charset="-122"/>
                <a:sym typeface="华文楷体" panose="02010600040101010101" charset="-122"/>
              </a:defRPr>
            </a:pPr>
            <a:r>
              <a:rPr>
                <a:solidFill>
                  <a:srgbClr val="FF0000"/>
                </a:solidFill>
              </a:rPr>
              <a:t>二、视听艺术中</a:t>
            </a:r>
            <a:r>
              <a:rPr>
                <a:solidFill>
                  <a:srgbClr val="FF0000"/>
                </a:solidFill>
                <a:latin typeface="Calibri Light" panose="020F0302020204030204"/>
                <a:ea typeface="Calibri Light" panose="020F0302020204030204"/>
                <a:cs typeface="Calibri Light" panose="020F0302020204030204"/>
                <a:sym typeface="Calibri Light" panose="020F0302020204030204"/>
              </a:rPr>
              <a:t>“</a:t>
            </a:r>
            <a:r>
              <a:rPr>
                <a:solidFill>
                  <a:srgbClr val="FF0000"/>
                </a:solidFill>
              </a:rPr>
              <a:t>声</a:t>
            </a:r>
            <a:r>
              <a:rPr>
                <a:solidFill>
                  <a:srgbClr val="FF0000"/>
                </a:solidFill>
                <a:latin typeface="Calibri Light" panose="020F0302020204030204"/>
                <a:ea typeface="Calibri Light" panose="020F0302020204030204"/>
                <a:cs typeface="Calibri Light" panose="020F0302020204030204"/>
                <a:sym typeface="Calibri Light" panose="020F0302020204030204"/>
              </a:rPr>
              <a:t>”</a:t>
            </a:r>
            <a:r>
              <a:rPr>
                <a:solidFill>
                  <a:srgbClr val="FF0000"/>
                </a:solidFill>
              </a:rPr>
              <a:t>的三大要素</a:t>
            </a:r>
            <a:endParaRPr>
              <a:solidFill>
                <a:srgbClr val="FF0000"/>
              </a:solidFill>
            </a:endParaRPr>
          </a:p>
        </p:txBody>
      </p:sp>
      <p:sp>
        <p:nvSpPr>
          <p:cNvPr id="180" name="音效：给观众真实的带入感。…"/>
          <p:cNvSpPr txBox="1">
            <a:spLocks noGrp="1"/>
          </p:cNvSpPr>
          <p:nvPr>
            <p:ph type="body" sz="half" idx="1"/>
          </p:nvPr>
        </p:nvSpPr>
        <p:spPr>
          <a:xfrm>
            <a:off x="3389238" y="2599998"/>
            <a:ext cx="5190338" cy="4873628"/>
          </a:xfrm>
          <a:prstGeom prst="rect">
            <a:avLst/>
          </a:prstGeom>
        </p:spPr>
        <p:txBody>
          <a:bodyPr/>
          <a:lstStyle/>
          <a:p>
            <a:pPr marL="457200" indent="-457200">
              <a:buFontTx/>
              <a:buAutoNum type="arabicPeriod"/>
              <a:defRPr sz="2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a:t>
            </a:r>
            <a:r>
              <a:rPr lang="zh-CN"/>
              <a:t>响</a:t>
            </a:r>
            <a:r>
              <a:t>：给观众真实的带入感。</a:t>
            </a:r>
          </a:p>
          <a:p>
            <a:pPr marL="457200" indent="-457200">
              <a:buFontTx/>
              <a:buAutoNum type="arabicPeriod" startAt="2"/>
              <a:defRPr sz="2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语言：观众注意力的中心点。</a:t>
            </a:r>
          </a:p>
          <a:p>
            <a:pPr marL="457200" indent="-457200">
              <a:buFontTx/>
              <a:buAutoNum type="arabicPeriod" startAt="3"/>
              <a:defRPr sz="2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音乐：最具抽象性和艺术化。</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音响概述"/>
          <p:cNvSpPr txBox="1">
            <a:spLocks noGrp="1"/>
          </p:cNvSpPr>
          <p:nvPr>
            <p:ph type="title"/>
          </p:nvPr>
        </p:nvSpPr>
        <p:spPr>
          <a:xfrm>
            <a:off x="1391065" y="2289357"/>
            <a:ext cx="3932242" cy="1600202"/>
          </a:xfrm>
          <a:prstGeom prst="rect">
            <a:avLst/>
          </a:prstGeom>
        </p:spPr>
        <p:txBody>
          <a:bodyPr/>
          <a:lstStyle>
            <a:lvl1pPr>
              <a:defRPr sz="46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音响概述</a:t>
            </a:r>
          </a:p>
        </p:txBody>
      </p:sp>
      <p:sp>
        <p:nvSpPr>
          <p:cNvPr id="183" name="概念：视听艺术作品中除语言及音乐之外的一切自然界及人类活动产生的声音统称“音响”。…"/>
          <p:cNvSpPr txBox="1">
            <a:spLocks noGrp="1"/>
          </p:cNvSpPr>
          <p:nvPr>
            <p:ph type="body" sz="half" idx="1"/>
          </p:nvPr>
        </p:nvSpPr>
        <p:spPr>
          <a:xfrm>
            <a:off x="4120920" y="1167446"/>
            <a:ext cx="6172206" cy="4873628"/>
          </a:xfrm>
          <a:prstGeom prst="rect">
            <a:avLst/>
          </a:prstGeom>
        </p:spPr>
        <p:txBody>
          <a:bodyPr/>
          <a:lstStyle/>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概念：视听艺术作品中除语言及音乐之外的一切自然界及人类活动产生的声音统称</a:t>
            </a:r>
            <a:r>
              <a:rPr>
                <a:latin typeface="+mn-lt"/>
                <a:ea typeface="+mn-ea"/>
                <a:cs typeface="+mn-cs"/>
                <a:sym typeface="Calibri" panose="020F0502020204030204"/>
              </a:rPr>
              <a:t>“</a:t>
            </a:r>
            <a:r>
              <a:t>音响</a:t>
            </a:r>
            <a:r>
              <a:rPr>
                <a:latin typeface="+mn-lt"/>
                <a:ea typeface="+mn-ea"/>
                <a:cs typeface="+mn-cs"/>
                <a:sym typeface="Calibri" panose="020F0502020204030204"/>
              </a:rPr>
              <a:t>”</a:t>
            </a:r>
            <a:r>
              <a:t>。</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分类：音响包含环境音响和动效，所以统称音效。</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作用：音效可产生真实的带入感，增强作品的完整性。</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意义：音响是科技进步和高度艺术性的产物，是对</a:t>
            </a:r>
            <a:r>
              <a:rPr>
                <a:latin typeface="+mn-lt"/>
                <a:ea typeface="+mn-ea"/>
                <a:cs typeface="+mn-cs"/>
                <a:sym typeface="Calibri" panose="020F0502020204030204"/>
              </a:rPr>
              <a:t>“</a:t>
            </a:r>
            <a:r>
              <a:t>真实</a:t>
            </a:r>
            <a:r>
              <a:rPr>
                <a:latin typeface="+mn-lt"/>
                <a:ea typeface="+mn-ea"/>
                <a:cs typeface="+mn-cs"/>
                <a:sym typeface="Calibri" panose="020F0502020204030204"/>
              </a:rPr>
              <a:t>”</a:t>
            </a:r>
            <a:r>
              <a:t>的认识转变，由文字思维方式到电子的思维方式的转变。</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音效认识的误区（不成熟的音响观念）"/>
          <p:cNvSpPr txBox="1">
            <a:spLocks noGrp="1"/>
          </p:cNvSpPr>
          <p:nvPr>
            <p:ph type="title"/>
          </p:nvPr>
        </p:nvSpPr>
        <p:spPr>
          <a:xfrm>
            <a:off x="941479" y="1742709"/>
            <a:ext cx="3824022" cy="2277159"/>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音效认识的误区（不成熟的音响观念）</a:t>
            </a:r>
          </a:p>
        </p:txBody>
      </p:sp>
      <p:sp>
        <p:nvSpPr>
          <p:cNvPr id="186" name="音乐替代音响的功能…"/>
          <p:cNvSpPr txBox="1">
            <a:spLocks noGrp="1"/>
          </p:cNvSpPr>
          <p:nvPr>
            <p:ph type="body" sz="half" idx="1"/>
          </p:nvPr>
        </p:nvSpPr>
        <p:spPr>
          <a:xfrm>
            <a:off x="5255824" y="992186"/>
            <a:ext cx="6172206" cy="4873628"/>
          </a:xfrm>
          <a:prstGeom prst="rect">
            <a:avLst/>
          </a:prstGeom>
        </p:spPr>
        <p:txBody>
          <a:bodyPr/>
          <a:lstStyle/>
          <a:p>
            <a:pPr marL="198755" indent="-198755" defTabSz="795655">
              <a:spcBef>
                <a:spcPts val="800"/>
              </a:spcBef>
              <a:buChar char="○"/>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音乐替代音响的功能</a:t>
            </a:r>
          </a:p>
          <a:p>
            <a:pPr marL="237490" indent="-237490" defTabSz="795655">
              <a:spcBef>
                <a:spcPts val="800"/>
              </a:spcBef>
              <a:buSzTx/>
              <a:buNone/>
              <a:defRPr sz="2700"/>
            </a:pPr>
            <a:r>
              <a:t>    </a:t>
            </a:r>
            <a:r>
              <a: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音乐的过度使用，早期的影视作品此现象尤为严重。</a:t>
            </a:r>
            <a:endPara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37490" indent="-237490" defTabSz="795655">
              <a:spcBef>
                <a:spcPts val="800"/>
              </a:spcBef>
              <a:buSzTx/>
              <a:buNone/>
              <a:def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defRPr>
            </a:pPr>
            <a:endPara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198755" indent="-198755" defTabSz="795655">
              <a:spcBef>
                <a:spcPts val="800"/>
              </a:spcBef>
              <a:buChar char="○"/>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只有</a:t>
            </a:r>
            <a:r>
              <a:rPr>
                <a:latin typeface="+mn-lt"/>
                <a:ea typeface="+mn-ea"/>
                <a:cs typeface="+mn-cs"/>
                <a:sym typeface="Calibri" panose="020F0502020204030204"/>
              </a:rPr>
              <a:t>“</a:t>
            </a:r>
            <a:r>
              <a:t>动效</a:t>
            </a:r>
            <a:r>
              <a:rPr>
                <a:latin typeface="+mn-lt"/>
                <a:ea typeface="+mn-ea"/>
                <a:cs typeface="+mn-cs"/>
                <a:sym typeface="Calibri" panose="020F0502020204030204"/>
              </a:rPr>
              <a:t>”</a:t>
            </a:r>
            <a:r>
              <a:t>概念，没有</a:t>
            </a:r>
            <a:r>
              <a:rPr>
                <a:latin typeface="+mn-lt"/>
                <a:ea typeface="+mn-ea"/>
                <a:cs typeface="+mn-cs"/>
                <a:sym typeface="Calibri" panose="020F0502020204030204"/>
              </a:rPr>
              <a:t>“</a:t>
            </a:r>
            <a:r>
              <a:t>环境音响</a:t>
            </a:r>
            <a:r>
              <a:rPr>
                <a:latin typeface="+mn-lt"/>
                <a:ea typeface="+mn-ea"/>
                <a:cs typeface="+mn-cs"/>
                <a:sym typeface="Calibri" panose="020F0502020204030204"/>
              </a:rPr>
              <a:t>”</a:t>
            </a:r>
            <a:r>
              <a:t>的概念</a:t>
            </a:r>
          </a:p>
          <a:p>
            <a:pPr marL="237490" indent="-237490" defTabSz="795655">
              <a:spcBef>
                <a:spcPts val="800"/>
              </a:spcBef>
              <a:buSzTx/>
              <a:buNone/>
              <a:defRPr sz="2700"/>
            </a:pPr>
            <a:r>
              <a:t>     </a:t>
            </a:r>
            <a:r>
              <a: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rPr>
              <a:t>画面中心论</a:t>
            </a:r>
            <a:endPara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37490" indent="-237490" defTabSz="795655">
              <a:spcBef>
                <a:spcPts val="800"/>
              </a:spcBef>
              <a:buSzTx/>
              <a:buNone/>
              <a:def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defRPr>
            </a:pPr>
            <a:endPara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198755" indent="-198755" defTabSz="795655">
              <a:spcBef>
                <a:spcPts val="800"/>
              </a:spcBef>
              <a:buChar char="○"/>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把音响与噪声的概念划等号</a:t>
            </a:r>
          </a:p>
          <a:p>
            <a:pPr marL="198755" indent="-198755" defTabSz="795655">
              <a:spcBef>
                <a:spcPts val="800"/>
              </a:spcBef>
              <a:buChar char="○"/>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98755" indent="-198755" defTabSz="795655">
              <a:spcBef>
                <a:spcPts val="800"/>
              </a:spcBef>
              <a:buChar char="○"/>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对声音的空间属性缺乏认识。</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音效的时空属性"/>
          <p:cNvSpPr txBox="1">
            <a:spLocks noGrp="1"/>
          </p:cNvSpPr>
          <p:nvPr>
            <p:ph type="title"/>
          </p:nvPr>
        </p:nvSpPr>
        <p:spPr>
          <a:xfrm>
            <a:off x="1144868" y="2200523"/>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音效的时空属性</a:t>
            </a:r>
          </a:p>
        </p:txBody>
      </p:sp>
      <p:sp>
        <p:nvSpPr>
          <p:cNvPr id="189" name="声音生理心理学给音效制作带来的启示…"/>
          <p:cNvSpPr txBox="1">
            <a:spLocks noGrp="1"/>
          </p:cNvSpPr>
          <p:nvPr>
            <p:ph type="body" sz="half" idx="1"/>
          </p:nvPr>
        </p:nvSpPr>
        <p:spPr>
          <a:xfrm>
            <a:off x="4571046" y="1482725"/>
            <a:ext cx="6172206" cy="4873625"/>
          </a:xfrm>
          <a:prstGeom prst="rect">
            <a:avLst/>
          </a:prstGeom>
        </p:spPr>
        <p:txBody>
          <a:bodyPr/>
          <a:lstStyle/>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声音生理心理学给音效制作带来的启示</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方位感：在空间移动的声波能使人们清楚地判断出声源物体的前后左右的具体方位。</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距离感：声波的振幅、音量等的变化能使人们比较准确地判断声源物体的远近距离。</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运动感：根据声波在时间维的连续性和在空间维的方向性，听觉器官可以辨认出物体自身运动，特别是物体方位移动的过程。</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声像感：音响的组合可以使人们听出声源物体规模大小。</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层次感：现场多种声音会同时传入人耳，但由于声源物体的振率不同，彼此远近距离不同，自然会在人的听觉器官中形成远、近和高、低不同层次的音响感觉。</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音效对画面的拓展和深化"/>
          <p:cNvSpPr txBox="1">
            <a:spLocks noGrp="1"/>
          </p:cNvSpPr>
          <p:nvPr>
            <p:ph type="title"/>
          </p:nvPr>
        </p:nvSpPr>
        <p:spPr>
          <a:xfrm>
            <a:off x="1827670" y="544365"/>
            <a:ext cx="2890617" cy="3407766"/>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音效对画面的拓展和深化</a:t>
            </a:r>
          </a:p>
        </p:txBody>
      </p:sp>
      <p:sp>
        <p:nvSpPr>
          <p:cNvPr id="192" name="音效的特殊用法/艺术化用法…"/>
          <p:cNvSpPr txBox="1">
            <a:spLocks noGrp="1"/>
          </p:cNvSpPr>
          <p:nvPr>
            <p:ph type="body" sz="half" idx="1"/>
          </p:nvPr>
        </p:nvSpPr>
        <p:spPr>
          <a:xfrm>
            <a:off x="5546378" y="992186"/>
            <a:ext cx="6172206" cy="4873628"/>
          </a:xfrm>
          <a:prstGeom prst="rect">
            <a:avLst/>
          </a:prstGeom>
        </p:spPr>
        <p:txBody>
          <a:bodyPr/>
          <a:lstStyle/>
          <a:p>
            <a:pPr marL="162560" indent="-162560" defTabSz="648970">
              <a:spcBef>
                <a:spcPts val="700"/>
              </a:spcBef>
              <a:buChar char="■"/>
              <a:defRPr sz="2200"/>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音效的特殊用法</a:t>
            </a:r>
            <a:r>
              <a:rPr>
                <a:latin typeface="+mn-lt"/>
                <a:ea typeface="+mn-ea"/>
                <a:cs typeface="+mn-cs"/>
                <a:sym typeface="Calibri" panose="020F0502020204030204"/>
              </a:rPr>
              <a:t>/</a:t>
            </a:r>
            <a:r>
              <a:t>艺术化用法</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只闻其声，不见其人（物）</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扩大画面和想象空间</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减少制作工作量</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主观超现实（存在与不存在的对置）</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表现出角色内心感受</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营造环境氛围</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加强作品的表现力和感染力</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音效的分类"/>
          <p:cNvSpPr txBox="1">
            <a:spLocks noGrp="1"/>
          </p:cNvSpPr>
          <p:nvPr>
            <p:ph type="title"/>
          </p:nvPr>
        </p:nvSpPr>
        <p:spPr>
          <a:xfrm>
            <a:off x="4631514" y="-995571"/>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音效的分类</a:t>
            </a:r>
          </a:p>
        </p:txBody>
      </p:sp>
      <p:sp>
        <p:nvSpPr>
          <p:cNvPr id="195" name="概念：处在背景层上的一切自然界和人类社会活动所产生的各种声音。…"/>
          <p:cNvSpPr txBox="1">
            <a:spLocks noGrp="1"/>
          </p:cNvSpPr>
          <p:nvPr>
            <p:ph type="body" sz="half" idx="1"/>
          </p:nvPr>
        </p:nvSpPr>
        <p:spPr>
          <a:xfrm>
            <a:off x="737711" y="1621002"/>
            <a:ext cx="6172207" cy="4873628"/>
          </a:xfrm>
          <a:prstGeom prst="rect">
            <a:avLst/>
          </a:prstGeom>
        </p:spPr>
        <p:txBody>
          <a:bodyPr/>
          <a:lstStyle/>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概念：处在背景层上的一切自然界和人类社会活动所产生的各种声音。</a:t>
            </a:r>
          </a:p>
          <a:p>
            <a:pPr marL="259080" indent="-259080" defTabSz="868680">
              <a:spcBef>
                <a:spcPts val="900"/>
              </a:spcBef>
              <a:buChar char="○"/>
              <a:defRPr sz="1700"/>
            </a:pP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特点：</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非视觉核心</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画外空间（无源）</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连续不断、恒定的</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背景层上的</a:t>
            </a:r>
            <a:r>
              <a:rPr>
                <a:latin typeface="+mn-lt"/>
                <a:ea typeface="+mn-ea"/>
                <a:cs typeface="+mn-cs"/>
                <a:sym typeface="Calibri" panose="020F0502020204030204"/>
              </a:rPr>
              <a:t>“</a:t>
            </a:r>
            <a:r>
              <a:t>全景</a:t>
            </a:r>
            <a:r>
              <a:rPr>
                <a:latin typeface="+mn-lt"/>
                <a:ea typeface="+mn-ea"/>
                <a:cs typeface="+mn-cs"/>
                <a:sym typeface="Calibri" panose="020F0502020204030204"/>
              </a:rPr>
              <a:t>”</a:t>
            </a:r>
            <a:endParaRPr>
              <a:latin typeface="+mn-lt"/>
              <a:ea typeface="+mn-ea"/>
              <a:cs typeface="+mn-cs"/>
              <a:sym typeface="Calibri" panose="020F0502020204030204"/>
            </a:endParaRPr>
          </a:p>
          <a:p>
            <a:pPr marL="259080" indent="-259080" defTabSz="868680">
              <a:spcBef>
                <a:spcPts val="900"/>
              </a:spcBef>
              <a:buChar char="○"/>
              <a:defRPr sz="1700"/>
            </a:pPr>
            <a:endParaRPr>
              <a:latin typeface="+mn-lt"/>
              <a:ea typeface="+mn-ea"/>
              <a:cs typeface="+mn-cs"/>
              <a:sym typeface="Calibri" panose="020F0502020204030204"/>
            </a:endParaRP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作用：构建画面的真实声音环境</a:t>
            </a:r>
          </a:p>
          <a:p>
            <a:pPr marL="259080" indent="-259080" defTabSz="868680">
              <a:spcBef>
                <a:spcPts val="900"/>
              </a:spcBef>
              <a:buChar char="○"/>
              <a:defRPr sz="1700"/>
            </a:pP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制作：拾取</a:t>
            </a:r>
            <a:r>
              <a:rPr>
                <a:latin typeface="+mn-lt"/>
                <a:ea typeface="+mn-ea"/>
                <a:cs typeface="+mn-cs"/>
                <a:sym typeface="Calibri" panose="020F0502020204030204"/>
              </a:rPr>
              <a:t>/</a:t>
            </a:r>
            <a:r>
              <a:t>剪辑，重现真实环境</a:t>
            </a:r>
          </a:p>
          <a:p>
            <a:pPr marL="259080" indent="-259080" defTabSz="868680">
              <a:spcBef>
                <a:spcPts val="900"/>
              </a:spcBef>
              <a:buSzTx/>
              <a:buNone/>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               模拟主观超现实音效</a:t>
            </a:r>
          </a:p>
        </p:txBody>
      </p:sp>
      <p:sp>
        <p:nvSpPr>
          <p:cNvPr id="196" name="概念：动作音响的听感效果，指被拍摄的对象活动所产生的各种声音。…"/>
          <p:cNvSpPr txBox="1"/>
          <p:nvPr/>
        </p:nvSpPr>
        <p:spPr>
          <a:xfrm>
            <a:off x="7074854" y="1990526"/>
            <a:ext cx="3751900" cy="4533901"/>
          </a:xfrm>
          <a:prstGeom prst="rect">
            <a:avLst/>
          </a:prstGeom>
          <a:ln w="12700">
            <a:miter lim="400000"/>
          </a:ln>
        </p:spPr>
        <p:txBody>
          <a:bodyPr lIns="45718" tIns="45718" rIns="45718" bIns="45718">
            <a:normAutofit/>
          </a:bodyPr>
          <a:lstStyle/>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概念：动作音响的听感效果，指被拍摄的对象活动所产生的各种声音。</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Century Schoolbook" panose="02040604050505020304"/>
                <a:ea typeface="Century Schoolbook" panose="02040604050505020304"/>
                <a:cs typeface="Century Schoolbook" panose="02040604050505020304"/>
                <a:sym typeface="Century Schoolbook" panose="02040604050505020304"/>
              </a:defRPr>
            </a:pP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特点：</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可视</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画内空间（有源）</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间断的、律动的</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动效则是前景</a:t>
            </a:r>
            <a:r>
              <a:rPr>
                <a:latin typeface="Century Schoolbook" panose="02040604050505020304"/>
                <a:ea typeface="Century Schoolbook" panose="02040604050505020304"/>
                <a:cs typeface="Century Schoolbook" panose="02040604050505020304"/>
                <a:sym typeface="Century Schoolbook" panose="02040604050505020304"/>
              </a:rPr>
              <a:t>“</a:t>
            </a:r>
            <a:r>
              <a:t>近景</a:t>
            </a:r>
            <a:r>
              <a:rPr>
                <a:latin typeface="Century Schoolbook" panose="02040604050505020304"/>
                <a:ea typeface="Century Schoolbook" panose="02040604050505020304"/>
                <a:cs typeface="Century Schoolbook" panose="02040604050505020304"/>
                <a:sym typeface="Century Schoolbook" panose="02040604050505020304"/>
              </a:rPr>
              <a:t>”</a:t>
            </a:r>
            <a:r>
              <a:t>或</a:t>
            </a:r>
            <a:r>
              <a:rPr>
                <a:latin typeface="Century Schoolbook" panose="02040604050505020304"/>
                <a:ea typeface="Century Schoolbook" panose="02040604050505020304"/>
                <a:cs typeface="Century Schoolbook" panose="02040604050505020304"/>
                <a:sym typeface="Century Schoolbook" panose="02040604050505020304"/>
              </a:rPr>
              <a:t>“</a:t>
            </a:r>
            <a:r>
              <a:t>特写</a:t>
            </a:r>
            <a:r>
              <a:rPr>
                <a:latin typeface="Century Schoolbook" panose="02040604050505020304"/>
                <a:ea typeface="Century Schoolbook" panose="02040604050505020304"/>
                <a:cs typeface="Century Schoolbook" panose="02040604050505020304"/>
                <a:sym typeface="Century Schoolbook" panose="02040604050505020304"/>
              </a:rPr>
              <a:t>”</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Century Schoolbook" panose="02040604050505020304"/>
              <a:buChar char="➢"/>
              <a:defRPr sz="1600">
                <a:latin typeface="Century Schoolbook" panose="02040604050505020304"/>
                <a:ea typeface="Century Schoolbook" panose="02040604050505020304"/>
                <a:cs typeface="Century Schoolbook" panose="02040604050505020304"/>
                <a:sym typeface="Century Schoolbook" panose="02040604050505020304"/>
              </a:defRPr>
            </a:pP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作用：反映出声音的特征和定位</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Century Schoolbook" panose="02040604050505020304"/>
                <a:ea typeface="Century Schoolbook" panose="02040604050505020304"/>
                <a:cs typeface="Century Schoolbook" panose="02040604050505020304"/>
                <a:sym typeface="Century Schoolbook" panose="02040604050505020304"/>
              </a:defRPr>
            </a:pP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制作：拾取</a:t>
            </a:r>
            <a:r>
              <a:rPr>
                <a:latin typeface="Century Schoolbook" panose="02040604050505020304"/>
                <a:ea typeface="Century Schoolbook" panose="02040604050505020304"/>
                <a:cs typeface="Century Schoolbook" panose="02040604050505020304"/>
                <a:sym typeface="Century Schoolbook" panose="02040604050505020304"/>
              </a:rPr>
              <a:t>/</a:t>
            </a:r>
            <a:r>
              <a:t>剪辑</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defRPr sz="1600">
                <a:latin typeface="Century Schoolbook" panose="02040604050505020304"/>
                <a:ea typeface="Century Schoolbook" panose="02040604050505020304"/>
                <a:cs typeface="Century Schoolbook" panose="02040604050505020304"/>
                <a:sym typeface="Century Schoolbook" panose="02040604050505020304"/>
              </a:defRPr>
            </a:pPr>
            <a:r>
              <a:t>               </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拟音</a:t>
            </a:r>
            <a:r>
              <a:t>/</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剪辑</a:t>
            </a:r>
            <a:endPar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p:txBody>
      </p:sp>
      <p:sp>
        <p:nvSpPr>
          <p:cNvPr id="197" name="环境音响"/>
          <p:cNvSpPr txBox="1"/>
          <p:nvPr/>
        </p:nvSpPr>
        <p:spPr>
          <a:xfrm>
            <a:off x="778972" y="757446"/>
            <a:ext cx="3593307" cy="594519"/>
          </a:xfrm>
          <a:prstGeom prst="rect">
            <a:avLst/>
          </a:prstGeom>
          <a:solidFill>
            <a:srgbClr val="72A376"/>
          </a:solidFill>
          <a:ln w="12700">
            <a:miter lim="400000"/>
          </a:ln>
        </p:spPr>
        <p:txBody>
          <a:bodyPr lIns="45718" tIns="45718" rIns="45718" bIns="45718" anchor="ctr">
            <a:normAutofit/>
          </a:bodyPr>
          <a:lstStyle>
            <a:lvl1pPr algn="ctr">
              <a:spcBef>
                <a:spcPts val="600"/>
              </a:spcBef>
              <a:defRPr sz="2800">
                <a:solidFill>
                  <a:srgbClr val="FFFFFF"/>
                </a:solidFill>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环境音响</a:t>
            </a:r>
          </a:p>
        </p:txBody>
      </p:sp>
      <p:sp>
        <p:nvSpPr>
          <p:cNvPr id="198" name="动效"/>
          <p:cNvSpPr txBox="1"/>
          <p:nvPr/>
        </p:nvSpPr>
        <p:spPr>
          <a:xfrm>
            <a:off x="7309694" y="757446"/>
            <a:ext cx="3593306" cy="594519"/>
          </a:xfrm>
          <a:prstGeom prst="rect">
            <a:avLst/>
          </a:prstGeom>
          <a:solidFill>
            <a:srgbClr val="72A376"/>
          </a:solidFill>
          <a:ln w="12700">
            <a:miter lim="400000"/>
          </a:ln>
        </p:spPr>
        <p:txBody>
          <a:bodyPr lIns="45718" tIns="45718" rIns="45718" bIns="45718" anchor="ctr">
            <a:normAutofit/>
          </a:bodyPr>
          <a:lstStyle>
            <a:lvl1pPr algn="ctr">
              <a:spcBef>
                <a:spcPts val="600"/>
              </a:spcBef>
              <a:defRPr sz="2800">
                <a:solidFill>
                  <a:srgbClr val="FFFFFF"/>
                </a:solidFill>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动效</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E:\电影笔记\金刚\声音的艺术_插图\图3_采录飞机音效.jpg" descr="E:\电影笔记\金刚\声音的艺术_插图\图3_采录飞机音效.jpg"/>
          <p:cNvPicPr>
            <a:picLocks noChangeAspect="1"/>
          </p:cNvPicPr>
          <p:nvPr/>
        </p:nvPicPr>
        <p:blipFill>
          <a:blip r:embed="rId1"/>
          <a:stretch>
            <a:fillRect/>
          </a:stretch>
        </p:blipFill>
        <p:spPr>
          <a:xfrm>
            <a:off x="6725828" y="3810491"/>
            <a:ext cx="4297365" cy="2517777"/>
          </a:xfrm>
          <a:prstGeom prst="rect">
            <a:avLst/>
          </a:prstGeom>
          <a:ln w="12700">
            <a:miter lim="400000"/>
            <a:headEnd/>
            <a:tailEnd/>
          </a:ln>
        </p:spPr>
      </p:pic>
      <p:pic>
        <p:nvPicPr>
          <p:cNvPr id="201" name="E:\电影笔记\金刚\声音的艺术_插图\图4_采录枪械音效.jpg" descr="E:\电影笔记\金刚\声音的艺术_插图\图4_采录枪械音效.jpg"/>
          <p:cNvPicPr>
            <a:picLocks noChangeAspect="1"/>
          </p:cNvPicPr>
          <p:nvPr/>
        </p:nvPicPr>
        <p:blipFill>
          <a:blip r:embed="rId2"/>
          <a:stretch>
            <a:fillRect/>
          </a:stretch>
        </p:blipFill>
        <p:spPr>
          <a:xfrm>
            <a:off x="1833946" y="1429857"/>
            <a:ext cx="4229103" cy="2481266"/>
          </a:xfrm>
          <a:prstGeom prst="rect">
            <a:avLst/>
          </a:prstGeom>
          <a:ln w="12700">
            <a:miter lim="400000"/>
            <a:headEnd/>
            <a:tailEnd/>
          </a:ln>
        </p:spPr>
      </p:pic>
      <p:pic>
        <p:nvPicPr>
          <p:cNvPr id="202" name="image.png" descr="image.png"/>
          <p:cNvPicPr>
            <a:picLocks noChangeAspect="1"/>
          </p:cNvPicPr>
          <p:nvPr/>
        </p:nvPicPr>
        <p:blipFill>
          <a:blip r:embed="rId3"/>
          <a:stretch>
            <a:fillRect/>
          </a:stretch>
        </p:blipFill>
        <p:spPr>
          <a:xfrm>
            <a:off x="644933" y="4189486"/>
            <a:ext cx="2481265" cy="1096964"/>
          </a:xfrm>
          <a:prstGeom prst="rect">
            <a:avLst/>
          </a:prstGeom>
          <a:ln w="12700">
            <a:miter lim="400000"/>
            <a:headEnd/>
            <a:tailEnd/>
          </a:ln>
        </p:spPr>
      </p:pic>
      <p:pic>
        <p:nvPicPr>
          <p:cNvPr id="203" name="image.png" descr="image.png"/>
          <p:cNvPicPr>
            <a:picLocks noChangeAspect="1"/>
          </p:cNvPicPr>
          <p:nvPr/>
        </p:nvPicPr>
        <p:blipFill>
          <a:blip r:embed="rId4"/>
          <a:stretch>
            <a:fillRect/>
          </a:stretch>
        </p:blipFill>
        <p:spPr>
          <a:xfrm>
            <a:off x="6895251" y="2302230"/>
            <a:ext cx="2798765" cy="1317627"/>
          </a:xfrm>
          <a:prstGeom prst="rect">
            <a:avLst/>
          </a:prstGeom>
          <a:ln w="12700">
            <a:miter lim="400000"/>
            <a:headEnd/>
            <a:tailEnd/>
          </a:ln>
        </p:spPr>
      </p:pic>
      <p:sp>
        <p:nvSpPr>
          <p:cNvPr id="204" name="实录"/>
          <p:cNvSpPr txBox="1"/>
          <p:nvPr/>
        </p:nvSpPr>
        <p:spPr>
          <a:xfrm>
            <a:off x="5953271" y="450359"/>
            <a:ext cx="815339"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实录</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快乐的大脚》制作花絮[20100419-1759005].JPG" descr="《快乐的大脚》制作花絮[20100419-1759005].JPG"/>
          <p:cNvPicPr>
            <a:picLocks noChangeAspect="1"/>
          </p:cNvPicPr>
          <p:nvPr/>
        </p:nvPicPr>
        <p:blipFill>
          <a:blip r:embed="rId1"/>
          <a:srcRect l="7030" t="5195" r="7030" b="5195"/>
          <a:stretch>
            <a:fillRect/>
          </a:stretch>
        </p:blipFill>
        <p:spPr>
          <a:xfrm>
            <a:off x="2556783" y="2007986"/>
            <a:ext cx="5221364" cy="4082450"/>
          </a:xfrm>
          <a:prstGeom prst="rect">
            <a:avLst/>
          </a:prstGeom>
          <a:ln w="12700">
            <a:miter lim="400000"/>
            <a:headEnd/>
            <a:tailEnd/>
          </a:ln>
        </p:spPr>
      </p:pic>
      <p:sp>
        <p:nvSpPr>
          <p:cNvPr id="207" name="动画电影《快乐的大脚》：录制企鹅的“舞步”音效"/>
          <p:cNvSpPr txBox="1"/>
          <p:nvPr/>
        </p:nvSpPr>
        <p:spPr>
          <a:xfrm>
            <a:off x="2520257" y="1369323"/>
            <a:ext cx="5082663" cy="408939"/>
          </a:xfrm>
          <a:prstGeom prst="rect">
            <a:avLst/>
          </a:prstGeom>
          <a:ln w="12700">
            <a:miter lim="400000"/>
          </a:ln>
        </p:spPr>
        <p:txBody>
          <a:bodyPr wrap="none" lIns="45718" tIns="45718" rIns="45718" bIns="45718">
            <a:spAutoFit/>
          </a:bodyPr>
          <a:lstStyle/>
          <a:p>
            <a:pPr>
              <a:def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动画电影《快乐的大脚》：录制企鹅的</a:t>
            </a:r>
            <a:r>
              <a:rPr>
                <a:latin typeface="Century Schoolbook" panose="02040604050505020304"/>
                <a:ea typeface="Century Schoolbook" panose="02040604050505020304"/>
                <a:cs typeface="Century Schoolbook" panose="02040604050505020304"/>
                <a:sym typeface="Century Schoolbook" panose="02040604050505020304"/>
              </a:rPr>
              <a:t>“</a:t>
            </a:r>
            <a:r>
              <a:t>舞步</a:t>
            </a:r>
            <a:r>
              <a:rPr>
                <a:latin typeface="Century Schoolbook" panose="02040604050505020304"/>
                <a:ea typeface="Century Schoolbook" panose="02040604050505020304"/>
                <a:cs typeface="Century Schoolbook" panose="02040604050505020304"/>
                <a:sym typeface="Century Schoolbook" panose="02040604050505020304"/>
              </a:rPr>
              <a:t>”</a:t>
            </a:r>
            <a:r>
              <a:t>音效</a:t>
            </a:r>
          </a:p>
        </p:txBody>
      </p:sp>
      <p:sp>
        <p:nvSpPr>
          <p:cNvPr id="208" name="拟     音"/>
          <p:cNvSpPr txBox="1"/>
          <p:nvPr/>
        </p:nvSpPr>
        <p:spPr>
          <a:xfrm>
            <a:off x="9338223" y="1274073"/>
            <a:ext cx="1309325"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 name="image.png" descr="image.png"/>
          <p:cNvPicPr>
            <a:picLocks noChangeAspect="1"/>
          </p:cNvPicPr>
          <p:nvPr/>
        </p:nvPicPr>
        <p:blipFill>
          <a:blip r:embed="rId1"/>
          <a:stretch>
            <a:fillRect/>
          </a:stretch>
        </p:blipFill>
        <p:spPr>
          <a:xfrm>
            <a:off x="1228588" y="333802"/>
            <a:ext cx="3378203" cy="4187827"/>
          </a:xfrm>
          <a:prstGeom prst="rect">
            <a:avLst/>
          </a:prstGeom>
          <a:ln w="12700">
            <a:miter lim="400000"/>
            <a:headEnd/>
            <a:tailEnd/>
          </a:ln>
        </p:spPr>
      </p:pic>
      <p:pic>
        <p:nvPicPr>
          <p:cNvPr id="211" name="image.png" descr="image.png"/>
          <p:cNvPicPr>
            <a:picLocks noChangeAspect="1"/>
          </p:cNvPicPr>
          <p:nvPr/>
        </p:nvPicPr>
        <p:blipFill>
          <a:blip r:embed="rId2"/>
          <a:stretch>
            <a:fillRect/>
          </a:stretch>
        </p:blipFill>
        <p:spPr>
          <a:xfrm>
            <a:off x="5312276" y="2727617"/>
            <a:ext cx="5468939" cy="1730377"/>
          </a:xfrm>
          <a:prstGeom prst="rect">
            <a:avLst/>
          </a:prstGeom>
          <a:ln w="12700">
            <a:miter lim="400000"/>
            <a:headEnd/>
            <a:tailEnd/>
          </a:ln>
        </p:spPr>
      </p:pic>
      <p:pic>
        <p:nvPicPr>
          <p:cNvPr id="212" name="image.png" descr="image.png"/>
          <p:cNvPicPr>
            <a:picLocks noChangeAspect="1"/>
          </p:cNvPicPr>
          <p:nvPr/>
        </p:nvPicPr>
        <p:blipFill>
          <a:blip r:embed="rId3"/>
          <a:stretch>
            <a:fillRect/>
          </a:stretch>
        </p:blipFill>
        <p:spPr>
          <a:xfrm>
            <a:off x="3880403" y="774364"/>
            <a:ext cx="4730753" cy="1004890"/>
          </a:xfrm>
          <a:prstGeom prst="rect">
            <a:avLst/>
          </a:prstGeom>
          <a:ln w="12700">
            <a:miter lim="400000"/>
            <a:headEnd/>
            <a:tailEnd/>
          </a:ln>
        </p:spPr>
      </p:pic>
      <p:grpSp>
        <p:nvGrpSpPr>
          <p:cNvPr id="215" name="成组"/>
          <p:cNvGrpSpPr/>
          <p:nvPr/>
        </p:nvGrpSpPr>
        <p:grpSpPr>
          <a:xfrm>
            <a:off x="828602" y="4324923"/>
            <a:ext cx="2841628" cy="1968502"/>
            <a:chOff x="0" y="0"/>
            <a:chExt cx="2841626" cy="1968500"/>
          </a:xfrm>
        </p:grpSpPr>
        <p:pic>
          <p:nvPicPr>
            <p:cNvPr id="213" name="image.png" descr="image.png"/>
            <p:cNvPicPr>
              <a:picLocks noChangeAspect="1"/>
            </p:cNvPicPr>
            <p:nvPr/>
          </p:nvPicPr>
          <p:blipFill>
            <a:blip r:embed="rId4"/>
            <a:stretch>
              <a:fillRect/>
            </a:stretch>
          </p:blipFill>
          <p:spPr>
            <a:xfrm>
              <a:off x="-1" y="0"/>
              <a:ext cx="2841628" cy="1968501"/>
            </a:xfrm>
            <a:prstGeom prst="rect">
              <a:avLst/>
            </a:prstGeom>
            <a:ln w="12700" cap="flat">
              <a:noFill/>
              <a:miter lim="400000"/>
              <a:headEnd/>
              <a:tailEnd/>
            </a:ln>
            <a:effectLst/>
          </p:spPr>
        </p:pic>
        <p:sp>
          <p:nvSpPr>
            <p:cNvPr id="214" name="电影《星球大战》中激光炮的音效"/>
            <p:cNvSpPr txBox="1"/>
            <p:nvPr/>
          </p:nvSpPr>
          <p:spPr>
            <a:xfrm>
              <a:off x="483869" y="608330"/>
              <a:ext cx="1681800" cy="1043939"/>
            </a:xfrm>
            <a:prstGeom prst="rect">
              <a:avLst/>
            </a:prstGeom>
            <a:noFill/>
            <a:ln w="12700" cap="flat">
              <a:noFill/>
              <a:miter lim="400000"/>
            </a:ln>
            <a:effectLst/>
          </p:spPr>
          <p:txBody>
            <a:bodyPr wrap="square" lIns="45718" tIns="45718" rIns="45718" bIns="45718" numCol="1" anchor="ctr">
              <a:spAutoFit/>
            </a:bodyPr>
            <a:lstStyle>
              <a:lvl1pPr algn="ctr">
                <a:def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电影《星球大战》中激光炮的音效</a:t>
              </a:r>
            </a:p>
          </p:txBody>
        </p:sp>
      </p:grpSp>
      <p:pic>
        <p:nvPicPr>
          <p:cNvPr id="216" name="image.png" descr="image.png"/>
          <p:cNvPicPr>
            <a:picLocks noChangeAspect="1"/>
          </p:cNvPicPr>
          <p:nvPr/>
        </p:nvPicPr>
        <p:blipFill>
          <a:blip r:embed="rId5"/>
          <a:stretch>
            <a:fillRect/>
          </a:stretch>
        </p:blipFill>
        <p:spPr>
          <a:xfrm>
            <a:off x="6969979" y="4290729"/>
            <a:ext cx="2676527" cy="1792291"/>
          </a:xfrm>
          <a:prstGeom prst="rect">
            <a:avLst/>
          </a:prstGeom>
          <a:ln w="12700">
            <a:miter lim="400000"/>
            <a:headEnd/>
            <a:tailEnd/>
          </a:ln>
        </p:spPr>
      </p:pic>
      <p:sp>
        <p:nvSpPr>
          <p:cNvPr id="217" name="拟    音"/>
          <p:cNvSpPr txBox="1"/>
          <p:nvPr/>
        </p:nvSpPr>
        <p:spPr>
          <a:xfrm>
            <a:off x="9556139" y="857135"/>
            <a:ext cx="1210527"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image.png" descr="image.png"/>
          <p:cNvPicPr>
            <a:picLocks noChangeAspect="1"/>
          </p:cNvPicPr>
          <p:nvPr/>
        </p:nvPicPr>
        <p:blipFill>
          <a:blip r:embed="rId1"/>
          <a:stretch>
            <a:fillRect/>
          </a:stretch>
        </p:blipFill>
        <p:spPr>
          <a:xfrm>
            <a:off x="1981200" y="476250"/>
            <a:ext cx="2444750" cy="5589588"/>
          </a:xfrm>
          <a:prstGeom prst="rect">
            <a:avLst/>
          </a:prstGeom>
          <a:ln w="12700">
            <a:miter lim="400000"/>
            <a:headEnd/>
            <a:tailEnd/>
          </a:ln>
        </p:spPr>
      </p:pic>
      <p:pic>
        <p:nvPicPr>
          <p:cNvPr id="220" name="image.png" descr="image.png"/>
          <p:cNvPicPr>
            <a:picLocks noChangeAspect="1"/>
          </p:cNvPicPr>
          <p:nvPr/>
        </p:nvPicPr>
        <p:blipFill>
          <a:blip r:embed="rId2"/>
          <a:stretch>
            <a:fillRect/>
          </a:stretch>
        </p:blipFill>
        <p:spPr>
          <a:xfrm>
            <a:off x="4251283" y="463548"/>
            <a:ext cx="3900490" cy="1268415"/>
          </a:xfrm>
          <a:prstGeom prst="rect">
            <a:avLst/>
          </a:prstGeom>
          <a:ln w="12700">
            <a:miter lim="400000"/>
            <a:headEnd/>
            <a:tailEnd/>
          </a:ln>
        </p:spPr>
      </p:pic>
      <p:pic>
        <p:nvPicPr>
          <p:cNvPr id="221" name="E:\电影笔记\金刚\声音的艺术_插图\图1_采录原木音效.jpg" descr="E:\电影笔记\金刚\声音的艺术_插图\图1_采录原木音效.jpg"/>
          <p:cNvPicPr>
            <a:picLocks noChangeAspect="1"/>
          </p:cNvPicPr>
          <p:nvPr/>
        </p:nvPicPr>
        <p:blipFill>
          <a:blip r:embed="rId3"/>
          <a:stretch>
            <a:fillRect/>
          </a:stretch>
        </p:blipFill>
        <p:spPr>
          <a:xfrm>
            <a:off x="5415255" y="3606558"/>
            <a:ext cx="4297364" cy="2517777"/>
          </a:xfrm>
          <a:prstGeom prst="rect">
            <a:avLst/>
          </a:prstGeom>
          <a:ln w="12700">
            <a:miter lim="400000"/>
            <a:headEnd/>
            <a:tailEnd/>
          </a:ln>
        </p:spPr>
      </p:pic>
      <p:pic>
        <p:nvPicPr>
          <p:cNvPr id="222" name="image.png" descr="image.png"/>
          <p:cNvPicPr>
            <a:picLocks noChangeAspect="1"/>
          </p:cNvPicPr>
          <p:nvPr/>
        </p:nvPicPr>
        <p:blipFill>
          <a:blip r:embed="rId4"/>
          <a:stretch>
            <a:fillRect/>
          </a:stretch>
        </p:blipFill>
        <p:spPr>
          <a:xfrm>
            <a:off x="7479579" y="2327755"/>
            <a:ext cx="2505077" cy="1481138"/>
          </a:xfrm>
          <a:prstGeom prst="rect">
            <a:avLst/>
          </a:prstGeom>
          <a:ln w="12700">
            <a:miter lim="400000"/>
            <a:headEnd/>
            <a:tailEnd/>
          </a:ln>
        </p:spPr>
      </p:pic>
      <p:sp>
        <p:nvSpPr>
          <p:cNvPr id="223" name="拟  音"/>
          <p:cNvSpPr txBox="1"/>
          <p:nvPr/>
        </p:nvSpPr>
        <p:spPr>
          <a:xfrm>
            <a:off x="10151774" y="798037"/>
            <a:ext cx="1012934"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 name="image.png" descr="image.png"/>
          <p:cNvPicPr>
            <a:picLocks noChangeAspect="1"/>
          </p:cNvPicPr>
          <p:nvPr/>
        </p:nvPicPr>
        <p:blipFill>
          <a:blip r:embed="rId1"/>
          <a:stretch>
            <a:fillRect/>
          </a:stretch>
        </p:blipFill>
        <p:spPr>
          <a:xfrm>
            <a:off x="1547812" y="115887"/>
            <a:ext cx="3517902" cy="2517776"/>
          </a:xfrm>
          <a:prstGeom prst="rect">
            <a:avLst/>
          </a:prstGeom>
          <a:ln w="12700">
            <a:miter lim="400000"/>
            <a:headEnd/>
            <a:tailEnd/>
          </a:ln>
        </p:spPr>
      </p:pic>
      <p:pic>
        <p:nvPicPr>
          <p:cNvPr id="226" name="image.png" descr="image.png"/>
          <p:cNvPicPr>
            <a:picLocks noChangeAspect="1"/>
          </p:cNvPicPr>
          <p:nvPr/>
        </p:nvPicPr>
        <p:blipFill>
          <a:blip r:embed="rId2"/>
          <a:stretch>
            <a:fillRect/>
          </a:stretch>
        </p:blipFill>
        <p:spPr>
          <a:xfrm>
            <a:off x="7339011" y="2547936"/>
            <a:ext cx="3017839" cy="4157664"/>
          </a:xfrm>
          <a:prstGeom prst="rect">
            <a:avLst/>
          </a:prstGeom>
          <a:ln w="12700">
            <a:miter lim="400000"/>
            <a:headEnd/>
            <a:tailEnd/>
          </a:ln>
        </p:spPr>
      </p:pic>
      <p:pic>
        <p:nvPicPr>
          <p:cNvPr id="227" name="image.png" descr="image.png"/>
          <p:cNvPicPr>
            <a:picLocks noChangeAspect="1"/>
          </p:cNvPicPr>
          <p:nvPr/>
        </p:nvPicPr>
        <p:blipFill>
          <a:blip r:embed="rId3"/>
          <a:stretch>
            <a:fillRect/>
          </a:stretch>
        </p:blipFill>
        <p:spPr>
          <a:xfrm>
            <a:off x="4906962" y="115887"/>
            <a:ext cx="2878139" cy="2017714"/>
          </a:xfrm>
          <a:prstGeom prst="rect">
            <a:avLst/>
          </a:prstGeom>
          <a:ln w="12700">
            <a:miter lim="400000"/>
            <a:headEnd/>
            <a:tailEnd/>
          </a:ln>
        </p:spPr>
      </p:pic>
      <p:pic>
        <p:nvPicPr>
          <p:cNvPr id="228" name="1.jpg" descr="1.jpg"/>
          <p:cNvPicPr>
            <a:picLocks noChangeAspect="1"/>
          </p:cNvPicPr>
          <p:nvPr/>
        </p:nvPicPr>
        <p:blipFill>
          <a:blip r:embed="rId4"/>
          <a:stretch>
            <a:fillRect/>
          </a:stretch>
        </p:blipFill>
        <p:spPr>
          <a:xfrm>
            <a:off x="1620837" y="4114800"/>
            <a:ext cx="4371977" cy="2663825"/>
          </a:xfrm>
          <a:prstGeom prst="rect">
            <a:avLst/>
          </a:prstGeom>
          <a:ln w="12700">
            <a:miter lim="400000"/>
            <a:headEnd/>
            <a:tailEnd/>
          </a:ln>
        </p:spPr>
      </p:pic>
      <p:pic>
        <p:nvPicPr>
          <p:cNvPr id="229" name="image.png" descr="image.png"/>
          <p:cNvPicPr>
            <a:picLocks noChangeAspect="1"/>
          </p:cNvPicPr>
          <p:nvPr/>
        </p:nvPicPr>
        <p:blipFill>
          <a:blip r:embed="rId5"/>
          <a:stretch>
            <a:fillRect/>
          </a:stretch>
        </p:blipFill>
        <p:spPr>
          <a:xfrm>
            <a:off x="4608512" y="2395536"/>
            <a:ext cx="2835277" cy="1695452"/>
          </a:xfrm>
          <a:prstGeom prst="rect">
            <a:avLst/>
          </a:prstGeom>
          <a:ln w="12700">
            <a:miter lim="400000"/>
            <a:headEnd/>
            <a:tailEnd/>
          </a:ln>
        </p:spPr>
      </p:pic>
      <p:pic>
        <p:nvPicPr>
          <p:cNvPr id="230" name="image.png" descr="image.png"/>
          <p:cNvPicPr>
            <a:picLocks noChangeAspect="1"/>
          </p:cNvPicPr>
          <p:nvPr/>
        </p:nvPicPr>
        <p:blipFill>
          <a:blip r:embed="rId6"/>
          <a:stretch>
            <a:fillRect/>
          </a:stretch>
        </p:blipFill>
        <p:spPr>
          <a:xfrm>
            <a:off x="1463675" y="2481261"/>
            <a:ext cx="3211514" cy="1103314"/>
          </a:xfrm>
          <a:prstGeom prst="rect">
            <a:avLst/>
          </a:prstGeom>
          <a:ln w="12700">
            <a:miter lim="400000"/>
            <a:headEnd/>
            <a:tailEnd/>
          </a:ln>
        </p:spPr>
      </p:pic>
      <p:pic>
        <p:nvPicPr>
          <p:cNvPr id="231" name="image.png" descr="image.png"/>
          <p:cNvPicPr>
            <a:picLocks noChangeAspect="1"/>
          </p:cNvPicPr>
          <p:nvPr/>
        </p:nvPicPr>
        <p:blipFill>
          <a:blip r:embed="rId7"/>
          <a:stretch>
            <a:fillRect/>
          </a:stretch>
        </p:blipFill>
        <p:spPr>
          <a:xfrm>
            <a:off x="7894636" y="822325"/>
            <a:ext cx="2120902" cy="1719264"/>
          </a:xfrm>
          <a:prstGeom prst="rect">
            <a:avLst/>
          </a:prstGeom>
          <a:ln w="12700">
            <a:miter lim="400000"/>
            <a:headEnd/>
            <a:tailEnd/>
          </a:ln>
        </p:spPr>
      </p:pic>
      <p:pic>
        <p:nvPicPr>
          <p:cNvPr id="232" name="image.png" descr="image.png"/>
          <p:cNvPicPr>
            <a:picLocks noChangeAspect="1"/>
          </p:cNvPicPr>
          <p:nvPr/>
        </p:nvPicPr>
        <p:blipFill>
          <a:blip r:embed="rId8"/>
          <a:stretch>
            <a:fillRect/>
          </a:stretch>
        </p:blipFill>
        <p:spPr>
          <a:xfrm>
            <a:off x="5834062" y="4535487"/>
            <a:ext cx="1536702" cy="1792289"/>
          </a:xfrm>
          <a:prstGeom prst="rect">
            <a:avLst/>
          </a:prstGeom>
          <a:ln w="12700">
            <a:miter lim="400000"/>
            <a:headEnd/>
            <a:tailEnd/>
          </a:ln>
        </p:spPr>
      </p:pic>
      <p:sp>
        <p:nvSpPr>
          <p:cNvPr id="233" name="拟音"/>
          <p:cNvSpPr txBox="1"/>
          <p:nvPr/>
        </p:nvSpPr>
        <p:spPr>
          <a:xfrm>
            <a:off x="10689298" y="406776"/>
            <a:ext cx="815339"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拟音</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 name="2.jpg" descr="2.jpg"/>
          <p:cNvPicPr>
            <a:picLocks noChangeAspect="1"/>
          </p:cNvPicPr>
          <p:nvPr/>
        </p:nvPicPr>
        <p:blipFill>
          <a:blip r:embed="rId1"/>
          <a:stretch>
            <a:fillRect/>
          </a:stretch>
        </p:blipFill>
        <p:spPr>
          <a:xfrm>
            <a:off x="1039728" y="392299"/>
            <a:ext cx="5902328" cy="3352803"/>
          </a:xfrm>
          <a:prstGeom prst="rect">
            <a:avLst/>
          </a:prstGeom>
          <a:ln w="12700">
            <a:miter lim="400000"/>
            <a:headEnd/>
            <a:tailEnd/>
          </a:ln>
        </p:spPr>
      </p:pic>
      <p:pic>
        <p:nvPicPr>
          <p:cNvPr id="236" name="3.jpg" descr="3.jpg"/>
          <p:cNvPicPr>
            <a:picLocks noChangeAspect="1"/>
          </p:cNvPicPr>
          <p:nvPr/>
        </p:nvPicPr>
        <p:blipFill>
          <a:blip r:embed="rId2"/>
          <a:stretch>
            <a:fillRect/>
          </a:stretch>
        </p:blipFill>
        <p:spPr>
          <a:xfrm>
            <a:off x="3603366" y="4086904"/>
            <a:ext cx="5900740" cy="2341564"/>
          </a:xfrm>
          <a:prstGeom prst="rect">
            <a:avLst/>
          </a:prstGeom>
          <a:ln w="12700">
            <a:miter lim="400000"/>
            <a:headEnd/>
            <a:tailEnd/>
          </a:ln>
        </p:spPr>
      </p:pic>
      <p:pic>
        <p:nvPicPr>
          <p:cNvPr id="237" name="image.png" descr="image.png"/>
          <p:cNvPicPr>
            <a:picLocks noChangeAspect="1"/>
          </p:cNvPicPr>
          <p:nvPr/>
        </p:nvPicPr>
        <p:blipFill>
          <a:blip r:embed="rId3"/>
          <a:stretch>
            <a:fillRect/>
          </a:stretch>
        </p:blipFill>
        <p:spPr>
          <a:xfrm>
            <a:off x="6291629" y="992667"/>
            <a:ext cx="2616202" cy="1766890"/>
          </a:xfrm>
          <a:prstGeom prst="rect">
            <a:avLst/>
          </a:prstGeom>
          <a:ln w="12700">
            <a:miter lim="400000"/>
            <a:headEnd/>
            <a:tailEnd/>
          </a:ln>
        </p:spPr>
      </p:pic>
      <p:pic>
        <p:nvPicPr>
          <p:cNvPr id="238" name="image.png" descr="image.png"/>
          <p:cNvPicPr>
            <a:picLocks noChangeAspect="1"/>
          </p:cNvPicPr>
          <p:nvPr/>
        </p:nvPicPr>
        <p:blipFill>
          <a:blip r:embed="rId4"/>
          <a:stretch>
            <a:fillRect/>
          </a:stretch>
        </p:blipFill>
        <p:spPr>
          <a:xfrm>
            <a:off x="1473012" y="4933469"/>
            <a:ext cx="2444751" cy="1193801"/>
          </a:xfrm>
          <a:prstGeom prst="rect">
            <a:avLst/>
          </a:prstGeom>
          <a:ln w="12700">
            <a:miter lim="400000"/>
            <a:headEnd/>
            <a:tailEnd/>
          </a:ln>
        </p:spPr>
      </p:pic>
      <p:sp>
        <p:nvSpPr>
          <p:cNvPr id="239" name="拟  音"/>
          <p:cNvSpPr txBox="1"/>
          <p:nvPr/>
        </p:nvSpPr>
        <p:spPr>
          <a:xfrm>
            <a:off x="10427800" y="508470"/>
            <a:ext cx="1012933"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拟音方法介绍"/>
          <p:cNvSpPr txBox="1">
            <a:spLocks noGrp="1"/>
          </p:cNvSpPr>
          <p:nvPr>
            <p:ph type="title"/>
          </p:nvPr>
        </p:nvSpPr>
        <p:spPr>
          <a:xfrm>
            <a:off x="925439" y="2128100"/>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拟音方法介绍</a:t>
            </a:r>
          </a:p>
        </p:txBody>
      </p:sp>
      <p:sp>
        <p:nvSpPr>
          <p:cNvPr id="242" name="骨折/怪兽咬嚼和破坏东西/冻莴笋：贴着话筒猛嚼芹菜/掰断芹菜…"/>
          <p:cNvSpPr txBox="1">
            <a:spLocks noGrp="1"/>
          </p:cNvSpPr>
          <p:nvPr>
            <p:ph type="body" idx="1"/>
          </p:nvPr>
        </p:nvSpPr>
        <p:spPr>
          <a:xfrm>
            <a:off x="3610610" y="833755"/>
            <a:ext cx="8213725" cy="6486525"/>
          </a:xfrm>
          <a:prstGeom prst="rect">
            <a:avLst/>
          </a:prstGeom>
        </p:spPr>
        <p:txBody>
          <a:bodyPr/>
          <a:lstStyle/>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骨折</a:t>
            </a:r>
            <a:r>
              <a:rPr>
                <a:latin typeface="+mn-lt"/>
                <a:ea typeface="+mn-ea"/>
                <a:cs typeface="+mn-cs"/>
                <a:sym typeface="Calibri" panose="020F0502020204030204"/>
              </a:rPr>
              <a:t>/</a:t>
            </a:r>
            <a:r>
              <a:t>怪兽咬嚼和破坏东西</a:t>
            </a:r>
            <a:r>
              <a:rPr>
                <a:latin typeface="+mn-lt"/>
                <a:ea typeface="+mn-ea"/>
                <a:cs typeface="+mn-cs"/>
                <a:sym typeface="Calibri" panose="020F0502020204030204"/>
              </a:rPr>
              <a:t>/</a:t>
            </a:r>
            <a:r>
              <a:t>冻莴笋：贴着话筒猛嚼芹菜</a:t>
            </a:r>
            <a:r>
              <a:rPr>
                <a:latin typeface="+mn-lt"/>
                <a:ea typeface="+mn-ea"/>
                <a:cs typeface="+mn-cs"/>
                <a:sym typeface="Calibri" panose="020F0502020204030204"/>
              </a:rPr>
              <a:t>/</a:t>
            </a:r>
            <a:r>
              <a:t>掰断芹菜</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胃被击中：打枕头</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烟花点燃：在锅里煎肥肉</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渔夫在疾风中撒网：用长长的塑料布包住沾过水的绳子在空中挥舞</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渔夫的防护衣稀里哗啦的声音：挤捏并拉扯一张薄薄的塑料布</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在木制的船头拖绳子：用自行车链条绕着桌子拖动来模拟。</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火焰燃烧：用树叶的沙沙模拟（图）</a:t>
            </a:r>
            <a:r>
              <a:rPr>
                <a:latin typeface="+mn-lt"/>
                <a:ea typeface="+mn-ea"/>
                <a:cs typeface="+mn-cs"/>
                <a:sym typeface="Calibri" panose="020F0502020204030204"/>
              </a:rPr>
              <a:t> </a:t>
            </a:r>
            <a:endParaRPr>
              <a:latin typeface="+mn-lt"/>
              <a:ea typeface="+mn-ea"/>
              <a:cs typeface="+mn-cs"/>
              <a:sym typeface="Calibri" panose="020F0502020204030204"/>
            </a:endParaRP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开激光枪（星战激光炮）：铁锤打在天线塔上电线的声音。</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同一个物体（或同一个动作）的人造音效是几个不同的声音，各自需被修改成不同的声音，增加这个音效的多样性。（如果在看星战，无论片中的光剑怎么挥舞，听到只是一种声音的不断重复，很不爽）</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踩雪嚓嚓声：玉米浆装在皮革袋子中。</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鸟拍翅膀：手套</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物体飞速移动（呼呼声）：小木棍做成的剑。</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吱嘎吱嘎：破椅子。</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敲击人头</a:t>
            </a:r>
            <a:r>
              <a:rPr>
                <a:latin typeface="+mn-lt"/>
                <a:ea typeface="+mn-ea"/>
                <a:cs typeface="+mn-cs"/>
                <a:sym typeface="Calibri" panose="020F0502020204030204"/>
              </a:rPr>
              <a:t>/</a:t>
            </a:r>
            <a:r>
              <a:t>破裂：瓜</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尖锐的金属声：钉耙刮蹭金属表面。</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搓湿的气球可以做一些搞怪音效。</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马蹄声：在切成对半的椰子壳中填充不同的材料敲击，是声音不会单薄和空洞。</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火焰的噼啪声：玻璃纸</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与木船有关的音效：木门放在大木板上。</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打架声</a:t>
            </a:r>
            <a:r>
              <a:rPr>
                <a:latin typeface="+mn-lt"/>
                <a:ea typeface="+mn-ea"/>
                <a:cs typeface="+mn-cs"/>
                <a:sym typeface="Calibri" panose="020F0502020204030204"/>
              </a:rPr>
              <a:t>/</a:t>
            </a:r>
            <a:r>
              <a:t>身体碰撞音效：将很重的大书卷起用胶带粘好。</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人    声（语言）"/>
          <p:cNvSpPr txBox="1">
            <a:spLocks noGrp="1"/>
          </p:cNvSpPr>
          <p:nvPr>
            <p:ph type="title"/>
          </p:nvPr>
        </p:nvSpPr>
        <p:spPr>
          <a:xfrm>
            <a:off x="1250112" y="2202207"/>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人    声（语言）</a:t>
            </a:r>
          </a:p>
        </p:txBody>
      </p:sp>
      <p:sp>
        <p:nvSpPr>
          <p:cNvPr id="245" name="角色语言：演剧类作品中的有声语言定义为角色语言。…"/>
          <p:cNvSpPr txBox="1">
            <a:spLocks noGrp="1"/>
          </p:cNvSpPr>
          <p:nvPr>
            <p:ph type="body" sz="half" idx="1"/>
          </p:nvPr>
        </p:nvSpPr>
        <p:spPr>
          <a:xfrm>
            <a:off x="4847906" y="1395095"/>
            <a:ext cx="6172206" cy="4873625"/>
          </a:xfrm>
          <a:prstGeom prst="rect">
            <a:avLst/>
          </a:prstGeom>
        </p:spPr>
        <p:txBody>
          <a:bodyPr/>
          <a:lstStyle/>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角色语言：演剧类作品中的有声语言定义为角色语言。</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构成：对白和画外音（独白、旁白、</a:t>
            </a:r>
            <a:r>
              <a:rPr u="sng"/>
              <a:t>群杂</a:t>
            </a:r>
            <a:r>
              <a:t>）</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作用：</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配合影像交待说明，推动叙事</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表现人物的心境和情感</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塑造人物的性格</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直接表达创作者的观点和作品的主题</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语言的意义存在于语境、副言语、超语意特征中。</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副言语"/>
          <p:cNvSpPr txBox="1">
            <a:spLocks noGrp="1"/>
          </p:cNvSpPr>
          <p:nvPr>
            <p:ph type="title"/>
          </p:nvPr>
        </p:nvSpPr>
        <p:spPr>
          <a:xfrm>
            <a:off x="1711448" y="1997135"/>
            <a:ext cx="3932242" cy="1600202"/>
          </a:xfrm>
          <a:prstGeom prst="rect">
            <a:avLst/>
          </a:prstGeom>
        </p:spPr>
        <p:txBody>
          <a:bodyPr/>
          <a:lstStyle>
            <a:lvl1pPr>
              <a:defRPr sz="54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副言语</a:t>
            </a:r>
          </a:p>
        </p:txBody>
      </p:sp>
      <p:sp>
        <p:nvSpPr>
          <p:cNvPr id="248" name="副言语：是角色在说话时表现出来的语音特点，有声语言最大的特点集中体现在副言语上。…"/>
          <p:cNvSpPr txBox="1">
            <a:spLocks noGrp="1"/>
          </p:cNvSpPr>
          <p:nvPr>
            <p:ph type="body" idx="1"/>
          </p:nvPr>
        </p:nvSpPr>
        <p:spPr>
          <a:xfrm>
            <a:off x="4921687" y="992186"/>
            <a:ext cx="6382461" cy="5339252"/>
          </a:xfrm>
          <a:prstGeom prst="rect">
            <a:avLst/>
          </a:prstGeom>
        </p:spPr>
        <p:txBody>
          <a:bodyPr/>
          <a:lstStyle/>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副言语：是角色在说话时表现出来的语音特点，有声语言最大的特点集中体现在副言语上。</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说话时的语气、音色（音质</a:t>
            </a:r>
            <a:r>
              <a:rPr>
                <a:latin typeface="+mn-lt"/>
                <a:ea typeface="+mn-ea"/>
                <a:cs typeface="+mn-cs"/>
                <a:sym typeface="Calibri" panose="020F0502020204030204"/>
              </a:rPr>
              <a:t>/</a:t>
            </a:r>
            <a:r>
              <a:t>语调）、力度（音量）、速度、节奏。</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说话时的独特方式（口音和发音习惯） </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面部表情和肢体语言。</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由此体现出角色的社会文化内涵（经历、职业、文化背景）。</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 name="pi.jpg" descr="pi.jpg"/>
          <p:cNvPicPr>
            <a:picLocks noChangeAspect="1"/>
          </p:cNvPicPr>
          <p:nvPr/>
        </p:nvPicPr>
        <p:blipFill>
          <a:blip r:embed="rId1"/>
          <a:stretch>
            <a:fillRect/>
          </a:stretch>
        </p:blipFill>
        <p:spPr>
          <a:xfrm>
            <a:off x="1942420" y="2233131"/>
            <a:ext cx="3535365" cy="4516439"/>
          </a:xfrm>
          <a:prstGeom prst="rect">
            <a:avLst/>
          </a:prstGeom>
          <a:ln w="12700">
            <a:miter lim="400000"/>
            <a:headEnd/>
            <a:tailEnd/>
          </a:ln>
        </p:spPr>
      </p:pic>
      <p:pic>
        <p:nvPicPr>
          <p:cNvPr id="251" name="py.jpg" descr="py.jpg"/>
          <p:cNvPicPr>
            <a:picLocks noChangeAspect="1"/>
          </p:cNvPicPr>
          <p:nvPr/>
        </p:nvPicPr>
        <p:blipFill>
          <a:blip r:embed="rId2"/>
          <a:stretch>
            <a:fillRect/>
          </a:stretch>
        </p:blipFill>
        <p:spPr>
          <a:xfrm>
            <a:off x="6090756" y="174384"/>
            <a:ext cx="4090989" cy="2566990"/>
          </a:xfrm>
          <a:prstGeom prst="rect">
            <a:avLst/>
          </a:prstGeom>
          <a:ln w="12700">
            <a:miter lim="400000"/>
            <a:headEnd/>
            <a:tailEnd/>
          </a:ln>
        </p:spPr>
      </p:pic>
      <p:pic>
        <p:nvPicPr>
          <p:cNvPr id="252" name="image.png" descr="image.png"/>
          <p:cNvPicPr>
            <a:picLocks noChangeAspect="1"/>
          </p:cNvPicPr>
          <p:nvPr/>
        </p:nvPicPr>
        <p:blipFill>
          <a:blip r:embed="rId3"/>
          <a:stretch>
            <a:fillRect/>
          </a:stretch>
        </p:blipFill>
        <p:spPr>
          <a:xfrm>
            <a:off x="5053012" y="4248150"/>
            <a:ext cx="4389438" cy="1616075"/>
          </a:xfrm>
          <a:prstGeom prst="rect">
            <a:avLst/>
          </a:prstGeom>
          <a:ln w="12700">
            <a:miter lim="400000"/>
            <a:headEnd/>
            <a:tailEnd/>
          </a:ln>
        </p:spPr>
      </p:pic>
      <p:pic>
        <p:nvPicPr>
          <p:cNvPr id="253" name="image.png" descr="image.png"/>
          <p:cNvPicPr>
            <a:picLocks noChangeAspect="1"/>
          </p:cNvPicPr>
          <p:nvPr/>
        </p:nvPicPr>
        <p:blipFill>
          <a:blip r:embed="rId4"/>
          <a:stretch>
            <a:fillRect/>
          </a:stretch>
        </p:blipFill>
        <p:spPr>
          <a:xfrm>
            <a:off x="2336267" y="536575"/>
            <a:ext cx="4029077" cy="1298575"/>
          </a:xfrm>
          <a:prstGeom prst="rect">
            <a:avLst/>
          </a:prstGeom>
          <a:ln w="12700">
            <a:miter lim="400000"/>
            <a:headEnd/>
            <a:tailEnd/>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录音方式"/>
          <p:cNvSpPr txBox="1">
            <a:spLocks noGrp="1"/>
          </p:cNvSpPr>
          <p:nvPr>
            <p:ph type="title"/>
          </p:nvPr>
        </p:nvSpPr>
        <p:spPr>
          <a:xfrm>
            <a:off x="1871253" y="1706580"/>
            <a:ext cx="3932242" cy="1600202"/>
          </a:xfrm>
          <a:prstGeom prst="rect">
            <a:avLst/>
          </a:prstGeom>
        </p:spPr>
        <p:txBody>
          <a:bodyPr/>
          <a:lstStyle>
            <a:lvl1pPr>
              <a:defRPr sz="42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录音方式</a:t>
            </a:r>
          </a:p>
        </p:txBody>
      </p:sp>
      <p:sp>
        <p:nvSpPr>
          <p:cNvPr id="256" name="根据拍摄类型选择录音方式…"/>
          <p:cNvSpPr txBox="1">
            <a:spLocks noGrp="1"/>
          </p:cNvSpPr>
          <p:nvPr>
            <p:ph type="body" sz="half" idx="1"/>
          </p:nvPr>
        </p:nvSpPr>
        <p:spPr>
          <a:xfrm>
            <a:off x="5183186" y="987425"/>
            <a:ext cx="6172206" cy="4873625"/>
          </a:xfrm>
          <a:prstGeom prst="rect">
            <a:avLst/>
          </a:prstGeom>
        </p:spPr>
        <p:txBody>
          <a:bodyPr/>
          <a:lstStyle/>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根据拍摄类型选择录音方式</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前期录音：动画片、歌舞片、</a:t>
            </a:r>
            <a:r>
              <a:rPr>
                <a:latin typeface="+mn-lt"/>
                <a:ea typeface="+mn-ea"/>
                <a:cs typeface="+mn-cs"/>
                <a:sym typeface="Calibri" panose="020F0502020204030204"/>
              </a:rPr>
              <a:t>MTV</a:t>
            </a:r>
            <a:r>
              <a:t>。</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同期录音：纪录片、直播节目、故事片等。</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后期配音：宏大场面的战争片、科幻片、武侠片等。</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现场配音：后期配音都在原拍摄场的实景中进行录制，以获得真实的空间环境感。</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混合录音方式</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自动对白替换（ADR）"/>
          <p:cNvSpPr txBox="1">
            <a:spLocks noGrp="1"/>
          </p:cNvSpPr>
          <p:nvPr>
            <p:ph type="title"/>
          </p:nvPr>
        </p:nvSpPr>
        <p:spPr>
          <a:xfrm>
            <a:off x="1290144" y="2628899"/>
            <a:ext cx="3932242" cy="1600203"/>
          </a:xfrm>
          <a:prstGeom prst="rect">
            <a:avLst/>
          </a:prstGeom>
        </p:spPr>
        <p:txBody>
          <a:bodyPr/>
          <a:lstStyle/>
          <a:p>
            <a:pPr>
              <a:defRPr>
                <a:latin typeface="华文楷体" panose="02010600040101010101" charset="-122"/>
                <a:ea typeface="华文楷体" panose="02010600040101010101" charset="-122"/>
                <a:cs typeface="华文楷体" panose="02010600040101010101" charset="-122"/>
                <a:sym typeface="华文楷体" panose="02010600040101010101" charset="-122"/>
              </a:defRPr>
            </a:pPr>
            <a:r>
              <a:t>自动对白替换（</a:t>
            </a:r>
            <a:r>
              <a:rPr>
                <a:latin typeface="Calibri Light" panose="020F0302020204030204"/>
                <a:ea typeface="Calibri Light" panose="020F0302020204030204"/>
                <a:cs typeface="Calibri Light" panose="020F0302020204030204"/>
                <a:sym typeface="Calibri Light" panose="020F0302020204030204"/>
              </a:rPr>
              <a:t>ADR</a:t>
            </a:r>
            <a:r>
              <a:t>）</a:t>
            </a:r>
          </a:p>
        </p:txBody>
      </p:sp>
      <p:sp>
        <p:nvSpPr>
          <p:cNvPr id="259" name="Automated Dialogue Replacement…"/>
          <p:cNvSpPr txBox="1">
            <a:spLocks noGrp="1"/>
          </p:cNvSpPr>
          <p:nvPr>
            <p:ph type="body" sz="half" idx="1"/>
          </p:nvPr>
        </p:nvSpPr>
        <p:spPr>
          <a:xfrm>
            <a:off x="5183186" y="1132700"/>
            <a:ext cx="6172206" cy="4873628"/>
          </a:xfrm>
          <a:prstGeom prst="rect">
            <a:avLst/>
          </a:prstGeom>
        </p:spPr>
        <p:txBody>
          <a:bodyPr/>
          <a:lstStyle/>
          <a:p>
            <a:pPr marL="273050" indent="-273050">
              <a:buChar char="○"/>
              <a:defRPr sz="2200"/>
            </a:pPr>
            <a:r>
              <a:t>Automated Dialogue Replacement</a:t>
            </a:r>
          </a:p>
          <a:p>
            <a:pPr marL="273050" indent="-273050">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外景拍摄现场的同期录音其作用常常是为了后期配音时制作</a:t>
            </a:r>
            <a:r>
              <a:rPr>
                <a:latin typeface="+mn-lt"/>
                <a:ea typeface="+mn-ea"/>
                <a:cs typeface="+mn-cs"/>
                <a:sym typeface="Calibri" panose="020F0502020204030204"/>
              </a:rPr>
              <a:t>“</a:t>
            </a:r>
            <a:r>
              <a:t>自动对白替换</a:t>
            </a:r>
            <a:r>
              <a:rPr>
                <a:latin typeface="+mn-lt"/>
                <a:ea typeface="+mn-ea"/>
                <a:cs typeface="+mn-cs"/>
                <a:sym typeface="Calibri" panose="020F0502020204030204"/>
              </a:rPr>
              <a:t>”</a:t>
            </a:r>
            <a:r>
              <a:t>提供参考，以提高影片的对比质量。</a:t>
            </a:r>
          </a:p>
        </p:txBody>
      </p:sp>
      <p:pic>
        <p:nvPicPr>
          <p:cNvPr id="260" name="E:\电影笔记\金刚\声音的艺术_插图\图7_ADR二次录音.jpg" descr="E:\电影笔记\金刚\声音的艺术_插图\图7_ADR二次录音.jpg"/>
          <p:cNvPicPr>
            <a:picLocks noChangeAspect="1"/>
          </p:cNvPicPr>
          <p:nvPr/>
        </p:nvPicPr>
        <p:blipFill>
          <a:blip r:embed="rId1"/>
          <a:stretch>
            <a:fillRect/>
          </a:stretch>
        </p:blipFill>
        <p:spPr>
          <a:xfrm>
            <a:off x="5271122" y="3071864"/>
            <a:ext cx="5254627" cy="3054352"/>
          </a:xfrm>
          <a:prstGeom prst="rect">
            <a:avLst/>
          </a:prstGeom>
          <a:ln w="12700">
            <a:miter lim="400000"/>
            <a:headEnd/>
            <a:tailEnd/>
          </a:ln>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角色语言的艺术加工和创新"/>
          <p:cNvSpPr txBox="1">
            <a:spLocks noGrp="1"/>
          </p:cNvSpPr>
          <p:nvPr>
            <p:ph type="title"/>
          </p:nvPr>
        </p:nvSpPr>
        <p:spPr>
          <a:xfrm>
            <a:off x="1638809" y="442672"/>
            <a:ext cx="3029653" cy="3226849"/>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角色语言的艺术加工和创新</a:t>
            </a:r>
          </a:p>
        </p:txBody>
      </p:sp>
      <p:sp>
        <p:nvSpPr>
          <p:cNvPr id="263" name="《海底总动员》的大鲨鱼，《卑鄙的我》中的minis ，经过多种变调和变速处理。…"/>
          <p:cNvSpPr txBox="1">
            <a:spLocks noGrp="1"/>
          </p:cNvSpPr>
          <p:nvPr>
            <p:ph type="body" sz="half" idx="1"/>
          </p:nvPr>
        </p:nvSpPr>
        <p:spPr>
          <a:xfrm>
            <a:off x="5415629" y="1239157"/>
            <a:ext cx="5214342" cy="4873628"/>
          </a:xfrm>
          <a:prstGeom prst="rect">
            <a:avLst/>
          </a:prstGeom>
        </p:spPr>
        <p:txBody>
          <a:bodyPr/>
          <a:lstStyle/>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《海底总动员》的大鲨鱼，《卑鄙的我》中的</a:t>
            </a:r>
            <a:r>
              <a:rPr>
                <a:latin typeface="+mn-lt"/>
                <a:ea typeface="+mn-ea"/>
                <a:cs typeface="+mn-cs"/>
                <a:sym typeface="Calibri" panose="020F0502020204030204"/>
              </a:rPr>
              <a:t>minis </a:t>
            </a:r>
            <a:r>
              <a:t>，经过多种变调和变速处理。</a:t>
            </a: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《星球大战》的</a:t>
            </a:r>
            <a:r>
              <a:rPr>
                <a:latin typeface="+mn-lt"/>
                <a:ea typeface="+mn-ea"/>
                <a:cs typeface="+mn-cs"/>
                <a:sym typeface="Calibri" panose="020F0502020204030204"/>
              </a:rPr>
              <a:t>Geonosis</a:t>
            </a:r>
            <a:r>
              <a:t>星球人：菲利普岛的企鹅和狐蝠的混合声，澳洲野狗的声音，糖厂的机械声。</a:t>
            </a: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《阿凡达》的纳威语：影片中纳威人的语言体系拥有非常规范的语法规则和语言结构。其中包含有</a:t>
            </a:r>
            <a:r>
              <a:rPr>
                <a:latin typeface="+mn-lt"/>
                <a:ea typeface="+mn-ea"/>
                <a:cs typeface="+mn-cs"/>
                <a:sym typeface="Calibri" panose="020F0502020204030204"/>
              </a:rPr>
              <a:t>30</a:t>
            </a:r>
            <a:r>
              <a:t>个左右的纳威语词根。结合了印第安语，非洲，中亚以及高加索等地区的语言创造出纳威语。</a:t>
            </a: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41605" indent="-141605" defTabSz="567055">
              <a:spcBef>
                <a:spcPts val="600"/>
              </a:spcBef>
              <a:buChar char="○"/>
              <a:defRPr sz="1900"/>
            </a:pPr>
            <a:r>
              <a:t>……</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音   乐"/>
          <p:cNvSpPr txBox="1">
            <a:spLocks noGrp="1"/>
          </p:cNvSpPr>
          <p:nvPr>
            <p:ph type="title"/>
          </p:nvPr>
        </p:nvSpPr>
        <p:spPr>
          <a:xfrm>
            <a:off x="4689626" y="239283"/>
            <a:ext cx="3932242" cy="1600203"/>
          </a:xfrm>
          <a:prstGeom prst="rect">
            <a:avLst/>
          </a:prstGeom>
        </p:spPr>
        <p:txBody>
          <a:bodyPr/>
          <a:lstStyle>
            <a:lvl1pPr>
              <a:defRPr sz="53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   乐</a:t>
            </a:r>
          </a:p>
        </p:txBody>
      </p:sp>
      <p:pic>
        <p:nvPicPr>
          <p:cNvPr id="266" name="image.png" descr="image.png"/>
          <p:cNvPicPr>
            <a:picLocks noChangeAspect="1"/>
          </p:cNvPicPr>
          <p:nvPr/>
        </p:nvPicPr>
        <p:blipFill>
          <a:blip r:embed="rId1"/>
          <a:stretch>
            <a:fillRect/>
          </a:stretch>
        </p:blipFill>
        <p:spPr>
          <a:xfrm>
            <a:off x="1143835" y="1031060"/>
            <a:ext cx="9210087" cy="5876093"/>
          </a:xfrm>
          <a:prstGeom prst="rect">
            <a:avLst/>
          </a:prstGeom>
          <a:ln w="12700">
            <a:miter lim="400000"/>
            <a:headEnd/>
            <a:tailEnd/>
          </a:ln>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音画关系"/>
          <p:cNvSpPr txBox="1">
            <a:spLocks noGrp="1"/>
          </p:cNvSpPr>
          <p:nvPr>
            <p:ph type="title"/>
          </p:nvPr>
        </p:nvSpPr>
        <p:spPr>
          <a:xfrm>
            <a:off x="712465" y="2144725"/>
            <a:ext cx="3932241" cy="1600202"/>
          </a:xfrm>
          <a:prstGeom prst="rect">
            <a:avLst/>
          </a:prstGeom>
        </p:spPr>
        <p:txBody>
          <a:bodyPr/>
          <a:lstStyle>
            <a:lvl1pPr>
              <a:defRPr sz="52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dirty="0" err="1"/>
              <a:t>音画关系</a:t>
            </a:r>
            <a:endParaRPr dirty="0"/>
          </a:p>
        </p:txBody>
      </p:sp>
      <p:sp>
        <p:nvSpPr>
          <p:cNvPr id="269" name="音画同步：音乐和画面处于同一种运动节奏之中，或者是表现同一种形象和情绪色彩。…"/>
          <p:cNvSpPr txBox="1">
            <a:spLocks noGrp="1"/>
          </p:cNvSpPr>
          <p:nvPr>
            <p:ph type="body" idx="1"/>
          </p:nvPr>
        </p:nvSpPr>
        <p:spPr>
          <a:xfrm>
            <a:off x="3747541" y="539645"/>
            <a:ext cx="7781031" cy="6318355"/>
          </a:xfrm>
          <a:prstGeom prst="rect">
            <a:avLst/>
          </a:prstGeom>
        </p:spPr>
        <p:txBody>
          <a:bodyPr numCol="1">
            <a:normAutofit fontScale="85000" lnSpcReduction="10000"/>
          </a:bodyPr>
          <a:lstStyle/>
          <a:p>
            <a:pPr marL="259080" indent="-259080" defTabSz="868680">
              <a:lnSpc>
                <a:spcPct val="150000"/>
              </a:lnSpc>
              <a:spcBef>
                <a:spcPts val="900"/>
              </a:spcBef>
              <a:buChar cha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t>音画同步：音乐和画面处于同一种运动节奏之中，或者是表现同一种形象和情绪色彩</a:t>
            </a:r>
            <a:r>
              <a:rPr dirty="0"/>
              <a:t>。</a:t>
            </a:r>
            <a:endParaRPr b="1" dirty="0">
              <a:latin typeface="Century Schoolbook" panose="02040604050505020304"/>
              <a:ea typeface="Century Schoolbook" panose="02040604050505020304"/>
              <a:cs typeface="Century Schoolbook" panose="02040604050505020304"/>
              <a:sym typeface="Century Schoolbook" panose="02040604050505020304"/>
            </a:endParaRPr>
          </a:p>
          <a:p>
            <a:pPr marL="259080" indent="-259080" defTabSz="868680">
              <a:lnSpc>
                <a:spcPct val="150000"/>
              </a:lnSpc>
              <a:spcBef>
                <a:spcPts val="900"/>
              </a:spcBef>
              <a:defRPr sz="2000"/>
            </a:pPr>
            <a:r>
              <a:rPr dirty="0" err="1"/>
              <a:t>音乐只起着渲染、烘托气氛的作用，并不能给作品</a:t>
            </a:r>
            <a:r>
              <a:rPr dirty="0"/>
              <a:t>  </a:t>
            </a:r>
            <a:r>
              <a:rPr lang="zh-CN" altLang="en-US" dirty="0" smtClean="0"/>
              <a:t>，</a:t>
            </a:r>
            <a:r>
              <a:rPr dirty="0" smtClean="0"/>
              <a:t> </a:t>
            </a:r>
            <a:r>
              <a:rPr dirty="0" err="1" smtClean="0"/>
              <a:t>增加更多的叙事意义</a:t>
            </a:r>
            <a:r>
              <a:rPr dirty="0"/>
              <a:t>。</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defRPr sz="2000">
                <a:latin typeface="华文楷体" panose="02010600040101010101" charset="-122"/>
                <a:ea typeface="华文楷体" panose="02010600040101010101" charset="-122"/>
                <a:cs typeface="华文楷体" panose="02010600040101010101" charset="-122"/>
                <a:sym typeface="华文楷体" panose="02010600040101010101" charset="-122"/>
              </a:defRPr>
            </a:pP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buChar cha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t>音画并行：音乐与画面所表达的内容有各自相对的独立性，呈平行发展关系</a:t>
            </a:r>
            <a:r>
              <a:rPr dirty="0"/>
              <a:t>。</a:t>
            </a:r>
            <a:endParaRPr b="1" dirty="0">
              <a:latin typeface="Century Schoolbook" panose="02040604050505020304"/>
              <a:ea typeface="Century Schoolbook" panose="02040604050505020304"/>
              <a:cs typeface="Century Schoolbook" panose="02040604050505020304"/>
              <a:sym typeface="Century Schoolbook" panose="02040604050505020304"/>
            </a:endParaRPr>
          </a:p>
          <a:p>
            <a:pPr marL="259080" indent="-259080" defTabSz="868680">
              <a:lnSpc>
                <a:spcPct val="150000"/>
              </a:lnSpc>
              <a:spcBef>
                <a:spcPts val="900"/>
              </a:spcBef>
              <a:defRPr sz="2000"/>
            </a:pPr>
            <a:r>
              <a:rPr dirty="0" err="1"/>
              <a:t>音乐超越于具体的画面、人物行为、甚至具体情节，以音乐的方式表现作品的主旨、某种象征性含义、某种哲理性感悟等</a:t>
            </a:r>
            <a:r>
              <a:rPr dirty="0"/>
              <a:t>。</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defRPr sz="2000"/>
            </a:pPr>
            <a:r>
              <a:rPr dirty="0" err="1"/>
              <a:t>另一个意义上的并行也指专题片中的“中性”配乐，音乐是不折不扣的背景音乐，只具有形式美的功能</a:t>
            </a:r>
            <a:r>
              <a:rPr dirty="0"/>
              <a:t>。</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defRPr sz="2000">
                <a:latin typeface="华文楷体" panose="02010600040101010101" charset="-122"/>
                <a:ea typeface="华文楷体" panose="02010600040101010101" charset="-122"/>
                <a:cs typeface="华文楷体" panose="02010600040101010101" charset="-122"/>
                <a:sym typeface="华文楷体" panose="02010600040101010101" charset="-122"/>
              </a:defRPr>
            </a:pP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buChar cha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t>音画对位：音乐与画面在情绪情感上是一种对比、对抗的关系，以强烈的反差产生震撼人心的艺术效果</a:t>
            </a:r>
            <a:r>
              <a:rPr dirty="0"/>
              <a:t>。</a:t>
            </a:r>
            <a:endParaRPr b="1" dirty="0">
              <a:latin typeface="Century Schoolbook" panose="02040604050505020304"/>
              <a:ea typeface="Century Schoolbook" panose="02040604050505020304"/>
              <a:cs typeface="Century Schoolbook" panose="02040604050505020304"/>
              <a:sym typeface="Century Schoolbook" panose="02040604050505020304"/>
            </a:endParaRPr>
          </a:p>
          <a:p>
            <a:pPr marL="259080" indent="-259080" defTabSz="868680">
              <a:lnSpc>
                <a:spcPct val="150000"/>
              </a:lnSpc>
              <a:spcBef>
                <a:spcPts val="900"/>
              </a:spcBef>
              <a:defRPr sz="2000"/>
            </a:pPr>
            <a:r>
              <a:rPr dirty="0" err="1"/>
              <a:t>如哀与乐、严肃与滑稽、崇高与卑微、紧张与松弛、虚与实的对位等待</a:t>
            </a:r>
            <a:r>
              <a:rPr dirty="0"/>
              <a:t>。</a:t>
            </a:r>
            <a:endParaRPr dirty="0"/>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音画同步的应用"/>
          <p:cNvSpPr txBox="1">
            <a:spLocks noGrp="1"/>
          </p:cNvSpPr>
          <p:nvPr>
            <p:ph type="title"/>
          </p:nvPr>
        </p:nvSpPr>
        <p:spPr>
          <a:xfrm>
            <a:off x="897897" y="2273161"/>
            <a:ext cx="3932242" cy="1600202"/>
          </a:xfrm>
          <a:prstGeom prst="rect">
            <a:avLst/>
          </a:prstGeom>
        </p:spPr>
        <p:txBody>
          <a:bodyPr/>
          <a:lstStyle>
            <a:lvl1pPr>
              <a:defRPr sz="40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音画同步的应用</a:t>
            </a:r>
          </a:p>
        </p:txBody>
      </p:sp>
      <p:sp>
        <p:nvSpPr>
          <p:cNvPr id="272" name="以音乐为依据编辑画面…"/>
          <p:cNvSpPr txBox="1">
            <a:spLocks noGrp="1"/>
          </p:cNvSpPr>
          <p:nvPr>
            <p:ph type="body" sz="half" idx="1"/>
          </p:nvPr>
        </p:nvSpPr>
        <p:spPr>
          <a:xfrm>
            <a:off x="5502795" y="992186"/>
            <a:ext cx="6172206" cy="4873628"/>
          </a:xfrm>
          <a:prstGeom prst="rect">
            <a:avLst/>
          </a:prstGeom>
        </p:spPr>
        <p:txBody>
          <a:bodyPr/>
          <a:lstStyle/>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以音乐为依据编辑画面</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音乐与画面长短一致</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（粗）段落的一致</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（细）乐句起伏、乐句长短、节奏、情绪与画面蒙太奇结构完全一致。</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音画天衣无缝的巧妙协调，达到音画完美一致的满足与享受。</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85420" indent="-185420" defTabSz="740410">
              <a:spcBef>
                <a:spcPts val="800"/>
              </a:spcBef>
              <a:buChar char="◆"/>
              <a:defRPr sz="2500"/>
            </a:pPr>
            <a:r>
              <a:t>Logo</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、片头、广告、动画片、</a:t>
            </a:r>
            <a:r>
              <a:t>mtv</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对音画同步的要求最高。</a:t>
            </a:r>
            <a:endPar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声音的剪辑功能"/>
          <p:cNvSpPr txBox="1">
            <a:spLocks noGrp="1"/>
          </p:cNvSpPr>
          <p:nvPr>
            <p:ph type="title"/>
          </p:nvPr>
        </p:nvSpPr>
        <p:spPr>
          <a:xfrm>
            <a:off x="956008" y="2215051"/>
            <a:ext cx="3932242" cy="1600202"/>
          </a:xfrm>
          <a:prstGeom prst="rect">
            <a:avLst/>
          </a:prstGeom>
        </p:spPr>
        <p:txBody>
          <a:bodyPr/>
          <a:lstStyle>
            <a:lvl1pPr>
              <a:defRPr sz="39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声音的剪辑功能</a:t>
            </a:r>
          </a:p>
        </p:txBody>
      </p:sp>
      <p:sp>
        <p:nvSpPr>
          <p:cNvPr id="275" name="声音蒙太奇：声音的剪辑功能、组织画面功能。…"/>
          <p:cNvSpPr txBox="1">
            <a:spLocks noGrp="1"/>
          </p:cNvSpPr>
          <p:nvPr>
            <p:ph type="body" sz="half" idx="1"/>
          </p:nvPr>
        </p:nvSpPr>
        <p:spPr>
          <a:xfrm>
            <a:off x="4776411" y="906893"/>
            <a:ext cx="6339728" cy="5044214"/>
          </a:xfrm>
          <a:prstGeom prst="rect">
            <a:avLst/>
          </a:prstGeom>
        </p:spPr>
        <p:txBody>
          <a:bodyPr/>
          <a:lstStyle/>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声音蒙太奇：声音的剪辑功能、组织画面功能。</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声音作为剪辑的结构线索。</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声音作为剪辑点，在前一画面段落结束时的声音与后一段落开始时的声音一致或类似，以此作为画面时空转换的依据。</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声音为画面提供一个统一的</a:t>
            </a:r>
            <a:r>
              <a:rPr>
                <a:latin typeface="+mn-lt"/>
                <a:ea typeface="+mn-ea"/>
                <a:cs typeface="+mn-cs"/>
                <a:sym typeface="Calibri" panose="020F0502020204030204"/>
              </a:rPr>
              <a:t>“</a:t>
            </a:r>
            <a:r>
              <a:t>背景</a:t>
            </a:r>
            <a:r>
              <a:rPr>
                <a:latin typeface="+mn-lt"/>
                <a:ea typeface="+mn-ea"/>
                <a:cs typeface="+mn-cs"/>
                <a:sym typeface="Calibri" panose="020F0502020204030204"/>
              </a:rPr>
              <a:t>”</a:t>
            </a:r>
            <a:r>
              <a:t>，把时空跳跃的画面组接，获得时空转换的逻辑性。</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顺时空</a:t>
            </a:r>
            <a:r>
              <a:rPr>
                <a:latin typeface="+mn-lt"/>
                <a:ea typeface="+mn-ea"/>
                <a:cs typeface="+mn-cs"/>
                <a:sym typeface="Calibri" panose="020F0502020204030204"/>
              </a:rPr>
              <a:t>/</a:t>
            </a:r>
            <a:r>
              <a:t>逆时空</a:t>
            </a:r>
            <a:r>
              <a:rPr>
                <a:latin typeface="+mn-lt"/>
                <a:ea typeface="+mn-ea"/>
                <a:cs typeface="+mn-cs"/>
                <a:sym typeface="Calibri" panose="020F0502020204030204"/>
              </a:rPr>
              <a:t>/</a:t>
            </a:r>
            <a:r>
              <a:t>超时空</a:t>
            </a:r>
            <a:r>
              <a:rPr>
                <a:latin typeface="+mn-lt"/>
                <a:ea typeface="+mn-ea"/>
                <a:cs typeface="+mn-cs"/>
                <a:sym typeface="Calibri" panose="020F0502020204030204"/>
              </a:rPr>
              <a:t>/</a:t>
            </a:r>
            <a:r>
              <a:t>交叉时空</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声音与镜头的关系-同步"/>
          <p:cNvSpPr txBox="1">
            <a:spLocks noGrp="1"/>
          </p:cNvSpPr>
          <p:nvPr>
            <p:ph type="title"/>
          </p:nvPr>
        </p:nvSpPr>
        <p:spPr>
          <a:xfrm>
            <a:off x="2103696" y="602476"/>
            <a:ext cx="8334076" cy="1790595"/>
          </a:xfrm>
          <a:prstGeom prst="rect">
            <a:avLst/>
          </a:prstGeom>
        </p:spPr>
        <p:txBody>
          <a:bodyPr/>
          <a:lstStyle/>
          <a:p>
            <a:pPr>
              <a:defRPr sz="52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同步</a:t>
            </a:r>
          </a:p>
        </p:txBody>
      </p:sp>
      <p:grpSp>
        <p:nvGrpSpPr>
          <p:cNvPr id="299" name="成组"/>
          <p:cNvGrpSpPr/>
          <p:nvPr/>
        </p:nvGrpSpPr>
        <p:grpSpPr>
          <a:xfrm>
            <a:off x="2268366" y="2976205"/>
            <a:ext cx="6386834" cy="2090930"/>
            <a:chOff x="0" y="0"/>
            <a:chExt cx="6386833" cy="2090929"/>
          </a:xfrm>
        </p:grpSpPr>
        <p:grpSp>
          <p:nvGrpSpPr>
            <p:cNvPr id="285" name="成组"/>
            <p:cNvGrpSpPr/>
            <p:nvPr/>
          </p:nvGrpSpPr>
          <p:grpSpPr>
            <a:xfrm>
              <a:off x="1310002" y="652461"/>
              <a:ext cx="5073658" cy="215903"/>
              <a:chOff x="-1" y="-1"/>
              <a:chExt cx="5073656" cy="215902"/>
            </a:xfrm>
          </p:grpSpPr>
          <p:sp>
            <p:nvSpPr>
              <p:cNvPr id="278" name="线条"/>
              <p:cNvSpPr/>
              <p:nvPr/>
            </p:nvSpPr>
            <p:spPr>
              <a:xfrm>
                <a:off x="1587" y="214312"/>
                <a:ext cx="5070480" cy="1590"/>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79" name="线条"/>
              <p:cNvSpPr/>
              <p:nvPr/>
            </p:nvSpPr>
            <p:spPr>
              <a:xfrm flipH="1">
                <a:off x="-2" y="1588"/>
                <a:ext cx="1590" cy="21272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0" name="线条"/>
              <p:cNvSpPr/>
              <p:nvPr/>
            </p:nvSpPr>
            <p:spPr>
              <a:xfrm flipH="1">
                <a:off x="428626" y="-2"/>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1" name="线条"/>
              <p:cNvSpPr/>
              <p:nvPr/>
            </p:nvSpPr>
            <p:spPr>
              <a:xfrm flipH="1">
                <a:off x="1785939" y="-2"/>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2" name="线条"/>
              <p:cNvSpPr/>
              <p:nvPr/>
            </p:nvSpPr>
            <p:spPr>
              <a:xfrm flipH="1">
                <a:off x="2428877" y="-2"/>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3" name="线条"/>
              <p:cNvSpPr/>
              <p:nvPr/>
            </p:nvSpPr>
            <p:spPr>
              <a:xfrm flipH="1">
                <a:off x="3857628" y="-2"/>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4" name="线条"/>
              <p:cNvSpPr/>
              <p:nvPr/>
            </p:nvSpPr>
            <p:spPr>
              <a:xfrm flipH="1">
                <a:off x="5072066" y="-2"/>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grpSp>
        <p:grpSp>
          <p:nvGrpSpPr>
            <p:cNvPr id="293" name="成组"/>
            <p:cNvGrpSpPr/>
            <p:nvPr/>
          </p:nvGrpSpPr>
          <p:grpSpPr>
            <a:xfrm>
              <a:off x="1311589" y="1223961"/>
              <a:ext cx="5075245" cy="215904"/>
              <a:chOff x="0" y="0"/>
              <a:chExt cx="5075244" cy="215903"/>
            </a:xfrm>
          </p:grpSpPr>
          <p:sp>
            <p:nvSpPr>
              <p:cNvPr id="286" name="线条"/>
              <p:cNvSpPr/>
              <p:nvPr/>
            </p:nvSpPr>
            <p:spPr>
              <a:xfrm>
                <a:off x="1589" y="214313"/>
                <a:ext cx="5072066" cy="1590"/>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7" name="线条"/>
              <p:cNvSpPr/>
              <p:nvPr/>
            </p:nvSpPr>
            <p:spPr>
              <a:xfrm flipH="1">
                <a:off x="-1" y="1587"/>
                <a:ext cx="1591" cy="212729"/>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8" name="线条"/>
              <p:cNvSpPr/>
              <p:nvPr/>
            </p:nvSpPr>
            <p:spPr>
              <a:xfrm flipH="1">
                <a:off x="430214" y="-1"/>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9" name="线条"/>
              <p:cNvSpPr/>
              <p:nvPr/>
            </p:nvSpPr>
            <p:spPr>
              <a:xfrm flipH="1">
                <a:off x="1787527" y="-1"/>
                <a:ext cx="1590"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90" name="线条"/>
              <p:cNvSpPr/>
              <p:nvPr/>
            </p:nvSpPr>
            <p:spPr>
              <a:xfrm flipH="1">
                <a:off x="2430465" y="-1"/>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91" name="线条"/>
              <p:cNvSpPr/>
              <p:nvPr/>
            </p:nvSpPr>
            <p:spPr>
              <a:xfrm flipH="1">
                <a:off x="3859216" y="-1"/>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92" name="线条"/>
              <p:cNvSpPr/>
              <p:nvPr/>
            </p:nvSpPr>
            <p:spPr>
              <a:xfrm flipH="1">
                <a:off x="5073654" y="-1"/>
                <a:ext cx="1590"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grpSp>
        <p:sp>
          <p:nvSpPr>
            <p:cNvPr id="294" name="线条"/>
            <p:cNvSpPr/>
            <p:nvPr/>
          </p:nvSpPr>
          <p:spPr>
            <a:xfrm>
              <a:off x="740092" y="652462"/>
              <a:ext cx="260352" cy="78581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noFill/>
            <a:ln w="25400" cap="flat">
              <a:solidFill>
                <a:srgbClr val="B0CCB0"/>
              </a:solidFill>
              <a:prstDash val="solid"/>
              <a:round/>
            </a:ln>
            <a:effectLst>
              <a:outerShdw blurRad="50800" dist="12700" dir="5400000" rotWithShape="0">
                <a:srgbClr val="000000">
                  <a:alpha val="39999"/>
                </a:srgbClr>
              </a:outerShdw>
            </a:effectLst>
          </p:spPr>
          <p:txBody>
            <a:bodyPr wrap="square" lIns="45718" tIns="45718" rIns="45718" bIns="45718" numCol="1" anchor="ctr">
              <a:noAutofit/>
            </a:bodyP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295" name="画面"/>
            <p:cNvSpPr txBox="1"/>
            <p:nvPr/>
          </p:nvSpPr>
          <p:spPr>
            <a:xfrm>
              <a:off x="0" y="581024"/>
              <a:ext cx="55496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296" name="声音"/>
            <p:cNvSpPr txBox="1"/>
            <p:nvPr/>
          </p:nvSpPr>
          <p:spPr>
            <a:xfrm>
              <a:off x="0" y="1140383"/>
              <a:ext cx="55496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声音</a:t>
              </a:r>
            </a:p>
          </p:txBody>
        </p:sp>
        <p:pic>
          <p:nvPicPr>
            <p:cNvPr id="297" name="image.png" descr="image.png"/>
            <p:cNvPicPr>
              <a:picLocks noChangeAspect="1"/>
            </p:cNvPicPr>
            <p:nvPr/>
          </p:nvPicPr>
          <p:blipFill>
            <a:blip r:embed="rId1"/>
            <a:stretch>
              <a:fillRect/>
            </a:stretch>
          </p:blipFill>
          <p:spPr>
            <a:xfrm>
              <a:off x="3057714" y="-1"/>
              <a:ext cx="1341123" cy="609602"/>
            </a:xfrm>
            <a:prstGeom prst="rect">
              <a:avLst/>
            </a:prstGeom>
            <a:ln w="12700" cap="flat">
              <a:noFill/>
              <a:miter lim="400000"/>
              <a:headEnd/>
              <a:tailEnd/>
            </a:ln>
            <a:effectLst/>
          </p:spPr>
        </p:pic>
        <p:pic>
          <p:nvPicPr>
            <p:cNvPr id="298" name="image.png" descr="image.png"/>
            <p:cNvPicPr>
              <a:picLocks noChangeAspect="1"/>
            </p:cNvPicPr>
            <p:nvPr/>
          </p:nvPicPr>
          <p:blipFill>
            <a:blip r:embed="rId2"/>
            <a:stretch>
              <a:fillRect/>
            </a:stretch>
          </p:blipFill>
          <p:spPr>
            <a:xfrm>
              <a:off x="3088195" y="1517903"/>
              <a:ext cx="1164339" cy="573027"/>
            </a:xfrm>
            <a:prstGeom prst="rect">
              <a:avLst/>
            </a:prstGeom>
            <a:ln w="12700" cap="flat">
              <a:noFill/>
              <a:miter lim="400000"/>
              <a:headEnd/>
              <a:tailEnd/>
            </a:ln>
            <a:effectLst/>
          </p:spPr>
        </p:pic>
      </p:gr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声音与镜头的关系-非同步"/>
          <p:cNvSpPr txBox="1">
            <a:spLocks noGrp="1"/>
          </p:cNvSpPr>
          <p:nvPr>
            <p:ph type="title"/>
          </p:nvPr>
        </p:nvSpPr>
        <p:spPr>
          <a:xfrm>
            <a:off x="2394249" y="79478"/>
            <a:ext cx="8612508" cy="1715006"/>
          </a:xfrm>
          <a:prstGeom prst="rect">
            <a:avLst/>
          </a:prstGeom>
        </p:spPr>
        <p:txBody>
          <a:bodyPr/>
          <a:lstStyle/>
          <a:p>
            <a:pPr>
              <a:defRPr sz="46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非同步</a:t>
            </a:r>
          </a:p>
        </p:txBody>
      </p:sp>
      <p:grpSp>
        <p:nvGrpSpPr>
          <p:cNvPr id="319" name="成组"/>
          <p:cNvGrpSpPr/>
          <p:nvPr/>
        </p:nvGrpSpPr>
        <p:grpSpPr>
          <a:xfrm>
            <a:off x="2210255" y="2174670"/>
            <a:ext cx="8254112" cy="2891322"/>
            <a:chOff x="0" y="0"/>
            <a:chExt cx="8254111" cy="2891320"/>
          </a:xfrm>
        </p:grpSpPr>
        <p:sp>
          <p:nvSpPr>
            <p:cNvPr id="302" name="线条"/>
            <p:cNvSpPr/>
            <p:nvPr/>
          </p:nvSpPr>
          <p:spPr>
            <a:xfrm>
              <a:off x="1693003" y="1214728"/>
              <a:ext cx="6554953" cy="205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3" name="线条"/>
            <p:cNvSpPr/>
            <p:nvPr/>
          </p:nvSpPr>
          <p:spPr>
            <a:xfrm flipH="1">
              <a:off x="1693003" y="939809"/>
              <a:ext cx="2053" cy="27697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4" name="线条"/>
            <p:cNvSpPr/>
            <p:nvPr/>
          </p:nvSpPr>
          <p:spPr>
            <a:xfrm flipH="1">
              <a:off x="3172226" y="937758"/>
              <a:ext cx="2055"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5" name="线条"/>
            <p:cNvSpPr/>
            <p:nvPr/>
          </p:nvSpPr>
          <p:spPr>
            <a:xfrm flipH="1">
              <a:off x="5572631" y="937758"/>
              <a:ext cx="2054"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6" name="线条"/>
            <p:cNvSpPr/>
            <p:nvPr/>
          </p:nvSpPr>
          <p:spPr>
            <a:xfrm flipH="1">
              <a:off x="8247955" y="937758"/>
              <a:ext cx="2054"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7" name="线条"/>
            <p:cNvSpPr/>
            <p:nvPr/>
          </p:nvSpPr>
          <p:spPr>
            <a:xfrm>
              <a:off x="1697106" y="1953315"/>
              <a:ext cx="6554954" cy="205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8" name="线条"/>
            <p:cNvSpPr/>
            <p:nvPr/>
          </p:nvSpPr>
          <p:spPr>
            <a:xfrm flipH="1">
              <a:off x="1695054" y="1678396"/>
              <a:ext cx="2054" cy="27697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9" name="线条"/>
            <p:cNvSpPr/>
            <p:nvPr/>
          </p:nvSpPr>
          <p:spPr>
            <a:xfrm flipH="1">
              <a:off x="2710611" y="1676345"/>
              <a:ext cx="2053"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10" name="线条"/>
            <p:cNvSpPr/>
            <p:nvPr/>
          </p:nvSpPr>
          <p:spPr>
            <a:xfrm flipH="1">
              <a:off x="6034248" y="1676345"/>
              <a:ext cx="2053"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11" name="线条"/>
            <p:cNvSpPr/>
            <p:nvPr/>
          </p:nvSpPr>
          <p:spPr>
            <a:xfrm flipH="1">
              <a:off x="8252057" y="1676345"/>
              <a:ext cx="2055"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12" name="线条"/>
            <p:cNvSpPr/>
            <p:nvPr/>
          </p:nvSpPr>
          <p:spPr>
            <a:xfrm>
              <a:off x="956468" y="937758"/>
              <a:ext cx="336470" cy="101555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noFill/>
            <a:ln w="25400" cap="flat">
              <a:solidFill>
                <a:srgbClr val="B0CCB0"/>
              </a:solidFill>
              <a:prstDash val="solid"/>
              <a:round/>
            </a:ln>
            <a:effectLst>
              <a:outerShdw blurRad="50800" dist="12700" dir="5400000" rotWithShape="0">
                <a:srgbClr val="000000">
                  <a:alpha val="39999"/>
                </a:srgbClr>
              </a:outerShdw>
            </a:effectLst>
          </p:spPr>
          <p:txBody>
            <a:bodyPr wrap="square" lIns="45718" tIns="45718" rIns="45718" bIns="45718" numCol="1" anchor="ctr">
              <a:noAutofit/>
            </a:bodyP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313" name="画面"/>
            <p:cNvSpPr txBox="1"/>
            <p:nvPr/>
          </p:nvSpPr>
          <p:spPr>
            <a:xfrm>
              <a:off x="0" y="845435"/>
              <a:ext cx="725457"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14" name="声音"/>
            <p:cNvSpPr txBox="1"/>
            <p:nvPr/>
          </p:nvSpPr>
          <p:spPr>
            <a:xfrm>
              <a:off x="0" y="1568330"/>
              <a:ext cx="725457"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声音</a:t>
              </a:r>
            </a:p>
          </p:txBody>
        </p:sp>
        <p:pic>
          <p:nvPicPr>
            <p:cNvPr id="315" name="image.png" descr="image.png"/>
            <p:cNvPicPr>
              <a:picLocks noChangeAspect="1"/>
            </p:cNvPicPr>
            <p:nvPr/>
          </p:nvPicPr>
          <p:blipFill>
            <a:blip r:embed="rId1"/>
            <a:stretch>
              <a:fillRect/>
            </a:stretch>
          </p:blipFill>
          <p:spPr>
            <a:xfrm>
              <a:off x="5519453" y="0"/>
              <a:ext cx="1733217" cy="787826"/>
            </a:xfrm>
            <a:prstGeom prst="rect">
              <a:avLst/>
            </a:prstGeom>
            <a:ln w="12700" cap="flat">
              <a:noFill/>
              <a:miter lim="400000"/>
              <a:headEnd/>
              <a:tailEnd/>
            </a:ln>
            <a:effectLst/>
          </p:spPr>
        </p:pic>
        <p:pic>
          <p:nvPicPr>
            <p:cNvPr id="316" name="image.png" descr="image.png"/>
            <p:cNvPicPr>
              <a:picLocks noChangeAspect="1"/>
            </p:cNvPicPr>
            <p:nvPr/>
          </p:nvPicPr>
          <p:blipFill>
            <a:blip r:embed="rId2"/>
            <a:stretch>
              <a:fillRect/>
            </a:stretch>
          </p:blipFill>
          <p:spPr>
            <a:xfrm>
              <a:off x="2699039" y="2150764"/>
              <a:ext cx="1504749" cy="740557"/>
            </a:xfrm>
            <a:prstGeom prst="rect">
              <a:avLst/>
            </a:prstGeom>
            <a:ln w="12700" cap="flat">
              <a:noFill/>
              <a:miter lim="400000"/>
              <a:headEnd/>
              <a:tailEnd/>
            </a:ln>
            <a:effectLst/>
          </p:spPr>
        </p:pic>
        <p:pic>
          <p:nvPicPr>
            <p:cNvPr id="317" name="image.png" descr="image.png"/>
            <p:cNvPicPr>
              <a:picLocks noChangeAspect="1"/>
            </p:cNvPicPr>
            <p:nvPr/>
          </p:nvPicPr>
          <p:blipFill>
            <a:blip r:embed="rId3"/>
            <a:stretch>
              <a:fillRect/>
            </a:stretch>
          </p:blipFill>
          <p:spPr>
            <a:xfrm>
              <a:off x="5929122" y="2150764"/>
              <a:ext cx="1504748" cy="740557"/>
            </a:xfrm>
            <a:prstGeom prst="rect">
              <a:avLst/>
            </a:prstGeom>
            <a:ln w="12700" cap="flat">
              <a:noFill/>
              <a:miter lim="400000"/>
              <a:headEnd/>
              <a:tailEnd/>
            </a:ln>
            <a:effectLst/>
          </p:spPr>
        </p:pic>
        <p:pic>
          <p:nvPicPr>
            <p:cNvPr id="318" name="image.png" descr="image.png"/>
            <p:cNvPicPr>
              <a:picLocks noChangeAspect="1"/>
            </p:cNvPicPr>
            <p:nvPr/>
          </p:nvPicPr>
          <p:blipFill>
            <a:blip r:embed="rId4"/>
            <a:stretch>
              <a:fillRect/>
            </a:stretch>
          </p:blipFill>
          <p:spPr>
            <a:xfrm>
              <a:off x="3211125" y="0"/>
              <a:ext cx="1733218" cy="787826"/>
            </a:xfrm>
            <a:prstGeom prst="rect">
              <a:avLst/>
            </a:prstGeom>
            <a:ln w="12700" cap="flat">
              <a:noFill/>
              <a:miter lim="400000"/>
              <a:headEnd/>
              <a:tailEnd/>
            </a:ln>
            <a:effectLst/>
          </p:spPr>
        </p:pic>
      </p:grpSp>
      <p:sp>
        <p:nvSpPr>
          <p:cNvPr id="320" name="也可以是声音在画面后入，声音先于画面结束。"/>
          <p:cNvSpPr txBox="1"/>
          <p:nvPr/>
        </p:nvSpPr>
        <p:spPr>
          <a:xfrm>
            <a:off x="3376929" y="5446179"/>
            <a:ext cx="5438139" cy="447039"/>
          </a:xfrm>
          <a:prstGeom prst="rect">
            <a:avLst/>
          </a:prstGeom>
          <a:ln w="12700">
            <a:miter lim="400000"/>
          </a:ln>
        </p:spPr>
        <p:txBody>
          <a:bodyPr wrap="none" lIns="45718" tIns="45718" rIns="45718" bIns="45718">
            <a:spAutoFit/>
          </a:bodyPr>
          <a:lstStyle>
            <a:lvl1pP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也可以是声音在画面后入，声音先于画面结束。</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声音与镜头的关系-持续的声音对应于多个镜头"/>
          <p:cNvSpPr txBox="1">
            <a:spLocks noGrp="1"/>
          </p:cNvSpPr>
          <p:nvPr>
            <p:ph type="title"/>
          </p:nvPr>
        </p:nvSpPr>
        <p:spPr>
          <a:xfrm>
            <a:off x="1544346" y="-271511"/>
            <a:ext cx="10614188" cy="1600203"/>
          </a:xfrm>
          <a:prstGeom prst="rect">
            <a:avLst/>
          </a:prstGeom>
        </p:spPr>
        <p:txBody>
          <a:bodyPr/>
          <a:lstStyle/>
          <a:p>
            <a:pPr>
              <a:defRPr sz="37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持续的声音对应于多个镜头</a:t>
            </a:r>
          </a:p>
        </p:txBody>
      </p:sp>
      <p:sp>
        <p:nvSpPr>
          <p:cNvPr id="323" name="Shape 74"/>
          <p:cNvSpPr txBox="1">
            <a:spLocks noGrp="1"/>
          </p:cNvSpPr>
          <p:nvPr>
            <p:ph type="body" sz="quarter" idx="1"/>
          </p:nvPr>
        </p:nvSpPr>
        <p:spPr>
          <a:xfrm>
            <a:off x="1507130" y="3608387"/>
            <a:ext cx="3932250" cy="3811590"/>
          </a:xfrm>
          <a:prstGeom prst="rect">
            <a:avLst/>
          </a:prstGeom>
        </p:spPr>
        <p:txBody>
          <a:bodyPr/>
          <a:lstStyle/>
          <a:p>
            <a:pPr>
              <a:defRPr sz="2800"/>
            </a:pPr>
          </a:p>
        </p:txBody>
      </p:sp>
      <p:sp>
        <p:nvSpPr>
          <p:cNvPr id="324" name="线条"/>
          <p:cNvSpPr/>
          <p:nvPr/>
        </p:nvSpPr>
        <p:spPr>
          <a:xfrm>
            <a:off x="3808412" y="2285999"/>
            <a:ext cx="5072064" cy="1590"/>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5" name="线条"/>
          <p:cNvSpPr/>
          <p:nvPr/>
        </p:nvSpPr>
        <p:spPr>
          <a:xfrm flipH="1">
            <a:off x="3806824"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6" name="线条"/>
          <p:cNvSpPr/>
          <p:nvPr/>
        </p:nvSpPr>
        <p:spPr>
          <a:xfrm flipH="1">
            <a:off x="4524374"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7" name="线条"/>
          <p:cNvSpPr/>
          <p:nvPr/>
        </p:nvSpPr>
        <p:spPr>
          <a:xfrm flipH="1">
            <a:off x="5881687"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8" name="线条"/>
          <p:cNvSpPr/>
          <p:nvPr/>
        </p:nvSpPr>
        <p:spPr>
          <a:xfrm flipH="1">
            <a:off x="7238999" y="2071686"/>
            <a:ext cx="1590"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9" name="线条"/>
          <p:cNvSpPr/>
          <p:nvPr/>
        </p:nvSpPr>
        <p:spPr>
          <a:xfrm flipH="1">
            <a:off x="7666036"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0" name="线条"/>
          <p:cNvSpPr/>
          <p:nvPr/>
        </p:nvSpPr>
        <p:spPr>
          <a:xfrm flipH="1">
            <a:off x="8880474" y="2071686"/>
            <a:ext cx="1590"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1" name="线条"/>
          <p:cNvSpPr/>
          <p:nvPr/>
        </p:nvSpPr>
        <p:spPr>
          <a:xfrm>
            <a:off x="3809998" y="2857499"/>
            <a:ext cx="5073652" cy="1589"/>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2" name="线条"/>
          <p:cNvSpPr/>
          <p:nvPr/>
        </p:nvSpPr>
        <p:spPr>
          <a:xfrm flipH="1">
            <a:off x="3809999"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3" name="线条"/>
          <p:cNvSpPr/>
          <p:nvPr/>
        </p:nvSpPr>
        <p:spPr>
          <a:xfrm flipH="1">
            <a:off x="4238624"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4" name="线条"/>
          <p:cNvSpPr/>
          <p:nvPr/>
        </p:nvSpPr>
        <p:spPr>
          <a:xfrm flipH="1">
            <a:off x="5595937"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5" name="线条"/>
          <p:cNvSpPr/>
          <p:nvPr/>
        </p:nvSpPr>
        <p:spPr>
          <a:xfrm flipH="1">
            <a:off x="6240462"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6" name="线条"/>
          <p:cNvSpPr/>
          <p:nvPr/>
        </p:nvSpPr>
        <p:spPr>
          <a:xfrm flipH="1">
            <a:off x="7669211"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7" name="线条"/>
          <p:cNvSpPr/>
          <p:nvPr/>
        </p:nvSpPr>
        <p:spPr>
          <a:xfrm flipH="1">
            <a:off x="8883649" y="2643186"/>
            <a:ext cx="1590"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8" name="线条"/>
          <p:cNvSpPr/>
          <p:nvPr/>
        </p:nvSpPr>
        <p:spPr>
          <a:xfrm>
            <a:off x="3238500" y="2071686"/>
            <a:ext cx="260351" cy="78581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ln w="25400">
            <a:solidFill>
              <a:srgbClr val="B0CCB0"/>
            </a:solidFill>
          </a:ln>
          <a:effectLst>
            <a:outerShdw blurRad="50800" dist="12700" dir="5400000" rotWithShape="0">
              <a:srgbClr val="000000">
                <a:alpha val="39999"/>
              </a:srgbClr>
            </a:outerShdw>
          </a:effectLst>
        </p:spPr>
        <p:txBody>
          <a:bodyPr lIns="45718" tIns="45718" rIns="45718" bIns="45718" anchor="ct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339" name="画面"/>
          <p:cNvSpPr txBox="1"/>
          <p:nvPr/>
        </p:nvSpPr>
        <p:spPr>
          <a:xfrm>
            <a:off x="2498406" y="2000250"/>
            <a:ext cx="554675" cy="408939"/>
          </a:xfrm>
          <a:prstGeom prst="rect">
            <a:avLst/>
          </a:prstGeom>
          <a:ln w="12700">
            <a:miter lim="400000"/>
          </a:ln>
        </p:spPr>
        <p:txBody>
          <a:bodyPr lIns="45718" tIns="45718" rIns="45718" bIns="45718">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40" name="声音"/>
          <p:cNvSpPr txBox="1"/>
          <p:nvPr/>
        </p:nvSpPr>
        <p:spPr>
          <a:xfrm>
            <a:off x="2498406" y="2559050"/>
            <a:ext cx="554675" cy="408939"/>
          </a:xfrm>
          <a:prstGeom prst="rect">
            <a:avLst/>
          </a:prstGeom>
          <a:ln w="12700">
            <a:miter lim="400000"/>
          </a:ln>
        </p:spPr>
        <p:txBody>
          <a:bodyPr lIns="45718" tIns="45718" rIns="45718" bIns="45718">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声音</a:t>
            </a:r>
          </a:p>
        </p:txBody>
      </p:sp>
      <p:pic>
        <p:nvPicPr>
          <p:cNvPr id="341" name="image.png" descr="image.png"/>
          <p:cNvPicPr>
            <a:picLocks noChangeAspect="1"/>
          </p:cNvPicPr>
          <p:nvPr/>
        </p:nvPicPr>
        <p:blipFill>
          <a:blip r:embed="rId1"/>
          <a:stretch>
            <a:fillRect/>
          </a:stretch>
        </p:blipFill>
        <p:spPr>
          <a:xfrm>
            <a:off x="5913437" y="1414462"/>
            <a:ext cx="1341439" cy="500063"/>
          </a:xfrm>
          <a:prstGeom prst="rect">
            <a:avLst/>
          </a:prstGeom>
          <a:ln w="12700">
            <a:miter lim="400000"/>
            <a:headEnd/>
            <a:tailEnd/>
          </a:ln>
        </p:spPr>
      </p:pic>
      <p:pic>
        <p:nvPicPr>
          <p:cNvPr id="342" name="image.png" descr="image.png"/>
          <p:cNvPicPr>
            <a:picLocks noChangeAspect="1"/>
          </p:cNvPicPr>
          <p:nvPr/>
        </p:nvPicPr>
        <p:blipFill>
          <a:blip r:embed="rId2"/>
          <a:stretch>
            <a:fillRect/>
          </a:stretch>
        </p:blipFill>
        <p:spPr>
          <a:xfrm>
            <a:off x="5585617" y="3028997"/>
            <a:ext cx="1311277" cy="573089"/>
          </a:xfrm>
          <a:prstGeom prst="rect">
            <a:avLst/>
          </a:prstGeom>
          <a:ln w="12700">
            <a:miter lim="400000"/>
            <a:headEnd/>
            <a:tailEnd/>
          </a:ln>
        </p:spPr>
      </p:pic>
      <p:sp>
        <p:nvSpPr>
          <p:cNvPr id="343" name="线条"/>
          <p:cNvSpPr/>
          <p:nvPr/>
        </p:nvSpPr>
        <p:spPr>
          <a:xfrm flipH="1">
            <a:off x="8024811"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44" name="多层时空关系"/>
          <p:cNvSpPr txBox="1"/>
          <p:nvPr/>
        </p:nvSpPr>
        <p:spPr>
          <a:xfrm>
            <a:off x="2169073" y="3608388"/>
            <a:ext cx="1475739" cy="408939"/>
          </a:xfrm>
          <a:prstGeom prst="rect">
            <a:avLst/>
          </a:prstGeom>
          <a:ln w="12700">
            <a:miter lim="400000"/>
          </a:ln>
        </p:spPr>
        <p:txBody>
          <a:bodyPr wrap="none" lIns="45718" tIns="45718" rIns="45718" bIns="45718">
            <a:spAutoFit/>
          </a:bodyPr>
          <a:lstStyle>
            <a:lvl1pPr>
              <a:def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多层时空关系</a:t>
            </a:r>
          </a:p>
        </p:txBody>
      </p:sp>
      <p:grpSp>
        <p:nvGrpSpPr>
          <p:cNvPr id="375" name="成组"/>
          <p:cNvGrpSpPr/>
          <p:nvPr/>
        </p:nvGrpSpPr>
        <p:grpSpPr>
          <a:xfrm>
            <a:off x="2284095" y="4344987"/>
            <a:ext cx="6599557" cy="1695248"/>
            <a:chOff x="0" y="0"/>
            <a:chExt cx="6599556" cy="1695247"/>
          </a:xfrm>
        </p:grpSpPr>
        <p:sp>
          <p:nvSpPr>
            <p:cNvPr id="345" name="线条"/>
            <p:cNvSpPr/>
            <p:nvPr/>
          </p:nvSpPr>
          <p:spPr>
            <a:xfrm>
              <a:off x="1525904" y="298450"/>
              <a:ext cx="5072066"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6" name="线条"/>
            <p:cNvSpPr/>
            <p:nvPr/>
          </p:nvSpPr>
          <p:spPr>
            <a:xfrm flipH="1">
              <a:off x="1524316" y="84137"/>
              <a:ext cx="3177"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7" name="线条"/>
            <p:cNvSpPr/>
            <p:nvPr/>
          </p:nvSpPr>
          <p:spPr>
            <a:xfrm flipH="1">
              <a:off x="2241867" y="84137"/>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8" name="线条"/>
            <p:cNvSpPr/>
            <p:nvPr/>
          </p:nvSpPr>
          <p:spPr>
            <a:xfrm flipH="1">
              <a:off x="3599179" y="84137"/>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9" name="线条"/>
            <p:cNvSpPr/>
            <p:nvPr/>
          </p:nvSpPr>
          <p:spPr>
            <a:xfrm flipH="1">
              <a:off x="5240655" y="84137"/>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0" name="线条"/>
            <p:cNvSpPr/>
            <p:nvPr/>
          </p:nvSpPr>
          <p:spPr>
            <a:xfrm flipH="1">
              <a:off x="6597967" y="84137"/>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1" name="线条"/>
            <p:cNvSpPr/>
            <p:nvPr/>
          </p:nvSpPr>
          <p:spPr>
            <a:xfrm flipH="1">
              <a:off x="5742304" y="84137"/>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2" name="线条"/>
            <p:cNvSpPr/>
            <p:nvPr/>
          </p:nvSpPr>
          <p:spPr>
            <a:xfrm>
              <a:off x="1525904" y="1154112"/>
              <a:ext cx="5072066" cy="1590"/>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3" name="线条"/>
            <p:cNvSpPr/>
            <p:nvPr/>
          </p:nvSpPr>
          <p:spPr>
            <a:xfrm flipH="1">
              <a:off x="1524317" y="939801"/>
              <a:ext cx="3177" cy="21431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4" name="线条"/>
            <p:cNvSpPr/>
            <p:nvPr/>
          </p:nvSpPr>
          <p:spPr>
            <a:xfrm flipH="1">
              <a:off x="2883217"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5" name="线条"/>
            <p:cNvSpPr/>
            <p:nvPr/>
          </p:nvSpPr>
          <p:spPr>
            <a:xfrm flipH="1">
              <a:off x="3311842"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6" name="线条"/>
            <p:cNvSpPr/>
            <p:nvPr/>
          </p:nvSpPr>
          <p:spPr>
            <a:xfrm flipH="1">
              <a:off x="4454841"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7" name="线条"/>
            <p:cNvSpPr/>
            <p:nvPr/>
          </p:nvSpPr>
          <p:spPr>
            <a:xfrm flipH="1">
              <a:off x="6597968" y="939801"/>
              <a:ext cx="1589" cy="21431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8" name="线条"/>
            <p:cNvSpPr/>
            <p:nvPr/>
          </p:nvSpPr>
          <p:spPr>
            <a:xfrm flipH="1">
              <a:off x="5597842"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9" name="线条"/>
            <p:cNvSpPr/>
            <p:nvPr/>
          </p:nvSpPr>
          <p:spPr>
            <a:xfrm>
              <a:off x="1524317" y="725486"/>
              <a:ext cx="5072065" cy="1591"/>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0" name="线条"/>
            <p:cNvSpPr/>
            <p:nvPr/>
          </p:nvSpPr>
          <p:spPr>
            <a:xfrm flipH="1">
              <a:off x="1522729" y="51117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1" name="线条"/>
            <p:cNvSpPr/>
            <p:nvPr/>
          </p:nvSpPr>
          <p:spPr>
            <a:xfrm flipH="1">
              <a:off x="2240280" y="51117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2" name="线条"/>
            <p:cNvSpPr/>
            <p:nvPr/>
          </p:nvSpPr>
          <p:spPr>
            <a:xfrm flipH="1">
              <a:off x="3597593" y="51117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3" name="线条"/>
            <p:cNvSpPr/>
            <p:nvPr/>
          </p:nvSpPr>
          <p:spPr>
            <a:xfrm flipH="1">
              <a:off x="5239069" y="51117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4" name="线条"/>
            <p:cNvSpPr/>
            <p:nvPr/>
          </p:nvSpPr>
          <p:spPr>
            <a:xfrm flipH="1">
              <a:off x="6596380" y="51117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5" name="线条"/>
            <p:cNvSpPr/>
            <p:nvPr/>
          </p:nvSpPr>
          <p:spPr>
            <a:xfrm flipH="1">
              <a:off x="5740718" y="51117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6" name="线条"/>
            <p:cNvSpPr/>
            <p:nvPr/>
          </p:nvSpPr>
          <p:spPr>
            <a:xfrm>
              <a:off x="1525904" y="1584327"/>
              <a:ext cx="5072066"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7" name="线条"/>
            <p:cNvSpPr/>
            <p:nvPr/>
          </p:nvSpPr>
          <p:spPr>
            <a:xfrm flipH="1">
              <a:off x="1524316" y="1370014"/>
              <a:ext cx="3177"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8" name="线条"/>
            <p:cNvSpPr/>
            <p:nvPr/>
          </p:nvSpPr>
          <p:spPr>
            <a:xfrm flipH="1">
              <a:off x="3883342" y="137001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9" name="线条"/>
            <p:cNvSpPr/>
            <p:nvPr/>
          </p:nvSpPr>
          <p:spPr>
            <a:xfrm flipH="1">
              <a:off x="6597967" y="137001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70" name="线条"/>
            <p:cNvSpPr/>
            <p:nvPr/>
          </p:nvSpPr>
          <p:spPr>
            <a:xfrm flipH="1">
              <a:off x="5955030" y="137001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71" name="画面"/>
            <p:cNvSpPr txBox="1"/>
            <p:nvPr/>
          </p:nvSpPr>
          <p:spPr>
            <a:xfrm>
              <a:off x="214312" y="-1"/>
              <a:ext cx="55488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72" name="第一层声音"/>
            <p:cNvSpPr txBox="1"/>
            <p:nvPr/>
          </p:nvSpPr>
          <p:spPr>
            <a:xfrm>
              <a:off x="0" y="369453"/>
              <a:ext cx="140874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第一层声音</a:t>
              </a:r>
            </a:p>
          </p:txBody>
        </p:sp>
        <p:sp>
          <p:nvSpPr>
            <p:cNvPr id="373" name="第二层声音"/>
            <p:cNvSpPr txBox="1"/>
            <p:nvPr/>
          </p:nvSpPr>
          <p:spPr>
            <a:xfrm>
              <a:off x="0" y="798223"/>
              <a:ext cx="140874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第二层声音</a:t>
              </a:r>
            </a:p>
          </p:txBody>
        </p:sp>
        <p:sp>
          <p:nvSpPr>
            <p:cNvPr id="374" name="第n层声音"/>
            <p:cNvSpPr txBox="1"/>
            <p:nvPr/>
          </p:nvSpPr>
          <p:spPr>
            <a:xfrm>
              <a:off x="0" y="1286309"/>
              <a:ext cx="1408748" cy="408939"/>
            </a:xfrm>
            <a:prstGeom prst="rect">
              <a:avLst/>
            </a:prstGeom>
            <a:noFill/>
            <a:ln w="12700" cap="flat">
              <a:noFill/>
              <a:miter lim="400000"/>
            </a:ln>
            <a:effectLst/>
          </p:spPr>
          <p:txBody>
            <a:bodyPr wrap="square" lIns="45718" tIns="45718" rIns="45718" bIns="45718" numCol="1" anchor="t">
              <a:spAutoFit/>
            </a:bodyPr>
            <a:lstStyle/>
            <a:p>
              <a: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第</a:t>
              </a:r>
              <a:r>
                <a:rPr>
                  <a:latin typeface="Century Schoolbook" panose="02040604050505020304"/>
                  <a:ea typeface="Century Schoolbook" panose="02040604050505020304"/>
                  <a:cs typeface="Century Schoolbook" panose="02040604050505020304"/>
                  <a:sym typeface="Century Schoolbook" panose="02040604050505020304"/>
                </a:rPr>
                <a:t>n</a:t>
              </a:r>
              <a:r>
                <a:t>层声音</a:t>
              </a:r>
            </a:p>
          </p:txBody>
        </p:sp>
      </p:gr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声音与镜头的关系-声画无确定的对应关系"/>
          <p:cNvSpPr txBox="1">
            <a:spLocks noGrp="1"/>
          </p:cNvSpPr>
          <p:nvPr>
            <p:ph type="title"/>
          </p:nvPr>
        </p:nvSpPr>
        <p:spPr>
          <a:xfrm>
            <a:off x="1580698" y="471726"/>
            <a:ext cx="10096749" cy="1764888"/>
          </a:xfrm>
          <a:prstGeom prst="rect">
            <a:avLst/>
          </a:prstGeom>
        </p:spPr>
        <p:txBody>
          <a:bodyPr/>
          <a:lstStyle/>
          <a:p>
            <a:pPr>
              <a:defRPr sz="38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声画无确定的对应关系</a:t>
            </a:r>
          </a:p>
        </p:txBody>
      </p:sp>
      <p:grpSp>
        <p:nvGrpSpPr>
          <p:cNvPr id="395" name="成组"/>
          <p:cNvGrpSpPr/>
          <p:nvPr/>
        </p:nvGrpSpPr>
        <p:grpSpPr>
          <a:xfrm>
            <a:off x="2303425" y="3569493"/>
            <a:ext cx="7169472" cy="787404"/>
            <a:chOff x="0" y="-1"/>
            <a:chExt cx="7169469" cy="787403"/>
          </a:xfrm>
        </p:grpSpPr>
        <p:grpSp>
          <p:nvGrpSpPr>
            <p:cNvPr id="391" name="成组"/>
            <p:cNvGrpSpPr/>
            <p:nvPr/>
          </p:nvGrpSpPr>
          <p:grpSpPr>
            <a:xfrm>
              <a:off x="2089468" y="-2"/>
              <a:ext cx="5080002" cy="787405"/>
              <a:chOff x="0" y="-1"/>
              <a:chExt cx="5080001" cy="787403"/>
            </a:xfrm>
          </p:grpSpPr>
          <p:sp>
            <p:nvSpPr>
              <p:cNvPr id="378" name="线条"/>
              <p:cNvSpPr/>
              <p:nvPr/>
            </p:nvSpPr>
            <p:spPr>
              <a:xfrm>
                <a:off x="1586" y="214313"/>
                <a:ext cx="5072066"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79" name="线条"/>
              <p:cNvSpPr/>
              <p:nvPr/>
            </p:nvSpPr>
            <p:spPr>
              <a:xfrm flipH="1">
                <a:off x="-1" y="1586"/>
                <a:ext cx="1588"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0" name="线条"/>
              <p:cNvSpPr/>
              <p:nvPr/>
            </p:nvSpPr>
            <p:spPr>
              <a:xfrm flipH="1">
                <a:off x="790575"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1" name="线条"/>
              <p:cNvSpPr/>
              <p:nvPr/>
            </p:nvSpPr>
            <p:spPr>
              <a:xfrm flipH="1">
                <a:off x="2219324"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2" name="线条"/>
              <p:cNvSpPr/>
              <p:nvPr/>
            </p:nvSpPr>
            <p:spPr>
              <a:xfrm flipH="1">
                <a:off x="3648075"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3" name="线条"/>
              <p:cNvSpPr/>
              <p:nvPr/>
            </p:nvSpPr>
            <p:spPr>
              <a:xfrm flipH="1">
                <a:off x="4148137" y="-2"/>
                <a:ext cx="1590"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4" name="线条"/>
              <p:cNvSpPr/>
              <p:nvPr/>
            </p:nvSpPr>
            <p:spPr>
              <a:xfrm flipH="1">
                <a:off x="5073650"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5" name="线条"/>
              <p:cNvSpPr/>
              <p:nvPr/>
            </p:nvSpPr>
            <p:spPr>
              <a:xfrm>
                <a:off x="6349" y="785815"/>
                <a:ext cx="5072064"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6" name="线条"/>
              <p:cNvSpPr/>
              <p:nvPr/>
            </p:nvSpPr>
            <p:spPr>
              <a:xfrm flipH="1">
                <a:off x="4760" y="571500"/>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7" name="线条"/>
              <p:cNvSpPr/>
              <p:nvPr/>
            </p:nvSpPr>
            <p:spPr>
              <a:xfrm flipH="1">
                <a:off x="576261" y="571500"/>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8" name="线条"/>
              <p:cNvSpPr/>
              <p:nvPr/>
            </p:nvSpPr>
            <p:spPr>
              <a:xfrm flipH="1">
                <a:off x="2219324" y="571500"/>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9" name="线条"/>
              <p:cNvSpPr/>
              <p:nvPr/>
            </p:nvSpPr>
            <p:spPr>
              <a:xfrm flipH="1">
                <a:off x="3863975" y="571500"/>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90" name="线条"/>
              <p:cNvSpPr/>
              <p:nvPr/>
            </p:nvSpPr>
            <p:spPr>
              <a:xfrm flipH="1">
                <a:off x="5078412" y="571500"/>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grpSp>
        <p:sp>
          <p:nvSpPr>
            <p:cNvPr id="392" name="线条"/>
            <p:cNvSpPr/>
            <p:nvPr/>
          </p:nvSpPr>
          <p:spPr>
            <a:xfrm>
              <a:off x="1479868" y="-1"/>
              <a:ext cx="260352" cy="78581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noFill/>
            <a:ln w="25400" cap="flat">
              <a:solidFill>
                <a:srgbClr val="B0CCB0"/>
              </a:solidFill>
              <a:prstDash val="solid"/>
              <a:round/>
            </a:ln>
            <a:effectLst>
              <a:outerShdw blurRad="50800" dist="12700" dir="5400000" rotWithShape="0">
                <a:srgbClr val="000000">
                  <a:alpha val="39999"/>
                </a:srgbClr>
              </a:outerShdw>
            </a:effectLst>
          </p:spPr>
          <p:txBody>
            <a:bodyPr wrap="square" lIns="45718" tIns="45718" rIns="45718" bIns="45718" numCol="1" anchor="ctr">
              <a:noAutofit/>
            </a:bodyP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393" name="画面"/>
            <p:cNvSpPr txBox="1"/>
            <p:nvPr/>
          </p:nvSpPr>
          <p:spPr>
            <a:xfrm>
              <a:off x="0" y="-1"/>
              <a:ext cx="1480186" cy="345439"/>
            </a:xfrm>
            <a:prstGeom prst="rect">
              <a:avLst/>
            </a:prstGeom>
            <a:noFill/>
            <a:ln w="12700" cap="flat">
              <a:noFill/>
              <a:miter lim="400000"/>
            </a:ln>
            <a:effectLst/>
          </p:spPr>
          <p:txBody>
            <a:bodyPr wrap="square" lIns="45718" tIns="45718" rIns="45718" bIns="45718" numCol="1" anchor="t">
              <a:spAutoFit/>
            </a:bodyPr>
            <a:lstStyle>
              <a:lvl1pPr>
                <a:defRPr sz="1400">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94" name="超叙事时空的声音"/>
            <p:cNvSpPr txBox="1"/>
            <p:nvPr/>
          </p:nvSpPr>
          <p:spPr>
            <a:xfrm>
              <a:off x="-1" y="428624"/>
              <a:ext cx="1694500" cy="345439"/>
            </a:xfrm>
            <a:prstGeom prst="rect">
              <a:avLst/>
            </a:prstGeom>
            <a:noFill/>
            <a:ln w="12700" cap="flat">
              <a:noFill/>
              <a:miter lim="400000"/>
            </a:ln>
            <a:effectLst/>
          </p:spPr>
          <p:txBody>
            <a:bodyPr wrap="square" lIns="45718" tIns="45718" rIns="45718" bIns="45718" numCol="1" anchor="t">
              <a:spAutoFit/>
            </a:bodyPr>
            <a:lstStyle>
              <a:lvl1pPr>
                <a:defRPr sz="1400">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超叙事时空的声音</a:t>
              </a:r>
            </a:p>
          </p:txBody>
        </p:sp>
      </p:gr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中近景medium close shot——腰以上…"/>
          <p:cNvSpPr txBox="1">
            <a:spLocks noGrp="1"/>
          </p:cNvSpPr>
          <p:nvPr>
            <p:ph type="subTitle" idx="1"/>
          </p:nvPr>
        </p:nvSpPr>
        <p:spPr>
          <a:xfrm>
            <a:off x="1485896" y="1953786"/>
            <a:ext cx="9858432" cy="5514488"/>
          </a:xfrm>
          <a:prstGeom prst="rect">
            <a:avLst/>
          </a:prstGeom>
        </p:spPr>
        <p:txBody>
          <a:bodyPr/>
          <a:lstStyle>
            <a:lvl1pPr algn="l" defTabSz="457200">
              <a:lnSpc>
                <a:spcPct val="100000"/>
              </a:lnSpc>
              <a:spcBef>
                <a:spcPts val="0"/>
              </a:spcBef>
              <a:defRPr sz="2900">
                <a:solidFill>
                  <a:srgbClr val="333333"/>
                </a:solidFill>
                <a:latin typeface="Arial" panose="020B0604020202090204"/>
                <a:ea typeface="Arial" panose="020B0604020202090204"/>
                <a:cs typeface="Arial" panose="020B0604020202090204"/>
                <a:sym typeface="Arial" panose="020B0604020202090204"/>
              </a:defRPr>
            </a:lvl1pPr>
          </a:lstStyle>
          <a:p>
            <a:r>
              <a:t>       —部影片的绝大部分声音都由客观写实性声音构成，它主要有声画同步、声音提前、声音滞后、声音转换、声音的淡出淡入和声音的切出切入等几种具体的技巧。</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97">
                                            <p:txEl>
                                              <p:pRg st="0" end="0"/>
                                            </p:txEl>
                                          </p:spTgt>
                                        </p:tgtEl>
                                        <p:attrNameLst>
                                          <p:attrName>style.visibility</p:attrName>
                                        </p:attrNameLst>
                                      </p:cBhvr>
                                      <p:to>
                                        <p:strVal val="visible"/>
                                      </p:to>
                                    </p:set>
                                    <p:animEffect transition="in" filter="wipe(left)">
                                      <p:cBhvr>
                                        <p:cTn id="7" dur="500"/>
                                        <p:tgtEl>
                                          <p:spTgt spid="3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 grpId="1" animBg="1" advAuto="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中景组"/>
          <p:cNvSpPr txBox="1">
            <a:spLocks noGrp="1"/>
          </p:cNvSpPr>
          <p:nvPr>
            <p:ph type="ctrTitle"/>
          </p:nvPr>
        </p:nvSpPr>
        <p:spPr>
          <a:xfrm>
            <a:off x="1503988" y="-223006"/>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声画同步</a:t>
            </a:r>
            <a:endParaRPr dirty="0"/>
          </a:p>
        </p:txBody>
      </p:sp>
      <p:sp>
        <p:nvSpPr>
          <p:cNvPr id="400" name="中近景medium close shot——腰以上…"/>
          <p:cNvSpPr txBox="1">
            <a:spLocks noGrp="1"/>
          </p:cNvSpPr>
          <p:nvPr>
            <p:ph type="subTitle" sz="half" idx="1"/>
          </p:nvPr>
        </p:nvSpPr>
        <p:spPr>
          <a:xfrm>
            <a:off x="1503988" y="2977813"/>
            <a:ext cx="9995152" cy="2494715"/>
          </a:xfrm>
          <a:prstGeom prst="rect">
            <a:avLst/>
          </a:prstGeom>
        </p:spPr>
        <p:txBody>
          <a:bodyPr/>
          <a:lstStyle/>
          <a:p>
            <a:pPr algn="l" defTabSz="434340">
              <a:lnSpc>
                <a:spcPct val="150000"/>
              </a:lnSpc>
              <a:spcBef>
                <a:spcPts val="0"/>
              </a:spcBef>
              <a:defRPr sz="1700">
                <a:solidFill>
                  <a:srgbClr val="333333"/>
                </a:solidFill>
                <a:latin typeface="Verdana" panose="020B0604030504040204"/>
                <a:ea typeface="Verdana" panose="020B0604030504040204"/>
                <a:cs typeface="Verdana" panose="020B0604030504040204"/>
                <a:sym typeface="Verdana" panose="020B0604030504040204"/>
              </a:defRPr>
            </a:pPr>
            <a:endParaRPr dirty="0"/>
          </a:p>
          <a:p>
            <a:pPr algn="l" defTabSz="434340">
              <a:lnSpc>
                <a:spcPct val="150000"/>
              </a:lnSpc>
              <a:spcBef>
                <a:spcPts val="0"/>
              </a:spcBef>
              <a:defRPr sz="1900">
                <a:solidFill>
                  <a:srgbClr val="333333"/>
                </a:solidFill>
                <a:latin typeface="Arial" panose="020B0604020202090204"/>
                <a:ea typeface="Arial" panose="020B0604020202090204"/>
                <a:cs typeface="Arial" panose="020B0604020202090204"/>
                <a:sym typeface="Arial" panose="020B0604020202090204"/>
              </a:defRPr>
            </a:pPr>
            <a:r>
              <a:rPr dirty="0"/>
              <a:t>声音与画面的内容同步出现，使得声画的时空完全一致。主要用来表现影片的真实性。如画面段落表现的是一个热闹的集市，就相应出现厂集市特有的叫卖声音。在处理剧情时，可展示叙事内容的真实环境，有利于观众产生真实感。但平铺直叙，有时会让观众产生拖沓的感觉。</a:t>
            </a:r>
            <a:endParaRPr dirty="0"/>
          </a:p>
          <a:p>
            <a:pPr algn="l" defTabSz="434340">
              <a:lnSpc>
                <a:spcPct val="150000"/>
              </a:lnSpc>
              <a:spcBef>
                <a:spcPts val="0"/>
              </a:spcBef>
              <a:defRPr sz="1900">
                <a:solidFill>
                  <a:srgbClr val="333333"/>
                </a:solidFill>
                <a:latin typeface="Arial" panose="020B0604020202090204"/>
                <a:ea typeface="Arial" panose="020B0604020202090204"/>
                <a:cs typeface="Arial" panose="020B0604020202090204"/>
                <a:sym typeface="Arial" panose="020B0604020202090204"/>
              </a:defRPr>
            </a:pPr>
            <a:r>
              <a:rPr dirty="0"/>
              <a:t>38.07</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0">
                                            <p:txEl>
                                              <p:pRg st="1" end="1"/>
                                            </p:txEl>
                                          </p:spTgt>
                                        </p:tgtEl>
                                        <p:attrNameLst>
                                          <p:attrName>style.visibility</p:attrName>
                                        </p:attrNameLst>
                                      </p:cBhvr>
                                      <p:to>
                                        <p:strVal val="visible"/>
                                      </p:to>
                                    </p:set>
                                    <p:animEffect transition="in" filter="wipe(left)">
                                      <p:cBhvr>
                                        <p:cTn id="7" dur="500"/>
                                        <p:tgtEl>
                                          <p:spTgt spid="40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0">
                                            <p:txEl>
                                              <p:pRg st="2" end="2"/>
                                            </p:txEl>
                                          </p:spTgt>
                                        </p:tgtEl>
                                        <p:attrNameLst>
                                          <p:attrName>style.visibility</p:attrName>
                                        </p:attrNameLst>
                                      </p:cBhvr>
                                      <p:to>
                                        <p:strVal val="visible"/>
                                      </p:to>
                                    </p:set>
                                    <p:animEffect transition="in" filter="wipe(left)">
                                      <p:cBhvr>
                                        <p:cTn id="12" dur="500"/>
                                        <p:tgtEl>
                                          <p:spTgt spid="4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 grpId="1" bldLvl="5" animBg="1" advAuto="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中景的功能"/>
          <p:cNvSpPr txBox="1">
            <a:spLocks noGrp="1"/>
          </p:cNvSpPr>
          <p:nvPr>
            <p:ph type="ctrTitle"/>
          </p:nvPr>
        </p:nvSpPr>
        <p:spPr>
          <a:xfrm>
            <a:off x="1524000" y="741362"/>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t>声音提前</a:t>
            </a:r>
          </a:p>
        </p:txBody>
      </p:sp>
      <p:sp>
        <p:nvSpPr>
          <p:cNvPr id="403" name="数量最多，最常见的叙事性景别…"/>
          <p:cNvSpPr txBox="1">
            <a:spLocks noGrp="1"/>
          </p:cNvSpPr>
          <p:nvPr>
            <p:ph type="subTitle" sz="half" idx="1"/>
          </p:nvPr>
        </p:nvSpPr>
        <p:spPr>
          <a:xfrm>
            <a:off x="1625600" y="2700334"/>
            <a:ext cx="9144000" cy="3256419"/>
          </a:xfrm>
          <a:prstGeom prst="rect">
            <a:avLst/>
          </a:prstGeom>
        </p:spPr>
        <p:txBody>
          <a:bodyPr/>
          <a:lstStyle/>
          <a:p>
            <a:pPr marL="262255" indent="-262255" defTabSz="699770">
              <a:spcBef>
                <a:spcPts val="700"/>
              </a:spcBef>
              <a:buSzPct val="100000"/>
              <a:buChar char="•"/>
              <a:defRPr sz="2500">
                <a:latin typeface="楷体_GB2312"/>
                <a:ea typeface="楷体_GB2312"/>
                <a:cs typeface="楷体_GB2312"/>
                <a:sym typeface="楷体_GB2312"/>
              </a:defRPr>
            </a:pPr>
          </a:p>
          <a:p>
            <a:pPr algn="l" defTabSz="411480">
              <a:lnSpc>
                <a:spcPct val="100000"/>
              </a:lnSpc>
              <a:spcBef>
                <a:spcPts val="0"/>
              </a:spcBef>
              <a:defRPr sz="1600">
                <a:solidFill>
                  <a:srgbClr val="333333"/>
                </a:solidFill>
                <a:latin typeface="Verdana" panose="020B0604030504040204"/>
                <a:ea typeface="Verdana" panose="020B0604030504040204"/>
                <a:cs typeface="Verdana" panose="020B0604030504040204"/>
                <a:sym typeface="Verdana" panose="020B0604030504040204"/>
              </a:defRPr>
            </a:pPr>
          </a:p>
          <a:p>
            <a:pPr algn="l" defTabSz="411480">
              <a:lnSpc>
                <a:spcPct val="100000"/>
              </a:lnSpc>
              <a:spcBef>
                <a:spcPts val="0"/>
              </a:spcBef>
              <a:defRPr sz="2100">
                <a:solidFill>
                  <a:srgbClr val="333333"/>
                </a:solidFill>
                <a:latin typeface="Arial" panose="020B0604020202090204"/>
                <a:ea typeface="Arial" panose="020B0604020202090204"/>
                <a:cs typeface="Arial" panose="020B0604020202090204"/>
                <a:sym typeface="Arial" panose="020B0604020202090204"/>
              </a:defRPr>
            </a:pPr>
            <a:r>
              <a:t>又叫声音导前。是指在画面段落转换时。后一个画面段落的声音提前出现在前一个画面段落的尾部，造成一种先声夺人的特殊心理效果。常用来衔接两个画面段落之间的时空关系。如将后一个画面段落中的火车鸣笛声提前到前一个宁静的画面中，强调了即将到来的时空变化，预示着事件的发展。声音提前能提示即将发生的事件，造成激动和紧张的气氛，引起悬念。</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3">
                                            <p:txEl>
                                              <p:pRg st="1" end="1"/>
                                            </p:txEl>
                                          </p:spTgt>
                                        </p:tgtEl>
                                        <p:attrNameLst>
                                          <p:attrName>style.visibility</p:attrName>
                                        </p:attrNameLst>
                                      </p:cBhvr>
                                      <p:to>
                                        <p:strVal val="visible"/>
                                      </p:to>
                                    </p:set>
                                    <p:animEffect transition="in" filter="wipe(left)">
                                      <p:cBhvr>
                                        <p:cTn id="7" dur="500"/>
                                        <p:tgtEl>
                                          <p:spTgt spid="4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3">
                                            <p:txEl>
                                              <p:pRg st="2" end="2"/>
                                            </p:txEl>
                                          </p:spTgt>
                                        </p:tgtEl>
                                        <p:attrNameLst>
                                          <p:attrName>style.visibility</p:attrName>
                                        </p:attrNameLst>
                                      </p:cBhvr>
                                      <p:to>
                                        <p:strVal val="visible"/>
                                      </p:to>
                                    </p:set>
                                    <p:animEffect transition="in" filter="wipe(left)">
                                      <p:cBhvr>
                                        <p:cTn id="12" dur="500"/>
                                        <p:tgtEl>
                                          <p:spTgt spid="4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1" bldLvl="5" animBg="1" advAuto="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中景的局限性"/>
          <p:cNvSpPr txBox="1">
            <a:spLocks noGrp="1"/>
          </p:cNvSpPr>
          <p:nvPr>
            <p:ph type="ctrTitle"/>
          </p:nvPr>
        </p:nvSpPr>
        <p:spPr>
          <a:xfrm>
            <a:off x="1494019" y="-265894"/>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声音滞后</a:t>
            </a:r>
            <a:endParaRPr dirty="0"/>
          </a:p>
        </p:txBody>
      </p:sp>
      <p:sp>
        <p:nvSpPr>
          <p:cNvPr id="406" name="缺乏感染力…"/>
          <p:cNvSpPr txBox="1">
            <a:spLocks noGrp="1"/>
          </p:cNvSpPr>
          <p:nvPr>
            <p:ph type="subTitle" sz="half" idx="1"/>
          </p:nvPr>
        </p:nvSpPr>
        <p:spPr>
          <a:xfrm>
            <a:off x="1625600" y="2245515"/>
            <a:ext cx="9144000" cy="3405592"/>
          </a:xfrm>
          <a:prstGeom prst="rect">
            <a:avLst/>
          </a:prstGeom>
        </p:spPr>
        <p:txBody>
          <a:bodyPr/>
          <a:lstStyle/>
          <a:p>
            <a:pPr algn="l" defTabSz="448310">
              <a:lnSpc>
                <a:spcPct val="100000"/>
              </a:lnSpc>
              <a:spcBef>
                <a:spcPts val="0"/>
              </a:spcBef>
              <a:defRPr sz="11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48310">
              <a:lnSpc>
                <a:spcPct val="100000"/>
              </a:lnSpc>
              <a:spcBef>
                <a:spcPts val="0"/>
              </a:spcBef>
              <a:defRPr sz="11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48310">
              <a:lnSpc>
                <a:spcPct val="150000"/>
              </a:lnSpc>
              <a:spcBef>
                <a:spcPts val="0"/>
              </a:spcBef>
              <a:defRPr sz="1100">
                <a:solidFill>
                  <a:srgbClr val="136EC2"/>
                </a:solidFill>
                <a:latin typeface="Arial" panose="020B0604020202090204"/>
                <a:ea typeface="Arial" panose="020B0604020202090204"/>
                <a:cs typeface="Arial" panose="020B0604020202090204"/>
                <a:sym typeface="Arial" panose="020B0604020202090204"/>
              </a:defRPr>
            </a:pPr>
            <a:endParaRPr sz="1800" dirty="0"/>
          </a:p>
          <a:p>
            <a:pPr algn="l" defTabSz="448310">
              <a:lnSpc>
                <a:spcPct val="150000"/>
              </a:lnSpc>
              <a:spcBef>
                <a:spcPts val="0"/>
              </a:spcBef>
              <a:defRPr sz="1700">
                <a:solidFill>
                  <a:srgbClr val="333333"/>
                </a:solidFill>
                <a:latin typeface="Verdana" panose="020B0604030504040204"/>
                <a:ea typeface="Verdana" panose="020B0604030504040204"/>
                <a:cs typeface="Verdana" panose="020B0604030504040204"/>
                <a:sym typeface="Verdana" panose="020B0604030504040204"/>
              </a:defRPr>
            </a:pPr>
            <a:endParaRPr sz="1800" dirty="0"/>
          </a:p>
          <a:p>
            <a:pPr algn="l" defTabSz="448310">
              <a:lnSpc>
                <a:spcPct val="150000"/>
              </a:lnSpc>
              <a:spcBef>
                <a:spcPts val="0"/>
              </a:spcBef>
              <a:defRPr sz="2300">
                <a:solidFill>
                  <a:srgbClr val="333333"/>
                </a:solidFill>
                <a:latin typeface="Arial" panose="020B0604020202090204"/>
                <a:ea typeface="Arial" panose="020B0604020202090204"/>
                <a:cs typeface="Arial" panose="020B0604020202090204"/>
                <a:sym typeface="Arial" panose="020B0604020202090204"/>
              </a:defRPr>
            </a:pPr>
            <a:r>
              <a:rPr sz="1800" dirty="0"/>
              <a:t>又叫声音延续。是指在画面段落转换后，前一个画面段落中出现的声音以画外音的形式滞后出现在后一个画面段落的开始处，以此将二个画面段落之间的时空关系进行衔接。如将前一场面段落中打仗的枪炮声滞后延续到后一个宁静的山村画面中，虽然时空发生了变化，但暗示警战争还在继续。声音滞后可使画面的转换变得流畅连贯，并且暗示前后两个画面段落的关系。</a:t>
            </a:r>
            <a:endParaRPr sz="1800"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6">
                                            <p:txEl>
                                              <p:pRg st="1" end="1"/>
                                            </p:txEl>
                                          </p:spTgt>
                                        </p:tgtEl>
                                        <p:attrNameLst>
                                          <p:attrName>style.visibility</p:attrName>
                                        </p:attrNameLst>
                                      </p:cBhvr>
                                      <p:to>
                                        <p:strVal val="visible"/>
                                      </p:to>
                                    </p:set>
                                    <p:animEffect transition="in" filter="wipe(left)">
                                      <p:cBhvr>
                                        <p:cTn id="7" dur="500"/>
                                        <p:tgtEl>
                                          <p:spTgt spid="40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6">
                                            <p:txEl>
                                              <p:pRg st="2" end="2"/>
                                            </p:txEl>
                                          </p:spTgt>
                                        </p:tgtEl>
                                        <p:attrNameLst>
                                          <p:attrName>style.visibility</p:attrName>
                                        </p:attrNameLst>
                                      </p:cBhvr>
                                      <p:to>
                                        <p:strVal val="visible"/>
                                      </p:to>
                                    </p:set>
                                    <p:animEffect transition="in" filter="wipe(left)">
                                      <p:cBhvr>
                                        <p:cTn id="12" dur="500"/>
                                        <p:tgtEl>
                                          <p:spTgt spid="40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406">
                                            <p:txEl>
                                              <p:pRg st="3" end="3"/>
                                            </p:txEl>
                                          </p:spTgt>
                                        </p:tgtEl>
                                        <p:attrNameLst>
                                          <p:attrName>style.visibility</p:attrName>
                                        </p:attrNameLst>
                                      </p:cBhvr>
                                      <p:to>
                                        <p:strVal val="visible"/>
                                      </p:to>
                                    </p:set>
                                    <p:animEffect transition="in" filter="wipe(left)">
                                      <p:cBhvr>
                                        <p:cTn id="17" dur="500"/>
                                        <p:tgtEl>
                                          <p:spTgt spid="40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1" nodeType="clickEffect">
                                  <p:stCondLst>
                                    <p:cond delay="0"/>
                                  </p:stCondLst>
                                  <p:childTnLst>
                                    <p:set>
                                      <p:cBhvr>
                                        <p:cTn id="21" dur="indefinite" fill="hold"/>
                                        <p:tgtEl>
                                          <p:spTgt spid="406">
                                            <p:txEl>
                                              <p:pRg st="4" end="4"/>
                                            </p:txEl>
                                          </p:spTgt>
                                        </p:tgtEl>
                                        <p:attrNameLst>
                                          <p:attrName>style.visibility</p:attrName>
                                        </p:attrNameLst>
                                      </p:cBhvr>
                                      <p:to>
                                        <p:strVal val="visible"/>
                                      </p:to>
                                    </p:set>
                                    <p:animEffect transition="in" filter="wipe(left)">
                                      <p:cBhvr>
                                        <p:cTn id="22" dur="500"/>
                                        <p:tgtEl>
                                          <p:spTgt spid="4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 grpId="1" bldLvl="5" animBg="1" advAuto="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全景的局限性"/>
          <p:cNvSpPr txBox="1">
            <a:spLocks noGrp="1"/>
          </p:cNvSpPr>
          <p:nvPr>
            <p:ph type="ctrTitle"/>
          </p:nvPr>
        </p:nvSpPr>
        <p:spPr>
          <a:xfrm>
            <a:off x="1359109" y="-254026"/>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声音的淡出淡入</a:t>
            </a:r>
            <a:r>
              <a:rPr dirty="0"/>
              <a:t> </a:t>
            </a:r>
            <a:endParaRPr dirty="0"/>
          </a:p>
        </p:txBody>
      </p:sp>
      <p:sp>
        <p:nvSpPr>
          <p:cNvPr id="412" name="镜头不能过短…"/>
          <p:cNvSpPr txBox="1">
            <a:spLocks noGrp="1"/>
          </p:cNvSpPr>
          <p:nvPr>
            <p:ph type="subTitle" sz="half" idx="1"/>
          </p:nvPr>
        </p:nvSpPr>
        <p:spPr>
          <a:xfrm>
            <a:off x="1638300" y="2967034"/>
            <a:ext cx="9144000" cy="3385748"/>
          </a:xfrm>
          <a:prstGeom prst="rect">
            <a:avLst/>
          </a:prstGeom>
        </p:spPr>
        <p:txBody>
          <a:bodyPr>
            <a:normAutofit/>
          </a:bodyPr>
          <a:lstStyle/>
          <a:p>
            <a:pPr algn="l" defTabSz="457200">
              <a:lnSpc>
                <a:spcPct val="150000"/>
              </a:lnSpc>
              <a:spcBef>
                <a:spcPts val="0"/>
              </a:spcBef>
              <a:defRPr>
                <a:solidFill>
                  <a:srgbClr val="333333"/>
                </a:solidFill>
                <a:latin typeface="Arial" panose="020B0604020202090204"/>
                <a:ea typeface="Arial" panose="020B0604020202090204"/>
                <a:cs typeface="Arial" panose="020B0604020202090204"/>
                <a:sym typeface="Arial" panose="020B0604020202090204"/>
              </a:defRPr>
            </a:pPr>
            <a:r>
              <a:rPr dirty="0" smtClean="0"/>
              <a:t>又被称为声音的渐隐渐显</a:t>
            </a:r>
            <a:r>
              <a:rPr dirty="0"/>
              <a:t>。指前一个画面段落的声音逐渐消失，后一个画面段落的声音逐渐出现。主要用来表现时空关系的转换或叠置。一般和画面的渐隐渐显一起表现。如前一个画面段落中的现实生活的声音淡出，后一个画面段落的过去生活的声音淡入，表现了人物对往事的追忆，它它可以制造声音的运动感，表现不同的时空环境。</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12">
                                            <p:txEl>
                                              <p:pRg st="0" end="0"/>
                                            </p:txEl>
                                          </p:spTgt>
                                        </p:tgtEl>
                                        <p:attrNameLst>
                                          <p:attrName>style.visibility</p:attrName>
                                        </p:attrNameLst>
                                      </p:cBhvr>
                                      <p:to>
                                        <p:strVal val="visible"/>
                                      </p:to>
                                    </p:set>
                                    <p:animEffect transition="in" filter="wipe(left)">
                                      <p:cBhvr>
                                        <p:cTn id="7" dur="500"/>
                                        <p:tgtEl>
                                          <p:spTgt spid="4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 grpId="1" bldLvl="5" animBg="1" advAuto="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全景的功能"/>
          <p:cNvSpPr txBox="1">
            <a:spLocks noGrp="1"/>
          </p:cNvSpPr>
          <p:nvPr>
            <p:ph type="ctrTitle"/>
          </p:nvPr>
        </p:nvSpPr>
        <p:spPr>
          <a:xfrm>
            <a:off x="1369101" y="0"/>
            <a:ext cx="9144000" cy="2387601"/>
          </a:xfrm>
          <a:prstGeom prst="rect">
            <a:avLst/>
          </a:prstGeom>
        </p:spPr>
        <p:txBody>
          <a:bodyPr/>
          <a:lstStyle>
            <a:lvl1pPr>
              <a:defRPr>
                <a:latin typeface="楷体_GB2312"/>
                <a:ea typeface="楷体_GB2312"/>
                <a:cs typeface="楷体_GB2312"/>
                <a:sym typeface="楷体_GB2312"/>
              </a:defRPr>
            </a:lvl1pPr>
          </a:lstStyle>
          <a:p>
            <a:r>
              <a:rPr dirty="0" err="1"/>
              <a:t>声音转换</a:t>
            </a:r>
            <a:endParaRPr dirty="0"/>
          </a:p>
        </p:txBody>
      </p:sp>
      <p:sp>
        <p:nvSpPr>
          <p:cNvPr id="409" name="展示环境，交代景物关系…"/>
          <p:cNvSpPr txBox="1">
            <a:spLocks noGrp="1"/>
          </p:cNvSpPr>
          <p:nvPr>
            <p:ph type="subTitle" sz="quarter" idx="1"/>
          </p:nvPr>
        </p:nvSpPr>
        <p:spPr>
          <a:xfrm>
            <a:off x="1524000" y="2387601"/>
            <a:ext cx="8834203" cy="4088149"/>
          </a:xfrm>
          <a:prstGeom prst="rect">
            <a:avLst/>
          </a:prstGeom>
        </p:spPr>
        <p:txBody>
          <a:bodyPr>
            <a:normAutofit/>
          </a:bodyPr>
          <a:lstStyle/>
          <a:p>
            <a:pPr marL="219710" indent="-219710" defTabSz="585470">
              <a:spcBef>
                <a:spcPts val="600"/>
              </a:spcBef>
              <a:buSzPct val="100000"/>
              <a:buChar char="•"/>
              <a:defRPr sz="2100">
                <a:latin typeface="楷体_GB2312"/>
                <a:ea typeface="楷体_GB2312"/>
                <a:cs typeface="楷体_GB2312"/>
                <a:sym typeface="楷体_GB2312"/>
              </a:defRPr>
            </a:pPr>
            <a:endParaRPr dirty="0"/>
          </a:p>
          <a:p>
            <a:pPr algn="l" defTabSz="457200">
              <a:lnSpc>
                <a:spcPct val="100000"/>
              </a:lnSpc>
              <a:spcBef>
                <a:spcPts val="0"/>
              </a:spcBef>
              <a:defRPr sz="12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57200">
              <a:lnSpc>
                <a:spcPct val="150000"/>
              </a:lnSpc>
              <a:spcBef>
                <a:spcPts val="0"/>
              </a:spcBef>
              <a:defRPr sz="1800">
                <a:solidFill>
                  <a:srgbClr val="333333"/>
                </a:solidFill>
                <a:latin typeface="Verdana" panose="020B0604030504040204"/>
                <a:ea typeface="Verdana" panose="020B0604030504040204"/>
                <a:cs typeface="Verdana" panose="020B0604030504040204"/>
                <a:sym typeface="Verdana" panose="020B0604030504040204"/>
              </a:defRPr>
            </a:pPr>
            <a:endParaRPr dirty="0"/>
          </a:p>
          <a:p>
            <a:pPr algn="l" defTabSz="457200">
              <a:lnSpc>
                <a:spcPct val="150000"/>
              </a:lnSpc>
              <a:spcBef>
                <a:spcPts val="0"/>
              </a:spcBef>
              <a:defRPr sz="1400">
                <a:solidFill>
                  <a:srgbClr val="333333"/>
                </a:solidFill>
                <a:latin typeface="Arial" panose="020B0604020202090204"/>
                <a:ea typeface="Arial" panose="020B0604020202090204"/>
                <a:cs typeface="Arial" panose="020B0604020202090204"/>
                <a:sym typeface="Arial" panose="020B0604020202090204"/>
              </a:defRPr>
            </a:pPr>
            <a:r>
              <a:rPr sz="1800" dirty="0"/>
              <a:t>声音转换就是通过声音来衔接画面段落的转换。出现在前一面面段落结束时的声音与后一个段落开始时的声音是一致的或类似的，以此作为画面段落时空转换的依据。如用做报告为声音衔接媒介，将开大会的画面段落转换成了一个小会议室的画面段落。声音转换用声音来带动画面段落的转换显得生动、流畅，同时加快了叙事的节奏。40.30</a:t>
            </a:r>
            <a:endParaRPr sz="1800"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9">
                                            <p:txEl>
                                              <p:pRg st="1" end="1"/>
                                            </p:txEl>
                                          </p:spTgt>
                                        </p:tgtEl>
                                        <p:attrNameLst>
                                          <p:attrName>style.visibility</p:attrName>
                                        </p:attrNameLst>
                                      </p:cBhvr>
                                      <p:to>
                                        <p:strVal val="visible"/>
                                      </p:to>
                                    </p:set>
                                    <p:animEffect transition="in" filter="wipe(left)">
                                      <p:cBhvr>
                                        <p:cTn id="7" dur="500"/>
                                        <p:tgtEl>
                                          <p:spTgt spid="40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9">
                                            <p:txEl>
                                              <p:pRg st="2" end="2"/>
                                            </p:txEl>
                                          </p:spTgt>
                                        </p:tgtEl>
                                        <p:attrNameLst>
                                          <p:attrName>style.visibility</p:attrName>
                                        </p:attrNameLst>
                                      </p:cBhvr>
                                      <p:to>
                                        <p:strVal val="visible"/>
                                      </p:to>
                                    </p:set>
                                    <p:animEffect transition="in" filter="wipe(left)">
                                      <p:cBhvr>
                                        <p:cTn id="12" dur="500"/>
                                        <p:tgtEl>
                                          <p:spTgt spid="40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409">
                                            <p:txEl>
                                              <p:pRg st="3" end="3"/>
                                            </p:txEl>
                                          </p:spTgt>
                                        </p:tgtEl>
                                        <p:attrNameLst>
                                          <p:attrName>style.visibility</p:attrName>
                                        </p:attrNameLst>
                                      </p:cBhvr>
                                      <p:to>
                                        <p:strVal val="visible"/>
                                      </p:to>
                                    </p:set>
                                    <p:animEffect transition="in" filter="wipe(left)">
                                      <p:cBhvr>
                                        <p:cTn id="17" dur="500"/>
                                        <p:tgtEl>
                                          <p:spTgt spid="4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 grpId="1" bldLvl="5" animBg="1" advAuto="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景别小结"/>
          <p:cNvSpPr txBox="1">
            <a:spLocks noGrp="1"/>
          </p:cNvSpPr>
          <p:nvPr>
            <p:ph type="ctrTitle"/>
          </p:nvPr>
        </p:nvSpPr>
        <p:spPr>
          <a:xfrm>
            <a:off x="1568970" y="-249238"/>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声音的切出切入</a:t>
            </a:r>
            <a:endParaRPr dirty="0"/>
          </a:p>
        </p:txBody>
      </p:sp>
      <p:sp>
        <p:nvSpPr>
          <p:cNvPr id="415" name="景别种类很多，源于工作实际…"/>
          <p:cNvSpPr txBox="1">
            <a:spLocks noGrp="1"/>
          </p:cNvSpPr>
          <p:nvPr>
            <p:ph type="subTitle" sz="half" idx="1"/>
          </p:nvPr>
        </p:nvSpPr>
        <p:spPr>
          <a:xfrm>
            <a:off x="1989111" y="2138363"/>
            <a:ext cx="9144000" cy="3394880"/>
          </a:xfrm>
          <a:prstGeom prst="rect">
            <a:avLst/>
          </a:prstGeom>
        </p:spPr>
        <p:txBody>
          <a:bodyPr>
            <a:normAutofit fontScale="92500" lnSpcReduction="10000"/>
          </a:bodyPr>
          <a:lstStyle/>
          <a:p>
            <a:pPr marL="174625" indent="-174625" defTabSz="466090">
              <a:lnSpc>
                <a:spcPct val="150000"/>
              </a:lnSpc>
              <a:spcBef>
                <a:spcPts val="500"/>
              </a:spcBef>
              <a:buSzPct val="100000"/>
              <a:buChar char="•"/>
              <a:defRPr sz="1700">
                <a:latin typeface="楷体_GB2312"/>
                <a:ea typeface="楷体_GB2312"/>
                <a:cs typeface="楷体_GB2312"/>
                <a:sym typeface="楷体_GB2312"/>
              </a:defRPr>
            </a:pPr>
            <a:endParaRPr dirty="0"/>
          </a:p>
          <a:p>
            <a:pPr algn="l" defTabSz="457200">
              <a:lnSpc>
                <a:spcPct val="150000"/>
              </a:lnSpc>
              <a:spcBef>
                <a:spcPts val="0"/>
              </a:spcBef>
              <a:defRPr sz="12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57200">
              <a:lnSpc>
                <a:spcPct val="150000"/>
              </a:lnSpc>
              <a:spcBef>
                <a:spcPts val="0"/>
              </a:spcBef>
              <a:defRPr sz="1800">
                <a:solidFill>
                  <a:srgbClr val="333333"/>
                </a:solidFill>
                <a:latin typeface="Verdana" panose="020B0604030504040204"/>
                <a:ea typeface="Verdana" panose="020B0604030504040204"/>
                <a:cs typeface="Verdana" panose="020B0604030504040204"/>
                <a:sym typeface="Verdana" panose="020B0604030504040204"/>
              </a:defRPr>
            </a:pPr>
            <a:endParaRPr dirty="0"/>
          </a:p>
          <a:p>
            <a:pPr algn="l" defTabSz="457200">
              <a:lnSpc>
                <a:spcPct val="150000"/>
              </a:lnSpc>
              <a:spcBef>
                <a:spcPts val="0"/>
              </a:spcBef>
              <a:defRPr>
                <a:solidFill>
                  <a:srgbClr val="333333"/>
                </a:solidFill>
                <a:latin typeface="Arial" panose="020B0604020202090204"/>
                <a:ea typeface="Arial" panose="020B0604020202090204"/>
                <a:cs typeface="Arial" panose="020B0604020202090204"/>
                <a:sym typeface="Arial" panose="020B0604020202090204"/>
              </a:defRPr>
            </a:pPr>
            <a:r>
              <a:rPr dirty="0"/>
              <a:t>       指声音在画面段落中的突然消失和突然出现。通常与画面内容和段落的切换一致，有时也可用来进行特殊的声音时空转换。如同一地点不同时间的两个画面组接时，用收音机广播报时声的切出切入，来表现时间的转场，告诉观众事件的时间段已发生变，它可使画面内容的组接变得快捷、果断。</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15">
                                            <p:txEl>
                                              <p:pRg st="1" end="1"/>
                                            </p:txEl>
                                          </p:spTgt>
                                        </p:tgtEl>
                                        <p:attrNameLst>
                                          <p:attrName>style.visibility</p:attrName>
                                        </p:attrNameLst>
                                      </p:cBhvr>
                                      <p:to>
                                        <p:strVal val="visible"/>
                                      </p:to>
                                    </p:set>
                                    <p:animEffect transition="in" filter="wipe(left)">
                                      <p:cBhvr>
                                        <p:cTn id="7" dur="500"/>
                                        <p:tgtEl>
                                          <p:spTgt spid="4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15">
                                            <p:txEl>
                                              <p:pRg st="2" end="2"/>
                                            </p:txEl>
                                          </p:spTgt>
                                        </p:tgtEl>
                                        <p:attrNameLst>
                                          <p:attrName>style.visibility</p:attrName>
                                        </p:attrNameLst>
                                      </p:cBhvr>
                                      <p:to>
                                        <p:strVal val="visible"/>
                                      </p:to>
                                    </p:set>
                                    <p:animEffect transition="in" filter="wipe(left)">
                                      <p:cBhvr>
                                        <p:cTn id="12" dur="500"/>
                                        <p:tgtEl>
                                          <p:spTgt spid="4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415">
                                            <p:txEl>
                                              <p:pRg st="3" end="3"/>
                                            </p:txEl>
                                          </p:spTgt>
                                        </p:tgtEl>
                                        <p:attrNameLst>
                                          <p:attrName>style.visibility</p:attrName>
                                        </p:attrNameLst>
                                      </p:cBhvr>
                                      <p:to>
                                        <p:strVal val="visible"/>
                                      </p:to>
                                    </p:set>
                                    <p:animEffect transition="in" filter="wipe(left)">
                                      <p:cBhvr>
                                        <p:cTn id="17" dur="500"/>
                                        <p:tgtEl>
                                          <p:spTgt spid="4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 grpId="1" bldLvl="5" animBg="1" advAuto="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7" name="image7.png" descr="image7.png"/>
          <p:cNvPicPr>
            <a:picLocks noChangeAspect="1"/>
          </p:cNvPicPr>
          <p:nvPr/>
        </p:nvPicPr>
        <p:blipFill>
          <a:blip r:embed="rId1"/>
          <a:stretch>
            <a:fillRect/>
          </a:stretch>
        </p:blipFill>
        <p:spPr>
          <a:xfrm>
            <a:off x="0" y="0"/>
            <a:ext cx="12192000" cy="6858000"/>
          </a:xfrm>
          <a:prstGeom prst="rect">
            <a:avLst/>
          </a:prstGeom>
          <a:ln w="12700">
            <a:miter lim="400000"/>
            <a:headEnd/>
            <a:tailEnd/>
          </a:ln>
        </p:spPr>
      </p:pic>
      <p:sp>
        <p:nvSpPr>
          <p:cNvPr id="438" name="Shape 773"/>
          <p:cNvSpPr/>
          <p:nvPr/>
        </p:nvSpPr>
        <p:spPr>
          <a:xfrm>
            <a:off x="7824716" y="3125334"/>
            <a:ext cx="4367288" cy="1514912"/>
          </a:xfrm>
          <a:prstGeom prst="rect">
            <a:avLst/>
          </a:prstGeom>
          <a:solidFill>
            <a:schemeClr val="accent1">
              <a:alpha val="80000"/>
            </a:schemeClr>
          </a:solidFill>
          <a:ln w="12700">
            <a:miter lim="400000"/>
          </a:ln>
        </p:spPr>
        <p:txBody>
          <a:bodyPr lIns="45718" tIns="45718" rIns="45718" bIns="45718" anchor="ctr"/>
          <a:lstStyle/>
          <a:p>
            <a:pPr algn="ctr">
              <a:defRPr>
                <a:solidFill>
                  <a:srgbClr val="FFFFFF"/>
                </a:solidFill>
              </a:defRPr>
            </a:pPr>
          </a:p>
        </p:txBody>
      </p:sp>
      <p:sp>
        <p:nvSpPr>
          <p:cNvPr id="439" name="Shape 774"/>
          <p:cNvSpPr/>
          <p:nvPr/>
        </p:nvSpPr>
        <p:spPr>
          <a:xfrm>
            <a:off x="-1" y="3125334"/>
            <a:ext cx="7824717" cy="1514912"/>
          </a:xfrm>
          <a:prstGeom prst="rect">
            <a:avLst/>
          </a:prstGeom>
          <a:solidFill>
            <a:srgbClr val="FFFFFF">
              <a:alpha val="70000"/>
            </a:srgbClr>
          </a:solidFill>
          <a:ln w="12700">
            <a:miter lim="400000"/>
          </a:ln>
        </p:spPr>
        <p:txBody>
          <a:bodyPr lIns="45718" tIns="45718" rIns="45718" bIns="45718" anchor="ctr"/>
          <a:lstStyle/>
          <a:p>
            <a:pPr algn="ctr">
              <a:defRPr>
                <a:solidFill>
                  <a:srgbClr val="FFFFFF"/>
                </a:solidFill>
              </a:defRPr>
            </a:pPr>
          </a:p>
        </p:txBody>
      </p:sp>
      <p:sp>
        <p:nvSpPr>
          <p:cNvPr id="440" name="Shape 775"/>
          <p:cNvSpPr txBox="1"/>
          <p:nvPr/>
        </p:nvSpPr>
        <p:spPr>
          <a:xfrm>
            <a:off x="7933900" y="3412699"/>
            <a:ext cx="3991405" cy="828037"/>
          </a:xfrm>
          <a:prstGeom prst="rect">
            <a:avLst/>
          </a:prstGeom>
          <a:ln w="12700">
            <a:miter lim="400000"/>
          </a:ln>
        </p:spPr>
        <p:txBody>
          <a:bodyPr lIns="45718" tIns="45718" rIns="45718" bIns="45718">
            <a:spAutoFit/>
          </a:bodyPr>
          <a:lstStyle>
            <a:lvl1pPr>
              <a:defRPr sz="4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THANKS</a:t>
            </a:r>
          </a:p>
        </p:txBody>
      </p:sp>
      <p:sp>
        <p:nvSpPr>
          <p:cNvPr id="441" name="Shape 776"/>
          <p:cNvSpPr txBox="1"/>
          <p:nvPr/>
        </p:nvSpPr>
        <p:spPr>
          <a:xfrm>
            <a:off x="7933900" y="4137547"/>
            <a:ext cx="3991405" cy="370837"/>
          </a:xfrm>
          <a:prstGeom prst="rect">
            <a:avLst/>
          </a:prstGeom>
          <a:ln w="12700">
            <a:miter lim="400000"/>
          </a:ln>
        </p:spPr>
        <p:txBody>
          <a:bodyPr lIns="45718" tIns="45718" rIns="45718" bIns="45718">
            <a:spAutoFit/>
          </a:bodyPr>
          <a:lstStyle>
            <a:lvl1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FOR YOUR WATCHING</a:t>
            </a:r>
          </a:p>
        </p:txBody>
      </p:sp>
      <p:sp>
        <p:nvSpPr>
          <p:cNvPr id="442" name="Shape 777"/>
          <p:cNvSpPr txBox="1"/>
          <p:nvPr/>
        </p:nvSpPr>
        <p:spPr>
          <a:xfrm>
            <a:off x="1750035" y="3722049"/>
            <a:ext cx="6129282" cy="853437"/>
          </a:xfrm>
          <a:prstGeom prst="rect">
            <a:avLst/>
          </a:prstGeom>
          <a:ln w="12700">
            <a:miter lim="400000"/>
          </a:ln>
        </p:spPr>
        <p:txBody>
          <a:bodyPr lIns="45718" tIns="45718" rIns="45718" bIns="45718">
            <a:spAutoFit/>
          </a:bodyPr>
          <a:lstStyle/>
          <a:p>
            <a:pPr algn="r">
              <a:defRPr sz="1600" u="sng">
                <a:solidFill>
                  <a:srgbClr val="0000FF"/>
                </a:solidFill>
                <a:uFill>
                  <a:solidFill>
                    <a:srgbClr val="0000FF"/>
                  </a:solidFill>
                </a:uFill>
                <a:latin typeface="微软雅黑" panose="020B0503020204020204" charset="-122"/>
                <a:ea typeface="微软雅黑" panose="020B0503020204020204" charset="-122"/>
                <a:cs typeface="微软雅黑" panose="020B0503020204020204" charset="-122"/>
                <a:sym typeface="微软雅黑" panose="020B0503020204020204" charset="-122"/>
              </a:defRPr>
            </a:pPr>
            <a:r>
              <a:t>tuhui2003@163.com</a:t>
            </a:r>
            <a:endParaRPr>
              <a:solidFill>
                <a:srgbClr val="0563C1"/>
              </a:solidFill>
              <a:uFill>
                <a:solidFill>
                  <a:srgbClr val="0563C1"/>
                </a:solidFill>
              </a:uFill>
            </a:endParaRPr>
          </a:p>
          <a:p>
            <a:pPr algn="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t>15606622077</a:t>
            </a:r>
          </a:p>
          <a:p>
            <a:pPr algn="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t>三条鱼365</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childTnLst>
                                    <p:set>
                                      <p:cBhvr>
                                        <p:cTn id="6" dur="indefinite" fill="hold"/>
                                        <p:tgtEl>
                                          <p:spTgt spid="438"/>
                                        </p:tgtEl>
                                        <p:attrNameLst>
                                          <p:attrName>style.visibility</p:attrName>
                                        </p:attrNameLst>
                                      </p:cBhvr>
                                      <p:to>
                                        <p:strVal val="visible"/>
                                      </p:to>
                                    </p:set>
                                    <p:animEffect transition="in" filter="wipe(right)">
                                      <p:cBhvr>
                                        <p:cTn id="7" dur="1000"/>
                                        <p:tgtEl>
                                          <p:spTgt spid="438"/>
                                        </p:tgtEl>
                                      </p:cBhvr>
                                    </p:animEffect>
                                  </p:childTnLst>
                                </p:cTn>
                              </p:par>
                            </p:childTnLst>
                          </p:cTn>
                        </p:par>
                        <p:par>
                          <p:cTn id="8" fill="hold">
                            <p:stCondLst>
                              <p:cond delay="1000"/>
                            </p:stCondLst>
                            <p:childTnLst>
                              <p:par>
                                <p:cTn id="9" presetID="22" presetClass="entr" presetSubtype="8" fill="hold" grpId="2" nodeType="afterEffect">
                                  <p:stCondLst>
                                    <p:cond delay="0"/>
                                  </p:stCondLst>
                                  <p:childTnLst>
                                    <p:set>
                                      <p:cBhvr>
                                        <p:cTn id="10" dur="indefinite" fill="hold"/>
                                        <p:tgtEl>
                                          <p:spTgt spid="439"/>
                                        </p:tgtEl>
                                        <p:attrNameLst>
                                          <p:attrName>style.visibility</p:attrName>
                                        </p:attrNameLst>
                                      </p:cBhvr>
                                      <p:to>
                                        <p:strVal val="visible"/>
                                      </p:to>
                                    </p:set>
                                    <p:animEffect transition="in" filter="wipe(left)">
                                      <p:cBhvr>
                                        <p:cTn id="11" dur="1000"/>
                                        <p:tgtEl>
                                          <p:spTgt spid="439"/>
                                        </p:tgtEl>
                                      </p:cBhvr>
                                    </p:animEffect>
                                  </p:childTnLst>
                                </p:cTn>
                              </p:par>
                            </p:childTnLst>
                          </p:cTn>
                        </p:par>
                        <p:par>
                          <p:cTn id="12" fill="hold">
                            <p:stCondLst>
                              <p:cond delay="2000"/>
                            </p:stCondLst>
                            <p:childTnLst>
                              <p:par>
                                <p:cTn id="13" presetID="9" presetClass="entr" presetSubtype="0" fill="hold" grpId="3" nodeType="afterEffect">
                                  <p:stCondLst>
                                    <p:cond delay="0"/>
                                  </p:stCondLst>
                                  <p:childTnLst>
                                    <p:set>
                                      <p:cBhvr>
                                        <p:cTn id="14" dur="indefinite" fill="hold"/>
                                        <p:tgtEl>
                                          <p:spTgt spid="440"/>
                                        </p:tgtEl>
                                        <p:attrNameLst>
                                          <p:attrName>style.visibility</p:attrName>
                                        </p:attrNameLst>
                                      </p:cBhvr>
                                      <p:to>
                                        <p:strVal val="visible"/>
                                      </p:to>
                                    </p:set>
                                    <p:animEffect transition="in" filter="dissolve">
                                      <p:cBhvr>
                                        <p:cTn id="15" dur="1000"/>
                                        <p:tgtEl>
                                          <p:spTgt spid="440"/>
                                        </p:tgtEl>
                                      </p:cBhvr>
                                    </p:animEffect>
                                  </p:childTnLst>
                                </p:cTn>
                              </p:par>
                            </p:childTnLst>
                          </p:cTn>
                        </p:par>
                        <p:par>
                          <p:cTn id="16" fill="hold">
                            <p:stCondLst>
                              <p:cond delay="3000"/>
                            </p:stCondLst>
                            <p:childTnLst>
                              <p:par>
                                <p:cTn id="17" presetID="9" presetClass="entr" presetSubtype="0" fill="hold" grpId="4" nodeType="afterEffect">
                                  <p:stCondLst>
                                    <p:cond delay="0"/>
                                  </p:stCondLst>
                                  <p:childTnLst>
                                    <p:set>
                                      <p:cBhvr>
                                        <p:cTn id="18" dur="indefinite" fill="hold"/>
                                        <p:tgtEl>
                                          <p:spTgt spid="441"/>
                                        </p:tgtEl>
                                        <p:attrNameLst>
                                          <p:attrName>style.visibility</p:attrName>
                                        </p:attrNameLst>
                                      </p:cBhvr>
                                      <p:to>
                                        <p:strVal val="visible"/>
                                      </p:to>
                                    </p:set>
                                    <p:animEffect transition="in" filter="dissolve">
                                      <p:cBhvr>
                                        <p:cTn id="19" dur="1000"/>
                                        <p:tgtEl>
                                          <p:spTgt spid="441"/>
                                        </p:tgtEl>
                                      </p:cBhvr>
                                    </p:animEffect>
                                  </p:childTnLst>
                                </p:cTn>
                              </p:par>
                            </p:childTnLst>
                          </p:cTn>
                        </p:par>
                        <p:par>
                          <p:cTn id="20" fill="hold">
                            <p:stCondLst>
                              <p:cond delay="4000"/>
                            </p:stCondLst>
                            <p:childTnLst>
                              <p:par>
                                <p:cTn id="21" presetID="2" presetClass="entr" presetSubtype="8" fill="hold" grpId="5" nodeType="afterEffect">
                                  <p:stCondLst>
                                    <p:cond delay="0"/>
                                  </p:stCondLst>
                                  <p:childTnLst>
                                    <p:set>
                                      <p:cBhvr>
                                        <p:cTn id="22" dur="indefinite" fill="hold"/>
                                        <p:tgtEl>
                                          <p:spTgt spid="442"/>
                                        </p:tgtEl>
                                        <p:attrNameLst>
                                          <p:attrName>style.visibility</p:attrName>
                                        </p:attrNameLst>
                                      </p:cBhvr>
                                      <p:to>
                                        <p:strVal val="visible"/>
                                      </p:to>
                                    </p:set>
                                    <p:anim calcmode="lin" valueType="num">
                                      <p:cBhvr>
                                        <p:cTn id="23" dur="1000" fill="hold"/>
                                        <p:tgtEl>
                                          <p:spTgt spid="442"/>
                                        </p:tgtEl>
                                        <p:attrNameLst>
                                          <p:attrName>ppt_x</p:attrName>
                                        </p:attrNameLst>
                                      </p:cBhvr>
                                      <p:tavLst>
                                        <p:tav tm="0">
                                          <p:val>
                                            <p:strVal val="0-#ppt_w/2"/>
                                          </p:val>
                                        </p:tav>
                                        <p:tav tm="100000">
                                          <p:val>
                                            <p:strVal val="#ppt_x"/>
                                          </p:val>
                                        </p:tav>
                                      </p:tavLst>
                                    </p:anim>
                                    <p:anim calcmode="lin" valueType="num">
                                      <p:cBhvr>
                                        <p:cTn id="24" dur="1000" fill="hold"/>
                                        <p:tgtEl>
                                          <p:spTgt spid="4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1" animBg="1" advAuto="0"/>
      <p:bldP spid="439" grpId="2" animBg="1" advAuto="0"/>
      <p:bldP spid="440" grpId="3" animBg="1" advAuto="0"/>
      <p:bldP spid="441" grpId="4" animBg="1" advAuto="0"/>
      <p:bldP spid="442" grpId="5" animBg="1" advAuto="0"/>
    </p:bldLst>
  </p:timing>
</p:sld>
</file>

<file path=ppt/theme/theme1.xml><?xml version="1.0" encoding="utf-8"?>
<a:theme xmlns:a="http://schemas.openxmlformats.org/drawingml/2006/main" name="Office 主题">
  <a:themeElements>
    <a:clrScheme name="Office 主题">
      <a:dk1>
        <a:srgbClr val="000000"/>
      </a:dk1>
      <a:lt1>
        <a:srgbClr val="F8F8F8"/>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5647</Words>
  <Application>WPS 演示</Application>
  <PresentationFormat>宽屏</PresentationFormat>
  <Paragraphs>387</Paragraphs>
  <Slides>49</Slides>
  <Notes>0</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49</vt:i4>
      </vt:variant>
    </vt:vector>
  </HeadingPairs>
  <TitlesOfParts>
    <vt:vector size="77" baseType="lpstr">
      <vt:lpstr>Arial</vt:lpstr>
      <vt:lpstr>方正书宋_GBK</vt:lpstr>
      <vt:lpstr>Wingdings</vt:lpstr>
      <vt:lpstr>Calibri</vt:lpstr>
      <vt:lpstr>Helvetica Neue</vt:lpstr>
      <vt:lpstr>Calibri Light</vt:lpstr>
      <vt:lpstr>Arial</vt:lpstr>
      <vt:lpstr>Times New Roman</vt:lpstr>
      <vt:lpstr>Century Schoolbook</vt:lpstr>
      <vt:lpstr>华文宋体</vt:lpstr>
      <vt:lpstr>微软雅黑</vt:lpstr>
      <vt:lpstr>汉仪旗黑</vt:lpstr>
      <vt:lpstr>华文楷体</vt:lpstr>
      <vt:lpstr>宋体</vt:lpstr>
      <vt:lpstr>汉仪书宋二KW</vt:lpstr>
      <vt:lpstr>Helvetica</vt:lpstr>
      <vt:lpstr>楷体_GB2312</vt:lpstr>
      <vt:lpstr>汉仪楷体简</vt:lpstr>
      <vt:lpstr>楷体</vt:lpstr>
      <vt:lpstr>汉仪楷体KW</vt:lpstr>
      <vt:lpstr>Verdana</vt:lpstr>
      <vt:lpstr>宋体</vt:lpstr>
      <vt:lpstr>Arial Unicode MS</vt:lpstr>
      <vt:lpstr>Calibri</vt:lpstr>
      <vt:lpstr>Wingdings</vt:lpstr>
      <vt:lpstr>宋体-简</vt:lpstr>
      <vt:lpstr>苹方-简</vt:lpstr>
      <vt:lpstr>Office 主题</vt:lpstr>
      <vt:lpstr>PowerPoint 演示文稿</vt:lpstr>
      <vt:lpstr>电 影 的 声 音</vt:lpstr>
      <vt:lpstr>教学目标</vt:lpstr>
      <vt:lpstr>作业：</vt:lpstr>
      <vt:lpstr>本讲要点</vt:lpstr>
      <vt:lpstr>PowerPoint 演示文稿</vt:lpstr>
      <vt:lpstr>例    片</vt:lpstr>
      <vt:lpstr>PowerPoint 演示文稿</vt:lpstr>
      <vt:lpstr>电影的声音技术史</vt:lpstr>
      <vt:lpstr>电影的声音技术史</vt:lpstr>
      <vt:lpstr>默片表演大师：卓别林 https://www.iqiyi.com/v_19rrj5uk9k.html?vfm=m_502_sgss&amp;fv=p_05_01&amp;fv=bf562ffc1cd15119&amp;fromvsogou=1</vt:lpstr>
      <vt:lpstr>电影的声音技术史</vt:lpstr>
      <vt:lpstr>电影的声音技术史</vt:lpstr>
      <vt:lpstr>一、声音播放技术的发展</vt:lpstr>
      <vt:lpstr>二、视听艺术中“声”的三大要素</vt:lpstr>
      <vt:lpstr>音响概述</vt:lpstr>
      <vt:lpstr>音效认识的误区（不成熟的音响观念）</vt:lpstr>
      <vt:lpstr>音效的时空属性</vt:lpstr>
      <vt:lpstr>音效对画面的拓展和深化</vt:lpstr>
      <vt:lpstr>音效的分类</vt:lpstr>
      <vt:lpstr>PowerPoint 演示文稿</vt:lpstr>
      <vt:lpstr>PowerPoint 演示文稿</vt:lpstr>
      <vt:lpstr>PowerPoint 演示文稿</vt:lpstr>
      <vt:lpstr>PowerPoint 演示文稿</vt:lpstr>
      <vt:lpstr>PowerPoint 演示文稿</vt:lpstr>
      <vt:lpstr>PowerPoint 演示文稿</vt:lpstr>
      <vt:lpstr>拟音方法介绍</vt:lpstr>
      <vt:lpstr>人    声（语言）</vt:lpstr>
      <vt:lpstr>副言语</vt:lpstr>
      <vt:lpstr>PowerPoint 演示文稿</vt:lpstr>
      <vt:lpstr>录音方式</vt:lpstr>
      <vt:lpstr>自动对白替换（ADR）</vt:lpstr>
      <vt:lpstr>角色语言的艺术加工和创新</vt:lpstr>
      <vt:lpstr>音   乐</vt:lpstr>
      <vt:lpstr>音画关系</vt:lpstr>
      <vt:lpstr>音画同步的应用</vt:lpstr>
      <vt:lpstr>声音的剪辑功能</vt:lpstr>
      <vt:lpstr>声音与镜头的关系-同步</vt:lpstr>
      <vt:lpstr>声音与镜头的关系-非同步</vt:lpstr>
      <vt:lpstr>声音与镜头的关系-持续的声音对应于多个镜头</vt:lpstr>
      <vt:lpstr>声音与镜头的关系-声画无确定的对应关系</vt:lpstr>
      <vt:lpstr>PowerPoint 演示文稿</vt:lpstr>
      <vt:lpstr>声画同步</vt:lpstr>
      <vt:lpstr>声音提前</vt:lpstr>
      <vt:lpstr>声音滞后</vt:lpstr>
      <vt:lpstr>声音的淡出淡入 </vt:lpstr>
      <vt:lpstr>声音转换</vt:lpstr>
      <vt:lpstr>声音的切出切入</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tuhui</cp:lastModifiedBy>
  <cp:revision>10</cp:revision>
  <dcterms:created xsi:type="dcterms:W3CDTF">2020-11-04T14:13:56Z</dcterms:created>
  <dcterms:modified xsi:type="dcterms:W3CDTF">2020-11-04T14:13:56Z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2052-2.4.0.3964</vt:lpwstr>
  </property>
</Properties>
</file>