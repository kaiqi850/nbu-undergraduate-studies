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slideLayouts/slideLayout3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3" r:id="rId3"/>
    <p:sldMasterId id="2147483680" r:id="rId4"/>
  </p:sldMasterIdLst>
  <p:notesMasterIdLst>
    <p:notesMasterId r:id="rId31"/>
  </p:notesMasterIdLst>
  <p:sldIdLst>
    <p:sldId id="256" r:id="rId5"/>
    <p:sldId id="257" r:id="rId6"/>
    <p:sldId id="455" r:id="rId7"/>
    <p:sldId id="395" r:id="rId8"/>
    <p:sldId id="405" r:id="rId9"/>
    <p:sldId id="401" r:id="rId10"/>
    <p:sldId id="460" r:id="rId11"/>
    <p:sldId id="458" r:id="rId12"/>
    <p:sldId id="461" r:id="rId13"/>
    <p:sldId id="462" r:id="rId14"/>
    <p:sldId id="463" r:id="rId15"/>
    <p:sldId id="459" r:id="rId16"/>
    <p:sldId id="464" r:id="rId17"/>
    <p:sldId id="465" r:id="rId18"/>
    <p:sldId id="466" r:id="rId19"/>
    <p:sldId id="397" r:id="rId20"/>
    <p:sldId id="404" r:id="rId21"/>
    <p:sldId id="467" r:id="rId22"/>
    <p:sldId id="468" r:id="rId23"/>
    <p:sldId id="470" r:id="rId24"/>
    <p:sldId id="469" r:id="rId25"/>
    <p:sldId id="471" r:id="rId26"/>
    <p:sldId id="269" r:id="rId27"/>
    <p:sldId id="519" r:id="rId28"/>
    <p:sldId id="520" r:id="rId29"/>
    <p:sldId id="521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3B65B21-A95C-4A04-8F1D-84FBE9002DA2}">
          <p14:sldIdLst>
            <p14:sldId id="256"/>
            <p14:sldId id="257"/>
          </p14:sldIdLst>
        </p14:section>
        <p14:section name="深度学习训练原理简介" id="{0535FFEE-86C9-47BE-BA5D-130E4075DDE0}">
          <p14:sldIdLst>
            <p14:sldId id="455"/>
            <p14:sldId id="395"/>
          </p14:sldIdLst>
        </p14:section>
        <p14:section name="OOP+FP" id="{F5FFDBB7-DE7D-42BB-83F1-3720DBA63B7E}">
          <p14:sldIdLst>
            <p14:sldId id="405"/>
            <p14:sldId id="401"/>
            <p14:sldId id="460"/>
            <p14:sldId id="458"/>
            <p14:sldId id="461"/>
            <p14:sldId id="462"/>
            <p14:sldId id="463"/>
            <p14:sldId id="459"/>
            <p14:sldId id="464"/>
            <p14:sldId id="465"/>
            <p14:sldId id="466"/>
            <p14:sldId id="397"/>
            <p14:sldId id="404"/>
          </p14:sldIdLst>
        </p14:section>
        <p14:section name="函数式自动微分" id="{3E4C5F21-B5FD-455F-92E7-E8B87A0DD8A9}">
          <p14:sldIdLst>
            <p14:sldId id="467"/>
            <p14:sldId id="468"/>
          </p14:sldIdLst>
        </p14:section>
        <p14:section name="梯度操作" id="{74793CA3-2AEE-410E-9559-DCA9DEF49C1F}">
          <p14:sldIdLst>
            <p14:sldId id="470"/>
            <p14:sldId id="469"/>
          </p14:sldIdLst>
        </p14:section>
        <p14:section name="数据并行" id="{77C6777E-9158-4406-8E36-C6BCB1AA0E77}">
          <p14:sldIdLst>
            <p14:sldId id="471"/>
            <p14:sldId id="269"/>
            <p14:sldId id="519"/>
            <p14:sldId id="520"/>
            <p14:sldId id="52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01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2023/8/24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551909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39775" y="717550"/>
            <a:ext cx="5556250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47126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39775" y="717550"/>
            <a:ext cx="5556250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67271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42950" y="717550"/>
            <a:ext cx="5557838" cy="31257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804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2023/8/24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2023/8/24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2023/8/24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2023/8/24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2023/8/24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2023/8/24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2023/8/24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2023/8/24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2023/8/24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2023/8/24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2023/8/24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#修订记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3"/>
          <p:cNvGraphicFramePr>
            <a:graphicFrameLocks noGrp="1"/>
          </p:cNvGraphicFramePr>
          <p:nvPr userDrawn="1"/>
        </p:nvGraphicFramePr>
        <p:xfrm>
          <a:off x="1007140" y="1398424"/>
          <a:ext cx="10194260" cy="1082675"/>
        </p:xfrm>
        <a:graphic>
          <a:graphicData uri="http://schemas.openxmlformats.org/drawingml/2006/table">
            <a:tbl>
              <a:tblPr/>
              <a:tblGrid>
                <a:gridCol w="31190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3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4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课程编码</a:t>
                      </a: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适用产品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产品版本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课程版本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Group 21"/>
          <p:cNvGraphicFramePr>
            <a:graphicFrameLocks noGrp="1"/>
          </p:cNvGraphicFramePr>
          <p:nvPr userDrawn="1"/>
        </p:nvGraphicFramePr>
        <p:xfrm>
          <a:off x="1007140" y="2920836"/>
          <a:ext cx="10177327" cy="2549525"/>
        </p:xfrm>
        <a:graphic>
          <a:graphicData uri="http://schemas.openxmlformats.org/drawingml/2006/table">
            <a:tbl>
              <a:tblPr/>
              <a:tblGrid>
                <a:gridCol w="3119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3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76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作者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工号</a:t>
                      </a: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时间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审核人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工号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新开发/优化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文本占位符 7"/>
          <p:cNvSpPr>
            <a:spLocks noGrp="1"/>
          </p:cNvSpPr>
          <p:nvPr>
            <p:ph type="body" sz="quarter" idx="17" hasCustomPrompt="1"/>
          </p:nvPr>
        </p:nvSpPr>
        <p:spPr>
          <a:xfrm>
            <a:off x="1007139" y="1969626"/>
            <a:ext cx="3119030" cy="504887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课程编码</a:t>
            </a:r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8" hasCustomPrompt="1"/>
          </p:nvPr>
        </p:nvSpPr>
        <p:spPr>
          <a:xfrm>
            <a:off x="4126170" y="1969626"/>
            <a:ext cx="1967450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适用的产品</a:t>
            </a:r>
          </a:p>
        </p:txBody>
      </p:sp>
      <p:sp>
        <p:nvSpPr>
          <p:cNvPr id="7" name="文本占位符 7"/>
          <p:cNvSpPr>
            <a:spLocks noGrp="1"/>
          </p:cNvSpPr>
          <p:nvPr>
            <p:ph type="body" sz="quarter" idx="19" hasCustomPrompt="1"/>
          </p:nvPr>
        </p:nvSpPr>
        <p:spPr>
          <a:xfrm>
            <a:off x="6093619" y="1969626"/>
            <a:ext cx="3023155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V5R2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20" hasCustomPrompt="1"/>
          </p:nvPr>
        </p:nvSpPr>
        <p:spPr>
          <a:xfrm>
            <a:off x="9116775" y="1969626"/>
            <a:ext cx="2084625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lang="zh-CN" altLang="en-US" sz="1599" kern="1200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V1.0</a:t>
            </a:r>
            <a:endParaRPr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007042" y="3517796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0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4126170" y="3517796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11" name="文本占位符 7"/>
          <p:cNvSpPr>
            <a:spLocks noGrp="1"/>
          </p:cNvSpPr>
          <p:nvPr>
            <p:ph type="body" sz="quarter" idx="15" hasCustomPrompt="1"/>
          </p:nvPr>
        </p:nvSpPr>
        <p:spPr>
          <a:xfrm>
            <a:off x="6093619" y="3517796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2" name="文本占位符 7"/>
          <p:cNvSpPr>
            <a:spLocks noGrp="1"/>
          </p:cNvSpPr>
          <p:nvPr>
            <p:ph type="body" sz="quarter" idx="16" hasCustomPrompt="1"/>
          </p:nvPr>
        </p:nvSpPr>
        <p:spPr>
          <a:xfrm>
            <a:off x="9116775" y="3481792"/>
            <a:ext cx="2056050" cy="504056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新开发</a:t>
            </a:r>
          </a:p>
        </p:txBody>
      </p:sp>
      <p:sp>
        <p:nvSpPr>
          <p:cNvPr id="13" name="Rectangle 2"/>
          <p:cNvSpPr>
            <a:spLocks noChangeArrowheads="1"/>
          </p:cNvSpPr>
          <p:nvPr userDrawn="1"/>
        </p:nvSpPr>
        <p:spPr bwMode="auto">
          <a:xfrm>
            <a:off x="952130" y="368661"/>
            <a:ext cx="2802144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8227" tIns="39112" rIns="78227" bIns="39112" anchor="ctr"/>
          <a:lstStyle/>
          <a:p>
            <a:pPr algn="l" defTabSz="1001223" rtl="0" eaLnBrk="0" fontAlgn="ctr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499" b="0" kern="12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修订记录</a:t>
            </a:r>
          </a:p>
        </p:txBody>
      </p:sp>
      <p:sp>
        <p:nvSpPr>
          <p:cNvPr id="14" name="Text Box 58"/>
          <p:cNvSpPr txBox="1">
            <a:spLocks noChangeArrowheads="1"/>
          </p:cNvSpPr>
          <p:nvPr userDrawn="1"/>
        </p:nvSpPr>
        <p:spPr bwMode="auto">
          <a:xfrm>
            <a:off x="8900835" y="296652"/>
            <a:ext cx="2771225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lang="zh-CN" altLang="en-US" sz="3998" i="0" baseline="0" dirty="0">
                <a:solidFill>
                  <a:schemeClr val="bg2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本页不打印</a:t>
            </a:r>
          </a:p>
        </p:txBody>
      </p:sp>
      <p:sp>
        <p:nvSpPr>
          <p:cNvPr id="15" name="文本占位符 7"/>
          <p:cNvSpPr>
            <a:spLocks noGrp="1"/>
          </p:cNvSpPr>
          <p:nvPr>
            <p:ph type="body" sz="quarter" idx="21" hasCustomPrompt="1"/>
          </p:nvPr>
        </p:nvSpPr>
        <p:spPr>
          <a:xfrm>
            <a:off x="1007042" y="4021852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6" name="文本占位符 7"/>
          <p:cNvSpPr>
            <a:spLocks noGrp="1"/>
          </p:cNvSpPr>
          <p:nvPr>
            <p:ph type="body" sz="quarter" idx="22" hasCustomPrompt="1"/>
          </p:nvPr>
        </p:nvSpPr>
        <p:spPr>
          <a:xfrm>
            <a:off x="4126170" y="4021852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17" name="文本占位符 7"/>
          <p:cNvSpPr>
            <a:spLocks noGrp="1"/>
          </p:cNvSpPr>
          <p:nvPr>
            <p:ph type="body" sz="quarter" idx="23" hasCustomPrompt="1"/>
          </p:nvPr>
        </p:nvSpPr>
        <p:spPr>
          <a:xfrm>
            <a:off x="6093619" y="4021852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8" name="文本占位符 7"/>
          <p:cNvSpPr>
            <a:spLocks noGrp="1"/>
          </p:cNvSpPr>
          <p:nvPr>
            <p:ph type="body" sz="quarter" idx="24" hasCustomPrompt="1"/>
          </p:nvPr>
        </p:nvSpPr>
        <p:spPr>
          <a:xfrm>
            <a:off x="9116775" y="3985848"/>
            <a:ext cx="2084625" cy="504056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19" name="文本占位符 7"/>
          <p:cNvSpPr>
            <a:spLocks noGrp="1"/>
          </p:cNvSpPr>
          <p:nvPr>
            <p:ph type="body" sz="quarter" idx="25" hasCustomPrompt="1"/>
          </p:nvPr>
        </p:nvSpPr>
        <p:spPr>
          <a:xfrm>
            <a:off x="1007042" y="4489904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0" name="文本占位符 7"/>
          <p:cNvSpPr>
            <a:spLocks noGrp="1"/>
          </p:cNvSpPr>
          <p:nvPr>
            <p:ph type="body" sz="quarter" idx="26" hasCustomPrompt="1"/>
          </p:nvPr>
        </p:nvSpPr>
        <p:spPr>
          <a:xfrm>
            <a:off x="4126170" y="4489904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21" name="文本占位符 7"/>
          <p:cNvSpPr>
            <a:spLocks noGrp="1"/>
          </p:cNvSpPr>
          <p:nvPr>
            <p:ph type="body" sz="quarter" idx="27" hasCustomPrompt="1"/>
          </p:nvPr>
        </p:nvSpPr>
        <p:spPr>
          <a:xfrm>
            <a:off x="6093619" y="4489904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2" name="文本占位符 7"/>
          <p:cNvSpPr>
            <a:spLocks noGrp="1"/>
          </p:cNvSpPr>
          <p:nvPr>
            <p:ph type="body" sz="quarter" idx="28" hasCustomPrompt="1"/>
          </p:nvPr>
        </p:nvSpPr>
        <p:spPr>
          <a:xfrm>
            <a:off x="9116775" y="4489904"/>
            <a:ext cx="20560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23" name="文本占位符 7"/>
          <p:cNvSpPr>
            <a:spLocks noGrp="1"/>
          </p:cNvSpPr>
          <p:nvPr>
            <p:ph type="body" sz="quarter" idx="29" hasCustomPrompt="1"/>
          </p:nvPr>
        </p:nvSpPr>
        <p:spPr>
          <a:xfrm>
            <a:off x="1007042" y="4999074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4" name="文本占位符 7"/>
          <p:cNvSpPr>
            <a:spLocks noGrp="1"/>
          </p:cNvSpPr>
          <p:nvPr>
            <p:ph type="body" sz="quarter" idx="30" hasCustomPrompt="1"/>
          </p:nvPr>
        </p:nvSpPr>
        <p:spPr>
          <a:xfrm>
            <a:off x="4126170" y="4999074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lang="zh-CN" altLang="en-US" sz="1599" kern="1200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25" name="文本占位符 7"/>
          <p:cNvSpPr>
            <a:spLocks noGrp="1"/>
          </p:cNvSpPr>
          <p:nvPr>
            <p:ph type="body" sz="quarter" idx="31" hasCustomPrompt="1"/>
          </p:nvPr>
        </p:nvSpPr>
        <p:spPr>
          <a:xfrm>
            <a:off x="6093619" y="4999074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6" name="文本占位符 7"/>
          <p:cNvSpPr>
            <a:spLocks noGrp="1"/>
          </p:cNvSpPr>
          <p:nvPr>
            <p:ph type="body" sz="quarter" idx="32" hasCustomPrompt="1"/>
          </p:nvPr>
        </p:nvSpPr>
        <p:spPr>
          <a:xfrm>
            <a:off x="9116775" y="4999074"/>
            <a:ext cx="2084625" cy="468052"/>
          </a:xfrm>
          <a:prstGeom prst="rect">
            <a:avLst/>
          </a:prstGeom>
        </p:spPr>
        <p:txBody>
          <a:bodyPr anchor="ctr"/>
          <a:lstStyle>
            <a:lvl1pPr algn="ctr" fontAlgn="base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</p:spTree>
    <p:extLst>
      <p:ext uri="{BB962C8B-B14F-4D97-AF65-F5344CB8AC3E}">
        <p14:creationId xmlns:p14="http://schemas.microsoft.com/office/powerpoint/2010/main" val="12357111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#前言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fontAlgn="ctr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ctr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ctr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ctr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ctr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eaLnBrk="1" hangingPunct="1"/>
            <a:r>
              <a:rPr lang="zh-CN" altLang="en-US" dirty="0"/>
              <a:t>本章主要讲述</a:t>
            </a:r>
            <a:r>
              <a:rPr lang="en-US" altLang="zh-CN" dirty="0"/>
              <a:t>...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17614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前言</a:t>
            </a:r>
          </a:p>
        </p:txBody>
      </p:sp>
    </p:spTree>
    <p:extLst>
      <p:ext uri="{BB962C8B-B14F-4D97-AF65-F5344CB8AC3E}">
        <p14:creationId xmlns:p14="http://schemas.microsoft.com/office/powerpoint/2010/main" val="724882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#目标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eaLnBrk="1" fontAlgn="ctr" hangingPunct="1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ctr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ctr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ctr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ctr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eaLnBrk="1" hangingPunct="1"/>
            <a:r>
              <a:rPr lang="zh-CN" altLang="en-US" dirty="0"/>
              <a:t>学完本课程后，您将能够：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20820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01223" eaLnBrk="0" fontAlgn="ctr" hangingPunct="0"/>
            <a:r>
              <a:rPr lang="zh-CN" altLang="en-US" sz="3640" b="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目标</a:t>
            </a:r>
            <a:endParaRPr lang="en-US" altLang="zh-CN" sz="3640" b="0" baseline="0" dirty="0">
              <a:solidFill>
                <a:schemeClr val="tx1">
                  <a:lumMod val="75000"/>
                  <a:lumOff val="25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1987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#目录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68811"/>
          </a:xfrm>
          <a:prstGeom prst="rect">
            <a:avLst/>
          </a:prstGeom>
        </p:spPr>
        <p:txBody>
          <a:bodyPr/>
          <a:lstStyle>
            <a:lvl1pPr marL="457017" marR="0" indent="-457017" algn="just" defTabSz="801367" rtl="0" eaLnBrk="1" fontAlgn="ctr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 typeface="+mj-lt"/>
              <a:buAutoNum type="arabicPeriod"/>
              <a:tabLst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fontAlgn="ctr">
              <a:buClrTx/>
              <a:buSzPct val="100000"/>
              <a:buFont typeface="Huawei Sans" panose="020C0503030203020204" pitchFamily="34" charset="0"/>
              <a:buChar char="▫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一级目录一</a:t>
            </a:r>
            <a:endParaRPr lang="en-US" altLang="zh-CN" dirty="0"/>
          </a:p>
          <a:p>
            <a:pPr marL="653788" lvl="1" indent="-457017">
              <a:buSzPct val="100000"/>
              <a:buFont typeface="+mj-lt"/>
              <a:buAutoNum type="arabicPeriod"/>
            </a:pP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一级目录二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一级目录三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一级目录四</a:t>
            </a:r>
            <a:endParaRPr lang="en-US" altLang="zh-CN" dirty="0"/>
          </a:p>
          <a:p>
            <a:endParaRPr lang="zh-CN" altLang="en-US" dirty="0"/>
          </a:p>
        </p:txBody>
      </p:sp>
      <p:cxnSp>
        <p:nvCxnSpPr>
          <p:cNvPr id="28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defTabSz="1001223" eaLnBrk="0" fontAlgn="ctr" hangingPunct="0">
              <a:defRPr sz="364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28491387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#本节概述和学习目标(可选)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fontAlgn="ctr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ctr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ctr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ctr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ctr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414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4397358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01223" eaLnBrk="0" fontAlgn="ctr" hangingPunct="0"/>
            <a:r>
              <a:rPr lang="zh-CN" altLang="en-US" sz="3640" b="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本节概述和学习目标</a:t>
            </a:r>
          </a:p>
        </p:txBody>
      </p:sp>
    </p:spTree>
    <p:extLst>
      <p:ext uri="{BB962C8B-B14F-4D97-AF65-F5344CB8AC3E}">
        <p14:creationId xmlns:p14="http://schemas.microsoft.com/office/powerpoint/2010/main" val="3044737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0#思考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6" y="1844675"/>
            <a:ext cx="10153650" cy="4068812"/>
          </a:xfrm>
          <a:prstGeom prst="rect">
            <a:avLst/>
          </a:prstGeom>
        </p:spPr>
        <p:txBody>
          <a:bodyPr/>
          <a:lstStyle>
            <a:lvl1pPr marL="457200" marR="0" indent="-457200" algn="just" defTabSz="801688" rtl="0" eaLnBrk="1" fontAlgn="ctr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+mj-lt"/>
              <a:buAutoNum type="arabicPeriod"/>
              <a:tabLst/>
              <a:defRPr sz="20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744537" indent="-342900" algn="just" fontAlgn="ctr">
              <a:buSzPct val="100000"/>
              <a:buFont typeface="+mj-lt"/>
              <a:buAutoNum type="alphaUcPeriod"/>
              <a:defRPr sz="1800" baseline="0">
                <a:latin typeface="Huawei Sans" panose="020C0503030203020204" pitchFamily="34" charset="0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r>
              <a:rPr lang="zh-CN" altLang="en-US" dirty="0"/>
              <a:t>此版式用于思考题具体格式</a:t>
            </a:r>
            <a:endParaRPr lang="en-US" altLang="zh-CN" dirty="0"/>
          </a:p>
        </p:txBody>
      </p:sp>
      <p:cxnSp>
        <p:nvCxnSpPr>
          <p:cNvPr id="2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368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584088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思考题</a:t>
            </a:r>
          </a:p>
        </p:txBody>
      </p:sp>
    </p:spTree>
    <p:extLst>
      <p:ext uri="{BB962C8B-B14F-4D97-AF65-F5344CB8AC3E}">
        <p14:creationId xmlns:p14="http://schemas.microsoft.com/office/powerpoint/2010/main" val="29828068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1#本节小结（可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/>
              <a:t>此版式用于每一节的小结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11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本节小结</a:t>
            </a:r>
          </a:p>
        </p:txBody>
      </p:sp>
    </p:spTree>
    <p:extLst>
      <p:ext uri="{BB962C8B-B14F-4D97-AF65-F5344CB8AC3E}">
        <p14:creationId xmlns:p14="http://schemas.microsoft.com/office/powerpoint/2010/main" val="10532787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2#本章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9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本章总结</a:t>
            </a:r>
          </a:p>
        </p:txBody>
      </p:sp>
    </p:spTree>
    <p:extLst>
      <p:ext uri="{BB962C8B-B14F-4D97-AF65-F5344CB8AC3E}">
        <p14:creationId xmlns:p14="http://schemas.microsoft.com/office/powerpoint/2010/main" val="20370097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3#更多信息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5pPr>
              <a:buNone/>
              <a:defRPr/>
            </a:lvl5pPr>
          </a:lstStyle>
          <a:p>
            <a:r>
              <a:rPr lang="zh-CN" altLang="en-US" dirty="0"/>
              <a:t>此版式用于提供给学员更多学习信息。</a:t>
            </a:r>
          </a:p>
        </p:txBody>
      </p:sp>
      <p:cxnSp>
        <p:nvCxnSpPr>
          <p:cNvPr id="12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更多信息</a:t>
            </a:r>
          </a:p>
        </p:txBody>
      </p:sp>
    </p:spTree>
    <p:extLst>
      <p:ext uri="{BB962C8B-B14F-4D97-AF65-F5344CB8AC3E}">
        <p14:creationId xmlns:p14="http://schemas.microsoft.com/office/powerpoint/2010/main" val="3473678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4#学习推荐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endParaRPr lang="zh-CN" altLang="en-US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学习推荐</a:t>
            </a:r>
          </a:p>
        </p:txBody>
      </p:sp>
    </p:spTree>
    <p:extLst>
      <p:ext uri="{BB962C8B-B14F-4D97-AF65-F5344CB8AC3E}">
        <p14:creationId xmlns:p14="http://schemas.microsoft.com/office/powerpoint/2010/main" val="28385783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8#仅标题（两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5613" y="447468"/>
            <a:ext cx="1129347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141534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#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5612" y="447468"/>
            <a:ext cx="1129347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1484312"/>
            <a:ext cx="11293476" cy="4443243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29959743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*#标题和内容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5613" y="447468"/>
            <a:ext cx="11293474" cy="48598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1047750"/>
            <a:ext cx="11293475" cy="4879805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1178018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5">
          <p15:clr>
            <a:srgbClr val="FBAE40"/>
          </p15:clr>
        </p15:guide>
        <p15:guide id="2" orient="horz" pos="663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#仅标题（两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5613" y="447468"/>
            <a:ext cx="1129347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3275943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*#仅标题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452438" y="447468"/>
            <a:ext cx="11296649" cy="49709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953728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5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9#全白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11659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5#目录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68811"/>
          </a:xfrm>
          <a:prstGeom prst="rect">
            <a:avLst/>
          </a:prstGeom>
        </p:spPr>
        <p:txBody>
          <a:bodyPr/>
          <a:lstStyle>
            <a:lvl1pPr marL="457017" marR="0" indent="-457017" algn="just" defTabSz="801367" rtl="0" eaLnBrk="1" fontAlgn="ctr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 typeface="+mj-lt"/>
              <a:buAutoNum type="arabicPeriod"/>
              <a:tabLst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fontAlgn="ctr">
              <a:buClrTx/>
              <a:buSzPct val="100000"/>
              <a:buFont typeface="Huawei Sans" panose="020C0503030203020204" pitchFamily="34" charset="0"/>
              <a:buChar char="▫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一级目录一</a:t>
            </a:r>
            <a:endParaRPr lang="en-US" altLang="zh-CN" dirty="0"/>
          </a:p>
          <a:p>
            <a:pPr marL="653788" lvl="1" indent="-457017">
              <a:buSzPct val="100000"/>
              <a:buFont typeface="+mj-lt"/>
              <a:buAutoNum type="arabicPeriod"/>
            </a:pP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一级目录二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一级目录三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一级目录四</a:t>
            </a:r>
            <a:endParaRPr lang="en-US" altLang="zh-CN" dirty="0"/>
          </a:p>
          <a:p>
            <a:endParaRPr lang="zh-CN" altLang="en-US" dirty="0"/>
          </a:p>
        </p:txBody>
      </p:sp>
      <p:cxnSp>
        <p:nvCxnSpPr>
          <p:cNvPr id="28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defTabSz="1001223" eaLnBrk="0" fontAlgn="ctr" hangingPunct="0">
              <a:defRPr sz="364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3509909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5#谢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2AF307D-40F4-EC4C-9108-79E948007529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2151448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26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2023/8/24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等线" panose="02010600030101010101" charset="-122"/>
          <a:ea typeface="等线" panose="02010600030101010101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等线" panose="02010600030101010101" charset="-122"/>
          <a:ea typeface="等线" panose="0201060003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等线" panose="02010600030101010101" charset="-122"/>
          <a:ea typeface="等线" panose="0201060003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等线" panose="02010600030101010101" charset="-122"/>
          <a:ea typeface="等线" panose="0201060003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等线" panose="02010600030101010101" charset="-122"/>
          <a:ea typeface="等线" panose="0201060003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Huawei Confidential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baseline="0" smtClean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7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28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196/0/84</a:t>
              </a:r>
            </a:p>
          </p:txBody>
        </p:sp>
        <p:sp>
          <p:nvSpPr>
            <p:cNvPr id="29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公司辅助色</a:t>
              </a:r>
            </a:p>
          </p:txBody>
        </p:sp>
        <p:sp>
          <p:nvSpPr>
            <p:cNvPr id="30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203/55/120</a:t>
              </a:r>
            </a:p>
          </p:txBody>
        </p:sp>
        <p:sp>
          <p:nvSpPr>
            <p:cNvPr id="31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237/109/0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153/54/54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98/178/48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199/0/11  </a:t>
              </a:r>
            </a:p>
          </p:txBody>
        </p:sp>
        <p:sp>
          <p:nvSpPr>
            <p:cNvPr id="36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公司色</a:t>
              </a: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200/16/46  </a:t>
              </a:r>
            </a:p>
          </p:txBody>
        </p:sp>
        <p:sp>
          <p:nvSpPr>
            <p:cNvPr id="38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127/0/1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52/200/0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48/181/197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129/193/95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253/211/81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86/196/210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211/57/65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211/56/89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221/128/170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191/128/130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176/216/156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253/227/181</a:t>
              </a: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148/218/226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226/129/137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226/129/152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235/179/204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216/179/179</a:t>
              </a: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77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208/232/196</a:t>
              </a: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254/238/193</a:t>
              </a: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190/23/238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239/178/184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238/179/193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35/24/21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89/87/87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221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9238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034" rtl="0" eaLnBrk="1" fontAlgn="ctr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79" indent="-302279" algn="l" defTabSz="914034" rtl="0" eaLnBrk="1" fontAlgn="ctr" latinLnBrk="0" hangingPunct="1">
        <a:lnSpc>
          <a:spcPct val="140000"/>
        </a:lnSpc>
        <a:spcBef>
          <a:spcPts val="792"/>
        </a:spcBef>
        <a:buSzPct val="50000"/>
        <a:buFont typeface="Wingdings" panose="05000000000000000000" pitchFamily="2" charset="2"/>
        <a:buChar char="l"/>
        <a:defRPr sz="21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938" indent="-251899" algn="l" defTabSz="914034" rtl="0" eaLnBrk="1" fontAlgn="ctr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19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98" indent="-201519" algn="l" defTabSz="914034" rtl="0" eaLnBrk="1" fontAlgn="ctr" latinLnBrk="0" hangingPunct="1">
        <a:lnSpc>
          <a:spcPct val="140000"/>
        </a:lnSpc>
        <a:spcBef>
          <a:spcPts val="648"/>
        </a:spcBef>
        <a:buClrTx/>
        <a:buSzPct val="50000"/>
        <a:buFont typeface="Wingdings" panose="05000000000000000000" pitchFamily="2" charset="2"/>
        <a:buChar char="n"/>
        <a:defRPr sz="17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840" indent="-197921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−"/>
        <a:defRPr sz="15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879" indent="-201519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~"/>
        <a:defRPr sz="13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42">
          <p15:clr>
            <a:srgbClr val="F26B43"/>
          </p15:clr>
        </p15:guide>
        <p15:guide id="2" pos="7038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1162">
          <p15:clr>
            <a:srgbClr val="F26B43"/>
          </p15:clr>
        </p15:guide>
        <p15:guide id="6" pos="3840">
          <p15:clr>
            <a:srgbClr val="F26B43"/>
          </p15:clr>
        </p15:guide>
        <p15:guide id="7" orient="horz" pos="731">
          <p15:clr>
            <a:srgbClr val="F26B43"/>
          </p15:clr>
        </p15:guide>
        <p15:guide id="8" orient="horz" pos="867">
          <p15:clr>
            <a:srgbClr val="F26B43"/>
          </p15:clr>
        </p15:guide>
        <p15:guide id="9" orient="horz" pos="234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457905" y="457499"/>
            <a:ext cx="11291061" cy="98011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28" name="Rectangle 5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1484313"/>
            <a:ext cx="11293475" cy="4443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Huawei Confidential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baseline="0" smtClean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9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196/0/84</a:t>
              </a:r>
            </a:p>
          </p:txBody>
        </p:sp>
        <p:sp>
          <p:nvSpPr>
            <p:cNvPr id="31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公司辅助色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203/55/120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237/109/0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153/54/54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98/178/48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199/0/11  </a:t>
              </a:r>
            </a:p>
          </p:txBody>
        </p:sp>
        <p:sp>
          <p:nvSpPr>
            <p:cNvPr id="38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公司色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200/16/46  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127/0/1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52/200/0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48/181/197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129/193/95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253/211/81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86/196/210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211/57/65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211/56/89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221/128/170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191/128/130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176/216/156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253/227/181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148/218/226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226/129/137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226/129/152</a:t>
              </a: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235/179/204</a:t>
              </a:r>
            </a:p>
          </p:txBody>
        </p:sp>
        <p:sp>
          <p:nvSpPr>
            <p:cNvPr id="77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216/179/179</a:t>
              </a: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208/232/196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254/238/193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190/23/238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239/178/184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238/179/193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35/24/21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89/87/87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</a:t>
              </a:r>
            </a:p>
          </p:txBody>
        </p:sp>
        <p:sp>
          <p:nvSpPr>
            <p:cNvPr id="88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221</a:t>
              </a:r>
            </a:p>
          </p:txBody>
        </p:sp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59326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</p:sldLayoutIdLst>
  <p:txStyles>
    <p:titleStyle>
      <a:lvl1pPr algn="l" defTabSz="914034" rtl="0" eaLnBrk="1" fontAlgn="base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79" indent="-302279" algn="l" defTabSz="914034" rtl="0" eaLnBrk="1" fontAlgn="ctr" latinLnBrk="0" hangingPunct="1">
        <a:lnSpc>
          <a:spcPct val="140000"/>
        </a:lnSpc>
        <a:spcBef>
          <a:spcPts val="792"/>
        </a:spcBef>
        <a:buSzPct val="50000"/>
        <a:buFont typeface="Wingdings" panose="05000000000000000000" pitchFamily="2" charset="2"/>
        <a:buChar char="l"/>
        <a:defRPr sz="21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938" indent="-251899" algn="l" defTabSz="914034" rtl="0" eaLnBrk="1" fontAlgn="ctr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19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98" indent="-201519" algn="l" defTabSz="914034" rtl="0" eaLnBrk="1" fontAlgn="ctr" latinLnBrk="0" hangingPunct="1">
        <a:lnSpc>
          <a:spcPct val="140000"/>
        </a:lnSpc>
        <a:spcBef>
          <a:spcPts val="648"/>
        </a:spcBef>
        <a:buClrTx/>
        <a:buSzPct val="50000"/>
        <a:buFont typeface="Wingdings" panose="05000000000000000000" pitchFamily="2" charset="2"/>
        <a:buChar char="n"/>
        <a:defRPr sz="17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840" indent="-197921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−"/>
        <a:defRPr sz="15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879" indent="-201519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~"/>
        <a:defRPr sz="13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9">
          <p15:clr>
            <a:srgbClr val="F26B43"/>
          </p15:clr>
        </p15:guide>
        <p15:guide id="2" pos="7401">
          <p15:clr>
            <a:srgbClr val="F26B43"/>
          </p15:clr>
        </p15:guide>
        <p15:guide id="3" orient="horz" pos="2341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935">
          <p15:clr>
            <a:srgbClr val="F26B43"/>
          </p15:clr>
        </p15:guide>
        <p15:guide id="6" pos="3840">
          <p15:clr>
            <a:srgbClr val="F26B43"/>
          </p15:clr>
        </p15:guide>
        <p15:guide id="7" orient="horz" pos="278">
          <p15:clr>
            <a:srgbClr val="F26B43"/>
          </p15:clr>
        </p15:guide>
        <p15:guide id="8" orient="horz" pos="913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31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8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45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46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47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48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49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50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1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52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53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54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55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56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57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58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9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60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61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62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63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64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sp>
        <p:nvSpPr>
          <p:cNvPr id="70" name="Title Placeholder 1">
            <a:extLst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1" name="Text Placeholder 1">
            <a:extLst>
              <a:ext uri="{FF2B5EF4-FFF2-40B4-BE49-F238E27FC236}">
                <a16:creationId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Copyright©2021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72" name="Subtitle 6">
            <a:extLst>
              <a:ext uri="{FF2B5EF4-FFF2-40B4-BE49-F238E27FC236}">
                <a16:creationId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3" name="Subtitle 6">
            <a:extLst>
              <a:ext uri="{FF2B5EF4-FFF2-40B4-BE49-F238E27FC236}">
                <a16:creationId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74" name="图片 7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7" y="5251150"/>
            <a:ext cx="1869596" cy="39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394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4998" b="0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Huawei Sans" panose="020C0503030203020204" pitchFamily="34" charset="0"/>
        </a:defRPr>
      </a:lvl1pPr>
    </p:titleStyle>
    <p:bodyStyle>
      <a:lvl1pPr marL="0" indent="0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None/>
        <a:defRPr sz="1818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662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61">
          <p15:clr>
            <a:srgbClr val="F26B43"/>
          </p15:clr>
        </p15:guide>
        <p15:guide id="4" pos="719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hyperlink" Target="https://gitee.com/mindspore/community" TargetMode="External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Relationship Id="rId6" Type="http://schemas.openxmlformats.org/officeDocument/2006/relationships/hyperlink" Target="https://www.mindspore.cn/evangelist" TargetMode="External"/><Relationship Id="rId11" Type="http://schemas.openxmlformats.org/officeDocument/2006/relationships/image" Target="../media/image38.png"/><Relationship Id="rId5" Type="http://schemas.openxmlformats.org/officeDocument/2006/relationships/hyperlink" Target="https://openi.pcl.ac.cn/" TargetMode="External"/><Relationship Id="rId10" Type="http://schemas.openxmlformats.org/officeDocument/2006/relationships/image" Target="../media/image37.png"/><Relationship Id="rId4" Type="http://schemas.openxmlformats.org/officeDocument/2006/relationships/hyperlink" Target="https://edu.hicomputing.huawei.com/" TargetMode="External"/><Relationship Id="rId9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266690" y="889000"/>
            <a:ext cx="6264275" cy="1681480"/>
          </a:xfrm>
        </p:spPr>
        <p:txBody>
          <a:bodyPr>
            <a:normAutofit fontScale="90000"/>
          </a:bodyPr>
          <a:lstStyle/>
          <a:p>
            <a:r>
              <a:rPr sz="4800" b="1" dirty="0">
                <a:latin typeface="+mn-lt"/>
                <a:ea typeface="+mn-ea"/>
                <a:cs typeface="+mn-ea"/>
                <a:sym typeface="+mn-lt"/>
              </a:rPr>
              <a:t>如何使用</a:t>
            </a:r>
            <a:r>
              <a:rPr lang="en-US" sz="4800" b="1" dirty="0">
                <a:latin typeface="+mn-lt"/>
                <a:ea typeface="+mn-ea"/>
                <a:cs typeface="+mn-ea"/>
                <a:sym typeface="+mn-lt"/>
              </a:rPr>
              <a:t>MindSpore</a:t>
            </a:r>
            <a:r>
              <a:rPr sz="4800" b="1" dirty="0">
                <a:latin typeface="+mn-lt"/>
                <a:ea typeface="+mn-ea"/>
                <a:cs typeface="+mn-ea"/>
                <a:sym typeface="+mn-lt"/>
              </a:rPr>
              <a:t>2.0</a:t>
            </a:r>
            <a:r>
              <a:rPr lang="zh-CN" sz="4800" b="1" dirty="0">
                <a:latin typeface="+mn-lt"/>
                <a:ea typeface="+mn-ea"/>
                <a:cs typeface="+mn-ea"/>
                <a:sym typeface="+mn-lt"/>
              </a:rPr>
              <a:t>做</a:t>
            </a:r>
            <a:r>
              <a:rPr sz="4800" b="1" dirty="0" err="1">
                <a:latin typeface="+mn-lt"/>
                <a:ea typeface="+mn-ea"/>
                <a:cs typeface="+mn-ea"/>
                <a:sym typeface="+mn-lt"/>
              </a:rPr>
              <a:t>深度学习训练</a:t>
            </a:r>
            <a:endParaRPr sz="48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993130" y="3642995"/>
            <a:ext cx="4806315" cy="1426845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吕昱峰</a:t>
            </a:r>
          </a:p>
        </p:txBody>
      </p:sp>
      <p:pic>
        <p:nvPicPr>
          <p:cNvPr id="4" name="图片 3" descr="图片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7245" y="6055995"/>
            <a:ext cx="1971675" cy="4286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 rotWithShape="1">
          <a:blip r:embed="rId3" cstate="email"/>
          <a:srcRect/>
          <a:stretch>
            <a:fillRect/>
          </a:stretch>
        </p:blipFill>
        <p:spPr>
          <a:xfrm>
            <a:off x="6689508" y="0"/>
            <a:ext cx="5507254" cy="6858000"/>
          </a:xfrm>
          <a:prstGeom prst="rect">
            <a:avLst/>
          </a:prstGeom>
        </p:spPr>
      </p:pic>
      <p:sp>
        <p:nvSpPr>
          <p:cNvPr id="31" name="矩形 30"/>
          <p:cNvSpPr/>
          <p:nvPr/>
        </p:nvSpPr>
        <p:spPr>
          <a:xfrm>
            <a:off x="5193450" y="1"/>
            <a:ext cx="4755631" cy="6858000"/>
          </a:xfrm>
          <a:prstGeom prst="rect">
            <a:avLst/>
          </a:prstGeom>
          <a:gradFill flip="none" rotWithShape="1">
            <a:gsLst>
              <a:gs pos="0">
                <a:srgbClr val="4472C4">
                  <a:lumMod val="5000"/>
                  <a:lumOff val="95000"/>
                  <a:alpha val="0"/>
                </a:srgbClr>
              </a:gs>
              <a:gs pos="11000">
                <a:sysClr val="window" lastClr="FFFFFF">
                  <a:alpha val="8000"/>
                </a:sysClr>
              </a:gs>
              <a:gs pos="35000">
                <a:sysClr val="window" lastClr="FFFFFF">
                  <a:alpha val="73000"/>
                </a:sysClr>
              </a:gs>
              <a:gs pos="58000">
                <a:srgbClr val="FFFFFF"/>
              </a:gs>
              <a:gs pos="79174">
                <a:srgbClr val="FFFFFF"/>
              </a:gs>
              <a:gs pos="89983">
                <a:srgbClr val="FFFFFF"/>
              </a:gs>
              <a:gs pos="100000">
                <a:sysClr val="window" lastClr="FFFFFF"/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1219200"/>
            <a:endParaRPr lang="en-US" sz="2400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dirty="0">
                <a:latin typeface="+mn-lt"/>
                <a:ea typeface="+mn-ea"/>
                <a:cs typeface="+mn-ea"/>
                <a:sym typeface="+mn-lt"/>
              </a:rPr>
              <a:t>深度学习训练原理简介</a:t>
            </a:r>
          </a:p>
          <a:p>
            <a:r>
              <a:rPr lang="en-US" dirty="0" err="1">
                <a:latin typeface="+mn-lt"/>
                <a:ea typeface="+mn-ea"/>
                <a:cs typeface="+mn-ea"/>
                <a:sym typeface="+mn-lt"/>
              </a:rPr>
              <a:t>MindSpore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函数式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+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面向对象融合编程范式</a:t>
            </a:r>
          </a:p>
          <a:p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函数式自动微分</a:t>
            </a:r>
            <a:endParaRPr lang="en-US" altLang="zh-CN" dirty="0">
              <a:solidFill>
                <a:schemeClr val="accent1">
                  <a:lumMod val="7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梯度操作</a:t>
            </a:r>
          </a:p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数据并行</a:t>
            </a:r>
          </a:p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自动混合精度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深度学习全流程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数据预处理：将图像、文本等数据处理为</a:t>
            </a:r>
            <a:r>
              <a:rPr lang="zh-CN" altLang="en-US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可以计算的</a:t>
            </a:r>
            <a:r>
              <a:rPr lang="en-US" altLang="zh-CN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Tensor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  <a:p>
            <a:pPr marL="514350" indent="-514350">
              <a:buAutoNum type="arabicPeriod"/>
            </a:pP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神经网络构建：</a:t>
            </a:r>
            <a:r>
              <a:rPr lang="zh-CN" altLang="en-US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使用框架</a:t>
            </a:r>
            <a:r>
              <a:rPr lang="en-US" altLang="zh-CN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API</a:t>
            </a:r>
            <a:r>
              <a:rPr lang="zh-CN" altLang="en-US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，搭建神经网络</a:t>
            </a:r>
          </a:p>
          <a:p>
            <a:pPr marL="514350" indent="-514350">
              <a:buAutoNum type="arabicPeriod"/>
            </a:pP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模型训练：</a:t>
            </a:r>
            <a:r>
              <a:rPr lang="zh-CN" altLang="en-US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定义模型</a:t>
            </a:r>
            <a:r>
              <a:rPr lang="zh-CN" altLang="en-US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训练逻辑</a:t>
            </a:r>
            <a:r>
              <a:rPr lang="zh-CN" altLang="en-US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，遍历</a:t>
            </a:r>
            <a:r>
              <a:rPr lang="zh-CN" altLang="en-US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训练集</a:t>
            </a:r>
            <a:r>
              <a:rPr lang="zh-CN" altLang="en-US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进行训练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pPr marL="514350" indent="-514350">
              <a:buAutoNum type="arabicPeriod"/>
            </a:pP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模型评估：</a:t>
            </a:r>
            <a:r>
              <a:rPr lang="zh-CN" altLang="en-US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使用训练好的模型，在</a:t>
            </a:r>
            <a:r>
              <a:rPr lang="zh-CN" altLang="en-US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测试集</a:t>
            </a:r>
            <a:r>
              <a:rPr lang="zh-CN" altLang="en-US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评估效果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pPr marL="514350" indent="-514350">
              <a:buAutoNum type="arabicPeriod"/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模型推理：将训练好的模型部署，新数据输入获得预测结果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8745" y="131445"/>
            <a:ext cx="7192645" cy="3356610"/>
          </a:xfrm>
          <a:prstGeom prst="rect">
            <a:avLst/>
          </a:prstGeom>
        </p:spPr>
      </p:pic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1210310" y="3822700"/>
            <a:ext cx="10515600" cy="2181860"/>
          </a:xfrm>
        </p:spPr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正向计算结果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(logits)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计算结果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(logits)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与正确标签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(targets)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的误差</a:t>
            </a:r>
          </a:p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反向传播获取梯度</a:t>
            </a:r>
          </a:p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更新梯度到网络权重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面向对象</a:t>
            </a: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(OOP)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和函数式</a:t>
            </a: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(FP)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0565" y="2183130"/>
            <a:ext cx="4669155" cy="30124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0230" y="1719368"/>
            <a:ext cx="4804410" cy="387731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830070" y="1691005"/>
            <a:ext cx="2536272" cy="5232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2800">
                <a:cs typeface="+mn-ea"/>
                <a:sym typeface="+mn-lt"/>
              </a:rPr>
              <a:t>OOP</a:t>
            </a:r>
            <a:r>
              <a:rPr lang="zh-CN" altLang="en-US" sz="2800">
                <a:cs typeface="+mn-ea"/>
                <a:sym typeface="+mn-lt"/>
              </a:rPr>
              <a:t>：</a:t>
            </a:r>
            <a:r>
              <a:rPr lang="en-US" altLang="zh-CN" sz="2800">
                <a:cs typeface="+mn-ea"/>
                <a:sym typeface="+mn-lt"/>
              </a:rPr>
              <a:t>Pytorch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404225" y="1230418"/>
            <a:ext cx="1431802" cy="5232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2800">
                <a:cs typeface="+mn-ea"/>
                <a:sym typeface="+mn-lt"/>
              </a:rPr>
              <a:t>FP</a:t>
            </a:r>
            <a:r>
              <a:rPr lang="zh-CN" altLang="en-US" sz="2800">
                <a:cs typeface="+mn-ea"/>
                <a:sym typeface="+mn-lt"/>
              </a:rPr>
              <a:t>：</a:t>
            </a:r>
            <a:r>
              <a:rPr lang="en-US" altLang="zh-CN" sz="2800">
                <a:cs typeface="+mn-ea"/>
                <a:sym typeface="+mn-lt"/>
              </a:rPr>
              <a:t>Jax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59080" y="5535295"/>
            <a:ext cx="5525872" cy="5232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sz="2800">
                <a:cs typeface="+mn-ea"/>
                <a:sym typeface="+mn-lt"/>
              </a:rPr>
              <a:t>构造类</a:t>
            </a:r>
            <a:r>
              <a:rPr lang="en-US" altLang="zh-CN" sz="2800">
                <a:cs typeface="+mn-ea"/>
                <a:sym typeface="+mn-lt"/>
              </a:rPr>
              <a:t> -&gt; </a:t>
            </a:r>
            <a:r>
              <a:rPr lang="zh-CN" sz="2800">
                <a:cs typeface="+mn-ea"/>
                <a:sym typeface="+mn-lt"/>
              </a:rPr>
              <a:t>实例化对象</a:t>
            </a:r>
            <a:r>
              <a:rPr lang="en-US" altLang="zh-CN" sz="2800">
                <a:cs typeface="+mn-ea"/>
                <a:sym typeface="+mn-lt"/>
              </a:rPr>
              <a:t> -&gt;</a:t>
            </a:r>
            <a:r>
              <a:rPr lang="zh-CN" sz="2800">
                <a:cs typeface="+mn-ea"/>
                <a:sym typeface="+mn-lt"/>
              </a:rPr>
              <a:t>对象调用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450330" y="5743998"/>
            <a:ext cx="5525872" cy="5232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sz="2800">
                <a:cs typeface="+mn-ea"/>
                <a:sym typeface="+mn-lt"/>
              </a:rPr>
              <a:t>构造函数</a:t>
            </a:r>
            <a:r>
              <a:rPr lang="en-US" altLang="zh-CN" sz="2800">
                <a:cs typeface="+mn-ea"/>
                <a:sym typeface="+mn-lt"/>
              </a:rPr>
              <a:t> -&gt; </a:t>
            </a:r>
            <a:r>
              <a:rPr lang="zh-CN" sz="2800">
                <a:cs typeface="+mn-ea"/>
                <a:sym typeface="+mn-lt"/>
              </a:rPr>
              <a:t>函数变换</a:t>
            </a:r>
            <a:r>
              <a:rPr lang="en-US" altLang="zh-CN" sz="2800">
                <a:cs typeface="+mn-ea"/>
                <a:sym typeface="+mn-lt"/>
              </a:rPr>
              <a:t> -&gt;</a:t>
            </a:r>
            <a:r>
              <a:rPr lang="zh-CN" sz="2800">
                <a:cs typeface="+mn-ea"/>
                <a:sym typeface="+mn-lt"/>
              </a:rPr>
              <a:t>函数调用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MindSpore2.0——OOP+FP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混合编程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用</a:t>
            </a:r>
            <a:r>
              <a:rPr lang="zh-CN" altLang="en-US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类构建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神经网络</a:t>
            </a:r>
          </a:p>
          <a:p>
            <a:pPr marL="514350" indent="-514350">
              <a:buAutoNum type="arabicPeriod"/>
            </a:pP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实例化</a:t>
            </a: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Network</a:t>
            </a:r>
            <a:r>
              <a:rPr lang="zh-CN" altLang="en-US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对象</a:t>
            </a:r>
            <a:endParaRPr lang="zh-CN" altLang="en-US">
              <a:latin typeface="+mn-lt"/>
              <a:ea typeface="+mn-ea"/>
              <a:cs typeface="+mn-ea"/>
              <a:sym typeface="+mn-lt"/>
            </a:endParaRPr>
          </a:p>
          <a:p>
            <a:pPr marL="514350" indent="-514350">
              <a:buAutoNum type="arabicPeriod"/>
            </a:pP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Network+Loss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直接构造正向函数</a:t>
            </a:r>
          </a:p>
          <a:p>
            <a:pPr marL="514350" indent="-514350">
              <a:buAutoNum type="arabicPeriod"/>
            </a:pPr>
            <a:r>
              <a:rPr lang="zh-CN" altLang="en-US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函数变换，获得</a:t>
            </a:r>
            <a:r>
              <a:rPr lang="zh-CN" altLang="en-US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梯度计算（反向传播）函数</a:t>
            </a:r>
          </a:p>
          <a:p>
            <a:pPr marL="514350" indent="-514350">
              <a:buAutoNum type="arabicPeriod"/>
            </a:pPr>
            <a:r>
              <a:rPr lang="zh-CN" altLang="en-US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构造</a:t>
            </a:r>
            <a:r>
              <a:rPr lang="zh-CN" altLang="en-US">
                <a:solidFill>
                  <a:srgbClr val="0070C0"/>
                </a:solidFill>
                <a:latin typeface="+mn-lt"/>
                <a:ea typeface="+mn-ea"/>
                <a:cs typeface="+mn-ea"/>
                <a:sym typeface="+mn-lt"/>
              </a:rPr>
              <a:t>训练过程函数</a:t>
            </a:r>
          </a:p>
          <a:p>
            <a:pPr marL="514350" indent="-514350">
              <a:buAutoNum type="arabicPeriod"/>
            </a:pPr>
            <a:r>
              <a:rPr lang="zh-CN" altLang="en-US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调用函数</a:t>
            </a:r>
            <a:r>
              <a:rPr lang="zh-CN" altLang="en-US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进行训练</a:t>
            </a:r>
          </a:p>
          <a:p>
            <a:pPr marL="514350" indent="-514350">
              <a:buAutoNum type="arabicPeriod"/>
            </a:pPr>
            <a:endParaRPr lang="zh-CN" altLang="en-US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MindSpore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模型训练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4000">
                <a:latin typeface="+mn-lt"/>
                <a:ea typeface="+mn-ea"/>
                <a:cs typeface="+mn-ea"/>
                <a:sym typeface="+mn-lt"/>
              </a:rPr>
              <a:t>以手写数字识别为例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850" y="621030"/>
            <a:ext cx="5541645" cy="25330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网络构建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61770"/>
            <a:ext cx="4902200" cy="4919345"/>
          </a:xfrm>
          <a:prstGeom prst="rect">
            <a:avLst/>
          </a:prstGeom>
        </p:spPr>
      </p:pic>
      <p:sp>
        <p:nvSpPr>
          <p:cNvPr id="5" name="内容占位符 2"/>
          <p:cNvSpPr>
            <a:spLocks noGrp="1"/>
          </p:cNvSpPr>
          <p:nvPr/>
        </p:nvSpPr>
        <p:spPr>
          <a:xfrm>
            <a:off x="6386830" y="1557020"/>
            <a:ext cx="4966970" cy="4897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继承</a:t>
            </a: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nn.Cell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构造神经网络</a:t>
            </a:r>
          </a:p>
          <a:p>
            <a:pPr>
              <a:lnSpc>
                <a:spcPct val="150000"/>
              </a:lnSpc>
            </a:pP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在</a:t>
            </a: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__init__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中实例化神经网络层、设置状态等</a:t>
            </a:r>
          </a:p>
          <a:p>
            <a:pPr>
              <a:lnSpc>
                <a:spcPct val="150000"/>
              </a:lnSpc>
            </a:pP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在</a:t>
            </a: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construct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方法中书写正向计算逻辑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Loss function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05915"/>
            <a:ext cx="5810250" cy="781050"/>
          </a:xfrm>
          <a:prstGeom prst="rect">
            <a:avLst/>
          </a:prstGeom>
        </p:spPr>
      </p:pic>
      <p:sp>
        <p:nvSpPr>
          <p:cNvPr id="5" name="内容占位符 2"/>
          <p:cNvSpPr>
            <a:spLocks noGrp="1"/>
          </p:cNvSpPr>
          <p:nvPr/>
        </p:nvSpPr>
        <p:spPr>
          <a:xfrm>
            <a:off x="919480" y="2650490"/>
            <a:ext cx="4463415" cy="38042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选择</a:t>
            </a:r>
            <a:r>
              <a:rPr lang="zh-CN">
                <a:latin typeface="+mn-lt"/>
                <a:ea typeface="+mn-ea"/>
                <a:cs typeface="+mn-ea"/>
                <a:sym typeface="+mn-lt"/>
              </a:rPr>
              <a:t>合适的损失函数，如手写数字识别任务是多分类问题，适合使用交叉熵损失</a:t>
            </a: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(CrossEntropyLoss)</a:t>
            </a:r>
          </a:p>
        </p:txBody>
      </p:sp>
      <p:pic>
        <p:nvPicPr>
          <p:cNvPr id="7" name="图片 6" descr="截图_选择区域_202211291835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650" y="0"/>
            <a:ext cx="66103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Optimizer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20765" y="149860"/>
            <a:ext cx="5233035" cy="22110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79" y="4816559"/>
            <a:ext cx="7820025" cy="619125"/>
          </a:xfrm>
          <a:prstGeom prst="rect">
            <a:avLst/>
          </a:prstGeom>
        </p:spPr>
      </p:pic>
      <p:sp>
        <p:nvSpPr>
          <p:cNvPr id="8" name="内容占位符 2"/>
          <p:cNvSpPr>
            <a:spLocks noGrp="1"/>
          </p:cNvSpPr>
          <p:nvPr/>
        </p:nvSpPr>
        <p:spPr>
          <a:xfrm>
            <a:off x="656590" y="1959063"/>
            <a:ext cx="10697210" cy="4692350"/>
          </a:xfrm>
          <a:prstGeom prst="rect">
            <a:avLst/>
          </a:prstGeom>
        </p:spPr>
        <p:txBody>
          <a:bodyPr vert="horz" lIns="91440" tIns="45720" rIns="91440" bIns="45720" rtlCol="0">
            <a:normAutofit fontScale="80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b="1" dirty="0" err="1">
                <a:latin typeface="+mn-lt"/>
                <a:ea typeface="+mn-ea"/>
                <a:cs typeface="+mn-ea"/>
                <a:sym typeface="+mn-lt"/>
              </a:rPr>
              <a:t>模型优化（</a:t>
            </a:r>
            <a:r>
              <a:rPr lang="en-US" b="1" dirty="0" err="1">
                <a:latin typeface="+mn-lt"/>
                <a:ea typeface="+mn-ea"/>
                <a:cs typeface="+mn-ea"/>
                <a:sym typeface="+mn-lt"/>
              </a:rPr>
              <a:t>Model</a:t>
            </a:r>
            <a:r>
              <a:rPr lang="en-US" b="1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b="1" dirty="0">
                <a:latin typeface="+mn-lt"/>
                <a:ea typeface="+mn-ea"/>
                <a:cs typeface="+mn-ea"/>
                <a:sym typeface="+mn-lt"/>
              </a:rPr>
              <a:t>Optimization）</a:t>
            </a:r>
          </a:p>
          <a:p>
            <a:pPr marL="0" indent="0">
              <a:lnSpc>
                <a:spcPct val="150000"/>
              </a:lnSpc>
              <a:buNone/>
            </a:pPr>
            <a:r>
              <a:rPr dirty="0" err="1">
                <a:latin typeface="+mn-lt"/>
                <a:ea typeface="+mn-ea"/>
                <a:cs typeface="+mn-ea"/>
                <a:sym typeface="+mn-lt"/>
              </a:rPr>
              <a:t>是在每个训练步骤中调整模型参数以减少模型误差的过程</a:t>
            </a:r>
            <a:r>
              <a:rPr dirty="0">
                <a:latin typeface="+mn-lt"/>
                <a:ea typeface="+mn-ea"/>
                <a:cs typeface="+mn-ea"/>
                <a:sym typeface="+mn-lt"/>
              </a:rPr>
              <a:t>。</a:t>
            </a:r>
          </a:p>
          <a:p>
            <a:pPr marL="0" indent="0">
              <a:lnSpc>
                <a:spcPct val="150000"/>
              </a:lnSpc>
              <a:buNone/>
            </a:pPr>
            <a:r>
              <a:rPr dirty="0" err="1">
                <a:latin typeface="+mn-lt"/>
                <a:ea typeface="+mn-ea"/>
                <a:cs typeface="+mn-ea"/>
                <a:sym typeface="+mn-lt"/>
              </a:rPr>
              <a:t>MindSpore提供多种优化算法的实现，称之为优化器（Optimizer</a:t>
            </a:r>
            <a:r>
              <a:rPr dirty="0">
                <a:latin typeface="+mn-lt"/>
                <a:ea typeface="+mn-ea"/>
                <a:cs typeface="+mn-ea"/>
                <a:sym typeface="+mn-lt"/>
              </a:rPr>
              <a:t>）。</a:t>
            </a:r>
            <a:r>
              <a:rPr dirty="0" err="1">
                <a:latin typeface="+mn-lt"/>
                <a:ea typeface="+mn-ea"/>
                <a:cs typeface="+mn-ea"/>
                <a:sym typeface="+mn-lt"/>
              </a:rPr>
              <a:t>优化器内部定义了模型的参数优化过程（即梯度如何更新至模型参数</a:t>
            </a:r>
            <a:r>
              <a:rPr dirty="0">
                <a:latin typeface="+mn-lt"/>
                <a:ea typeface="+mn-ea"/>
                <a:cs typeface="+mn-ea"/>
                <a:sym typeface="+mn-lt"/>
              </a:rPr>
              <a:t>），</a:t>
            </a:r>
            <a:r>
              <a:rPr dirty="0" err="1">
                <a:latin typeface="+mn-lt"/>
                <a:ea typeface="+mn-ea"/>
                <a:cs typeface="+mn-ea"/>
                <a:sym typeface="+mn-lt"/>
              </a:rPr>
              <a:t>所有优化逻辑都封装在优化器对象中。在这里，我们使用SGD（Stochastic</a:t>
            </a:r>
            <a:r>
              <a:rPr dirty="0">
                <a:latin typeface="+mn-lt"/>
                <a:ea typeface="+mn-ea"/>
                <a:cs typeface="+mn-ea"/>
                <a:sym typeface="+mn-lt"/>
              </a:rPr>
              <a:t> Gradient </a:t>
            </a:r>
            <a:r>
              <a:rPr dirty="0" err="1">
                <a:latin typeface="+mn-lt"/>
                <a:ea typeface="+mn-ea"/>
                <a:cs typeface="+mn-ea"/>
                <a:sym typeface="+mn-lt"/>
              </a:rPr>
              <a:t>Descent）优化器</a:t>
            </a:r>
            <a:r>
              <a:rPr dirty="0">
                <a:latin typeface="+mn-lt"/>
                <a:ea typeface="+mn-ea"/>
                <a:cs typeface="+mn-ea"/>
                <a:sym typeface="+mn-lt"/>
              </a:rPr>
              <a:t>。</a:t>
            </a:r>
          </a:p>
          <a:p>
            <a:pPr marL="0" indent="0">
              <a:lnSpc>
                <a:spcPct val="150000"/>
              </a:lnSpc>
              <a:buNone/>
            </a:pPr>
            <a:endParaRPr dirty="0">
              <a:latin typeface="+mn-lt"/>
              <a:ea typeface="+mn-ea"/>
              <a:cs typeface="+mn-ea"/>
              <a:sym typeface="+mn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dirty="0" err="1">
                <a:latin typeface="+mn-lt"/>
                <a:ea typeface="+mn-ea"/>
                <a:cs typeface="+mn-ea"/>
                <a:sym typeface="+mn-lt"/>
              </a:rPr>
              <a:t>我们通过model.trainable_params</a:t>
            </a:r>
            <a:r>
              <a:rPr dirty="0">
                <a:latin typeface="+mn-lt"/>
                <a:ea typeface="+mn-ea"/>
                <a:cs typeface="+mn-ea"/>
                <a:sym typeface="+mn-lt"/>
              </a:rPr>
              <a:t>()</a:t>
            </a:r>
            <a:r>
              <a:rPr dirty="0" err="1">
                <a:latin typeface="+mn-lt"/>
                <a:ea typeface="+mn-ea"/>
                <a:cs typeface="+mn-ea"/>
                <a:sym typeface="+mn-lt"/>
              </a:rPr>
              <a:t>方法获得模型的可训练参数，并传入学习率超参来初始化优化器</a:t>
            </a:r>
            <a:r>
              <a:rPr dirty="0">
                <a:latin typeface="+mn-lt"/>
                <a:ea typeface="+mn-ea"/>
                <a:cs typeface="+mn-ea"/>
                <a:sym typeface="+mn-lt"/>
              </a:rPr>
              <a:t>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Parameter and Hyper-parameter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模型参数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(Parameter)</a:t>
            </a:r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神经网络需要从数据中学习和估计得到，需要训练的参数矩阵或向量，在模型定义时采用随机初始化，通常是</a:t>
            </a:r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nn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层内的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weight/bias/gamma/beta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等属性。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超参数（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Hyper-Parameter</a:t>
            </a:r>
            <a:r>
              <a:rPr lang="zh-CN" altLang="en-US" b="1" dirty="0">
                <a:latin typeface="+mn-lt"/>
                <a:ea typeface="+mn-ea"/>
                <a:cs typeface="+mn-ea"/>
                <a:sym typeface="+mn-lt"/>
              </a:rPr>
              <a:t>）：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需要</a:t>
            </a:r>
            <a:r>
              <a:rPr lang="zh-CN" altLang="en-US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人为设定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的调优参数。如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hidden size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learning rate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number of layers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epochs/steps.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训练逻辑</a:t>
            </a: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——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一个</a:t>
            </a: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Step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的训练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9280" y="1806575"/>
            <a:ext cx="8553450" cy="378142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163955" y="2347595"/>
            <a:ext cx="2893695" cy="521970"/>
          </a:xfrm>
          <a:prstGeom prst="rect">
            <a:avLst/>
          </a:prstGeom>
          <a:noFill/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63955" y="4683125"/>
            <a:ext cx="3695065" cy="320675"/>
          </a:xfrm>
          <a:prstGeom prst="rect">
            <a:avLst/>
          </a:prstGeom>
          <a:noFill/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63955" y="5038725"/>
            <a:ext cx="3990340" cy="266065"/>
          </a:xfrm>
          <a:prstGeom prst="rect">
            <a:avLst/>
          </a:prstGeom>
          <a:noFill/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581515" y="2347595"/>
            <a:ext cx="22707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 dirty="0">
                <a:cs typeface="+mn-ea"/>
                <a:sym typeface="+mn-lt"/>
              </a:rPr>
              <a:t>正向计算</a:t>
            </a:r>
            <a:r>
              <a:rPr lang="en-US" altLang="zh-CN" sz="2400" b="1" dirty="0">
                <a:cs typeface="+mn-ea"/>
                <a:sym typeface="+mn-lt"/>
              </a:rPr>
              <a:t>Loss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9584055" y="4107180"/>
            <a:ext cx="296608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sz="2400" b="1" dirty="0">
                <a:cs typeface="+mn-ea"/>
                <a:sym typeface="+mn-lt"/>
              </a:rPr>
              <a:t>反向传播</a:t>
            </a:r>
            <a:r>
              <a:rPr lang="en-US" altLang="zh-CN" sz="2400" b="1" dirty="0">
                <a:cs typeface="+mn-ea"/>
                <a:sym typeface="+mn-lt"/>
              </a:rPr>
              <a:t>,</a:t>
            </a:r>
            <a:r>
              <a:rPr lang="zh-CN" sz="2400" b="1" dirty="0">
                <a:cs typeface="+mn-ea"/>
                <a:sym typeface="+mn-lt"/>
              </a:rPr>
              <a:t>获得梯度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9584055" y="5003165"/>
            <a:ext cx="22707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sz="2400" b="1" dirty="0">
                <a:cs typeface="+mn-ea"/>
                <a:sym typeface="+mn-lt"/>
              </a:rPr>
              <a:t>权重更新</a:t>
            </a:r>
          </a:p>
        </p:txBody>
      </p:sp>
      <p:cxnSp>
        <p:nvCxnSpPr>
          <p:cNvPr id="18" name="直接箭头连接符 17"/>
          <p:cNvCxnSpPr>
            <a:stCxn id="10" idx="3"/>
            <a:endCxn id="16" idx="1"/>
          </p:cNvCxnSpPr>
          <p:nvPr/>
        </p:nvCxnSpPr>
        <p:spPr>
          <a:xfrm>
            <a:off x="5154295" y="5172075"/>
            <a:ext cx="4429760" cy="615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7" idx="3"/>
            <a:endCxn id="15" idx="1"/>
          </p:cNvCxnSpPr>
          <p:nvPr/>
        </p:nvCxnSpPr>
        <p:spPr>
          <a:xfrm flipV="1">
            <a:off x="4859020" y="4337685"/>
            <a:ext cx="4725035" cy="5060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6" idx="3"/>
            <a:endCxn id="13" idx="1"/>
          </p:cNvCxnSpPr>
          <p:nvPr/>
        </p:nvCxnSpPr>
        <p:spPr>
          <a:xfrm flipV="1">
            <a:off x="4057650" y="2578100"/>
            <a:ext cx="5523865" cy="304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743585" y="3659505"/>
            <a:ext cx="8237220" cy="328295"/>
          </a:xfrm>
          <a:prstGeom prst="rect">
            <a:avLst/>
          </a:prstGeom>
          <a:noFill/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cs typeface="+mn-ea"/>
              <a:sym typeface="+mn-lt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9584055" y="3496945"/>
            <a:ext cx="22707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sz="2400" b="1" dirty="0">
                <a:cs typeface="+mn-ea"/>
                <a:sym typeface="+mn-lt"/>
              </a:rPr>
              <a:t>梯度计算函数</a:t>
            </a:r>
          </a:p>
        </p:txBody>
      </p:sp>
      <p:cxnSp>
        <p:nvCxnSpPr>
          <p:cNvPr id="24" name="直接箭头连接符 23"/>
          <p:cNvCxnSpPr>
            <a:stCxn id="12" idx="3"/>
            <a:endCxn id="23" idx="1"/>
          </p:cNvCxnSpPr>
          <p:nvPr/>
        </p:nvCxnSpPr>
        <p:spPr>
          <a:xfrm flipV="1">
            <a:off x="8980805" y="3727450"/>
            <a:ext cx="603250" cy="965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数据集遍历迭代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8300" y="1355725"/>
            <a:ext cx="7503795" cy="539686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626745" y="1906270"/>
            <a:ext cx="6979285" cy="2891155"/>
          </a:xfrm>
          <a:prstGeom prst="rect">
            <a:avLst/>
          </a:prstGeom>
          <a:noFill/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583930" y="1691005"/>
            <a:ext cx="26924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2400" b="1">
                <a:cs typeface="+mn-ea"/>
                <a:sym typeface="+mn-lt"/>
              </a:rPr>
              <a:t>一个Step的训练</a:t>
            </a:r>
          </a:p>
        </p:txBody>
      </p:sp>
      <p:cxnSp>
        <p:nvCxnSpPr>
          <p:cNvPr id="21" name="直接箭头连接符 20"/>
          <p:cNvCxnSpPr>
            <a:stCxn id="6" idx="3"/>
            <a:endCxn id="13" idx="1"/>
          </p:cNvCxnSpPr>
          <p:nvPr/>
        </p:nvCxnSpPr>
        <p:spPr>
          <a:xfrm flipV="1">
            <a:off x="7606030" y="1921510"/>
            <a:ext cx="977900" cy="14306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630555" y="5434330"/>
            <a:ext cx="6979285" cy="1318260"/>
          </a:xfrm>
          <a:prstGeom prst="rect">
            <a:avLst/>
          </a:prstGeom>
          <a:noFill/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587740" y="3646170"/>
            <a:ext cx="308483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sz="2400" b="1">
                <a:cs typeface="+mn-ea"/>
                <a:sym typeface="+mn-lt"/>
              </a:rPr>
              <a:t>遍历数据集，</a:t>
            </a:r>
          </a:p>
          <a:p>
            <a:r>
              <a:rPr lang="zh-CN" sz="2400" b="1">
                <a:cs typeface="+mn-ea"/>
                <a:sym typeface="+mn-lt"/>
              </a:rPr>
              <a:t>一次数据集的完整遍历称为一个</a:t>
            </a:r>
            <a:r>
              <a:rPr lang="en-US" altLang="zh-CN" sz="2400" b="1">
                <a:cs typeface="+mn-ea"/>
                <a:sym typeface="+mn-lt"/>
              </a:rPr>
              <a:t>epoch</a:t>
            </a:r>
          </a:p>
        </p:txBody>
      </p:sp>
      <p:cxnSp>
        <p:nvCxnSpPr>
          <p:cNvPr id="9" name="直接箭头连接符 8"/>
          <p:cNvCxnSpPr>
            <a:stCxn id="7" idx="3"/>
            <a:endCxn id="8" idx="1"/>
          </p:cNvCxnSpPr>
          <p:nvPr/>
        </p:nvCxnSpPr>
        <p:spPr>
          <a:xfrm flipV="1">
            <a:off x="7609840" y="4245610"/>
            <a:ext cx="977900" cy="18478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模型评估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2760" y="2121535"/>
            <a:ext cx="8296275" cy="348615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57250" y="2671445"/>
            <a:ext cx="2279650" cy="337185"/>
          </a:xfrm>
          <a:prstGeom prst="rect">
            <a:avLst/>
          </a:prstGeom>
          <a:noFill/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408795" y="1994535"/>
            <a:ext cx="227076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sz="2400" b="1">
                <a:cs typeface="+mn-ea"/>
                <a:sym typeface="+mn-lt"/>
              </a:rPr>
              <a:t>模型状态需置为</a:t>
            </a:r>
            <a:r>
              <a:rPr lang="zh-CN" sz="2400" b="1">
                <a:solidFill>
                  <a:srgbClr val="C00000"/>
                </a:solidFill>
                <a:cs typeface="+mn-ea"/>
                <a:sym typeface="+mn-lt"/>
              </a:rPr>
              <a:t>非训练</a:t>
            </a:r>
          </a:p>
        </p:txBody>
      </p:sp>
      <p:cxnSp>
        <p:nvCxnSpPr>
          <p:cNvPr id="21" name="直接箭头连接符 20"/>
          <p:cNvCxnSpPr>
            <a:stCxn id="6" idx="3"/>
            <a:endCxn id="13" idx="1"/>
          </p:cNvCxnSpPr>
          <p:nvPr/>
        </p:nvCxnSpPr>
        <p:spPr>
          <a:xfrm flipV="1">
            <a:off x="3136900" y="2409825"/>
            <a:ext cx="6271895" cy="4305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984250" y="3503295"/>
            <a:ext cx="2279650" cy="337185"/>
          </a:xfrm>
          <a:prstGeom prst="rect">
            <a:avLst/>
          </a:prstGeom>
          <a:noFill/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408795" y="3409950"/>
            <a:ext cx="227076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sz="2400" b="1">
                <a:solidFill>
                  <a:schemeClr val="tx1"/>
                </a:solidFill>
                <a:cs typeface="+mn-ea"/>
                <a:sym typeface="+mn-lt"/>
              </a:rPr>
              <a:t>模型评估仅需要</a:t>
            </a:r>
            <a:r>
              <a:rPr lang="zh-CN" sz="2400" b="1">
                <a:solidFill>
                  <a:srgbClr val="C00000"/>
                </a:solidFill>
                <a:cs typeface="+mn-ea"/>
                <a:sym typeface="+mn-lt"/>
              </a:rPr>
              <a:t>执行正向</a:t>
            </a:r>
          </a:p>
        </p:txBody>
      </p:sp>
      <p:cxnSp>
        <p:nvCxnSpPr>
          <p:cNvPr id="16" name="直接箭头连接符 15"/>
          <p:cNvCxnSpPr>
            <a:stCxn id="14" idx="3"/>
            <a:endCxn id="15" idx="1"/>
          </p:cNvCxnSpPr>
          <p:nvPr/>
        </p:nvCxnSpPr>
        <p:spPr>
          <a:xfrm>
            <a:off x="3263900" y="3672205"/>
            <a:ext cx="6144895" cy="1530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1197610" y="4086860"/>
            <a:ext cx="4936490" cy="582930"/>
          </a:xfrm>
          <a:prstGeom prst="rect">
            <a:avLst/>
          </a:prstGeom>
          <a:noFill/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408160" y="5048250"/>
            <a:ext cx="24358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sz="2400" b="1">
                <a:solidFill>
                  <a:schemeClr val="tx1"/>
                </a:solidFill>
                <a:cs typeface="+mn-ea"/>
                <a:sym typeface="+mn-lt"/>
              </a:rPr>
              <a:t>自定义评价指标</a:t>
            </a:r>
            <a:endParaRPr lang="zh-CN" sz="2400" b="1">
              <a:solidFill>
                <a:srgbClr val="C00000"/>
              </a:solidFill>
              <a:cs typeface="+mn-ea"/>
              <a:sym typeface="+mn-lt"/>
            </a:endParaRPr>
          </a:p>
        </p:txBody>
      </p:sp>
      <p:cxnSp>
        <p:nvCxnSpPr>
          <p:cNvPr id="19" name="直接箭头连接符 18"/>
          <p:cNvCxnSpPr>
            <a:stCxn id="17" idx="3"/>
            <a:endCxn id="18" idx="1"/>
          </p:cNvCxnSpPr>
          <p:nvPr/>
        </p:nvCxnSpPr>
        <p:spPr>
          <a:xfrm>
            <a:off x="6134100" y="4378325"/>
            <a:ext cx="3274060" cy="9004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模型保存与加载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1525" y="3131820"/>
            <a:ext cx="5505450" cy="10668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4533265"/>
            <a:ext cx="6915150" cy="1762125"/>
          </a:xfrm>
          <a:prstGeom prst="rect">
            <a:avLst/>
          </a:prstGeom>
        </p:spPr>
      </p:pic>
      <p:sp>
        <p:nvSpPr>
          <p:cNvPr id="8" name="内容占位符 2"/>
          <p:cNvSpPr>
            <a:spLocks noGrp="1"/>
          </p:cNvSpPr>
          <p:nvPr/>
        </p:nvSpPr>
        <p:spPr>
          <a:xfrm>
            <a:off x="838200" y="1691005"/>
            <a:ext cx="10697210" cy="1905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dirty="0" err="1">
                <a:latin typeface="+mn-lt"/>
                <a:ea typeface="+mn-ea"/>
                <a:cs typeface="+mn-ea"/>
                <a:sym typeface="+mn-lt"/>
              </a:rPr>
              <a:t>在训练网络模型的过程中，实际上我们希望保存中间和最后的结果，用于微调（fine-tune）和后续的模型推理与部署</a:t>
            </a:r>
            <a:r>
              <a:rPr dirty="0">
                <a:latin typeface="+mn-lt"/>
                <a:ea typeface="+mn-ea"/>
                <a:cs typeface="+mn-ea"/>
                <a:sym typeface="+mn-lt"/>
              </a:rPr>
              <a:t>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计算图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5640" y="1537970"/>
            <a:ext cx="10965815" cy="5185410"/>
          </a:xfrm>
        </p:spPr>
        <p:txBody>
          <a:bodyPr>
            <a:normAutofit fontScale="87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b="1" dirty="0" err="1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动态图：</a:t>
            </a:r>
            <a:r>
              <a:rPr lang="en-US" altLang="zh-CN" b="1" dirty="0" err="1">
                <a:latin typeface="+mn-lt"/>
                <a:ea typeface="+mn-ea"/>
                <a:cs typeface="+mn-ea"/>
                <a:sym typeface="+mn-lt"/>
              </a:rPr>
              <a:t>其核心特点是计算图的构建和计算同时发生（</a:t>
            </a:r>
            <a:r>
              <a:rPr lang="en-US" altLang="zh-CN" b="1" dirty="0" err="1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Define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 by run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）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b="1" dirty="0" err="1">
                <a:latin typeface="+mn-lt"/>
                <a:ea typeface="+mn-ea"/>
                <a:cs typeface="+mn-ea"/>
                <a:sym typeface="+mn-lt"/>
              </a:rPr>
              <a:t>原理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类似Python解释器，在计算图中定义一个Tensor时，其值就已经被计算且确定了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。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b="1" dirty="0" err="1">
                <a:latin typeface="+mn-lt"/>
                <a:ea typeface="+mn-ea"/>
                <a:cs typeface="+mn-ea"/>
                <a:sym typeface="+mn-lt"/>
              </a:rPr>
              <a:t>优点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Pythonic语法，在</a:t>
            </a:r>
            <a:r>
              <a:rPr lang="en-US" altLang="zh-CN" dirty="0" err="1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调试模型时较为方便</a:t>
            </a:r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，能够实时得到中间结果的值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。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b="1" dirty="0" err="1">
                <a:latin typeface="+mn-lt"/>
                <a:ea typeface="+mn-ea"/>
                <a:cs typeface="+mn-ea"/>
                <a:sym typeface="+mn-lt"/>
              </a:rPr>
              <a:t>缺点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由于所有节点都需要被保存，导致难以对整个计算图进行优化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b="1" dirty="0" err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静态图：</a:t>
            </a:r>
            <a:r>
              <a:rPr lang="en-US" altLang="zh-CN" b="1" dirty="0" err="1">
                <a:latin typeface="+mn-lt"/>
                <a:ea typeface="+mn-ea"/>
                <a:cs typeface="+mn-ea"/>
                <a:sym typeface="+mn-lt"/>
              </a:rPr>
              <a:t>将计算图的构建和实际计算分开（</a:t>
            </a:r>
            <a:r>
              <a:rPr lang="en-US" altLang="zh-CN" b="1" dirty="0" err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Define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 and run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）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b="1" dirty="0" err="1">
                <a:latin typeface="+mn-lt"/>
                <a:ea typeface="+mn-ea"/>
                <a:cs typeface="+mn-ea"/>
                <a:sym typeface="+mn-lt"/>
              </a:rPr>
              <a:t>原理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在构建阶段，根据完整的计算流程对原始的计算图进行优化和调整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， </a:t>
            </a:r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编译得到更省内存和计算量更少的计算图。编译之后图的结构不再改变，所以称之为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 “</a:t>
            </a:r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静态图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” 。 </a:t>
            </a:r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在计算阶段，根据输入数据执行编译好的计算图得到计算结果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。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b="1" dirty="0" err="1">
                <a:latin typeface="+mn-lt"/>
                <a:ea typeface="+mn-ea"/>
                <a:cs typeface="+mn-ea"/>
                <a:sym typeface="+mn-lt"/>
              </a:rPr>
              <a:t>优点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： </a:t>
            </a:r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静态图相比起动态图，对全局的信息掌握更丰富，</a:t>
            </a:r>
            <a:r>
              <a:rPr lang="en-US" altLang="zh-CN" dirty="0" err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可做的优化也会更多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。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b="1" dirty="0" err="1">
                <a:latin typeface="+mn-lt"/>
                <a:ea typeface="+mn-ea"/>
                <a:cs typeface="+mn-ea"/>
                <a:sym typeface="+mn-lt"/>
              </a:rPr>
              <a:t>缺点</a:t>
            </a:r>
            <a:r>
              <a:rPr lang="en-US" altLang="zh-CN" b="1" dirty="0">
                <a:latin typeface="+mn-lt"/>
                <a:ea typeface="+mn-ea"/>
                <a:cs typeface="+mn-ea"/>
                <a:sym typeface="+mn-lt"/>
              </a:rPr>
              <a:t>： </a:t>
            </a:r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中间过程对于用户来说是个黑盒，无法像动态图一样实时拿到中间计算结果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。</a:t>
            </a:r>
            <a:endParaRPr lang="zh-CN" altLang="en-US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即时编译</a:t>
            </a: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(Just In Time, JIT)</a:t>
            </a:r>
          </a:p>
        </p:txBody>
      </p:sp>
      <p:sp>
        <p:nvSpPr>
          <p:cNvPr id="6" name="下箭头 5"/>
          <p:cNvSpPr/>
          <p:nvPr/>
        </p:nvSpPr>
        <p:spPr>
          <a:xfrm>
            <a:off x="3533140" y="3434080"/>
            <a:ext cx="436245" cy="75501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内容占位符 4"/>
          <p:cNvSpPr>
            <a:spLocks noGrp="1"/>
          </p:cNvSpPr>
          <p:nvPr/>
        </p:nvSpPr>
        <p:spPr>
          <a:xfrm>
            <a:off x="7359650" y="2381885"/>
            <a:ext cx="3994150" cy="3157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ms.jit</a:t>
            </a:r>
            <a:r>
              <a:rPr lang="zh-CN" altLang="en-US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修饰</a:t>
            </a:r>
            <a:r>
              <a:rPr lang="zh-CN" altLang="en-US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器：</a:t>
            </a:r>
          </a:p>
          <a:p>
            <a:r>
              <a:rPr lang="zh-CN" altLang="en-US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一行代码切换动静态图</a:t>
            </a:r>
          </a:p>
          <a:p>
            <a:r>
              <a:rPr lang="zh-CN" altLang="en-US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即时编译，被修饰函数转为整图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925" y="4370705"/>
            <a:ext cx="5686425" cy="182626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rcRect t="19437"/>
          <a:stretch>
            <a:fillRect/>
          </a:stretch>
        </p:blipFill>
        <p:spPr>
          <a:xfrm>
            <a:off x="1050925" y="1857375"/>
            <a:ext cx="5686425" cy="147129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函数式自动微分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" y="1959610"/>
            <a:ext cx="5532120" cy="16941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255" y="1982470"/>
            <a:ext cx="5036820" cy="193802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内容占位符 7"/>
              <p:cNvSpPr>
                <a:spLocks noGrp="1"/>
              </p:cNvSpPr>
              <p:nvPr>
                <p:ph idx="1"/>
              </p:nvPr>
            </p:nvSpPr>
            <p:spPr>
              <a:xfrm>
                <a:off x="732790" y="4077970"/>
                <a:ext cx="10515600" cy="2548890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>
                    <a:latin typeface="+mn-lt"/>
                    <a:ea typeface="+mn-ea"/>
                    <a:cs typeface="+mn-ea"/>
                    <a:sym typeface="+mn-lt"/>
                  </a:rPr>
                  <a:t>为了优化模型参数，需要求参数对loss的导数：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+mn-lt"/>
                            <a:ea typeface="+mn-ea"/>
                            <a:cs typeface="+mn-ea"/>
                            <a:sym typeface="+mn-lt"/>
                          </a:rPr>
                        </m:ctrlPr>
                      </m:fPr>
                      <m:num>
                        <m:r>
                          <a:rPr lang="en-US" i="1">
                            <a:latin typeface="+mn-lt"/>
                            <a:ea typeface="+mn-ea"/>
                            <a:cs typeface="+mn-ea"/>
                            <a:sym typeface="+mn-lt"/>
                          </a:rPr>
                          <m:t>𝜕</m:t>
                        </m:r>
                        <m:r>
                          <a:rPr lang="en-US" i="1">
                            <a:latin typeface="+mn-lt"/>
                            <a:ea typeface="+mn-ea"/>
                            <a:cs typeface="+mn-ea"/>
                            <a:sym typeface="+mn-lt"/>
                          </a:rPr>
                          <m:t>𝑙𝑜𝑠𝑠</m:t>
                        </m:r>
                      </m:num>
                      <m:den>
                        <m:r>
                          <a:rPr lang="en-US" i="1">
                            <a:latin typeface="+mn-lt"/>
                            <a:ea typeface="+mn-ea"/>
                            <a:cs typeface="+mn-ea"/>
                            <a:sym typeface="+mn-lt"/>
                          </a:rPr>
                          <m:t>𝜕</m:t>
                        </m:r>
                        <m:r>
                          <a:rPr lang="en-US" i="1">
                            <a:latin typeface="+mn-lt"/>
                            <a:ea typeface="+mn-ea"/>
                            <a:cs typeface="+mn-ea"/>
                            <a:sym typeface="+mn-lt"/>
                          </a:rPr>
                          <m:t>𝑤</m:t>
                        </m:r>
                      </m:den>
                    </m:f>
                  </m:oMath>
                </a14:m>
                <a:r>
                  <a:rPr>
                    <a:latin typeface="+mn-lt"/>
                    <a:ea typeface="+mn-ea"/>
                    <a:cs typeface="+mn-ea"/>
                    <a:sym typeface="+mn-lt"/>
                  </a:rPr>
                  <a:t>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+mn-lt"/>
                            <a:ea typeface="+mn-ea"/>
                            <a:cs typeface="+mn-ea"/>
                            <a:sym typeface="+mn-lt"/>
                          </a:rPr>
                        </m:ctrlPr>
                      </m:fPr>
                      <m:num>
                        <m:r>
                          <a:rPr lang="en-US" i="1">
                            <a:latin typeface="+mn-lt"/>
                            <a:ea typeface="+mn-ea"/>
                            <a:cs typeface="+mn-ea"/>
                            <a:sym typeface="+mn-lt"/>
                          </a:rPr>
                          <m:t>𝜕</m:t>
                        </m:r>
                        <m:r>
                          <a:rPr lang="en-US" i="1">
                            <a:latin typeface="+mn-lt"/>
                            <a:ea typeface="+mn-ea"/>
                            <a:cs typeface="+mn-ea"/>
                            <a:sym typeface="+mn-lt"/>
                          </a:rPr>
                          <m:t>𝑙𝑜𝑠𝑠</m:t>
                        </m:r>
                      </m:num>
                      <m:den>
                        <m:r>
                          <a:rPr lang="en-US" i="1">
                            <a:latin typeface="+mn-lt"/>
                            <a:ea typeface="+mn-ea"/>
                            <a:cs typeface="+mn-ea"/>
                            <a:sym typeface="+mn-lt"/>
                          </a:rPr>
                          <m:t>𝜕</m:t>
                        </m:r>
                        <m:r>
                          <a:rPr lang="en-US" i="1">
                            <a:latin typeface="+mn-lt"/>
                            <a:ea typeface="+mn-ea"/>
                            <a:cs typeface="+mn-ea"/>
                            <a:sym typeface="+mn-lt"/>
                          </a:rPr>
                          <m:t>𝑤</m:t>
                        </m:r>
                      </m:den>
                    </m:f>
                  </m:oMath>
                </a14:m>
                <a:r>
                  <a:rPr>
                    <a:latin typeface="+mn-lt"/>
                    <a:ea typeface="+mn-ea"/>
                    <a:cs typeface="+mn-ea"/>
                    <a:sym typeface="+mn-lt"/>
                  </a:rPr>
                  <a:t>，此时我们调用mindspore.</a:t>
                </a:r>
                <a:r>
                  <a:rPr lang="en-US">
                    <a:latin typeface="+mn-lt"/>
                    <a:ea typeface="+mn-ea"/>
                    <a:cs typeface="+mn-ea"/>
                    <a:sym typeface="+mn-lt"/>
                  </a:rPr>
                  <a:t>value_and_</a:t>
                </a:r>
                <a:r>
                  <a:rPr>
                    <a:latin typeface="+mn-lt"/>
                    <a:ea typeface="+mn-ea"/>
                    <a:cs typeface="+mn-ea"/>
                    <a:sym typeface="+mn-lt"/>
                  </a:rPr>
                  <a:t>grad函数，来获得function的微分函数。这里使用了grad函数的两个入参，分别为：</a:t>
                </a:r>
              </a:p>
              <a:p>
                <a:r>
                  <a:rPr>
                    <a:latin typeface="+mn-lt"/>
                    <a:ea typeface="+mn-ea"/>
                    <a:cs typeface="+mn-ea"/>
                    <a:sym typeface="+mn-lt"/>
                  </a:rPr>
                  <a:t>fn：待求导的函数。</a:t>
                </a:r>
              </a:p>
              <a:p>
                <a:r>
                  <a:rPr>
                    <a:latin typeface="+mn-lt"/>
                    <a:ea typeface="+mn-ea"/>
                    <a:cs typeface="+mn-ea"/>
                    <a:sym typeface="+mn-lt"/>
                  </a:rPr>
                  <a:t>grad_position：指定求导输入位置的索引。</a:t>
                </a:r>
              </a:p>
            </p:txBody>
          </p:sp>
        </mc:Choice>
        <mc:Fallback>
          <p:sp>
            <p:nvSpPr>
              <p:cNvPr id="8" name="内容占位符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2790" y="4077970"/>
                <a:ext cx="10515600" cy="2548890"/>
              </a:xfrm>
              <a:blipFill>
                <a:blip r:embed="rId4"/>
                <a:stretch>
                  <a:fillRect l="-870" b="-43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函数式自动微分</a:t>
            </a: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——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神经网络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22570" y="3302635"/>
            <a:ext cx="6031230" cy="3152140"/>
          </a:xfrm>
        </p:spPr>
        <p:txBody>
          <a:bodyPr>
            <a:normAutofit fontScale="800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由于使用Cell封装神经网络模型，模型参数为Cell的内部属性，此时我们不需要使用grad_position指定对函数输入求导，因此将其配置为None。对模型参数求导时，我们使用weights参数，使用model.trainable_params()方法从Cell中取出可以求导的参数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547495"/>
            <a:ext cx="4127500" cy="510730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3205" y="1432560"/>
            <a:ext cx="5532120" cy="16941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高阶梯度</a:t>
            </a:r>
          </a:p>
        </p:txBody>
      </p:sp>
      <p:pic>
        <p:nvPicPr>
          <p:cNvPr id="4" name="内容占位符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0725" y="2225675"/>
            <a:ext cx="5832475" cy="277685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5908675" y="3548380"/>
            <a:ext cx="3053080" cy="776605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749425"/>
            <a:ext cx="4077970" cy="167449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rcRect r="15552"/>
          <a:stretch>
            <a:fillRect/>
          </a:stretch>
        </p:blipFill>
        <p:spPr>
          <a:xfrm>
            <a:off x="876300" y="3646170"/>
            <a:ext cx="4424045" cy="25844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4371340"/>
            <a:ext cx="3844290" cy="5708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5302885"/>
            <a:ext cx="3896995" cy="50419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梯度裁剪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常见的梯度裁剪有两种：</a:t>
            </a:r>
          </a:p>
          <a:p>
            <a:pPr marL="514350" indent="-514350">
              <a:buFont typeface="+mj-lt"/>
              <a:buAutoNum type="alphaLcParenR"/>
            </a:pP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确定一个范围，如果参数的gradient超过了，直接裁剪；</a:t>
            </a:r>
          </a:p>
          <a:p>
            <a:pPr marL="514350" indent="-514350">
              <a:buFont typeface="+mj-lt"/>
              <a:buAutoNum type="alphaLcParenR"/>
            </a:pPr>
            <a:endParaRPr lang="zh-CN" altLang="en-US">
              <a:latin typeface="+mn-lt"/>
              <a:ea typeface="+mn-ea"/>
              <a:cs typeface="+mn-ea"/>
              <a:sym typeface="+mn-lt"/>
            </a:endParaRPr>
          </a:p>
          <a:p>
            <a:pPr marL="514350" indent="-514350">
              <a:buFont typeface="+mj-lt"/>
              <a:buAutoNum type="alphaLcParenR"/>
            </a:pP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根据若干个参数的gradient组成的vector的L2 Norm进行裁剪。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770" y="2792730"/>
            <a:ext cx="7743825" cy="4857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5135" y="3824605"/>
            <a:ext cx="7744460" cy="577215"/>
          </a:xfrm>
          <a:prstGeom prst="rect">
            <a:avLst/>
          </a:prstGeom>
          <a:ln w="19050">
            <a:solidFill>
              <a:schemeClr val="bg1">
                <a:lumMod val="75000"/>
              </a:schemeClr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0425" y="4684395"/>
            <a:ext cx="5723255" cy="184721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数据并行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4837430"/>
            <a:ext cx="10515600" cy="1790700"/>
          </a:xfrm>
        </p:spPr>
        <p:txBody>
          <a:bodyPr>
            <a:normAutofit fontScale="800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数据并行是最常用的并行训练模式，在</a:t>
            </a:r>
            <a:r>
              <a:rPr lang="zh-CN" altLang="en-US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单机多卡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场景经常使用，一般方式为将大批量数据平均分发到多个计算设备（</a:t>
            </a: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GPU/NPU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）上，每一步迭代完成后，多卡的梯度进行</a:t>
            </a:r>
            <a:r>
              <a:rPr lang="zh-CN" altLang="en-US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聚合，</a:t>
            </a:r>
            <a:r>
              <a:rPr lang="zh-CN" altLang="en-US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然后更新到各个设备上，达到多张卡并行训练同一个模型的目的。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00225"/>
            <a:ext cx="9533255" cy="283845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261110" y="3586480"/>
            <a:ext cx="3338195" cy="383540"/>
          </a:xfrm>
          <a:prstGeom prst="rect">
            <a:avLst/>
          </a:prstGeom>
          <a:noFill/>
          <a:ln w="1905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244"/>
          <p:cNvSpPr/>
          <p:nvPr/>
        </p:nvSpPr>
        <p:spPr>
          <a:xfrm>
            <a:off x="6343899" y="1524415"/>
            <a:ext cx="4183849" cy="1548463"/>
          </a:xfrm>
          <a:prstGeom prst="roundRect">
            <a:avLst>
              <a:gd name="adj" fmla="val 2392"/>
            </a:avLst>
          </a:prstGeom>
          <a:solidFill>
            <a:schemeClr val="bg1">
              <a:lumMod val="40000"/>
              <a:lumOff val="60000"/>
            </a:schemeClr>
          </a:solidFill>
          <a:ln w="12700">
            <a:miter lim="400000"/>
          </a:ln>
          <a:effectLst>
            <a:outerShdw blurRad="101600" dist="12700" dir="5400000" rotWithShape="0">
              <a:srgbClr val="000000">
                <a:alpha val="20000"/>
              </a:srgbClr>
            </a:outerShdw>
          </a:effectLst>
        </p:spPr>
        <p:txBody>
          <a:bodyPr lIns="26125" tIns="26125" rIns="26125" bIns="26125" anchor="ctr"/>
          <a:lstStyle/>
          <a:p>
            <a:pPr marL="0" marR="0" lvl="0" indent="0" algn="l" defTabSz="2616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400" b="0"/>
            </a:pPr>
            <a:endParaRPr kumimoji="0" sz="918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0"/>
          </p:nvPr>
        </p:nvSpPr>
        <p:spPr>
          <a:xfrm>
            <a:off x="1370092" y="3142549"/>
            <a:ext cx="10153650" cy="3921540"/>
          </a:xfrm>
        </p:spPr>
        <p:txBody>
          <a:bodyPr/>
          <a:lstStyle/>
          <a:p>
            <a:r>
              <a:rPr lang="en-US" altLang="zh-CN" sz="1600" dirty="0" err="1">
                <a:latin typeface="+mn-lt"/>
                <a:ea typeface="+mn-ea"/>
                <a:cs typeface="+mn-ea"/>
                <a:sym typeface="+mn-lt"/>
              </a:rPr>
              <a:t>MindSpore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社区：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  <a:hlinkClick r:id="rId3"/>
              </a:rPr>
              <a:t>https://gitee.com/mindspore/community</a:t>
            </a:r>
            <a:endParaRPr lang="en-US" altLang="zh-CN" sz="1600" dirty="0"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华为高校人才发展社区：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  <a:hlinkClick r:id="rId4"/>
              </a:rPr>
              <a:t>https://edu.hicomputing.huawei.com/</a:t>
            </a:r>
            <a:endParaRPr lang="en-US" altLang="zh-CN" sz="1600" dirty="0">
              <a:latin typeface="+mn-lt"/>
              <a:ea typeface="+mn-ea"/>
              <a:cs typeface="+mn-ea"/>
              <a:sym typeface="+mn-lt"/>
            </a:endParaRPr>
          </a:p>
          <a:p>
            <a:r>
              <a:rPr lang="en-US" altLang="zh-CN" sz="1600" dirty="0" err="1">
                <a:latin typeface="+mn-lt"/>
                <a:ea typeface="+mn-ea"/>
                <a:cs typeface="+mn-ea"/>
                <a:sym typeface="+mn-lt"/>
              </a:rPr>
              <a:t>Openl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启智社区一站式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AI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开发环境：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  <a:hlinkClick r:id="rId5"/>
              </a:rPr>
              <a:t>https://openi.pcl.ac.cn/</a:t>
            </a:r>
            <a:endParaRPr lang="en-US" altLang="zh-CN" sz="1600" dirty="0"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优秀开发者及布道师招募：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  <a:hlinkClick r:id="rId6"/>
              </a:rPr>
              <a:t>https://www.mindspore.cn/evangelist</a:t>
            </a:r>
            <a:endParaRPr lang="en-US" altLang="zh-CN" sz="1600" dirty="0"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高校开发者微信群：添加微信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mindspore0328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，备注“开发者”</a:t>
            </a:r>
            <a:endParaRPr lang="en-US" altLang="zh-CN" sz="1600" dirty="0"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官方交流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QQ</a:t>
            </a:r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群：</a:t>
            </a: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871543426</a:t>
            </a:r>
          </a:p>
          <a:p>
            <a:r>
              <a:rPr lang="zh-CN" altLang="en-US" sz="1600" dirty="0">
                <a:latin typeface="+mn-lt"/>
                <a:ea typeface="+mn-ea"/>
                <a:cs typeface="+mn-ea"/>
                <a:sym typeface="+mn-lt"/>
              </a:rPr>
              <a:t>官方微信公众号：昇思</a:t>
            </a:r>
            <a:r>
              <a:rPr lang="en-US" altLang="zh-CN" sz="1600" dirty="0" err="1">
                <a:latin typeface="+mn-lt"/>
                <a:ea typeface="+mn-ea"/>
                <a:cs typeface="+mn-ea"/>
                <a:sym typeface="+mn-lt"/>
              </a:rPr>
              <a:t>MindSpore</a:t>
            </a:r>
            <a:endParaRPr lang="en-US" altLang="zh-CN" sz="1600" dirty="0">
              <a:latin typeface="+mn-lt"/>
              <a:ea typeface="+mn-ea"/>
              <a:cs typeface="+mn-ea"/>
              <a:sym typeface="+mn-lt"/>
            </a:endParaRPr>
          </a:p>
          <a:p>
            <a:endParaRPr lang="zh-CN" altLang="en-US" sz="20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435846" y="5676489"/>
            <a:ext cx="2584887" cy="338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99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cs typeface="+mn-ea"/>
                <a:sym typeface="+mn-lt"/>
              </a:rPr>
              <a:t>小助手</a:t>
            </a:r>
            <a:r>
              <a:rPr kumimoji="0" lang="en-US" altLang="zh-CN" sz="1599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cs typeface="+mn-ea"/>
                <a:sym typeface="+mn-lt"/>
              </a:rPr>
              <a:t>mindspore0328</a:t>
            </a:r>
          </a:p>
        </p:txBody>
      </p:sp>
      <p:sp>
        <p:nvSpPr>
          <p:cNvPr id="9" name="圆角矩形 244"/>
          <p:cNvSpPr/>
          <p:nvPr/>
        </p:nvSpPr>
        <p:spPr>
          <a:xfrm>
            <a:off x="1400698" y="1536167"/>
            <a:ext cx="4049126" cy="1582863"/>
          </a:xfrm>
          <a:prstGeom prst="roundRect">
            <a:avLst>
              <a:gd name="adj" fmla="val 2392"/>
            </a:avLst>
          </a:prstGeom>
          <a:solidFill>
            <a:schemeClr val="bg1">
              <a:lumMod val="40000"/>
              <a:lumOff val="60000"/>
            </a:schemeClr>
          </a:solidFill>
          <a:ln w="12700">
            <a:miter lim="400000"/>
          </a:ln>
          <a:effectLst>
            <a:outerShdw blurRad="101600" dist="12700" dir="5400000" rotWithShape="0">
              <a:srgbClr val="000000">
                <a:alpha val="20000"/>
              </a:srgbClr>
            </a:outerShdw>
          </a:effectLst>
        </p:spPr>
        <p:txBody>
          <a:bodyPr lIns="26125" tIns="26125" rIns="26125" bIns="26125" anchor="ctr"/>
          <a:lstStyle/>
          <a:p>
            <a:pPr marL="0" marR="0" lvl="0" indent="0" algn="l" defTabSz="26161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400" b="0"/>
            </a:pPr>
            <a:endParaRPr kumimoji="0" sz="918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" name="矩形 2"/>
          <p:cNvSpPr txBox="1"/>
          <p:nvPr/>
        </p:nvSpPr>
        <p:spPr>
          <a:xfrm>
            <a:off x="1699207" y="2696777"/>
            <a:ext cx="2548634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12339" rIns="12339">
            <a:spAutoFit/>
          </a:bodyPr>
          <a:lstStyle>
            <a:lvl1pPr defTabSz="1521354">
              <a:defRPr sz="7000">
                <a:solidFill>
                  <a:srgbClr val="FFFFFF"/>
                </a:solidFill>
              </a:defRPr>
            </a:lvl1pPr>
          </a:lstStyle>
          <a:p>
            <a:pPr marL="0" marR="0" lvl="0" indent="0" algn="l" defTabSz="1521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https://www.mindspore.cn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1" name="矩形 26"/>
          <p:cNvSpPr txBox="1"/>
          <p:nvPr/>
        </p:nvSpPr>
        <p:spPr>
          <a:xfrm>
            <a:off x="7031983" y="2695430"/>
            <a:ext cx="2813562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12339" rIns="12339">
            <a:spAutoFit/>
          </a:bodyPr>
          <a:lstStyle>
            <a:lvl1pPr defTabSz="1521354">
              <a:defRPr sz="7000">
                <a:solidFill>
                  <a:srgbClr val="FFFFFF"/>
                </a:solidFill>
              </a:defRPr>
            </a:lvl1pPr>
          </a:lstStyle>
          <a:p>
            <a:pPr marL="0" marR="0" lvl="0" indent="0" algn="l" defTabSz="1521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https://gitee.com/mindspore</a:t>
            </a:r>
          </a:p>
        </p:txBody>
      </p:sp>
      <p:pic>
        <p:nvPicPr>
          <p:cNvPr id="14" name="image37.png" descr="image37.png"/>
          <p:cNvPicPr>
            <a:picLocks noChangeAspect="1"/>
          </p:cNvPicPr>
          <p:nvPr/>
        </p:nvPicPr>
        <p:blipFill>
          <a:blip r:embed="rId7"/>
          <a:srcRect b="2"/>
          <a:stretch>
            <a:fillRect/>
          </a:stretch>
        </p:blipFill>
        <p:spPr>
          <a:xfrm>
            <a:off x="6598691" y="1812241"/>
            <a:ext cx="2425566" cy="9963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71" y="0"/>
                </a:moveTo>
                <a:cubicBezTo>
                  <a:pt x="166" y="0"/>
                  <a:pt x="0" y="403"/>
                  <a:pt x="0" y="900"/>
                </a:cubicBezTo>
                <a:lnTo>
                  <a:pt x="0" y="20700"/>
                </a:lnTo>
                <a:cubicBezTo>
                  <a:pt x="0" y="21197"/>
                  <a:pt x="166" y="21600"/>
                  <a:pt x="371" y="21600"/>
                </a:cubicBezTo>
                <a:lnTo>
                  <a:pt x="21229" y="21600"/>
                </a:lnTo>
                <a:cubicBezTo>
                  <a:pt x="21434" y="21600"/>
                  <a:pt x="21600" y="21197"/>
                  <a:pt x="21600" y="20700"/>
                </a:cubicBezTo>
                <a:lnTo>
                  <a:pt x="21600" y="900"/>
                </a:lnTo>
                <a:cubicBezTo>
                  <a:pt x="21600" y="403"/>
                  <a:pt x="21434" y="0"/>
                  <a:pt x="21229" y="0"/>
                </a:cubicBezTo>
                <a:lnTo>
                  <a:pt x="371" y="0"/>
                </a:lnTo>
                <a:close/>
              </a:path>
            </a:pathLst>
          </a:custGeom>
          <a:ln w="12700">
            <a:miter lim="400000"/>
          </a:ln>
          <a:effectLst>
            <a:reflection stA="10000" endPos="40000" dir="5400000" sy="-100000" algn="bl" rotWithShape="0"/>
          </a:effectLst>
        </p:spPr>
      </p:pic>
      <p:pic>
        <p:nvPicPr>
          <p:cNvPr id="15" name="Picture 2" descr="Picture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11132" y="1838455"/>
            <a:ext cx="999427" cy="9994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6" name="Picture 4" descr="Picture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29381" y="1851239"/>
            <a:ext cx="999427" cy="999427"/>
          </a:xfrm>
          <a:prstGeom prst="rect">
            <a:avLst/>
          </a:prstGeom>
          <a:ln w="12700">
            <a:miter lim="400000"/>
          </a:ln>
        </p:spPr>
      </p:pic>
      <p:sp>
        <p:nvSpPr>
          <p:cNvPr id="17" name="文本占位符 16"/>
          <p:cNvSpPr txBox="1">
            <a:spLocks/>
          </p:cNvSpPr>
          <p:nvPr/>
        </p:nvSpPr>
        <p:spPr>
          <a:xfrm>
            <a:off x="2763178" y="1594024"/>
            <a:ext cx="1266203" cy="23369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868680" rtl="0" eaLnBrk="1" latinLnBrk="0" hangingPunct="1">
              <a:lnSpc>
                <a:spcPct val="90000"/>
              </a:lnSpc>
              <a:spcBef>
                <a:spcPts val="900"/>
              </a:spcBef>
              <a:buFont typeface="Arial" panose="020B0604020202020204" pitchFamily="34" charset="0"/>
              <a:buChar char="•"/>
              <a:defRPr sz="66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86868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rPr>
              <a:t>官方网站</a:t>
            </a:r>
          </a:p>
        </p:txBody>
      </p:sp>
      <p:sp>
        <p:nvSpPr>
          <p:cNvPr id="18" name="文本占位符 16"/>
          <p:cNvSpPr/>
          <p:nvPr/>
        </p:nvSpPr>
        <p:spPr>
          <a:xfrm>
            <a:off x="7811474" y="1617543"/>
            <a:ext cx="1248701" cy="2336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2339" rIns="12339" anchor="ctr">
            <a:noAutofit/>
          </a:bodyPr>
          <a:lstStyle>
            <a:lvl1pPr defTabSz="868680">
              <a:lnSpc>
                <a:spcPct val="90000"/>
              </a:lnSpc>
              <a:spcBef>
                <a:spcPts val="900"/>
              </a:spcBef>
              <a:defRPr sz="6650" b="0">
                <a:solidFill>
                  <a:srgbClr val="FFFFFF"/>
                </a:solidFill>
                <a:latin typeface="FZLanTingHeiS-R-GB"/>
                <a:ea typeface="FZLanTingHeiS-R-GB"/>
                <a:cs typeface="FZLanTingHeiS-R-GB"/>
                <a:sym typeface="FZLanTingHeiS-R-GB"/>
              </a:defRPr>
            </a:lvl1pPr>
          </a:lstStyle>
          <a:p>
            <a:pPr marL="0" marR="0" lvl="0" indent="0" algn="l" defTabSz="86868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代码托管平台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644EFC9-8883-4419-A6CF-0CBA2DC35496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27093" b="28654"/>
          <a:stretch/>
        </p:blipFill>
        <p:spPr>
          <a:xfrm>
            <a:off x="1793307" y="1923123"/>
            <a:ext cx="1827977" cy="80894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66963C3-D9A4-4855-BFD0-F23928F23AA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32040" y="3393758"/>
            <a:ext cx="2158183" cy="2224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7898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缩略语表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519301"/>
              </p:ext>
            </p:extLst>
          </p:nvPr>
        </p:nvGraphicFramePr>
        <p:xfrm>
          <a:off x="1971062" y="1336577"/>
          <a:ext cx="8336963" cy="4721200"/>
        </p:xfrm>
        <a:graphic>
          <a:graphicData uri="http://schemas.openxmlformats.org/drawingml/2006/table">
            <a:tbl>
              <a:tblPr firstRow="1" bandRow="1"/>
              <a:tblGrid>
                <a:gridCol w="2318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0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8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7668"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缩略语</a:t>
                      </a:r>
                    </a:p>
                  </a:txBody>
                  <a:tcPr marL="91404" marR="91404" marT="45702" marB="45702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全称</a:t>
                      </a:r>
                    </a:p>
                  </a:txBody>
                  <a:tcPr marL="91404" marR="91404" marT="45702" marB="45702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中文释义</a:t>
                      </a:r>
                    </a:p>
                  </a:txBody>
                  <a:tcPr marL="91404" marR="91404" marT="45702" marB="45702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668"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en-US" altLang="zh-CN" sz="12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AI</a:t>
                      </a:r>
                      <a:endParaRPr lang="zh-CN" altLang="en-US" sz="12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en-US" altLang="zh-CN" sz="1200">
                          <a:latin typeface="+mn-lt"/>
                          <a:ea typeface="+mn-ea"/>
                          <a:cs typeface="+mn-ea"/>
                          <a:sym typeface="+mn-lt"/>
                        </a:rPr>
                        <a:t>Artificial Intelligence</a:t>
                      </a:r>
                      <a:endParaRPr lang="zh-CN" altLang="en-US" sz="12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marL="0" marR="0" lvl="0" indent="0" algn="ctr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人工智能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596"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en-US" altLang="zh-CN" sz="12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CANN</a:t>
                      </a:r>
                    </a:p>
                  </a:txBody>
                  <a:tcPr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marL="0" marR="0" lvl="0" indent="0" algn="ctr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Compute Architecture for Neural Networks</a:t>
                      </a:r>
                      <a:endParaRPr lang="zh-CN" altLang="en-US" sz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zh-CN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神经网络计算架构</a:t>
                      </a:r>
                      <a:endParaRPr lang="zh-CN" altLang="en-US" sz="12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7668"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en-US" altLang="zh-CN" sz="12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NAIE</a:t>
                      </a:r>
                      <a:endParaRPr lang="zh-CN" altLang="en-US" sz="12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en-US" altLang="zh-CN" sz="1200">
                          <a:latin typeface="+mn-lt"/>
                          <a:ea typeface="+mn-ea"/>
                          <a:cs typeface="+mn-ea"/>
                          <a:sym typeface="+mn-lt"/>
                        </a:rPr>
                        <a:t>Network AI Engine</a:t>
                      </a:r>
                      <a:endParaRPr lang="zh-CN" altLang="en-US" sz="12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zh-CN" altLang="en-US" sz="12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网络智能体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7668"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en-US" altLang="zh-CN" sz="12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NPU</a:t>
                      </a:r>
                      <a:endParaRPr lang="zh-CN" altLang="en-US" sz="12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en-US" altLang="zh-CN" sz="1200">
                          <a:latin typeface="+mn-lt"/>
                          <a:ea typeface="+mn-ea"/>
                          <a:cs typeface="+mn-ea"/>
                          <a:sym typeface="+mn-lt"/>
                        </a:rPr>
                        <a:t>Neural-network Processing Unit</a:t>
                      </a:r>
                      <a:endParaRPr lang="zh-CN" altLang="en-US" sz="12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zh-CN" altLang="en-US" sz="12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神经网络处理器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7668"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en-US" altLang="zh-CN" sz="12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GPU</a:t>
                      </a:r>
                      <a:endParaRPr lang="zh-CN" altLang="en-US" sz="12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en-US" altLang="zh-CN" sz="1200">
                          <a:latin typeface="+mn-lt"/>
                          <a:ea typeface="+mn-ea"/>
                          <a:cs typeface="+mn-ea"/>
                          <a:sym typeface="+mn-lt"/>
                        </a:rPr>
                        <a:t>Graphics processing unit</a:t>
                      </a:r>
                      <a:endParaRPr lang="zh-CN" altLang="en-US" sz="12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zh-CN" altLang="en-US" sz="12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图形处理器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7668"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en-US" altLang="zh-CN" sz="12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CPU</a:t>
                      </a:r>
                      <a:endParaRPr lang="zh-CN" altLang="en-US" sz="12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en-US" altLang="zh-CN" sz="1200">
                          <a:latin typeface="+mn-lt"/>
                          <a:ea typeface="+mn-ea"/>
                          <a:cs typeface="+mn-ea"/>
                          <a:sym typeface="+mn-lt"/>
                        </a:rPr>
                        <a:t>Central Processing Unit</a:t>
                      </a:r>
                      <a:endParaRPr lang="zh-CN" altLang="en-US" sz="12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zh-CN" altLang="en-US" sz="12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中央处理器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7668"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en-US" altLang="zh-CN" sz="12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TF</a:t>
                      </a:r>
                      <a:endParaRPr lang="zh-CN" altLang="en-US" sz="12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en-US" altLang="zh-CN" sz="1200" dirty="0" err="1">
                          <a:latin typeface="+mn-lt"/>
                          <a:ea typeface="+mn-ea"/>
                          <a:cs typeface="+mn-ea"/>
                          <a:sym typeface="+mn-lt"/>
                        </a:rPr>
                        <a:t>TensorFlow</a:t>
                      </a:r>
                      <a:endParaRPr lang="zh-CN" altLang="en-US" sz="12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zh-CN" altLang="en-US" sz="12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是一个端到端开源机器学习平台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7668"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en-US" altLang="zh-CN" sz="12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MNIST</a:t>
                      </a:r>
                      <a:endParaRPr lang="zh-CN" altLang="en-US" sz="12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en-US" altLang="zh-CN" sz="1200">
                          <a:latin typeface="+mn-lt"/>
                          <a:ea typeface="+mn-ea"/>
                          <a:cs typeface="+mn-ea"/>
                          <a:sym typeface="+mn-lt"/>
                        </a:rPr>
                        <a:t>Modified National Institute of Standards and Technology</a:t>
                      </a:r>
                      <a:endParaRPr lang="zh-CN" altLang="en-US" sz="12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zh-CN" altLang="en-US" sz="12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是美国国家标准与技术研究院收集整理的大型手写数字数据集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7668"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en-US" altLang="zh-CN" sz="12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CIFAR-10</a:t>
                      </a:r>
                      <a:endParaRPr lang="zh-CN" altLang="en-US" sz="12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en-US" altLang="zh-CN" sz="1200">
                          <a:latin typeface="+mn-lt"/>
                          <a:ea typeface="+mn-ea"/>
                          <a:cs typeface="+mn-ea"/>
                          <a:sym typeface="+mn-lt"/>
                        </a:rPr>
                        <a:t>Canadian Institute for Advanced Research, 10 classes</a:t>
                      </a:r>
                      <a:endParaRPr lang="zh-CN" altLang="en-US" sz="12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zh-CN" altLang="en-US" sz="12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是一个包含</a:t>
                      </a:r>
                      <a:r>
                        <a:rPr lang="en-US" altLang="zh-CN" sz="12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10</a:t>
                      </a:r>
                      <a:r>
                        <a:rPr lang="zh-CN" altLang="en-US" sz="12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种类别常见物体的彩色图像数据集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7668"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en-US" altLang="zh-CN" sz="12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VOC</a:t>
                      </a:r>
                      <a:endParaRPr lang="zh-CN" altLang="en-US" sz="12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en-US" altLang="zh-CN" sz="1200">
                          <a:latin typeface="+mn-lt"/>
                          <a:ea typeface="+mn-ea"/>
                          <a:cs typeface="+mn-ea"/>
                          <a:sym typeface="+mn-lt"/>
                        </a:rPr>
                        <a:t>Visual Object Classes</a:t>
                      </a:r>
                      <a:endParaRPr lang="zh-CN" altLang="en-US" sz="12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zh-CN" altLang="en-US" sz="12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是常用于图像分类、目标检测等计算机视觉领域的数据集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7668"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marL="0" marR="0" lvl="0" indent="0" algn="ctr" defTabSz="9140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COCO</a:t>
                      </a:r>
                      <a:endParaRPr lang="zh-CN" altLang="en-US" sz="12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en-US" altLang="zh-CN" sz="1200">
                          <a:latin typeface="+mn-lt"/>
                          <a:ea typeface="+mn-ea"/>
                          <a:cs typeface="+mn-ea"/>
                          <a:sym typeface="+mn-lt"/>
                        </a:rPr>
                        <a:t>Common Objects in Context</a:t>
                      </a:r>
                      <a:endParaRPr lang="zh-CN" altLang="en-US" sz="12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zh-CN" altLang="en-US" sz="12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是常用于图像分类、目标检测、图像分割等计算机视觉领域的数据集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7668"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en-US" altLang="zh-CN" sz="12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CHW</a:t>
                      </a:r>
                      <a:endParaRPr lang="zh-CN" altLang="en-US" sz="12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en-US" altLang="zh-CN" sz="1200">
                          <a:latin typeface="+mn-lt"/>
                          <a:ea typeface="+mn-ea"/>
                          <a:cs typeface="+mn-ea"/>
                          <a:sym typeface="+mn-lt"/>
                        </a:rPr>
                        <a:t>Channel,</a:t>
                      </a:r>
                      <a:r>
                        <a:rPr lang="en-US" altLang="zh-CN" sz="1200" baseline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 Height, Weight </a:t>
                      </a:r>
                      <a:endParaRPr lang="zh-CN" altLang="en-US" sz="12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zh-CN" altLang="en-US" sz="12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通道，高度，宽度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7668"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en-US" altLang="zh-CN" sz="12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SGD</a:t>
                      </a:r>
                      <a:endParaRPr lang="zh-CN" altLang="en-US" sz="12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en-US" altLang="zh-CN" sz="12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Stochastic Gradient Descent</a:t>
                      </a:r>
                      <a:endParaRPr lang="zh-CN" altLang="en-US" sz="12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zh-CN" altLang="en-US" sz="12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随机梯度下降算法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68840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缩略语表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214269"/>
              </p:ext>
            </p:extLst>
          </p:nvPr>
        </p:nvGraphicFramePr>
        <p:xfrm>
          <a:off x="1913195" y="1498624"/>
          <a:ext cx="8336963" cy="3078444"/>
        </p:xfrm>
        <a:graphic>
          <a:graphicData uri="http://schemas.openxmlformats.org/drawingml/2006/table">
            <a:tbl>
              <a:tblPr firstRow="1" bandRow="1"/>
              <a:tblGrid>
                <a:gridCol w="2318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0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8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7668"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缩略语</a:t>
                      </a:r>
                    </a:p>
                  </a:txBody>
                  <a:tcPr marL="91404" marR="91404" marT="45702" marB="45702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全称</a:t>
                      </a:r>
                    </a:p>
                  </a:txBody>
                  <a:tcPr marL="91404" marR="91404" marT="45702" marB="45702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b="1" kern="1200">
                          <a:solidFill>
                            <a:schemeClr val="bg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中文释义</a:t>
                      </a:r>
                    </a:p>
                  </a:txBody>
                  <a:tcPr marL="91404" marR="91404" marT="45702" marB="45702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668"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en-US" altLang="zh-CN" sz="1200" dirty="0" err="1">
                          <a:latin typeface="+mn-lt"/>
                          <a:ea typeface="+mn-ea"/>
                          <a:cs typeface="+mn-ea"/>
                          <a:sym typeface="+mn-lt"/>
                        </a:rPr>
                        <a:t>RMSProp</a:t>
                      </a:r>
                      <a:endParaRPr lang="zh-CN" altLang="en-US" sz="12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en-US" altLang="zh-CN" sz="1200">
                          <a:latin typeface="+mn-lt"/>
                          <a:ea typeface="+mn-ea"/>
                          <a:cs typeface="+mn-ea"/>
                          <a:sym typeface="+mn-lt"/>
                        </a:rPr>
                        <a:t>Root Mean Square Propagation</a:t>
                      </a:r>
                      <a:endParaRPr lang="zh-CN" altLang="en-US" sz="12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zh-CN" altLang="en-US" sz="12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是一种自适应学习率优化算法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7668"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en-US" altLang="zh-CN" sz="12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Adam</a:t>
                      </a:r>
                      <a:endParaRPr lang="zh-CN" altLang="en-US" sz="12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en-US" altLang="zh-CN" sz="1200">
                          <a:latin typeface="+mn-lt"/>
                          <a:ea typeface="+mn-ea"/>
                          <a:cs typeface="+mn-ea"/>
                          <a:sym typeface="+mn-lt"/>
                        </a:rPr>
                        <a:t>Adaptive Momentum</a:t>
                      </a:r>
                      <a:endParaRPr lang="zh-CN" altLang="en-US" sz="12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zh-CN" altLang="en-US" sz="12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是一种自适应动量的随机优化算法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7668"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en-US" altLang="zh-CN" sz="12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LARS</a:t>
                      </a:r>
                      <a:endParaRPr lang="zh-CN" altLang="en-US" sz="12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en-US" altLang="zh-CN" sz="1200">
                          <a:latin typeface="+mn-lt"/>
                          <a:ea typeface="+mn-ea"/>
                          <a:cs typeface="+mn-ea"/>
                          <a:sym typeface="+mn-lt"/>
                        </a:rPr>
                        <a:t>Least Angle Regression</a:t>
                      </a:r>
                      <a:endParaRPr lang="zh-CN" altLang="en-US" sz="12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zh-CN" altLang="en-US" sz="12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最小角回归算法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7668"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en-US" altLang="zh-CN" sz="12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FTRL</a:t>
                      </a:r>
                      <a:endParaRPr lang="zh-CN" altLang="en-US" sz="12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en-US" altLang="zh-CN" sz="1200">
                          <a:latin typeface="+mn-lt"/>
                          <a:ea typeface="+mn-ea"/>
                          <a:cs typeface="+mn-ea"/>
                          <a:sym typeface="+mn-lt"/>
                        </a:rPr>
                        <a:t>Follow The Regularized Leader</a:t>
                      </a:r>
                      <a:endParaRPr lang="zh-CN" altLang="en-US" sz="12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zh-CN" altLang="en-US" sz="12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是一种在线学习场景下求解稀疏化模型的优化算法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7668"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en-US" altLang="zh-CN" sz="12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NAG</a:t>
                      </a:r>
                      <a:endParaRPr lang="zh-CN" altLang="en-US" sz="12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en-US" altLang="zh-CN" sz="1200">
                          <a:latin typeface="+mn-lt"/>
                          <a:ea typeface="+mn-ea"/>
                          <a:cs typeface="+mn-ea"/>
                          <a:sym typeface="+mn-lt"/>
                        </a:rPr>
                        <a:t>Nesterov Accelerated Gradient </a:t>
                      </a:r>
                      <a:endParaRPr lang="zh-CN" altLang="en-US" sz="12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zh-CN" altLang="en-US" sz="12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是一种基于动量优化器改进的优化算法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7668"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en-US" altLang="zh-CN" sz="12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ONNX</a:t>
                      </a:r>
                      <a:endParaRPr lang="zh-CN" altLang="en-US" sz="12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en-US" altLang="zh-CN" sz="1200">
                          <a:latin typeface="+mn-lt"/>
                          <a:ea typeface="+mn-ea"/>
                          <a:cs typeface="+mn-ea"/>
                          <a:sym typeface="+mn-lt"/>
                        </a:rPr>
                        <a:t>Open Neural Network Exchange</a:t>
                      </a:r>
                      <a:endParaRPr lang="zh-CN" altLang="en-US" sz="12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zh-CN" altLang="en-US" sz="12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是一种用于存储机器学习模型的开放式文件存储格式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7668"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en-US" altLang="zh-CN" sz="12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API</a:t>
                      </a:r>
                      <a:endParaRPr lang="zh-CN" altLang="en-US" sz="12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en-US" altLang="zh-CN" sz="1200">
                          <a:latin typeface="+mn-lt"/>
                          <a:ea typeface="+mn-ea"/>
                          <a:cs typeface="+mn-ea"/>
                          <a:sym typeface="+mn-lt"/>
                        </a:rPr>
                        <a:t>Application Programming Interface</a:t>
                      </a:r>
                      <a:endParaRPr lang="zh-CN" altLang="en-US" sz="12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r>
                        <a:rPr lang="zh-CN" altLang="en-US" sz="12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应用程序接口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7668"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endParaRPr lang="zh-CN" altLang="en-US" sz="12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endParaRPr lang="zh-CN" altLang="en-US" sz="12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pPr algn="ctr"/>
                      <a:endParaRPr lang="zh-CN" altLang="en-US" sz="12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10132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6378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dhto1fux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功能页模板">
  <a:themeElements>
    <a:clrScheme name="自定义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7000B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dhto1fux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内容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dhto1fux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感谢页模板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dhto1fux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1AA013AF-7C2E-4A39-9796-86760F640C19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1157</Words>
  <Application>Microsoft Office PowerPoint</Application>
  <PresentationFormat>宽屏</PresentationFormat>
  <Paragraphs>170</Paragraphs>
  <Slides>26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26</vt:i4>
      </vt:variant>
    </vt:vector>
  </HeadingPairs>
  <TitlesOfParts>
    <vt:vector size="38" baseType="lpstr">
      <vt:lpstr>等线</vt:lpstr>
      <vt:lpstr>方正兰亭黑简体</vt:lpstr>
      <vt:lpstr>宋体</vt:lpstr>
      <vt:lpstr>Microsoft YaHei</vt:lpstr>
      <vt:lpstr>Arial</vt:lpstr>
      <vt:lpstr>Calibri</vt:lpstr>
      <vt:lpstr>Huawei Sans</vt:lpstr>
      <vt:lpstr>Wingdings</vt:lpstr>
      <vt:lpstr>Office 主题</vt:lpstr>
      <vt:lpstr>3_功能页模板</vt:lpstr>
      <vt:lpstr>4_内容页模板</vt:lpstr>
      <vt:lpstr>5_感谢页模板</vt:lpstr>
      <vt:lpstr>如何使用MindSpore2.0做深度学习训练</vt:lpstr>
      <vt:lpstr>目录</vt:lpstr>
      <vt:lpstr>深度学习全流程</vt:lpstr>
      <vt:lpstr>PowerPoint 演示文稿</vt:lpstr>
      <vt:lpstr>面向对象(OOP)和函数式(FP)</vt:lpstr>
      <vt:lpstr>MindSpore2.0——OOP+FP混合编程</vt:lpstr>
      <vt:lpstr>MindSpore模型训练</vt:lpstr>
      <vt:lpstr>网络构建</vt:lpstr>
      <vt:lpstr>Loss function</vt:lpstr>
      <vt:lpstr>Optimizer</vt:lpstr>
      <vt:lpstr>Parameter and Hyper-parameter</vt:lpstr>
      <vt:lpstr>训练逻辑——一个Step的训练</vt:lpstr>
      <vt:lpstr>数据集遍历迭代</vt:lpstr>
      <vt:lpstr>模型评估</vt:lpstr>
      <vt:lpstr>模型保存与加载</vt:lpstr>
      <vt:lpstr>计算图</vt:lpstr>
      <vt:lpstr>即时编译(Just In Time, JIT)</vt:lpstr>
      <vt:lpstr>函数式自动微分</vt:lpstr>
      <vt:lpstr>函数式自动微分——神经网络</vt:lpstr>
      <vt:lpstr>高阶梯度</vt:lpstr>
      <vt:lpstr>梯度裁剪</vt:lpstr>
      <vt:lpstr>数据并行</vt:lpstr>
      <vt:lpstr>PowerPoint 演示文稿</vt:lpstr>
      <vt:lpstr>缩略语表</vt:lpstr>
      <vt:lpstr>缩略语表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如何使用MindSpore2.0做深度学习训练</dc:title>
  <dc:creator>wps</dc:creator>
  <cp:lastModifiedBy>qiweiyu</cp:lastModifiedBy>
  <cp:revision>303</cp:revision>
  <dcterms:created xsi:type="dcterms:W3CDTF">2022-11-29T11:05:56Z</dcterms:created>
  <dcterms:modified xsi:type="dcterms:W3CDTF">2023-08-24T09:50:53Z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2052-11.1.0.11664</vt:lpwstr>
  </property>
  <property fmtid="{D5CDD505-2E9C-101B-9397-08002B2CF9AE}" pid="4" name="_2015_ms_pID_725343">
    <vt:lpwstr>(3)cE6PvKGj+6z41KmbAtcj6B9fbeEslz9kgaRB3stqSGdql6lTsY6w7t6ULefl6Adc6phQ3tsJ
XukhNmU8czg+vLzCgQpOF6KYMKzvPt3/7WLFxBhTTpwCg5gio8luCoJ3gskqFBV2spPw8eRo
v5uofzvRgg0B5Vcw8YDeYBAgqiVyfuLiM13LR9VX+ONF6iUUFYgJ7erd/2FiP3pfi1iJeG3a
BRBv4lKYqHj0hCmUku</vt:lpwstr>
  </property>
  <property fmtid="{D5CDD505-2E9C-101B-9397-08002B2CF9AE}" pid="5" name="_2015_ms_pID_7253431">
    <vt:lpwstr>voxUV/Au4tAoX8OyIcB60KCiuKiBVBEGNfORhtnspjoNdDS3E78vIz
VNr3haZXHT83N7rb91j9yIO9Se0tjC2kfJKHOhjXBf4t5ITvkCttlPXw4ThOJ5kP/Z12ZhNO
M+CMFCAAyfmu315ZmjVM/0jGdLK6vtbJGSJVvFyZUDYK3uZv631CEUYzUTA9MWDrriFqaUM2
oHkG03UO/PefvTLP0+RLw8vXOeiMpvErxiJf</vt:lpwstr>
  </property>
  <property fmtid="{D5CDD505-2E9C-101B-9397-08002B2CF9AE}" pid="6" name="_2015_ms_pID_7253432">
    <vt:lpwstr>xVyWZRqM8nyay7Di88AwGp8=</vt:lpwstr>
  </property>
  <property fmtid="{D5CDD505-2E9C-101B-9397-08002B2CF9AE}" pid="7" name="_readonly">
    <vt:lpwstr/>
  </property>
  <property fmtid="{D5CDD505-2E9C-101B-9397-08002B2CF9AE}" pid="8" name="_change">
    <vt:lpwstr/>
  </property>
  <property fmtid="{D5CDD505-2E9C-101B-9397-08002B2CF9AE}" pid="9" name="_full-control">
    <vt:lpwstr/>
  </property>
  <property fmtid="{D5CDD505-2E9C-101B-9397-08002B2CF9AE}" pid="10" name="sflag">
    <vt:lpwstr>1692870302</vt:lpwstr>
  </property>
</Properties>
</file>