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2.xml" ContentType="application/vnd.openxmlformats-officedocument.them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1.xml" ContentType="application/vnd.openxmlformats-officedocument.presentationml.notesSlide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notesSlides/notesSlide2.xml" ContentType="application/vnd.openxmlformats-officedocument.presentationml.notesSl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notesSlides/notesSlide3.xml" ContentType="application/vnd.openxmlformats-officedocument.presentationml.notesSlide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notesSlides/notesSlide4.xml" ContentType="application/vnd.openxmlformats-officedocument.presentationml.notesSlide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notesSlides/notesSlide5.xml" ContentType="application/vnd.openxmlformats-officedocument.presentationml.notesSlide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notesSlides/notesSlide6.xml" ContentType="application/vnd.openxmlformats-officedocument.presentationml.notesSlide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7.xml" ContentType="application/vnd.openxmlformats-officedocument.presentationml.notesSlide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notesSlides/notesSlide8.xml" ContentType="application/vnd.openxmlformats-officedocument.presentationml.notesSlid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9.xml" ContentType="application/vnd.openxmlformats-officedocument.presentationml.notesSlid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notesSlides/notesSlide10.xml" ContentType="application/vnd.openxmlformats-officedocument.presentationml.notesSlide+xml"/>
  <Override PartName="/ppt/tags/tag31.xml" ContentType="application/vnd.openxmlformats-officedocument.presentationml.tags+xml"/>
  <Override PartName="/ppt/notesSlides/notesSlide11.xml" ContentType="application/vnd.openxmlformats-officedocument.presentationml.notesSlid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12.xml" ContentType="application/vnd.openxmlformats-officedocument.presentationml.notesSlide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notesSlides/notesSlide13.xml" ContentType="application/vnd.openxmlformats-officedocument.presentationml.notesSlide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notesSlides/notesSlide14.xml" ContentType="application/vnd.openxmlformats-officedocument.presentationml.notesSlide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5.xml" ContentType="application/vnd.openxmlformats-officedocument.presentationml.notesSlide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notesSlides/notesSlide16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notesSlides/notesSlide17.xml" ContentType="application/vnd.openxmlformats-officedocument.presentationml.notesSlid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notesSlides/notesSlide18.xml" ContentType="application/vnd.openxmlformats-officedocument.presentationml.notesSlide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19.xml" ContentType="application/vnd.openxmlformats-officedocument.presentationml.notesSlide+xml"/>
  <Override PartName="/ppt/tags/tag48.xml" ContentType="application/vnd.openxmlformats-officedocument.presentationml.tags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449" r:id="rId3"/>
    <p:sldId id="511" r:id="rId4"/>
    <p:sldId id="515" r:id="rId5"/>
    <p:sldId id="516" r:id="rId6"/>
    <p:sldId id="517" r:id="rId7"/>
    <p:sldId id="518" r:id="rId8"/>
    <p:sldId id="519" r:id="rId9"/>
    <p:sldId id="523" r:id="rId10"/>
    <p:sldId id="520" r:id="rId11"/>
    <p:sldId id="521" r:id="rId12"/>
    <p:sldId id="522" r:id="rId13"/>
    <p:sldId id="525" r:id="rId14"/>
    <p:sldId id="527" r:id="rId15"/>
    <p:sldId id="524" r:id="rId16"/>
    <p:sldId id="526" r:id="rId17"/>
    <p:sldId id="528" r:id="rId18"/>
    <p:sldId id="529" r:id="rId19"/>
    <p:sldId id="530" r:id="rId20"/>
    <p:sldId id="460" r:id="rId21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江 先亮" initials="江" lastIdx="2" clrIdx="0">
    <p:extLst>
      <p:ext uri="{19B8F6BF-5375-455C-9EA6-DF929625EA0E}">
        <p15:presenceInfo xmlns:p15="http://schemas.microsoft.com/office/powerpoint/2012/main" userId="c2205197a7c9473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D62A0"/>
    <a:srgbClr val="2C7CB3"/>
    <a:srgbClr val="035C9C"/>
    <a:srgbClr val="047EDA"/>
    <a:srgbClr val="7F7F7F"/>
    <a:srgbClr val="0363A5"/>
    <a:srgbClr val="035C9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309" autoAdjust="0"/>
    <p:restoredTop sz="93491" autoAdjust="0"/>
  </p:normalViewPr>
  <p:slideViewPr>
    <p:cSldViewPr snapToGrid="0" showGuides="1">
      <p:cViewPr varScale="1">
        <p:scale>
          <a:sx n="106" d="100"/>
          <a:sy n="106" d="100"/>
        </p:scale>
        <p:origin x="732" y="10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1C6262-C5EE-49E8-82C9-5B482EFE4728}" type="datetimeFigureOut">
              <a:rPr lang="zh-CN" altLang="en-US" smtClean="0"/>
              <a:t>2024/6/23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E321C3-B83B-4F67-8F2E-568770AE23B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1725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C990B09-5614-4441-986A-2B8D4B0D146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微软雅黑" panose="020B050302020402020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D7E1F-682C-4D2A-A506-5EFB69BAF2A1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47053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D7E1F-682C-4D2A-A506-5EFB69BAF2A1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45989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D7E1F-682C-4D2A-A506-5EFB69BAF2A1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91219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D7E1F-682C-4D2A-A506-5EFB69BAF2A1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62863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D7E1F-682C-4D2A-A506-5EFB69BAF2A1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8501887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D7E1F-682C-4D2A-A506-5EFB69BAF2A1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45500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D7E1F-682C-4D2A-A506-5EFB69BAF2A1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01858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D7E1F-682C-4D2A-A506-5EFB69BAF2A1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80107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D7E1F-682C-4D2A-A506-5EFB69BAF2A1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25784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D7E1F-682C-4D2A-A506-5EFB69BAF2A1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60483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D7E1F-682C-4D2A-A506-5EFB69BAF2A1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077740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D7E1F-682C-4D2A-A506-5EFB69BAF2A1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2471161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D7E1F-682C-4D2A-A506-5EFB69BAF2A1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691026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D7E1F-682C-4D2A-A506-5EFB69BAF2A1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20057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D7E1F-682C-4D2A-A506-5EFB69BAF2A1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232294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D7E1F-682C-4D2A-A506-5EFB69BAF2A1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913459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D7E1F-682C-4D2A-A506-5EFB69BAF2A1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33072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FD7E1F-682C-4D2A-A506-5EFB69BAF2A1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4795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DC990B09-5614-4441-986A-2B8D4B0D146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微软雅黑" panose="020B0503020204020204" charset="-122"/>
                <a:cs typeface="+mn-cs"/>
              </a:rPr>
              <a:t>20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154282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7" Type="http://schemas.openxmlformats.org/officeDocument/2006/relationships/image" Target="../media/image2.png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image" Target="../media/image1.jpeg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9B8032A-B20A-4D61-930B-4D827A8AEE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74AC396-59C7-4E2F-A700-E53D3F8F28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6C9892-3A12-48D3-8E07-3783FE887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10F19-8CFC-41BA-AB99-D3970B82F7EB}" type="datetimeFigureOut">
              <a:rPr lang="zh-CN" altLang="en-US" smtClean="0"/>
              <a:t>2024/6/23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9D006B2-C4AB-45A6-B40C-6A02FDF8A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B4EDEEE-6D9E-441E-8A29-C8C6F7697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7425F-DEC4-4455-AD0B-2B1C49DF35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5600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EE5E06-2A11-41B6-8871-36FE65E05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4EA20C-945C-4B54-8FF4-05F0638B0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DDBE8B-C4A9-4E30-B103-F3D78E32F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710F19-8CFC-41BA-AB99-D3970B82F7EB}" type="datetimeFigureOut">
              <a:rPr lang="zh-CN" altLang="en-US" smtClean="0"/>
              <a:t>2024/6/23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5FA5AD8-9911-4B6F-8419-4F614CAA8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0A2C6D1-7E00-4617-81F8-F4D840AE4F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7425F-DEC4-4455-AD0B-2B1C49DF353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8967392" y="6430009"/>
            <a:ext cx="775136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www.1ppt.com/hangye/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www.1ppt.com/jieri/ 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素材：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www.1ppt.com/sucai/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www.1ppt.com/beijing/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图表：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www.1ppt.com/tubiao/    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精美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         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www.1ppt.com/powerpoint/  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课件：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www.1ppt.com/kejian/           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字体下载：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www.1ppt.com/ziti/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工作总结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www.1ppt.com/xiazai/zongjie/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工作计划：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www.1ppt.com/xiazai/jihua/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商务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www.1ppt.com/moban/shangwu/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个人简历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www.1ppt.com/xiazai/jianli/  </a:t>
            </a:r>
          </a:p>
          <a:p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毕业答辩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www.1ppt.com/xiazai/dabian/  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工作汇报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/>
                <a:ea typeface="宋体"/>
              </a:rPr>
              <a:t>：</a:t>
            </a:r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www.1ppt.com/xiazai/huibao/    </a:t>
            </a:r>
          </a:p>
          <a:p>
            <a:r>
              <a:rPr lang="en-US" altLang="zh-CN" sz="100" dirty="0">
                <a:solidFill>
                  <a:prstClr val="white"/>
                </a:solidFill>
                <a:latin typeface="Calibri"/>
                <a:ea typeface="宋体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71023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A_矩形 44"/>
          <p:cNvSpPr/>
          <p:nvPr userDrawn="1">
            <p:custDataLst>
              <p:tags r:id="rId1"/>
            </p:custDataLst>
          </p:nvPr>
        </p:nvSpPr>
        <p:spPr>
          <a:xfrm>
            <a:off x="0" y="1653703"/>
            <a:ext cx="12192000" cy="305111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8" name="PA_等腰三角形 11"/>
          <p:cNvSpPr/>
          <p:nvPr userDrawn="1">
            <p:custDataLst>
              <p:tags r:id="rId2"/>
            </p:custDataLst>
          </p:nvPr>
        </p:nvSpPr>
        <p:spPr>
          <a:xfrm flipV="1">
            <a:off x="8977053" y="4704820"/>
            <a:ext cx="359294" cy="20660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0" hasCustomPrompt="1"/>
          </p:nvPr>
        </p:nvSpPr>
        <p:spPr>
          <a:xfrm>
            <a:off x="783811" y="2460080"/>
            <a:ext cx="10624378" cy="914400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4400" b="1">
                <a:solidFill>
                  <a:schemeClr val="bg1"/>
                </a:solidFill>
                <a:latin typeface="+mn-ea"/>
                <a:ea typeface="+mn-ea"/>
              </a:defRPr>
            </a:lvl1pPr>
            <a:lvl2pPr marL="457200" indent="0">
              <a:buNone/>
              <a:defRPr/>
            </a:lvl2pPr>
          </a:lstStyle>
          <a:p>
            <a:pPr algn="ctr"/>
            <a:r>
              <a:rPr lang="zh-CN" altLang="en-US" sz="4400" b="1" dirty="0">
                <a:solidFill>
                  <a:schemeClr val="bg1"/>
                </a:solidFill>
                <a:latin typeface="+mn-ea"/>
              </a:rPr>
              <a:t>企业交流汇报</a:t>
            </a:r>
          </a:p>
        </p:txBody>
      </p:sp>
      <p:cxnSp>
        <p:nvCxnSpPr>
          <p:cNvPr id="13" name="PA_直接连接符 4"/>
          <p:cNvCxnSpPr/>
          <p:nvPr userDrawn="1">
            <p:custDataLst>
              <p:tags r:id="rId3"/>
            </p:custDataLst>
          </p:nvPr>
        </p:nvCxnSpPr>
        <p:spPr>
          <a:xfrm>
            <a:off x="2171700" y="3667440"/>
            <a:ext cx="2302833" cy="0"/>
          </a:xfrm>
          <a:prstGeom prst="line">
            <a:avLst/>
          </a:prstGeom>
          <a:ln w="1905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PA_直接连接符 52"/>
          <p:cNvCxnSpPr/>
          <p:nvPr userDrawn="1">
            <p:custDataLst>
              <p:tags r:id="rId4"/>
            </p:custDataLst>
          </p:nvPr>
        </p:nvCxnSpPr>
        <p:spPr>
          <a:xfrm>
            <a:off x="7646358" y="3667440"/>
            <a:ext cx="2337430" cy="0"/>
          </a:xfrm>
          <a:prstGeom prst="line">
            <a:avLst/>
          </a:prstGeom>
          <a:ln w="19050">
            <a:solidFill>
              <a:schemeClr val="bg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占位符 15"/>
          <p:cNvSpPr>
            <a:spLocks noGrp="1"/>
          </p:cNvSpPr>
          <p:nvPr>
            <p:ph type="body" sz="quarter" idx="11" hasCustomPrompt="1"/>
          </p:nvPr>
        </p:nvSpPr>
        <p:spPr>
          <a:xfrm>
            <a:off x="4551428" y="3483521"/>
            <a:ext cx="2962556" cy="464999"/>
          </a:xfrm>
        </p:spPr>
        <p:txBody>
          <a:bodyPr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/>
            </a:lvl2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编辑母版文本样式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8B40944B-198F-99F4-1100-561A18703816}"/>
              </a:ext>
            </a:extLst>
          </p:cNvPr>
          <p:cNvGrpSpPr/>
          <p:nvPr userDrawn="1"/>
        </p:nvGrpSpPr>
        <p:grpSpPr>
          <a:xfrm>
            <a:off x="9077930" y="104993"/>
            <a:ext cx="3012470" cy="531022"/>
            <a:chOff x="9179530" y="135473"/>
            <a:chExt cx="3012470" cy="531022"/>
          </a:xfrm>
        </p:grpSpPr>
        <p:pic>
          <p:nvPicPr>
            <p:cNvPr id="3" name="Picture 2" descr="宁波大学">
              <a:extLst>
                <a:ext uri="{FF2B5EF4-FFF2-40B4-BE49-F238E27FC236}">
                  <a16:creationId xmlns:a16="http://schemas.microsoft.com/office/drawing/2014/main" id="{6194D4DA-8DFC-D757-71EB-37BC25E011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493601" y="135473"/>
              <a:ext cx="1698399" cy="5310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5301B06B-CCF0-C337-41EE-E42EEE5E3D8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179530" y="148442"/>
              <a:ext cx="1289374" cy="518053"/>
            </a:xfrm>
            <a:prstGeom prst="rect">
              <a:avLst/>
            </a:prstGeom>
          </p:spPr>
        </p:pic>
        <p:cxnSp>
          <p:nvCxnSpPr>
            <p:cNvPr id="5" name="直接连接符 4">
              <a:extLst>
                <a:ext uri="{FF2B5EF4-FFF2-40B4-BE49-F238E27FC236}">
                  <a16:creationId xmlns:a16="http://schemas.microsoft.com/office/drawing/2014/main" id="{4B758A65-6E00-9989-6C99-DF66DD900F35}"/>
                </a:ext>
              </a:extLst>
            </p:cNvPr>
            <p:cNvCxnSpPr>
              <a:cxnSpLocks/>
            </p:cNvCxnSpPr>
            <p:nvPr/>
          </p:nvCxnSpPr>
          <p:spPr>
            <a:xfrm>
              <a:off x="10467225" y="148442"/>
              <a:ext cx="0" cy="496868"/>
            </a:xfrm>
            <a:prstGeom prst="line">
              <a:avLst/>
            </a:prstGeom>
            <a:ln w="38100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81628959"/>
      </p:ext>
    </p:extLst>
  </p:cSld>
  <p:clrMapOvr>
    <a:masterClrMapping/>
  </p:clrMapOvr>
  <p:transition spd="slow" advClick="0" advTm="3000">
    <p:fade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D8DCBB4-4435-4714-8BAA-4277D2227A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CD4F7D-F1AD-40BC-AD5B-952FD65858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EB166F-7E37-43F9-95BD-F4C212350D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710F19-8CFC-41BA-AB99-D3970B82F7EB}" type="datetimeFigureOut">
              <a:rPr lang="zh-CN" altLang="en-US" smtClean="0"/>
              <a:t>2024/6/23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171A76-7BF3-4B07-B28B-AAD6B8BCBC6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1A0754-2778-481F-AC59-50C239AB34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A7425F-DEC4-4455-AD0B-2B1C49DF353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0125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8.xml"/><Relationship Id="rId7" Type="http://schemas.openxmlformats.org/officeDocument/2006/relationships/slideLayout" Target="../slideLayouts/slideLayout3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Relationship Id="rId6" Type="http://schemas.openxmlformats.org/officeDocument/2006/relationships/image" Target="../media/image1.jpeg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4.png"/><Relationship Id="rId2" Type="http://schemas.openxmlformats.org/officeDocument/2006/relationships/tags" Target="../tags/tag16.xml"/><Relationship Id="rId1" Type="http://schemas.openxmlformats.org/officeDocument/2006/relationships/tags" Target="../tags/tag15.xml"/><Relationship Id="rId6" Type="http://schemas.openxmlformats.org/officeDocument/2006/relationships/image" Target="../media/image3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image" Target="../media/image5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2.xml"/><Relationship Id="rId1" Type="http://schemas.openxmlformats.org/officeDocument/2006/relationships/tags" Target="../tags/tag21.xml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4.xml"/><Relationship Id="rId1" Type="http://schemas.openxmlformats.org/officeDocument/2006/relationships/tags" Target="../tags/tag23.xml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7.svg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image" Target="../media/image6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0.xml"/><Relationship Id="rId1" Type="http://schemas.openxmlformats.org/officeDocument/2006/relationships/tags" Target="../tags/tag29.xml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9.png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image" Target="../media/image8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7.xml"/><Relationship Id="rId1" Type="http://schemas.openxmlformats.org/officeDocument/2006/relationships/tags" Target="../tags/tag36.xml"/><Relationship Id="rId6" Type="http://schemas.openxmlformats.org/officeDocument/2006/relationships/image" Target="../media/image10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39.xml"/><Relationship Id="rId1" Type="http://schemas.openxmlformats.org/officeDocument/2006/relationships/tags" Target="../tags/tag38.xml"/><Relationship Id="rId6" Type="http://schemas.openxmlformats.org/officeDocument/2006/relationships/image" Target="../media/image11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image" Target="../media/image12.pn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4.jpg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image" Target="../media/image13.jp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7.xml"/><Relationship Id="rId9" Type="http://schemas.openxmlformats.org/officeDocument/2006/relationships/image" Target="../media/image16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8.jpg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6" Type="http://schemas.openxmlformats.org/officeDocument/2006/relationships/image" Target="../media/image17.jpg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5" Type="http://schemas.openxmlformats.org/officeDocument/2006/relationships/image" Target="../media/image1.jpeg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A_矩形 44"/>
          <p:cNvSpPr/>
          <p:nvPr>
            <p:custDataLst>
              <p:tags r:id="rId1"/>
            </p:custDataLst>
          </p:nvPr>
        </p:nvSpPr>
        <p:spPr>
          <a:xfrm>
            <a:off x="0" y="1653703"/>
            <a:ext cx="12192000" cy="3051117"/>
          </a:xfrm>
          <a:prstGeom prst="rect">
            <a:avLst/>
          </a:prstGeom>
          <a:solidFill>
            <a:srgbClr val="035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35" name="PA_文本框 34"/>
          <p:cNvSpPr txBox="1"/>
          <p:nvPr>
            <p:custDataLst>
              <p:tags r:id="rId2"/>
            </p:custDataLst>
          </p:nvPr>
        </p:nvSpPr>
        <p:spPr>
          <a:xfrm>
            <a:off x="0" y="2572890"/>
            <a:ext cx="12260061" cy="65809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 algn="ctr"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ControlNet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：为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Text-to-Image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扩散模型添加条件控制</a:t>
            </a:r>
          </a:p>
        </p:txBody>
      </p:sp>
      <p:sp>
        <p:nvSpPr>
          <p:cNvPr id="47" name="PA_文本框 46"/>
          <p:cNvSpPr txBox="1"/>
          <p:nvPr>
            <p:custDataLst>
              <p:tags r:id="rId3"/>
            </p:custDataLst>
          </p:nvPr>
        </p:nvSpPr>
        <p:spPr>
          <a:xfrm>
            <a:off x="3853180" y="3724560"/>
            <a:ext cx="4356100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机器学习课程汇报</a:t>
            </a:r>
          </a:p>
        </p:txBody>
      </p:sp>
      <p:cxnSp>
        <p:nvCxnSpPr>
          <p:cNvPr id="5" name="PA_直接连接符 4"/>
          <p:cNvCxnSpPr/>
          <p:nvPr>
            <p:custDataLst>
              <p:tags r:id="rId4"/>
            </p:custDataLst>
          </p:nvPr>
        </p:nvCxnSpPr>
        <p:spPr>
          <a:xfrm>
            <a:off x="1395730" y="3924615"/>
            <a:ext cx="2302833" cy="0"/>
          </a:xfrm>
          <a:prstGeom prst="line">
            <a:avLst/>
          </a:prstGeom>
          <a:ln w="19050">
            <a:solidFill>
              <a:schemeClr val="bg1"/>
            </a:solidFill>
            <a:headEnd type="none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PA_等腰三角形 11"/>
          <p:cNvSpPr/>
          <p:nvPr>
            <p:custDataLst>
              <p:tags r:id="rId5"/>
            </p:custDataLst>
          </p:nvPr>
        </p:nvSpPr>
        <p:spPr>
          <a:xfrm flipV="1">
            <a:off x="8977053" y="4704820"/>
            <a:ext cx="359294" cy="20660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cxnSp>
        <p:nvCxnSpPr>
          <p:cNvPr id="53" name="PA_直接连接符 52"/>
          <p:cNvCxnSpPr/>
          <p:nvPr>
            <p:custDataLst>
              <p:tags r:id="rId6"/>
            </p:custDataLst>
          </p:nvPr>
        </p:nvCxnSpPr>
        <p:spPr>
          <a:xfrm>
            <a:off x="8308663" y="3924615"/>
            <a:ext cx="2337430" cy="0"/>
          </a:xfrm>
          <a:prstGeom prst="line">
            <a:avLst/>
          </a:prstGeom>
          <a:ln w="19050">
            <a:solidFill>
              <a:schemeClr val="bg1"/>
            </a:solidFill>
            <a:headEnd type="oval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>
            <a:off x="3356219" y="5015993"/>
            <a:ext cx="5479561" cy="121602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小组成员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:</a:t>
            </a: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梁航锋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216001912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：论文综述与调研、模型设计分析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蒋轶波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216002918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：选题、数据集处理、模型的训练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朱文豪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216001309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：相关工作调研、结果分析与讨论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450838F-AAB6-E1C6-B76D-01EEA1EE3C58}"/>
              </a:ext>
            </a:extLst>
          </p:cNvPr>
          <p:cNvSpPr/>
          <p:nvPr/>
        </p:nvSpPr>
        <p:spPr>
          <a:xfrm>
            <a:off x="8977053" y="47371"/>
            <a:ext cx="1416424" cy="5953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E128B52-DFEC-EF41-FBE0-21EF27269AE9}"/>
              </a:ext>
            </a:extLst>
          </p:cNvPr>
          <p:cNvSpPr txBox="1"/>
          <p:nvPr/>
        </p:nvSpPr>
        <p:spPr>
          <a:xfrm>
            <a:off x="9587720" y="6164298"/>
            <a:ext cx="20331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dirty="0">
                <a:latin typeface="Arial" panose="020B0604020202020204"/>
                <a:ea typeface="微软雅黑" panose="020B0503020204020204" charset="-122"/>
              </a:rPr>
              <a:t>汇报时间：</a:t>
            </a:r>
            <a:endParaRPr kumimoji="0" lang="en-US" altLang="zh-CN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2024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年</a:t>
            </a:r>
            <a:r>
              <a:rPr kumimoji="0" lang="en-US" altLang="zh-CN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6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月</a:t>
            </a:r>
            <a:r>
              <a:rPr lang="en-US" altLang="zh-CN" dirty="0">
                <a:solidFill>
                  <a:schemeClr val="tx1"/>
                </a:solidFill>
                <a:latin typeface="Arial" panose="020B0604020202020204"/>
                <a:ea typeface="微软雅黑" panose="020B0503020204020204" charset="-122"/>
              </a:rPr>
              <a:t>17</a:t>
            </a: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/>
                <a:ea typeface="微软雅黑" panose="020B0503020204020204" charset="-122"/>
                <a:cs typeface="+mn-cs"/>
              </a:rPr>
              <a:t>日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>
            <p:custDataLst>
              <p:tags r:id="rId1"/>
            </p:custDataLst>
          </p:nvPr>
        </p:nvSpPr>
        <p:spPr>
          <a:xfrm flipV="1">
            <a:off x="521335" y="687070"/>
            <a:ext cx="11670665" cy="76200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rgbClr val="035C9C">
              <a:alpha val="96000"/>
            </a:srgbClr>
          </a:solidFill>
          <a:ln>
            <a:solidFill>
              <a:srgbClr val="0D62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>
              <a:cs typeface="+mn-ea"/>
              <a:sym typeface="+mn-lt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2"/>
            </p:custDataLst>
          </p:nvPr>
        </p:nvSpPr>
        <p:spPr>
          <a:xfrm>
            <a:off x="-14603" y="381541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035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cs typeface="+mn-ea"/>
              <a:sym typeface="+mn-lt"/>
            </a:endParaRPr>
          </a:p>
        </p:txBody>
      </p:sp>
      <p:sp>
        <p:nvSpPr>
          <p:cNvPr id="26" name="Title 1"/>
          <p:cNvSpPr txBox="1"/>
          <p:nvPr/>
        </p:nvSpPr>
        <p:spPr>
          <a:xfrm>
            <a:off x="600070" y="140300"/>
            <a:ext cx="1083558" cy="455756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>
              <a:defRPr/>
            </a:pPr>
            <a:r>
              <a:rPr lang="zh-CN" altLang="en-US" sz="3600" b="1" dirty="0">
                <a:solidFill>
                  <a:srgbClr val="035C9C"/>
                </a:solidFill>
                <a:latin typeface="+mn-lt"/>
                <a:ea typeface="+mn-ea"/>
                <a:cs typeface="+mn-ea"/>
                <a:sym typeface="+mn-lt"/>
              </a:rPr>
              <a:t>目录</a:t>
            </a:r>
          </a:p>
        </p:txBody>
      </p:sp>
      <p:pic>
        <p:nvPicPr>
          <p:cNvPr id="1026" name="Picture 2" descr="宁波大学">
            <a:extLst>
              <a:ext uri="{FF2B5EF4-FFF2-40B4-BE49-F238E27FC236}">
                <a16:creationId xmlns:a16="http://schemas.microsoft.com/office/drawing/2014/main" id="{FBEECA7A-C6CA-4559-7150-86965CE36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2161" y="126019"/>
            <a:ext cx="1698399" cy="53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箭头: 下 2">
            <a:extLst>
              <a:ext uri="{FF2B5EF4-FFF2-40B4-BE49-F238E27FC236}">
                <a16:creationId xmlns:a16="http://schemas.microsoft.com/office/drawing/2014/main" id="{4CDFEE3D-E21C-78F1-D20E-33D87C2FC5F3}"/>
              </a:ext>
            </a:extLst>
          </p:cNvPr>
          <p:cNvSpPr/>
          <p:nvPr/>
        </p:nvSpPr>
        <p:spPr>
          <a:xfrm>
            <a:off x="12444051" y="1286845"/>
            <a:ext cx="207096" cy="542041"/>
          </a:xfrm>
          <a:prstGeom prst="downArrow">
            <a:avLst/>
          </a:prstGeom>
          <a:ln>
            <a:solidFill>
              <a:srgbClr val="0D6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PA_文本框 34">
            <a:extLst>
              <a:ext uri="{FF2B5EF4-FFF2-40B4-BE49-F238E27FC236}">
                <a16:creationId xmlns:a16="http://schemas.microsoft.com/office/drawing/2014/main" id="{9556251C-ED50-DBC7-E266-16D113ED894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024049" y="1286845"/>
            <a:ext cx="7201988" cy="4670073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一</a:t>
            </a:r>
            <a:r>
              <a:rPr lang="zh-CN" altLang="en-US" sz="3200" b="1" dirty="0"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背景与问题描述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lvl="0">
              <a:defRPr/>
            </a:pPr>
            <a:endParaRPr lang="en-US" altLang="zh-CN" sz="32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0"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二、模型的架构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lvl="0">
              <a:defRPr/>
            </a:pPr>
            <a:endParaRPr lang="en-US" altLang="zh-CN" sz="32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0"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三、实验过程与细节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lvl="0">
              <a:defRPr/>
            </a:pPr>
            <a:endParaRPr lang="en-US" altLang="zh-CN" sz="32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0"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四、模型效果呈现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lvl="0">
              <a:defRPr/>
            </a:pPr>
            <a:endParaRPr lang="en-US" altLang="zh-CN" sz="32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0"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五、总结与展望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  <a:p>
            <a:pPr lvl="0" algn="ctr">
              <a:defRPr/>
            </a:pPr>
            <a:endParaRPr lang="en-US" altLang="zh-CN" sz="32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lvl="0" algn="ctr">
              <a:defRPr/>
            </a:pP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04124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>
            <p:custDataLst>
              <p:tags r:id="rId1"/>
            </p:custDataLst>
          </p:nvPr>
        </p:nvSpPr>
        <p:spPr>
          <a:xfrm flipV="1">
            <a:off x="521335" y="687070"/>
            <a:ext cx="11670665" cy="76200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rgbClr val="035C9C">
              <a:alpha val="96000"/>
            </a:srgbClr>
          </a:solidFill>
          <a:ln>
            <a:solidFill>
              <a:srgbClr val="0D62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2"/>
            </p:custDataLst>
          </p:nvPr>
        </p:nvSpPr>
        <p:spPr>
          <a:xfrm>
            <a:off x="-14603" y="381541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035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cs typeface="+mn-ea"/>
              <a:sym typeface="+mn-lt"/>
            </a:endParaRPr>
          </a:p>
        </p:txBody>
      </p:sp>
      <p:sp>
        <p:nvSpPr>
          <p:cNvPr id="26" name="Title 1"/>
          <p:cNvSpPr txBox="1"/>
          <p:nvPr/>
        </p:nvSpPr>
        <p:spPr>
          <a:xfrm>
            <a:off x="600070" y="140300"/>
            <a:ext cx="7378518" cy="455756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>
              <a:defRPr/>
            </a:pPr>
            <a:r>
              <a:rPr lang="zh-CN" altLang="en-US" sz="3600" b="1" dirty="0">
                <a:solidFill>
                  <a:srgbClr val="035C9C"/>
                </a:solidFill>
                <a:latin typeface="+mn-lt"/>
                <a:ea typeface="+mn-ea"/>
                <a:cs typeface="+mn-ea"/>
                <a:sym typeface="+mn-lt"/>
              </a:rPr>
              <a:t>背景与问题描述</a:t>
            </a:r>
          </a:p>
        </p:txBody>
      </p:sp>
      <p:pic>
        <p:nvPicPr>
          <p:cNvPr id="1026" name="Picture 2" descr="宁波大学">
            <a:extLst>
              <a:ext uri="{FF2B5EF4-FFF2-40B4-BE49-F238E27FC236}">
                <a16:creationId xmlns:a16="http://schemas.microsoft.com/office/drawing/2014/main" id="{FBEECA7A-C6CA-4559-7150-86965CE36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2161" y="126019"/>
            <a:ext cx="1698399" cy="53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箭头: 下 2">
            <a:extLst>
              <a:ext uri="{FF2B5EF4-FFF2-40B4-BE49-F238E27FC236}">
                <a16:creationId xmlns:a16="http://schemas.microsoft.com/office/drawing/2014/main" id="{4CDFEE3D-E21C-78F1-D20E-33D87C2FC5F3}"/>
              </a:ext>
            </a:extLst>
          </p:cNvPr>
          <p:cNvSpPr/>
          <p:nvPr/>
        </p:nvSpPr>
        <p:spPr>
          <a:xfrm>
            <a:off x="12444051" y="1286845"/>
            <a:ext cx="207096" cy="542041"/>
          </a:xfrm>
          <a:prstGeom prst="downArrow">
            <a:avLst/>
          </a:prstGeom>
          <a:ln>
            <a:solidFill>
              <a:srgbClr val="0D6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7FC9684-11C2-7988-FE73-68A0D368A51F}"/>
              </a:ext>
            </a:extLst>
          </p:cNvPr>
          <p:cNvSpPr txBox="1"/>
          <p:nvPr/>
        </p:nvSpPr>
        <p:spPr>
          <a:xfrm>
            <a:off x="521335" y="911879"/>
            <a:ext cx="83840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zh-CN" sz="28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Text-to-Image Diffusion Model</a:t>
            </a:r>
            <a:r>
              <a:rPr lang="zh-CN" altLang="en-US" sz="28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（文生图）</a:t>
            </a: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48E85EE1-B27B-E3F5-B895-C61220D9B03C}"/>
              </a:ext>
            </a:extLst>
          </p:cNvPr>
          <p:cNvGrpSpPr/>
          <p:nvPr/>
        </p:nvGrpSpPr>
        <p:grpSpPr>
          <a:xfrm>
            <a:off x="521335" y="1529864"/>
            <a:ext cx="11716500" cy="4568460"/>
            <a:chOff x="521335" y="1529864"/>
            <a:chExt cx="11716500" cy="4568460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B1F8D8F3-BD08-A0AA-CCEE-1737112DE07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21335" y="2517181"/>
              <a:ext cx="9219665" cy="3581143"/>
            </a:xfrm>
            <a:prstGeom prst="rect">
              <a:avLst/>
            </a:prstGeom>
          </p:spPr>
        </p:pic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F77C1534-106A-6933-E765-4B4159691421}"/>
                </a:ext>
              </a:extLst>
            </p:cNvPr>
            <p:cNvSpPr txBox="1"/>
            <p:nvPr/>
          </p:nvSpPr>
          <p:spPr>
            <a:xfrm>
              <a:off x="521335" y="1529864"/>
              <a:ext cx="11716500" cy="8925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800" b="1" dirty="0">
                  <a:solidFill>
                    <a:srgbClr val="191B1F"/>
                  </a:solidFill>
                  <a:latin typeface="-apple-system"/>
                </a:rPr>
                <a:t>Google: Imagen</a:t>
              </a:r>
            </a:p>
            <a:p>
              <a:r>
                <a:rPr lang="en-US" altLang="zh-CN" sz="2400" dirty="0">
                  <a:solidFill>
                    <a:srgbClr val="191B1F"/>
                  </a:solidFill>
                  <a:latin typeface="-apple-system"/>
                </a:rPr>
                <a:t>Paper: Photorealistic Text-to-Image Diffusion Models with Deep Language Understanding</a:t>
              </a: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EAB27EE1-4411-45EB-701A-BD148E55C2FD}"/>
              </a:ext>
            </a:extLst>
          </p:cNvPr>
          <p:cNvGrpSpPr/>
          <p:nvPr/>
        </p:nvGrpSpPr>
        <p:grpSpPr>
          <a:xfrm>
            <a:off x="521335" y="1529864"/>
            <a:ext cx="11716500" cy="5328136"/>
            <a:chOff x="1304671" y="2569844"/>
            <a:chExt cx="11716500" cy="5328136"/>
          </a:xfrm>
        </p:grpSpPr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0DD9CDB1-3A8A-31E0-4FE2-A11AB215BEAB}"/>
                </a:ext>
              </a:extLst>
            </p:cNvPr>
            <p:cNvSpPr txBox="1"/>
            <p:nvPr/>
          </p:nvSpPr>
          <p:spPr>
            <a:xfrm>
              <a:off x="1304671" y="2569844"/>
              <a:ext cx="11716500" cy="8925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sz="2800" b="1" dirty="0">
                  <a:solidFill>
                    <a:srgbClr val="191B1F"/>
                  </a:solidFill>
                  <a:latin typeface="-apple-system"/>
                </a:rPr>
                <a:t>Latent Diffusion Model</a:t>
              </a:r>
            </a:p>
            <a:p>
              <a:r>
                <a:rPr lang="en-US" altLang="zh-CN" sz="2400" dirty="0">
                  <a:solidFill>
                    <a:srgbClr val="191B1F"/>
                  </a:solidFill>
                  <a:latin typeface="-apple-system"/>
                </a:rPr>
                <a:t>Paper: High-Resolution Image Synthesis with Latent Diffusion Models</a:t>
              </a:r>
            </a:p>
          </p:txBody>
        </p:sp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D0FC5B1D-2F32-EE4B-4A06-76610210029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694584" y="3452748"/>
              <a:ext cx="5455512" cy="444523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6683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>
            <p:custDataLst>
              <p:tags r:id="rId1"/>
            </p:custDataLst>
          </p:nvPr>
        </p:nvSpPr>
        <p:spPr>
          <a:xfrm flipV="1">
            <a:off x="521335" y="687070"/>
            <a:ext cx="11670665" cy="76200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rgbClr val="035C9C">
              <a:alpha val="96000"/>
            </a:srgbClr>
          </a:solidFill>
          <a:ln>
            <a:solidFill>
              <a:srgbClr val="0D62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2"/>
            </p:custDataLst>
          </p:nvPr>
        </p:nvSpPr>
        <p:spPr>
          <a:xfrm>
            <a:off x="-14603" y="381541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035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cs typeface="+mn-ea"/>
              <a:sym typeface="+mn-lt"/>
            </a:endParaRPr>
          </a:p>
        </p:txBody>
      </p:sp>
      <p:sp>
        <p:nvSpPr>
          <p:cNvPr id="26" name="Title 1"/>
          <p:cNvSpPr txBox="1"/>
          <p:nvPr/>
        </p:nvSpPr>
        <p:spPr>
          <a:xfrm>
            <a:off x="600070" y="140300"/>
            <a:ext cx="7378518" cy="455756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>
              <a:defRPr/>
            </a:pPr>
            <a:r>
              <a:rPr lang="zh-CN" altLang="en-US" sz="3600" b="1" dirty="0">
                <a:solidFill>
                  <a:srgbClr val="035C9C"/>
                </a:solidFill>
                <a:latin typeface="+mn-lt"/>
                <a:ea typeface="+mn-ea"/>
                <a:cs typeface="+mn-ea"/>
                <a:sym typeface="+mn-lt"/>
              </a:rPr>
              <a:t>背景与问题描述</a:t>
            </a:r>
          </a:p>
        </p:txBody>
      </p:sp>
      <p:pic>
        <p:nvPicPr>
          <p:cNvPr id="1026" name="Picture 2" descr="宁波大学">
            <a:extLst>
              <a:ext uri="{FF2B5EF4-FFF2-40B4-BE49-F238E27FC236}">
                <a16:creationId xmlns:a16="http://schemas.microsoft.com/office/drawing/2014/main" id="{FBEECA7A-C6CA-4559-7150-86965CE36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2161" y="126019"/>
            <a:ext cx="1698399" cy="53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箭头: 下 2">
            <a:extLst>
              <a:ext uri="{FF2B5EF4-FFF2-40B4-BE49-F238E27FC236}">
                <a16:creationId xmlns:a16="http://schemas.microsoft.com/office/drawing/2014/main" id="{4CDFEE3D-E21C-78F1-D20E-33D87C2FC5F3}"/>
              </a:ext>
            </a:extLst>
          </p:cNvPr>
          <p:cNvSpPr/>
          <p:nvPr/>
        </p:nvSpPr>
        <p:spPr>
          <a:xfrm>
            <a:off x="12444051" y="1286845"/>
            <a:ext cx="207096" cy="542041"/>
          </a:xfrm>
          <a:prstGeom prst="downArrow">
            <a:avLst/>
          </a:prstGeom>
          <a:ln>
            <a:solidFill>
              <a:srgbClr val="0D6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7FC9684-11C2-7988-FE73-68A0D368A51F}"/>
              </a:ext>
            </a:extLst>
          </p:cNvPr>
          <p:cNvSpPr txBox="1"/>
          <p:nvPr/>
        </p:nvSpPr>
        <p:spPr>
          <a:xfrm>
            <a:off x="521335" y="911879"/>
            <a:ext cx="83840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zh-CN" sz="28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Text-to-Image Diffusion Model</a:t>
            </a:r>
            <a:r>
              <a:rPr lang="zh-CN" altLang="en-US" sz="2800" dirty="0">
                <a:ln w="0"/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（文生图）</a:t>
            </a:r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07E33FB5-A762-2709-59EB-46FD6D4628F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1497" y="1583708"/>
            <a:ext cx="9281599" cy="440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8716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>
            <p:custDataLst>
              <p:tags r:id="rId1"/>
            </p:custDataLst>
          </p:nvPr>
        </p:nvSpPr>
        <p:spPr>
          <a:xfrm flipV="1">
            <a:off x="521335" y="687070"/>
            <a:ext cx="11670665" cy="76200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rgbClr val="035C9C">
              <a:alpha val="96000"/>
            </a:srgbClr>
          </a:solidFill>
          <a:ln>
            <a:solidFill>
              <a:srgbClr val="0D62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2"/>
            </p:custDataLst>
          </p:nvPr>
        </p:nvSpPr>
        <p:spPr>
          <a:xfrm>
            <a:off x="-14603" y="381541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035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cs typeface="+mn-ea"/>
              <a:sym typeface="+mn-lt"/>
            </a:endParaRPr>
          </a:p>
        </p:txBody>
      </p:sp>
      <p:sp>
        <p:nvSpPr>
          <p:cNvPr id="26" name="Title 1"/>
          <p:cNvSpPr txBox="1"/>
          <p:nvPr/>
        </p:nvSpPr>
        <p:spPr>
          <a:xfrm>
            <a:off x="600070" y="140300"/>
            <a:ext cx="7378518" cy="455756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>
              <a:defRPr/>
            </a:pPr>
            <a:r>
              <a:rPr lang="zh-CN" altLang="en-US" sz="3600" b="1" dirty="0">
                <a:solidFill>
                  <a:srgbClr val="035C9C"/>
                </a:solidFill>
                <a:latin typeface="+mn-lt"/>
                <a:ea typeface="+mn-ea"/>
                <a:cs typeface="+mn-ea"/>
                <a:sym typeface="+mn-lt"/>
              </a:rPr>
              <a:t>背景与问题描述</a:t>
            </a:r>
          </a:p>
        </p:txBody>
      </p:sp>
      <p:pic>
        <p:nvPicPr>
          <p:cNvPr id="1026" name="Picture 2" descr="宁波大学">
            <a:extLst>
              <a:ext uri="{FF2B5EF4-FFF2-40B4-BE49-F238E27FC236}">
                <a16:creationId xmlns:a16="http://schemas.microsoft.com/office/drawing/2014/main" id="{FBEECA7A-C6CA-4559-7150-86965CE36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2161" y="126019"/>
            <a:ext cx="1698399" cy="53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箭头: 下 2">
            <a:extLst>
              <a:ext uri="{FF2B5EF4-FFF2-40B4-BE49-F238E27FC236}">
                <a16:creationId xmlns:a16="http://schemas.microsoft.com/office/drawing/2014/main" id="{4CDFEE3D-E21C-78F1-D20E-33D87C2FC5F3}"/>
              </a:ext>
            </a:extLst>
          </p:cNvPr>
          <p:cNvSpPr/>
          <p:nvPr/>
        </p:nvSpPr>
        <p:spPr>
          <a:xfrm>
            <a:off x="12444051" y="1286845"/>
            <a:ext cx="207096" cy="542041"/>
          </a:xfrm>
          <a:prstGeom prst="downArrow">
            <a:avLst/>
          </a:prstGeom>
          <a:ln>
            <a:solidFill>
              <a:srgbClr val="0D6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08541ED-61E0-2E4F-1896-57403A7A3738}"/>
              </a:ext>
            </a:extLst>
          </p:cNvPr>
          <p:cNvSpPr txBox="1"/>
          <p:nvPr/>
        </p:nvSpPr>
        <p:spPr>
          <a:xfrm>
            <a:off x="1280287" y="2026881"/>
            <a:ext cx="939076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en-US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lang="en-US" altLang="zh-CN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Text-to-Image Diffusion</a:t>
            </a:r>
            <a:r>
              <a:rPr lang="zh-CN" altLang="en-US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在控制图像的空间组成方面是有限的，</a:t>
            </a:r>
            <a:r>
              <a:rPr lang="en-US" altLang="zh-CN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仅仅通过文本提示来</a:t>
            </a:r>
            <a:r>
              <a:rPr lang="zh-CN" altLang="en-US" sz="2800" b="1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精确表达</a:t>
            </a:r>
            <a:r>
              <a:rPr lang="zh-CN" altLang="en-US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复杂的布局、姿势、形状和形式是很困难的。</a:t>
            </a:r>
            <a:endParaRPr lang="en-US" altLang="zh-CN" sz="2800" dirty="0">
              <a:ln w="0"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/>
            <a:r>
              <a:rPr lang="en-US" altLang="zh-CN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lang="zh-CN" altLang="en-US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生成一个与我们的心理意象准确匹配的图像通常需要</a:t>
            </a:r>
            <a:r>
              <a:rPr lang="zh-CN" altLang="en-US" sz="2800" b="1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无数次的试错循环</a:t>
            </a:r>
            <a:r>
              <a:rPr lang="zh-CN" altLang="en-US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，编辑提示，检查生成的图像，然后重新编辑提示。</a:t>
            </a:r>
            <a:endParaRPr lang="en-US" altLang="zh-CN" sz="2800" dirty="0">
              <a:ln w="0"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/>
            <a:r>
              <a:rPr lang="en-US" altLang="zh-CN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</a:t>
            </a:r>
            <a:r>
              <a:rPr lang="zh-CN" altLang="en-US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我们是否可以通过让用户提供直接指定所需图像组成的</a:t>
            </a:r>
            <a:r>
              <a:rPr lang="zh-CN" altLang="en-US" sz="2800" b="1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附加图像</a:t>
            </a:r>
            <a:r>
              <a:rPr lang="zh-CN" altLang="en-US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来实现更细粒度的空间控制</a:t>
            </a:r>
            <a:r>
              <a:rPr lang="en-US" altLang="zh-CN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? </a:t>
            </a:r>
            <a:endParaRPr lang="zh-CN" altLang="en-US" sz="2800" dirty="0">
              <a:ln w="0"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63A0D29-A246-FC14-6C0A-103203F1921D}"/>
              </a:ext>
            </a:extLst>
          </p:cNvPr>
          <p:cNvSpPr txBox="1"/>
          <p:nvPr/>
        </p:nvSpPr>
        <p:spPr>
          <a:xfrm>
            <a:off x="521335" y="994457"/>
            <a:ext cx="30941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en-US" sz="3200" b="1" dirty="0">
                <a:ln w="0"/>
                <a:latin typeface="微软雅黑" panose="020B0503020204020204" pitchFamily="34" charset="-122"/>
                <a:ea typeface="微软雅黑" panose="020B0503020204020204" pitchFamily="34" charset="-122"/>
              </a:rPr>
              <a:t>存在的问题：</a:t>
            </a:r>
            <a:endParaRPr lang="en-US" altLang="zh-CN" sz="3200" b="1" dirty="0">
              <a:ln w="0"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1DBC8ADA-B89C-2368-7DE0-27B5D3D60AE4}"/>
              </a:ext>
            </a:extLst>
          </p:cNvPr>
          <p:cNvSpPr txBox="1"/>
          <p:nvPr/>
        </p:nvSpPr>
        <p:spPr>
          <a:xfrm>
            <a:off x="1413193" y="2842843"/>
            <a:ext cx="912495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i="0" dirty="0">
                <a:solidFill>
                  <a:srgbClr val="191B1F"/>
                </a:solidFill>
                <a:effectLst/>
                <a:highlight>
                  <a:srgbClr val="FFFFFF"/>
                </a:highlight>
                <a:latin typeface="-apple-system"/>
              </a:rPr>
              <a:t>文本控制的自由度过高</a:t>
            </a:r>
            <a:endParaRPr lang="en-US" altLang="zh-CN" sz="3200" b="1" dirty="0">
              <a:solidFill>
                <a:srgbClr val="191B1F"/>
              </a:solidFill>
              <a:highlight>
                <a:srgbClr val="FFFFFF"/>
              </a:highlight>
              <a:latin typeface="-apple-system"/>
            </a:endParaRPr>
          </a:p>
          <a:p>
            <a:pPr algn="ctr"/>
            <a:r>
              <a:rPr lang="zh-CN" altLang="en-US" sz="3200" b="1" i="0" dirty="0">
                <a:solidFill>
                  <a:srgbClr val="191B1F"/>
                </a:solidFill>
                <a:effectLst/>
                <a:highlight>
                  <a:srgbClr val="FFFFFF"/>
                </a:highlight>
                <a:latin typeface="-apple-system"/>
              </a:rPr>
              <a:t>需要对描述的内容进行更加精细的控制。</a:t>
            </a:r>
            <a:endParaRPr lang="zh-CN" alt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932547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>
            <p:custDataLst>
              <p:tags r:id="rId1"/>
            </p:custDataLst>
          </p:nvPr>
        </p:nvSpPr>
        <p:spPr>
          <a:xfrm flipV="1">
            <a:off x="521335" y="687070"/>
            <a:ext cx="11670665" cy="76200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rgbClr val="035C9C">
              <a:alpha val="96000"/>
            </a:srgbClr>
          </a:solidFill>
          <a:ln>
            <a:solidFill>
              <a:srgbClr val="0D62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2"/>
            </p:custDataLst>
          </p:nvPr>
        </p:nvSpPr>
        <p:spPr>
          <a:xfrm>
            <a:off x="-14603" y="381541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035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cs typeface="+mn-ea"/>
              <a:sym typeface="+mn-lt"/>
            </a:endParaRPr>
          </a:p>
        </p:txBody>
      </p:sp>
      <p:sp>
        <p:nvSpPr>
          <p:cNvPr id="26" name="Title 1"/>
          <p:cNvSpPr txBox="1"/>
          <p:nvPr/>
        </p:nvSpPr>
        <p:spPr>
          <a:xfrm>
            <a:off x="600070" y="140300"/>
            <a:ext cx="7378518" cy="455756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>
              <a:defRPr/>
            </a:pPr>
            <a:r>
              <a:rPr lang="zh-CN" altLang="en-US" sz="3600" b="1" dirty="0">
                <a:solidFill>
                  <a:srgbClr val="035C9C"/>
                </a:solidFill>
                <a:latin typeface="+mn-lt"/>
                <a:ea typeface="+mn-ea"/>
                <a:cs typeface="+mn-ea"/>
                <a:sym typeface="+mn-lt"/>
              </a:rPr>
              <a:t>背景与问题描述</a:t>
            </a:r>
          </a:p>
        </p:txBody>
      </p:sp>
      <p:pic>
        <p:nvPicPr>
          <p:cNvPr id="1026" name="Picture 2" descr="宁波大学">
            <a:extLst>
              <a:ext uri="{FF2B5EF4-FFF2-40B4-BE49-F238E27FC236}">
                <a16:creationId xmlns:a16="http://schemas.microsoft.com/office/drawing/2014/main" id="{FBEECA7A-C6CA-4559-7150-86965CE36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2161" y="126019"/>
            <a:ext cx="1698399" cy="53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箭头: 下 2">
            <a:extLst>
              <a:ext uri="{FF2B5EF4-FFF2-40B4-BE49-F238E27FC236}">
                <a16:creationId xmlns:a16="http://schemas.microsoft.com/office/drawing/2014/main" id="{4CDFEE3D-E21C-78F1-D20E-33D87C2FC5F3}"/>
              </a:ext>
            </a:extLst>
          </p:cNvPr>
          <p:cNvSpPr/>
          <p:nvPr/>
        </p:nvSpPr>
        <p:spPr>
          <a:xfrm>
            <a:off x="12444051" y="1286845"/>
            <a:ext cx="207096" cy="542041"/>
          </a:xfrm>
          <a:prstGeom prst="downArrow">
            <a:avLst/>
          </a:prstGeom>
          <a:ln>
            <a:solidFill>
              <a:srgbClr val="0D6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08541ED-61E0-2E4F-1896-57403A7A3738}"/>
              </a:ext>
            </a:extLst>
          </p:cNvPr>
          <p:cNvSpPr txBox="1"/>
          <p:nvPr/>
        </p:nvSpPr>
        <p:spPr>
          <a:xfrm>
            <a:off x="781607" y="2521059"/>
            <a:ext cx="1046975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en-US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最符合直觉的方法：对已有的预训练模型进行微调。</a:t>
            </a:r>
            <a:endParaRPr lang="en-US" altLang="zh-CN" sz="2800" dirty="0">
              <a:ln w="0"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/>
            <a:r>
              <a:rPr lang="zh-CN" altLang="en-US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但也有一大问题：对于特定任务的数据集量是很少的（比如对于某一轮廓的描述，最多几百</a:t>
            </a:r>
            <a:r>
              <a:rPr lang="en-US" altLang="zh-CN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kB</a:t>
            </a:r>
            <a:r>
              <a:rPr lang="zh-CN" altLang="en-US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），起码要比模型预训练过程中的数据量要小得多，直接进行微调很容易引起</a:t>
            </a:r>
            <a:r>
              <a:rPr lang="zh-CN" altLang="en-US" sz="2800" b="1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灾难性的过拟合</a:t>
            </a:r>
            <a:r>
              <a:rPr lang="zh-CN" altLang="en-US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63A0D29-A246-FC14-6C0A-103203F1921D}"/>
              </a:ext>
            </a:extLst>
          </p:cNvPr>
          <p:cNvSpPr txBox="1"/>
          <p:nvPr/>
        </p:nvSpPr>
        <p:spPr>
          <a:xfrm>
            <a:off x="521335" y="994457"/>
            <a:ext cx="30941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en-US" sz="3200" b="1" dirty="0">
                <a:ln w="0"/>
                <a:latin typeface="微软雅黑" panose="020B0503020204020204" pitchFamily="34" charset="-122"/>
                <a:ea typeface="微软雅黑" panose="020B0503020204020204" pitchFamily="34" charset="-122"/>
              </a:rPr>
              <a:t>存在的问题：</a:t>
            </a:r>
            <a:endParaRPr lang="en-US" altLang="zh-CN" sz="3200" b="1" dirty="0">
              <a:ln w="0"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D63F3F1-1FED-F71B-79C8-BB6F0FEB9224}"/>
              </a:ext>
            </a:extLst>
          </p:cNvPr>
          <p:cNvSpPr txBox="1"/>
          <p:nvPr/>
        </p:nvSpPr>
        <p:spPr>
          <a:xfrm>
            <a:off x="8385839" y="4336941"/>
            <a:ext cx="30245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en-US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会出现一些很掉</a:t>
            </a:r>
            <a:r>
              <a:rPr lang="en-US" altLang="zh-CN" dirty="0" err="1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san</a:t>
            </a:r>
            <a:r>
              <a:rPr lang="zh-CN" altLang="en-US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的图像。</a:t>
            </a:r>
          </a:p>
        </p:txBody>
      </p:sp>
    </p:spTree>
    <p:extLst>
      <p:ext uri="{BB962C8B-B14F-4D97-AF65-F5344CB8AC3E}">
        <p14:creationId xmlns:p14="http://schemas.microsoft.com/office/powerpoint/2010/main" val="3434454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>
            <p:custDataLst>
              <p:tags r:id="rId1"/>
            </p:custDataLst>
          </p:nvPr>
        </p:nvSpPr>
        <p:spPr>
          <a:xfrm flipV="1">
            <a:off x="521335" y="687070"/>
            <a:ext cx="11670665" cy="76200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rgbClr val="035C9C">
              <a:alpha val="96000"/>
            </a:srgbClr>
          </a:solidFill>
          <a:ln>
            <a:solidFill>
              <a:srgbClr val="0D62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2"/>
            </p:custDataLst>
          </p:nvPr>
        </p:nvSpPr>
        <p:spPr>
          <a:xfrm>
            <a:off x="-14603" y="381541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035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cs typeface="+mn-ea"/>
              <a:sym typeface="+mn-lt"/>
            </a:endParaRPr>
          </a:p>
        </p:txBody>
      </p:sp>
      <p:sp>
        <p:nvSpPr>
          <p:cNvPr id="26" name="Title 1"/>
          <p:cNvSpPr txBox="1"/>
          <p:nvPr/>
        </p:nvSpPr>
        <p:spPr>
          <a:xfrm>
            <a:off x="600070" y="140300"/>
            <a:ext cx="7378518" cy="455756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>
              <a:defRPr/>
            </a:pPr>
            <a:r>
              <a:rPr lang="zh-CN" altLang="en-US" sz="3600" b="1" dirty="0">
                <a:solidFill>
                  <a:srgbClr val="035C9C"/>
                </a:solidFill>
                <a:latin typeface="+mn-lt"/>
                <a:ea typeface="+mn-ea"/>
                <a:cs typeface="+mn-ea"/>
                <a:sym typeface="+mn-lt"/>
              </a:rPr>
              <a:t>模型的架构</a:t>
            </a:r>
          </a:p>
        </p:txBody>
      </p:sp>
      <p:pic>
        <p:nvPicPr>
          <p:cNvPr id="1026" name="Picture 2" descr="宁波大学">
            <a:extLst>
              <a:ext uri="{FF2B5EF4-FFF2-40B4-BE49-F238E27FC236}">
                <a16:creationId xmlns:a16="http://schemas.microsoft.com/office/drawing/2014/main" id="{FBEECA7A-C6CA-4559-7150-86965CE36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2161" y="126019"/>
            <a:ext cx="1698399" cy="53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箭头: 下 2">
            <a:extLst>
              <a:ext uri="{FF2B5EF4-FFF2-40B4-BE49-F238E27FC236}">
                <a16:creationId xmlns:a16="http://schemas.microsoft.com/office/drawing/2014/main" id="{4CDFEE3D-E21C-78F1-D20E-33D87C2FC5F3}"/>
              </a:ext>
            </a:extLst>
          </p:cNvPr>
          <p:cNvSpPr/>
          <p:nvPr/>
        </p:nvSpPr>
        <p:spPr>
          <a:xfrm>
            <a:off x="12444051" y="1286845"/>
            <a:ext cx="207096" cy="542041"/>
          </a:xfrm>
          <a:prstGeom prst="downArrow">
            <a:avLst/>
          </a:prstGeom>
          <a:ln>
            <a:solidFill>
              <a:srgbClr val="0D6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149C780-6B80-F4DB-DC6C-DDD757644EF8}"/>
              </a:ext>
            </a:extLst>
          </p:cNvPr>
          <p:cNvSpPr txBox="1"/>
          <p:nvPr/>
        </p:nvSpPr>
        <p:spPr>
          <a:xfrm>
            <a:off x="600070" y="1286845"/>
            <a:ext cx="10469753" cy="310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en-US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不直接进行端到端的直接训练，而是进行一种微调，这种微调不能够影响原有模型的参数。</a:t>
            </a:r>
            <a:endParaRPr lang="en-US" altLang="zh-CN" sz="2800" dirty="0">
              <a:ln w="0"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/>
            <a:endParaRPr lang="en-US" altLang="zh-CN" sz="2800" dirty="0">
              <a:ln w="0"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/>
            <a:r>
              <a:rPr lang="zh-CN" altLang="en-US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方案</a:t>
            </a:r>
            <a:r>
              <a:rPr lang="en-US" altLang="zh-CN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：对部分参数进行</a:t>
            </a:r>
            <a:r>
              <a:rPr lang="en-US" altLang="zh-CN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frozen</a:t>
            </a:r>
            <a:r>
              <a:rPr lang="zh-CN" altLang="en-US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操作；</a:t>
            </a:r>
            <a:endParaRPr lang="en-US" altLang="zh-CN" sz="2800" dirty="0">
              <a:ln w="0"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/>
            <a:r>
              <a:rPr lang="zh-CN" altLang="en-US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方案</a:t>
            </a:r>
            <a:r>
              <a:rPr lang="en-US" altLang="zh-CN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：增加深度网络块以建立下游任务；</a:t>
            </a:r>
            <a:endParaRPr lang="en-US" altLang="zh-CN" sz="2800" dirty="0">
              <a:ln w="0"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/>
            <a:r>
              <a:rPr lang="zh-CN" altLang="en-US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方案</a:t>
            </a:r>
            <a:r>
              <a:rPr lang="en-US" altLang="zh-CN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ControlNet</a:t>
            </a:r>
            <a:r>
              <a:rPr lang="zh-CN" altLang="en-US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思想，对关键深度网络块进行</a:t>
            </a:r>
            <a:r>
              <a:rPr lang="en-US" altLang="zh-CN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frozen</a:t>
            </a:r>
            <a:r>
              <a:rPr lang="zh-CN" altLang="en-US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，并在其副本参数上进行训练微调，取平均效益。</a:t>
            </a:r>
          </a:p>
        </p:txBody>
      </p:sp>
    </p:spTree>
    <p:extLst>
      <p:ext uri="{BB962C8B-B14F-4D97-AF65-F5344CB8AC3E}">
        <p14:creationId xmlns:p14="http://schemas.microsoft.com/office/powerpoint/2010/main" val="17438651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>
            <p:custDataLst>
              <p:tags r:id="rId1"/>
            </p:custDataLst>
          </p:nvPr>
        </p:nvSpPr>
        <p:spPr>
          <a:xfrm flipV="1">
            <a:off x="521335" y="687070"/>
            <a:ext cx="11670665" cy="76200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rgbClr val="035C9C">
              <a:alpha val="96000"/>
            </a:srgbClr>
          </a:solidFill>
          <a:ln>
            <a:solidFill>
              <a:srgbClr val="0D62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2"/>
            </p:custDataLst>
          </p:nvPr>
        </p:nvSpPr>
        <p:spPr>
          <a:xfrm>
            <a:off x="-14603" y="381541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035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cs typeface="+mn-ea"/>
              <a:sym typeface="+mn-lt"/>
            </a:endParaRPr>
          </a:p>
        </p:txBody>
      </p:sp>
      <p:sp>
        <p:nvSpPr>
          <p:cNvPr id="26" name="Title 1"/>
          <p:cNvSpPr txBox="1"/>
          <p:nvPr/>
        </p:nvSpPr>
        <p:spPr>
          <a:xfrm>
            <a:off x="600070" y="140300"/>
            <a:ext cx="7378518" cy="455756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>
              <a:defRPr/>
            </a:pPr>
            <a:r>
              <a:rPr lang="zh-CN" altLang="en-US" sz="3600" b="1" dirty="0">
                <a:solidFill>
                  <a:srgbClr val="035C9C"/>
                </a:solidFill>
                <a:latin typeface="+mn-lt"/>
                <a:ea typeface="+mn-ea"/>
                <a:cs typeface="+mn-ea"/>
                <a:sym typeface="+mn-lt"/>
              </a:rPr>
              <a:t>模型的架构</a:t>
            </a:r>
          </a:p>
        </p:txBody>
      </p:sp>
      <p:pic>
        <p:nvPicPr>
          <p:cNvPr id="1026" name="Picture 2" descr="宁波大学">
            <a:extLst>
              <a:ext uri="{FF2B5EF4-FFF2-40B4-BE49-F238E27FC236}">
                <a16:creationId xmlns:a16="http://schemas.microsoft.com/office/drawing/2014/main" id="{FBEECA7A-C6CA-4559-7150-86965CE36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2161" y="126019"/>
            <a:ext cx="1698399" cy="53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箭头: 下 2">
            <a:extLst>
              <a:ext uri="{FF2B5EF4-FFF2-40B4-BE49-F238E27FC236}">
                <a16:creationId xmlns:a16="http://schemas.microsoft.com/office/drawing/2014/main" id="{4CDFEE3D-E21C-78F1-D20E-33D87C2FC5F3}"/>
              </a:ext>
            </a:extLst>
          </p:cNvPr>
          <p:cNvSpPr/>
          <p:nvPr/>
        </p:nvSpPr>
        <p:spPr>
          <a:xfrm>
            <a:off x="12444051" y="1286845"/>
            <a:ext cx="207096" cy="542041"/>
          </a:xfrm>
          <a:prstGeom prst="downArrow">
            <a:avLst/>
          </a:prstGeom>
          <a:ln>
            <a:solidFill>
              <a:srgbClr val="0D6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48EC1BF1-A8BD-2B27-32C8-6C54C7D50B65}"/>
              </a:ext>
            </a:extLst>
          </p:cNvPr>
          <p:cNvSpPr/>
          <p:nvPr/>
        </p:nvSpPr>
        <p:spPr>
          <a:xfrm>
            <a:off x="2916936" y="3385185"/>
            <a:ext cx="2441448" cy="77724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深度神经网络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A6EC209E-A75B-E0A7-8A3C-BF2EE30C6852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4137660" y="2879217"/>
            <a:ext cx="0" cy="50596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0AD8F2B9-B15D-BD95-3CDF-4A98F2272581}"/>
              </a:ext>
            </a:extLst>
          </p:cNvPr>
          <p:cNvSpPr txBox="1"/>
          <p:nvPr/>
        </p:nvSpPr>
        <p:spPr>
          <a:xfrm>
            <a:off x="3970787" y="2509885"/>
            <a:ext cx="3337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X</a:t>
            </a:r>
            <a:endParaRPr lang="zh-CN" altLang="en-US" dirty="0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85395A4-0991-1A7B-CFCA-85DD288769FD}"/>
              </a:ext>
            </a:extLst>
          </p:cNvPr>
          <p:cNvSpPr txBox="1"/>
          <p:nvPr/>
        </p:nvSpPr>
        <p:spPr>
          <a:xfrm>
            <a:off x="3970787" y="5260967"/>
            <a:ext cx="333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Y</a:t>
            </a: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9E1CFDD4-C221-71EA-753A-A02174C75028}"/>
              </a:ext>
            </a:extLst>
          </p:cNvPr>
          <p:cNvCxnSpPr>
            <a:cxnSpLocks/>
            <a:endCxn id="13" idx="0"/>
          </p:cNvCxnSpPr>
          <p:nvPr/>
        </p:nvCxnSpPr>
        <p:spPr>
          <a:xfrm>
            <a:off x="4137660" y="4162425"/>
            <a:ext cx="0" cy="1098542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A7963575-DE45-8D7D-43AA-8947DE8F2E6A}"/>
              </a:ext>
            </a:extLst>
          </p:cNvPr>
          <p:cNvSpPr/>
          <p:nvPr/>
        </p:nvSpPr>
        <p:spPr>
          <a:xfrm>
            <a:off x="2916936" y="3385185"/>
            <a:ext cx="2441448" cy="777240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深度神经网络</a:t>
            </a: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BF7AF8B-AD65-7003-A93E-4F8EFEE6D845}"/>
              </a:ext>
            </a:extLst>
          </p:cNvPr>
          <p:cNvSpPr/>
          <p:nvPr/>
        </p:nvSpPr>
        <p:spPr>
          <a:xfrm>
            <a:off x="2916936" y="3385185"/>
            <a:ext cx="2441448" cy="777240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b="1" dirty="0">
                <a:solidFill>
                  <a:schemeClr val="tx1"/>
                </a:solidFill>
              </a:rPr>
              <a:t>深度神经网络</a:t>
            </a:r>
          </a:p>
        </p:txBody>
      </p:sp>
      <p:pic>
        <p:nvPicPr>
          <p:cNvPr id="18" name="图形 17" descr="锁定">
            <a:extLst>
              <a:ext uri="{FF2B5EF4-FFF2-40B4-BE49-F238E27FC236}">
                <a16:creationId xmlns:a16="http://schemas.microsoft.com/office/drawing/2014/main" id="{552FD14C-9929-9A9C-DA0F-F5BABFD8655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32354" y="3132201"/>
            <a:ext cx="694944" cy="694944"/>
          </a:xfrm>
          <a:prstGeom prst="rect">
            <a:avLst/>
          </a:prstGeom>
        </p:spPr>
      </p:pic>
      <p:grpSp>
        <p:nvGrpSpPr>
          <p:cNvPr id="56" name="组合 55">
            <a:extLst>
              <a:ext uri="{FF2B5EF4-FFF2-40B4-BE49-F238E27FC236}">
                <a16:creationId xmlns:a16="http://schemas.microsoft.com/office/drawing/2014/main" id="{9C50BC1A-184A-B5F7-4301-BB7B942E5666}"/>
              </a:ext>
            </a:extLst>
          </p:cNvPr>
          <p:cNvGrpSpPr/>
          <p:nvPr/>
        </p:nvGrpSpPr>
        <p:grpSpPr>
          <a:xfrm>
            <a:off x="3964691" y="1154343"/>
            <a:ext cx="4283197" cy="3797530"/>
            <a:chOff x="3964691" y="1154343"/>
            <a:chExt cx="4283197" cy="3797530"/>
          </a:xfrm>
        </p:grpSpPr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42559A33-EE31-5CC0-AFC0-5C3461F417FA}"/>
                </a:ext>
              </a:extLst>
            </p:cNvPr>
            <p:cNvSpPr/>
            <p:nvPr/>
          </p:nvSpPr>
          <p:spPr>
            <a:xfrm>
              <a:off x="6739128" y="1811944"/>
              <a:ext cx="1508760" cy="36933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零卷积层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C52DAF04-E150-CED1-E450-C837726F8DCA}"/>
                </a:ext>
              </a:extLst>
            </p:cNvPr>
            <p:cNvSpPr/>
            <p:nvPr/>
          </p:nvSpPr>
          <p:spPr>
            <a:xfrm>
              <a:off x="6739128" y="4582541"/>
              <a:ext cx="1508760" cy="36933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/>
                <a:t>零卷积层</a:t>
              </a:r>
            </a:p>
          </p:txBody>
        </p:sp>
        <p:cxnSp>
          <p:nvCxnSpPr>
            <p:cNvPr id="21" name="直接箭头连接符 20">
              <a:extLst>
                <a:ext uri="{FF2B5EF4-FFF2-40B4-BE49-F238E27FC236}">
                  <a16:creationId xmlns:a16="http://schemas.microsoft.com/office/drawing/2014/main" id="{7CCAABF2-D003-3831-24D5-611C38D35FC8}"/>
                </a:ext>
              </a:extLst>
            </p:cNvPr>
            <p:cNvCxnSpPr>
              <a:cxnSpLocks/>
              <a:stCxn id="12" idx="3"/>
            </p:cNvCxnSpPr>
            <p:nvPr/>
          </p:nvCxnSpPr>
          <p:spPr>
            <a:xfrm flipV="1">
              <a:off x="4304533" y="2681288"/>
              <a:ext cx="3044005" cy="13263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AE88EAEF-5A8A-658F-DFC3-C827D5F0A984}"/>
                </a:ext>
              </a:extLst>
            </p:cNvPr>
            <p:cNvGrpSpPr/>
            <p:nvPr/>
          </p:nvGrpSpPr>
          <p:grpSpPr>
            <a:xfrm>
              <a:off x="7324939" y="2500004"/>
              <a:ext cx="356188" cy="369332"/>
              <a:chOff x="4455818" y="4887396"/>
              <a:chExt cx="356188" cy="369332"/>
            </a:xfrm>
          </p:grpSpPr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BF2585D6-671A-AD8D-397F-DD31AF44CDDA}"/>
                  </a:ext>
                </a:extLst>
              </p:cNvPr>
              <p:cNvSpPr/>
              <p:nvPr/>
            </p:nvSpPr>
            <p:spPr>
              <a:xfrm>
                <a:off x="4495800" y="4953000"/>
                <a:ext cx="257175" cy="257175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1B017DB1-3364-B5E4-A46C-379DB5B530CA}"/>
                  </a:ext>
                </a:extLst>
              </p:cNvPr>
              <p:cNvSpPr txBox="1"/>
              <p:nvPr/>
            </p:nvSpPr>
            <p:spPr>
              <a:xfrm>
                <a:off x="4455818" y="4887396"/>
                <a:ext cx="3561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+</a:t>
                </a:r>
                <a:endParaRPr lang="zh-CN" altLang="en-US" dirty="0"/>
              </a:p>
            </p:txBody>
          </p:sp>
        </p:grpSp>
        <p:cxnSp>
          <p:nvCxnSpPr>
            <p:cNvPr id="32" name="直接箭头连接符 31">
              <a:extLst>
                <a:ext uri="{FF2B5EF4-FFF2-40B4-BE49-F238E27FC236}">
                  <a16:creationId xmlns:a16="http://schemas.microsoft.com/office/drawing/2014/main" id="{C75437DF-C8A5-AF7B-6401-0E05BE347B57}"/>
                </a:ext>
              </a:extLst>
            </p:cNvPr>
            <p:cNvCxnSpPr>
              <a:cxnSpLocks/>
              <a:stCxn id="19" idx="2"/>
            </p:cNvCxnSpPr>
            <p:nvPr/>
          </p:nvCxnSpPr>
          <p:spPr>
            <a:xfrm>
              <a:off x="7493508" y="2181276"/>
              <a:ext cx="7430" cy="36428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787BCC4F-A93D-502C-9039-E8DEF2D4D68A}"/>
                </a:ext>
              </a:extLst>
            </p:cNvPr>
            <p:cNvCxnSpPr>
              <a:cxnSpLocks/>
            </p:cNvCxnSpPr>
            <p:nvPr/>
          </p:nvCxnSpPr>
          <p:spPr>
            <a:xfrm>
              <a:off x="7496175" y="2838351"/>
              <a:ext cx="4763" cy="534435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E5F60F34-0013-546C-35A8-6A4EE5F0F2CF}"/>
                </a:ext>
              </a:extLst>
            </p:cNvPr>
            <p:cNvCxnSpPr>
              <a:cxnSpLocks/>
            </p:cNvCxnSpPr>
            <p:nvPr/>
          </p:nvCxnSpPr>
          <p:spPr>
            <a:xfrm>
              <a:off x="7493508" y="4156075"/>
              <a:ext cx="0" cy="419617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F3025908-AA98-6F19-AE6B-6FF2037C9AAE}"/>
                </a:ext>
              </a:extLst>
            </p:cNvPr>
            <p:cNvGrpSpPr/>
            <p:nvPr/>
          </p:nvGrpSpPr>
          <p:grpSpPr>
            <a:xfrm>
              <a:off x="3964691" y="4582541"/>
              <a:ext cx="356188" cy="369332"/>
              <a:chOff x="4453913" y="4874061"/>
              <a:chExt cx="356188" cy="369332"/>
            </a:xfrm>
          </p:grpSpPr>
          <p:sp>
            <p:nvSpPr>
              <p:cNvPr id="48" name="椭圆 47">
                <a:extLst>
                  <a:ext uri="{FF2B5EF4-FFF2-40B4-BE49-F238E27FC236}">
                    <a16:creationId xmlns:a16="http://schemas.microsoft.com/office/drawing/2014/main" id="{C17AB85A-8CC7-F985-3EC1-EC00033C55D7}"/>
                  </a:ext>
                </a:extLst>
              </p:cNvPr>
              <p:cNvSpPr/>
              <p:nvPr/>
            </p:nvSpPr>
            <p:spPr>
              <a:xfrm>
                <a:off x="4495800" y="4953000"/>
                <a:ext cx="257175" cy="257175"/>
              </a:xfrm>
              <a:prstGeom prst="ellipse">
                <a:avLst/>
              </a:prstGeom>
              <a:solidFill>
                <a:schemeClr val="bg1"/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9" name="文本框 48">
                <a:extLst>
                  <a:ext uri="{FF2B5EF4-FFF2-40B4-BE49-F238E27FC236}">
                    <a16:creationId xmlns:a16="http://schemas.microsoft.com/office/drawing/2014/main" id="{6AC8919B-AC48-46D3-BE77-4A9008D1E3C1}"/>
                  </a:ext>
                </a:extLst>
              </p:cNvPr>
              <p:cNvSpPr txBox="1"/>
              <p:nvPr/>
            </p:nvSpPr>
            <p:spPr>
              <a:xfrm>
                <a:off x="4453913" y="4874061"/>
                <a:ext cx="35618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+</a:t>
                </a:r>
                <a:endParaRPr lang="zh-CN" altLang="en-US" dirty="0"/>
              </a:p>
            </p:txBody>
          </p:sp>
        </p:grpSp>
        <p:cxnSp>
          <p:nvCxnSpPr>
            <p:cNvPr id="50" name="直接箭头连接符 49">
              <a:extLst>
                <a:ext uri="{FF2B5EF4-FFF2-40B4-BE49-F238E27FC236}">
                  <a16:creationId xmlns:a16="http://schemas.microsoft.com/office/drawing/2014/main" id="{55AC333E-B41E-5975-A8F9-A5A36891810C}"/>
                </a:ext>
              </a:extLst>
            </p:cNvPr>
            <p:cNvCxnSpPr>
              <a:cxnSpLocks/>
              <a:stCxn id="20" idx="1"/>
            </p:cNvCxnSpPr>
            <p:nvPr/>
          </p:nvCxnSpPr>
          <p:spPr>
            <a:xfrm flipH="1">
              <a:off x="4263753" y="4767207"/>
              <a:ext cx="2475375" cy="2286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直接箭头连接符 53">
              <a:extLst>
                <a:ext uri="{FF2B5EF4-FFF2-40B4-BE49-F238E27FC236}">
                  <a16:creationId xmlns:a16="http://schemas.microsoft.com/office/drawing/2014/main" id="{AE25D9C4-52A0-CF86-6E6A-A5A5A14B86AD}"/>
                </a:ext>
              </a:extLst>
            </p:cNvPr>
            <p:cNvCxnSpPr>
              <a:cxnSpLocks/>
            </p:cNvCxnSpPr>
            <p:nvPr/>
          </p:nvCxnSpPr>
          <p:spPr>
            <a:xfrm>
              <a:off x="7486078" y="1466072"/>
              <a:ext cx="7430" cy="364280"/>
            </a:xfrm>
            <a:prstGeom prst="straightConnector1">
              <a:avLst/>
            </a:prstGeom>
            <a:ln w="1905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5" name="文本框 54">
              <a:extLst>
                <a:ext uri="{FF2B5EF4-FFF2-40B4-BE49-F238E27FC236}">
                  <a16:creationId xmlns:a16="http://schemas.microsoft.com/office/drawing/2014/main" id="{20163792-30AE-F8E7-CAF3-F24A882F8044}"/>
                </a:ext>
              </a:extLst>
            </p:cNvPr>
            <p:cNvSpPr txBox="1"/>
            <p:nvPr/>
          </p:nvSpPr>
          <p:spPr>
            <a:xfrm>
              <a:off x="7324939" y="1154343"/>
              <a:ext cx="33855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dirty="0"/>
                <a:t>C</a:t>
              </a:r>
              <a:endParaRPr lang="zh-CN" altLang="en-US" dirty="0"/>
            </a:p>
          </p:txBody>
        </p:sp>
      </p:grpSp>
      <p:sp>
        <p:nvSpPr>
          <p:cNvPr id="58" name="文本框 57">
            <a:extLst>
              <a:ext uri="{FF2B5EF4-FFF2-40B4-BE49-F238E27FC236}">
                <a16:creationId xmlns:a16="http://schemas.microsoft.com/office/drawing/2014/main" id="{A4597621-8199-74FB-58CA-A2C97727402E}"/>
              </a:ext>
            </a:extLst>
          </p:cNvPr>
          <p:cNvSpPr txBox="1"/>
          <p:nvPr/>
        </p:nvSpPr>
        <p:spPr>
          <a:xfrm>
            <a:off x="2808575" y="5852373"/>
            <a:ext cx="70961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en-US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训练副本，保留原能力的同时增加新能力。</a:t>
            </a:r>
          </a:p>
        </p:txBody>
      </p:sp>
    </p:spTree>
    <p:extLst>
      <p:ext uri="{BB962C8B-B14F-4D97-AF65-F5344CB8AC3E}">
        <p14:creationId xmlns:p14="http://schemas.microsoft.com/office/powerpoint/2010/main" val="575731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91667E-6 -1.48148E-6 L 0.27565 -0.00278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776" y="-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5" grpId="0" animBg="1"/>
      <p:bldP spid="5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>
            <p:custDataLst>
              <p:tags r:id="rId1"/>
            </p:custDataLst>
          </p:nvPr>
        </p:nvSpPr>
        <p:spPr>
          <a:xfrm flipV="1">
            <a:off x="521335" y="687070"/>
            <a:ext cx="11670665" cy="76200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rgbClr val="035C9C">
              <a:alpha val="96000"/>
            </a:srgbClr>
          </a:solidFill>
          <a:ln>
            <a:solidFill>
              <a:srgbClr val="0D62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2"/>
            </p:custDataLst>
          </p:nvPr>
        </p:nvSpPr>
        <p:spPr>
          <a:xfrm>
            <a:off x="-14603" y="381541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035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cs typeface="+mn-ea"/>
              <a:sym typeface="+mn-lt"/>
            </a:endParaRPr>
          </a:p>
        </p:txBody>
      </p:sp>
      <p:sp>
        <p:nvSpPr>
          <p:cNvPr id="26" name="Title 1"/>
          <p:cNvSpPr txBox="1"/>
          <p:nvPr/>
        </p:nvSpPr>
        <p:spPr>
          <a:xfrm>
            <a:off x="600070" y="140300"/>
            <a:ext cx="7378518" cy="455756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>
              <a:defRPr/>
            </a:pPr>
            <a:r>
              <a:rPr lang="zh-CN" altLang="en-US" sz="3600" b="1" dirty="0">
                <a:solidFill>
                  <a:srgbClr val="035C9C"/>
                </a:solidFill>
                <a:latin typeface="+mn-lt"/>
                <a:ea typeface="+mn-ea"/>
                <a:cs typeface="+mn-ea"/>
                <a:sym typeface="+mn-lt"/>
              </a:rPr>
              <a:t>模型的架构</a:t>
            </a:r>
          </a:p>
        </p:txBody>
      </p:sp>
      <p:pic>
        <p:nvPicPr>
          <p:cNvPr id="1026" name="Picture 2" descr="宁波大学">
            <a:extLst>
              <a:ext uri="{FF2B5EF4-FFF2-40B4-BE49-F238E27FC236}">
                <a16:creationId xmlns:a16="http://schemas.microsoft.com/office/drawing/2014/main" id="{FBEECA7A-C6CA-4559-7150-86965CE36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2161" y="126019"/>
            <a:ext cx="1698399" cy="53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箭头: 下 2">
            <a:extLst>
              <a:ext uri="{FF2B5EF4-FFF2-40B4-BE49-F238E27FC236}">
                <a16:creationId xmlns:a16="http://schemas.microsoft.com/office/drawing/2014/main" id="{4CDFEE3D-E21C-78F1-D20E-33D87C2FC5F3}"/>
              </a:ext>
            </a:extLst>
          </p:cNvPr>
          <p:cNvSpPr/>
          <p:nvPr/>
        </p:nvSpPr>
        <p:spPr>
          <a:xfrm>
            <a:off x="12444051" y="1286845"/>
            <a:ext cx="207096" cy="542041"/>
          </a:xfrm>
          <a:prstGeom prst="downArrow">
            <a:avLst/>
          </a:prstGeom>
          <a:ln>
            <a:solidFill>
              <a:srgbClr val="0D6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849463E-CDBD-EE79-EA0F-25A8BBF9BF09}"/>
              </a:ext>
            </a:extLst>
          </p:cNvPr>
          <p:cNvSpPr txBox="1"/>
          <p:nvPr/>
        </p:nvSpPr>
        <p:spPr>
          <a:xfrm>
            <a:off x="521335" y="1034645"/>
            <a:ext cx="70961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en-US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零卷积层的作用？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6628E37-0321-D69F-D796-29A7CD63966D}"/>
              </a:ext>
            </a:extLst>
          </p:cNvPr>
          <p:cNvSpPr txBox="1"/>
          <p:nvPr/>
        </p:nvSpPr>
        <p:spPr>
          <a:xfrm>
            <a:off x="521335" y="1648420"/>
            <a:ext cx="110299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2000" b="0" i="0" dirty="0">
                <a:effectLst/>
                <a:latin typeface="Open Sans" panose="020B0606030504020204" pitchFamily="34" charset="0"/>
              </a:rPr>
              <a:t>可训练副本和原始锁定模型通过</a:t>
            </a:r>
            <a:r>
              <a:rPr lang="en-US" altLang="zh-CN" sz="2000" b="0" i="0" dirty="0">
                <a:effectLst/>
                <a:latin typeface="Open Sans" panose="020B0606030504020204" pitchFamily="34" charset="0"/>
              </a:rPr>
              <a:t>"</a:t>
            </a:r>
            <a:r>
              <a:rPr lang="zh-CN" altLang="en-US" sz="2000" b="0" i="0" dirty="0">
                <a:effectLst/>
                <a:latin typeface="Open Sans" panose="020B0606030504020204" pitchFamily="34" charset="0"/>
              </a:rPr>
              <a:t>零卷积</a:t>
            </a:r>
            <a:r>
              <a:rPr lang="en-US" altLang="zh-CN" sz="2000" b="0" i="0" dirty="0">
                <a:effectLst/>
                <a:latin typeface="Open Sans" panose="020B0606030504020204" pitchFamily="34" charset="0"/>
              </a:rPr>
              <a:t>"</a:t>
            </a:r>
            <a:r>
              <a:rPr lang="zh-CN" altLang="en-US" sz="2000" b="0" i="0" dirty="0">
                <a:effectLst/>
                <a:latin typeface="Open Sans" panose="020B0606030504020204" pitchFamily="34" charset="0"/>
              </a:rPr>
              <a:t>层</a:t>
            </a:r>
            <a:r>
              <a:rPr lang="en-US" altLang="zh-CN" sz="2000" b="1" i="0" dirty="0">
                <a:effectLst/>
                <a:latin typeface="Open Sans" panose="020B0606030504020204" pitchFamily="34" charset="0"/>
              </a:rPr>
              <a:t>(</a:t>
            </a:r>
            <a:r>
              <a:rPr lang="zh-CN" altLang="en-US" sz="2000" b="1" i="0" dirty="0">
                <a:effectLst/>
                <a:latin typeface="Open Sans" panose="020B0606030504020204" pitchFamily="34" charset="0"/>
              </a:rPr>
              <a:t>权重和偏差初始化为零的</a:t>
            </a:r>
            <a:r>
              <a:rPr lang="en-US" altLang="zh-CN" sz="2000" b="1" i="0" dirty="0">
                <a:effectLst/>
                <a:latin typeface="Open Sans" panose="020B0606030504020204" pitchFamily="34" charset="0"/>
              </a:rPr>
              <a:t>1x1</a:t>
            </a:r>
            <a:r>
              <a:rPr lang="zh-CN" altLang="en-US" sz="2000" b="1" i="0" dirty="0">
                <a:effectLst/>
                <a:latin typeface="Open Sans" panose="020B0606030504020204" pitchFamily="34" charset="0"/>
              </a:rPr>
              <a:t>卷积</a:t>
            </a:r>
            <a:r>
              <a:rPr lang="en-US" altLang="zh-CN" sz="2000" b="1" i="0" dirty="0">
                <a:effectLst/>
                <a:latin typeface="Open Sans" panose="020B0606030504020204" pitchFamily="34" charset="0"/>
              </a:rPr>
              <a:t>)</a:t>
            </a:r>
            <a:r>
              <a:rPr lang="zh-CN" altLang="en-US" sz="2000" b="0" i="0" dirty="0">
                <a:effectLst/>
                <a:latin typeface="Open Sans" panose="020B0606030504020204" pitchFamily="34" charset="0"/>
              </a:rPr>
              <a:t>连接</a:t>
            </a:r>
            <a:r>
              <a:rPr lang="en-US" altLang="zh-CN" sz="2000" b="0" i="0" dirty="0">
                <a:effectLst/>
                <a:latin typeface="Open Sans" panose="020B0606030504020204" pitchFamily="34" charset="0"/>
              </a:rPr>
              <a:t>,</a:t>
            </a:r>
            <a:r>
              <a:rPr lang="zh-CN" altLang="en-US" sz="2000" b="0" i="0" dirty="0">
                <a:effectLst/>
                <a:latin typeface="Open Sans" panose="020B0606030504020204" pitchFamily="34" charset="0"/>
              </a:rPr>
              <a:t>以确保微调过程中不会受到有害噪音的影响。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82077DF-E0CB-D621-2D6A-E9692AF5D3FD}"/>
              </a:ext>
            </a:extLst>
          </p:cNvPr>
          <p:cNvSpPr txBox="1"/>
          <p:nvPr/>
        </p:nvSpPr>
        <p:spPr>
          <a:xfrm>
            <a:off x="521334" y="2767280"/>
            <a:ext cx="1102995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2000" dirty="0">
                <a:latin typeface="Open Sans" panose="020B0606030504020204" pitchFamily="34" charset="0"/>
              </a:rPr>
              <a:t>Diffusion</a:t>
            </a:r>
            <a:r>
              <a:rPr lang="zh-CN" altLang="en-US" sz="2000" dirty="0">
                <a:latin typeface="Open Sans" panose="020B0606030504020204" pitchFamily="34" charset="0"/>
              </a:rPr>
              <a:t>本质上是训练一个去噪模型，即噪声是要参与到模型的训练过程中的，在上述训练的初期，模型未拟合指定任务，此时极其容易受到噪声的不确定性干扰。</a:t>
            </a:r>
            <a:endParaRPr lang="en-US" altLang="zh-CN" sz="2000" dirty="0">
              <a:latin typeface="Open Sans" panose="020B0606030504020204" pitchFamily="34" charset="0"/>
            </a:endParaRPr>
          </a:p>
          <a:p>
            <a:pPr algn="l"/>
            <a:r>
              <a:rPr lang="zh-CN" altLang="en-US" sz="2000" b="0" i="0" dirty="0">
                <a:effectLst/>
                <a:latin typeface="Open Sans" panose="020B0606030504020204" pitchFamily="34" charset="0"/>
              </a:rPr>
              <a:t>需注意，权重为</a:t>
            </a:r>
            <a:r>
              <a:rPr lang="en-US" altLang="zh-CN" sz="2000" b="0" i="0" dirty="0">
                <a:effectLst/>
                <a:latin typeface="Open Sans" panose="020B0606030504020204" pitchFamily="34" charset="0"/>
              </a:rPr>
              <a:t>0</a:t>
            </a:r>
            <a:r>
              <a:rPr lang="zh-CN" altLang="en-US" sz="2000" dirty="0">
                <a:latin typeface="Open Sans" panose="020B0606030504020204" pitchFamily="34" charset="0"/>
              </a:rPr>
              <a:t>不代表梯度不会更新，随着网络的训练，该层也会向着正确的方向进行收敛，只是在训练初期起到了一个保护网络主干的作用。</a:t>
            </a:r>
            <a:endParaRPr lang="zh-CN" altLang="en-US" sz="2000" b="0" i="0" dirty="0"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0325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>
            <p:custDataLst>
              <p:tags r:id="rId1"/>
            </p:custDataLst>
          </p:nvPr>
        </p:nvSpPr>
        <p:spPr>
          <a:xfrm flipV="1">
            <a:off x="521335" y="687070"/>
            <a:ext cx="11670665" cy="76200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rgbClr val="035C9C">
              <a:alpha val="96000"/>
            </a:srgbClr>
          </a:solidFill>
          <a:ln>
            <a:solidFill>
              <a:srgbClr val="0D62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2"/>
            </p:custDataLst>
          </p:nvPr>
        </p:nvSpPr>
        <p:spPr>
          <a:xfrm>
            <a:off x="-14603" y="381541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035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cs typeface="+mn-ea"/>
              <a:sym typeface="+mn-lt"/>
            </a:endParaRPr>
          </a:p>
        </p:txBody>
      </p:sp>
      <p:sp>
        <p:nvSpPr>
          <p:cNvPr id="26" name="Title 1"/>
          <p:cNvSpPr txBox="1"/>
          <p:nvPr/>
        </p:nvSpPr>
        <p:spPr>
          <a:xfrm>
            <a:off x="600070" y="140300"/>
            <a:ext cx="7378518" cy="455756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>
              <a:defRPr/>
            </a:pPr>
            <a:r>
              <a:rPr lang="zh-CN" altLang="en-US" sz="3600" b="1" dirty="0">
                <a:solidFill>
                  <a:srgbClr val="035C9C"/>
                </a:solidFill>
                <a:latin typeface="+mn-lt"/>
                <a:ea typeface="+mn-ea"/>
                <a:cs typeface="+mn-ea"/>
                <a:sym typeface="+mn-lt"/>
              </a:rPr>
              <a:t>模型的架构</a:t>
            </a:r>
          </a:p>
        </p:txBody>
      </p:sp>
      <p:pic>
        <p:nvPicPr>
          <p:cNvPr id="1026" name="Picture 2" descr="宁波大学">
            <a:extLst>
              <a:ext uri="{FF2B5EF4-FFF2-40B4-BE49-F238E27FC236}">
                <a16:creationId xmlns:a16="http://schemas.microsoft.com/office/drawing/2014/main" id="{FBEECA7A-C6CA-4559-7150-86965CE36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2161" y="126019"/>
            <a:ext cx="1698399" cy="53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箭头: 下 2">
            <a:extLst>
              <a:ext uri="{FF2B5EF4-FFF2-40B4-BE49-F238E27FC236}">
                <a16:creationId xmlns:a16="http://schemas.microsoft.com/office/drawing/2014/main" id="{4CDFEE3D-E21C-78F1-D20E-33D87C2FC5F3}"/>
              </a:ext>
            </a:extLst>
          </p:cNvPr>
          <p:cNvSpPr/>
          <p:nvPr/>
        </p:nvSpPr>
        <p:spPr>
          <a:xfrm>
            <a:off x="12444051" y="1286845"/>
            <a:ext cx="207096" cy="542041"/>
          </a:xfrm>
          <a:prstGeom prst="downArrow">
            <a:avLst/>
          </a:prstGeom>
          <a:ln>
            <a:solidFill>
              <a:srgbClr val="0D6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149C780-6B80-F4DB-DC6C-DDD757644EF8}"/>
              </a:ext>
            </a:extLst>
          </p:cNvPr>
          <p:cNvSpPr txBox="1"/>
          <p:nvPr/>
        </p:nvSpPr>
        <p:spPr>
          <a:xfrm>
            <a:off x="-182245" y="953370"/>
            <a:ext cx="1255649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en-US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  这本质上是一个架构调整的小方案，有</a:t>
            </a:r>
            <a:r>
              <a:rPr lang="en-US" altLang="zh-CN" sz="2800" dirty="0" err="1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ResNet</a:t>
            </a:r>
            <a:r>
              <a:rPr lang="zh-CN" altLang="en-US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的美感，实现且相对容易。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5138C35-4090-A0FA-45AC-B9A927023545}"/>
              </a:ext>
            </a:extLst>
          </p:cNvPr>
          <p:cNvSpPr txBox="1"/>
          <p:nvPr/>
        </p:nvSpPr>
        <p:spPr>
          <a:xfrm>
            <a:off x="521335" y="1567276"/>
            <a:ext cx="107848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en-US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以</a:t>
            </a:r>
            <a:r>
              <a:rPr lang="en-US" altLang="zh-CN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Imagen</a:t>
            </a:r>
            <a:r>
              <a:rPr lang="zh-CN" altLang="en-US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为例，使用上述方案进行条件控制。</a:t>
            </a:r>
          </a:p>
        </p:txBody>
      </p:sp>
    </p:spTree>
    <p:extLst>
      <p:ext uri="{BB962C8B-B14F-4D97-AF65-F5344CB8AC3E}">
        <p14:creationId xmlns:p14="http://schemas.microsoft.com/office/powerpoint/2010/main" val="380565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 8"/>
          <p:cNvSpPr/>
          <p:nvPr userDrawn="1">
            <p:custDataLst>
              <p:tags r:id="rId1"/>
            </p:custDataLst>
          </p:nvPr>
        </p:nvSpPr>
        <p:spPr>
          <a:xfrm>
            <a:off x="-14603" y="381541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035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cs typeface="+mn-ea"/>
              <a:sym typeface="+mn-lt"/>
            </a:endParaRPr>
          </a:p>
        </p:txBody>
      </p:sp>
      <p:sp>
        <p:nvSpPr>
          <p:cNvPr id="26" name="Title 1"/>
          <p:cNvSpPr txBox="1"/>
          <p:nvPr/>
        </p:nvSpPr>
        <p:spPr>
          <a:xfrm>
            <a:off x="600070" y="140300"/>
            <a:ext cx="7378518" cy="455756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>
              <a:defRPr/>
            </a:pPr>
            <a:r>
              <a:rPr lang="zh-CN" altLang="en-US" sz="3600" b="1" dirty="0">
                <a:solidFill>
                  <a:srgbClr val="035C9C"/>
                </a:solidFill>
                <a:latin typeface="+mn-lt"/>
                <a:ea typeface="+mn-ea"/>
                <a:cs typeface="+mn-ea"/>
                <a:sym typeface="+mn-lt"/>
              </a:rPr>
              <a:t>模型的架构</a:t>
            </a:r>
          </a:p>
        </p:txBody>
      </p:sp>
      <p:pic>
        <p:nvPicPr>
          <p:cNvPr id="1026" name="Picture 2" descr="宁波大学">
            <a:extLst>
              <a:ext uri="{FF2B5EF4-FFF2-40B4-BE49-F238E27FC236}">
                <a16:creationId xmlns:a16="http://schemas.microsoft.com/office/drawing/2014/main" id="{FBEECA7A-C6CA-4559-7150-86965CE36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2161" y="126019"/>
            <a:ext cx="1698399" cy="53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箭头: 下 2">
            <a:extLst>
              <a:ext uri="{FF2B5EF4-FFF2-40B4-BE49-F238E27FC236}">
                <a16:creationId xmlns:a16="http://schemas.microsoft.com/office/drawing/2014/main" id="{4CDFEE3D-E21C-78F1-D20E-33D87C2FC5F3}"/>
              </a:ext>
            </a:extLst>
          </p:cNvPr>
          <p:cNvSpPr/>
          <p:nvPr/>
        </p:nvSpPr>
        <p:spPr>
          <a:xfrm>
            <a:off x="12444051" y="1286845"/>
            <a:ext cx="207096" cy="542041"/>
          </a:xfrm>
          <a:prstGeom prst="downArrow">
            <a:avLst/>
          </a:prstGeom>
          <a:ln>
            <a:solidFill>
              <a:srgbClr val="0D6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10B8D1A1-75FD-DCCF-2FBF-39E8A2A1C07D}"/>
              </a:ext>
            </a:extLst>
          </p:cNvPr>
          <p:cNvSpPr txBox="1"/>
          <p:nvPr/>
        </p:nvSpPr>
        <p:spPr>
          <a:xfrm>
            <a:off x="308698" y="1167166"/>
            <a:ext cx="402282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en-US" sz="20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考虑以下问题：</a:t>
            </a:r>
            <a:endParaRPr lang="en-US" altLang="zh-CN" sz="2000" dirty="0">
              <a:ln w="0"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/>
            <a:r>
              <a:rPr lang="zh-CN" altLang="en-US" sz="20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深度网络块的粒度？把整个</a:t>
            </a:r>
            <a:r>
              <a:rPr lang="en-US" altLang="zh-CN" sz="20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DM</a:t>
            </a:r>
            <a:r>
              <a:rPr lang="zh-CN" altLang="en-US" sz="20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看成一个块还是把其中更小的网络看成一个块？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CCFE0DAA-48B0-62E0-5694-3B0F606A8BD1}"/>
              </a:ext>
            </a:extLst>
          </p:cNvPr>
          <p:cNvSpPr txBox="1"/>
          <p:nvPr/>
        </p:nvSpPr>
        <p:spPr>
          <a:xfrm>
            <a:off x="292577" y="2703108"/>
            <a:ext cx="466293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en-US" sz="20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直觉上的回答：</a:t>
            </a:r>
            <a:endParaRPr lang="en-US" altLang="zh-CN" sz="2000" dirty="0">
              <a:ln w="0"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/>
            <a:r>
              <a:rPr lang="zh-CN" altLang="en-US" sz="20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前者代码写起来容易，因为只需要加少数几个</a:t>
            </a:r>
            <a:r>
              <a:rPr lang="en-US" altLang="zh-CN" sz="20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ControlNet</a:t>
            </a:r>
            <a:r>
              <a:rPr lang="zh-CN" altLang="en-US" sz="20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即可，但训练难度大，因为相当于要端到端对整个</a:t>
            </a:r>
            <a:r>
              <a:rPr lang="en-US" altLang="zh-CN" sz="20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DM</a:t>
            </a:r>
            <a:r>
              <a:rPr lang="zh-CN" altLang="en-US" sz="20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进行调整。</a:t>
            </a:r>
            <a:endParaRPr lang="en-US" altLang="zh-CN" sz="2000" dirty="0">
              <a:ln w="0"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/>
            <a:r>
              <a:rPr lang="zh-CN" altLang="en-US" sz="20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后者代码难度较大，但自由度更高。</a:t>
            </a:r>
            <a:endParaRPr lang="en-US" altLang="zh-CN" sz="2000" dirty="0">
              <a:ln w="0"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7AA27B77-13AB-2ED5-C158-7BEF0337CC8B}"/>
              </a:ext>
            </a:extLst>
          </p:cNvPr>
          <p:cNvGrpSpPr/>
          <p:nvPr/>
        </p:nvGrpSpPr>
        <p:grpSpPr>
          <a:xfrm>
            <a:off x="5434302" y="140300"/>
            <a:ext cx="5496845" cy="6455349"/>
            <a:chOff x="2965835" y="131006"/>
            <a:chExt cx="5496845" cy="6455349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18501F11-324A-75BE-E744-DE12B46CC740}"/>
                </a:ext>
              </a:extLst>
            </p:cNvPr>
            <p:cNvSpPr/>
            <p:nvPr/>
          </p:nvSpPr>
          <p:spPr>
            <a:xfrm>
              <a:off x="2965835" y="2347558"/>
              <a:ext cx="2059940" cy="84836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28575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Text-to-Image</a:t>
              </a:r>
            </a:p>
            <a:p>
              <a:pPr algn="ctr"/>
              <a:r>
                <a:rPr lang="en-US" altLang="zh-CN" sz="16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Diffusion Model</a:t>
              </a:r>
              <a:endParaRPr lang="zh-CN" altLang="en-US" sz="1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B20156EA-9C77-AAD8-957D-B91546F8E225}"/>
                </a:ext>
              </a:extLst>
            </p:cNvPr>
            <p:cNvSpPr/>
            <p:nvPr/>
          </p:nvSpPr>
          <p:spPr>
            <a:xfrm>
              <a:off x="2965835" y="1104900"/>
              <a:ext cx="2059940" cy="848360"/>
            </a:xfrm>
            <a:prstGeom prst="rect">
              <a:avLst/>
            </a:prstGeom>
            <a:solidFill>
              <a:srgbClr val="ECF3FD"/>
            </a:solidFill>
            <a:ln w="28575">
              <a:solidFill>
                <a:srgbClr val="8EB6F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solidFill>
                    <a:srgbClr val="8EB6F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Frozen Text Encoder</a:t>
              </a:r>
              <a:endParaRPr lang="zh-CN" altLang="en-US" sz="1600" b="1" dirty="0">
                <a:solidFill>
                  <a:srgbClr val="8EB6F8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90FCCEAD-A6F0-B1BC-8669-D9D822A8A4E0}"/>
                </a:ext>
              </a:extLst>
            </p:cNvPr>
            <p:cNvSpPr/>
            <p:nvPr/>
          </p:nvSpPr>
          <p:spPr>
            <a:xfrm>
              <a:off x="2965835" y="3817421"/>
              <a:ext cx="2059940" cy="848360"/>
            </a:xfrm>
            <a:prstGeom prst="rect">
              <a:avLst/>
            </a:prstGeom>
            <a:solidFill>
              <a:srgbClr val="F8F4E6"/>
            </a:solidFill>
            <a:ln w="28575">
              <a:solidFill>
                <a:srgbClr val="D5B24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solidFill>
                    <a:srgbClr val="D5B24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Super-Resolution</a:t>
              </a:r>
            </a:p>
            <a:p>
              <a:pPr algn="ctr"/>
              <a:r>
                <a:rPr lang="en-US" altLang="zh-CN" sz="1600" b="1" dirty="0">
                  <a:solidFill>
                    <a:srgbClr val="D5B24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Diffusion Model</a:t>
              </a:r>
              <a:endParaRPr lang="zh-CN" altLang="en-US" sz="1600" b="1" dirty="0">
                <a:solidFill>
                  <a:srgbClr val="D5B24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95D2DC03-7795-AF9C-9A0A-56639E183E51}"/>
                </a:ext>
              </a:extLst>
            </p:cNvPr>
            <p:cNvSpPr/>
            <p:nvPr/>
          </p:nvSpPr>
          <p:spPr>
            <a:xfrm>
              <a:off x="2965835" y="4904740"/>
              <a:ext cx="2059940" cy="848360"/>
            </a:xfrm>
            <a:prstGeom prst="rect">
              <a:avLst/>
            </a:prstGeom>
            <a:solidFill>
              <a:srgbClr val="E7F5EE"/>
            </a:solidFill>
            <a:ln w="28575">
              <a:solidFill>
                <a:srgbClr val="A4DA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solidFill>
                    <a:srgbClr val="A4DA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Super-Resolution</a:t>
              </a:r>
            </a:p>
            <a:p>
              <a:pPr algn="ctr"/>
              <a:r>
                <a:rPr lang="en-US" altLang="zh-CN" sz="1600" b="1" dirty="0">
                  <a:solidFill>
                    <a:srgbClr val="A4DA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Diffusion Model</a:t>
              </a:r>
              <a:endParaRPr lang="zh-CN" altLang="en-US" sz="1600" b="1" dirty="0">
                <a:solidFill>
                  <a:srgbClr val="A4DAC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4755F700-8652-CD82-A658-9E2D272FAA27}"/>
                </a:ext>
              </a:extLst>
            </p:cNvPr>
            <p:cNvSpPr txBox="1"/>
            <p:nvPr/>
          </p:nvSpPr>
          <p:spPr>
            <a:xfrm>
              <a:off x="3422064" y="271645"/>
              <a:ext cx="11474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Text</a:t>
              </a:r>
              <a:endPara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4" name="直接箭头连接符 23">
              <a:extLst>
                <a:ext uri="{FF2B5EF4-FFF2-40B4-BE49-F238E27FC236}">
                  <a16:creationId xmlns:a16="http://schemas.microsoft.com/office/drawing/2014/main" id="{25417ECF-E05B-B182-542A-05F80869B2DA}"/>
                </a:ext>
              </a:extLst>
            </p:cNvPr>
            <p:cNvCxnSpPr>
              <a:cxnSpLocks/>
              <a:stCxn id="23" idx="2"/>
              <a:endCxn id="8" idx="0"/>
            </p:cNvCxnSpPr>
            <p:nvPr/>
          </p:nvCxnSpPr>
          <p:spPr>
            <a:xfrm>
              <a:off x="3995805" y="640977"/>
              <a:ext cx="0" cy="46392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74E1BE17-56D6-AB69-FE34-EC80C691C259}"/>
                </a:ext>
              </a:extLst>
            </p:cNvPr>
            <p:cNvCxnSpPr>
              <a:cxnSpLocks/>
              <a:stCxn id="8" idx="2"/>
              <a:endCxn id="7" idx="0"/>
            </p:cNvCxnSpPr>
            <p:nvPr/>
          </p:nvCxnSpPr>
          <p:spPr>
            <a:xfrm>
              <a:off x="3995805" y="1953260"/>
              <a:ext cx="0" cy="394298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接箭头连接符 26">
              <a:extLst>
                <a:ext uri="{FF2B5EF4-FFF2-40B4-BE49-F238E27FC236}">
                  <a16:creationId xmlns:a16="http://schemas.microsoft.com/office/drawing/2014/main" id="{6932AE7C-FBCE-EC74-2B80-A3D54433E2F6}"/>
                </a:ext>
              </a:extLst>
            </p:cNvPr>
            <p:cNvCxnSpPr>
              <a:cxnSpLocks/>
              <a:stCxn id="7" idx="2"/>
            </p:cNvCxnSpPr>
            <p:nvPr/>
          </p:nvCxnSpPr>
          <p:spPr>
            <a:xfrm>
              <a:off x="3995805" y="3195918"/>
              <a:ext cx="0" cy="17441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35B044C6-3E73-84ED-8E1D-BEAC57FED1B8}"/>
                </a:ext>
              </a:extLst>
            </p:cNvPr>
            <p:cNvCxnSpPr>
              <a:cxnSpLocks/>
              <a:stCxn id="14" idx="2"/>
              <a:endCxn id="20" idx="0"/>
            </p:cNvCxnSpPr>
            <p:nvPr/>
          </p:nvCxnSpPr>
          <p:spPr>
            <a:xfrm>
              <a:off x="3995805" y="4665781"/>
              <a:ext cx="0" cy="23895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连接符: 肘形 28">
              <a:extLst>
                <a:ext uri="{FF2B5EF4-FFF2-40B4-BE49-F238E27FC236}">
                  <a16:creationId xmlns:a16="http://schemas.microsoft.com/office/drawing/2014/main" id="{3B81C2FF-B722-9D3B-4BDD-EF2A510F1C5C}"/>
                </a:ext>
              </a:extLst>
            </p:cNvPr>
            <p:cNvCxnSpPr>
              <a:cxnSpLocks/>
              <a:endCxn id="14" idx="1"/>
            </p:cNvCxnSpPr>
            <p:nvPr/>
          </p:nvCxnSpPr>
          <p:spPr>
            <a:xfrm rot="5400000">
              <a:off x="2548827" y="2794622"/>
              <a:ext cx="1863988" cy="1029971"/>
            </a:xfrm>
            <a:prstGeom prst="bentConnector4">
              <a:avLst>
                <a:gd name="adj1" fmla="val -14282"/>
                <a:gd name="adj2" fmla="val 122195"/>
              </a:avLst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连接符: 肘形 29">
              <a:extLst>
                <a:ext uri="{FF2B5EF4-FFF2-40B4-BE49-F238E27FC236}">
                  <a16:creationId xmlns:a16="http://schemas.microsoft.com/office/drawing/2014/main" id="{7EF30B3F-190B-2FAD-41DA-7F54A1C3AD11}"/>
                </a:ext>
              </a:extLst>
            </p:cNvPr>
            <p:cNvCxnSpPr>
              <a:cxnSpLocks/>
              <a:endCxn id="20" idx="1"/>
            </p:cNvCxnSpPr>
            <p:nvPr/>
          </p:nvCxnSpPr>
          <p:spPr>
            <a:xfrm rot="5400000">
              <a:off x="1891564" y="3224679"/>
              <a:ext cx="3178512" cy="1029970"/>
            </a:xfrm>
            <a:prstGeom prst="bentConnector4">
              <a:avLst>
                <a:gd name="adj1" fmla="val -1235"/>
                <a:gd name="adj2" fmla="val 122195"/>
              </a:avLst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5DA219E8-BA20-A475-72CB-435D54D09F7E}"/>
                </a:ext>
              </a:extLst>
            </p:cNvPr>
            <p:cNvCxnSpPr>
              <a:cxnSpLocks/>
            </p:cNvCxnSpPr>
            <p:nvPr/>
          </p:nvCxnSpPr>
          <p:spPr>
            <a:xfrm>
              <a:off x="3957492" y="5753100"/>
              <a:ext cx="0" cy="46392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E4EB7DAF-2DFD-6ACF-782A-4B5D43AD1E25}"/>
                </a:ext>
              </a:extLst>
            </p:cNvPr>
            <p:cNvSpPr txBox="1"/>
            <p:nvPr/>
          </p:nvSpPr>
          <p:spPr>
            <a:xfrm>
              <a:off x="3383751" y="6217023"/>
              <a:ext cx="11474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Image</a:t>
              </a:r>
              <a:endParaRPr lang="zh-CN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3" name="图形 32" descr="锁定">
              <a:extLst>
                <a:ext uri="{FF2B5EF4-FFF2-40B4-BE49-F238E27FC236}">
                  <a16:creationId xmlns:a16="http://schemas.microsoft.com/office/drawing/2014/main" id="{8DF37970-A068-AFCA-1DF3-5E6CB7EC7C0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4698041" y="2301814"/>
              <a:ext cx="341694" cy="341694"/>
            </a:xfrm>
            <a:prstGeom prst="rect">
              <a:avLst/>
            </a:prstGeom>
          </p:spPr>
        </p:pic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C4EAFE20-ABC4-DFD0-1B77-4100D8C24A96}"/>
                </a:ext>
              </a:extLst>
            </p:cNvPr>
            <p:cNvSpPr/>
            <p:nvPr/>
          </p:nvSpPr>
          <p:spPr>
            <a:xfrm>
              <a:off x="6151841" y="2622473"/>
              <a:ext cx="2059940" cy="848360"/>
            </a:xfrm>
            <a:prstGeom prst="rect">
              <a:avLst/>
            </a:prstGeom>
            <a:solidFill>
              <a:srgbClr val="FBECEB"/>
            </a:solidFill>
            <a:ln w="28575">
              <a:solidFill>
                <a:srgbClr val="EA968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 dirty="0">
                  <a:solidFill>
                    <a:srgbClr val="EA968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Text-to-Image</a:t>
              </a:r>
            </a:p>
            <a:p>
              <a:pPr algn="ctr"/>
              <a:r>
                <a:rPr lang="en-US" altLang="zh-CN" sz="1600" b="1" dirty="0">
                  <a:solidFill>
                    <a:srgbClr val="EA968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Diffusion Model</a:t>
              </a:r>
              <a:endParaRPr lang="zh-CN" altLang="en-US" sz="1600" b="1" dirty="0">
                <a:solidFill>
                  <a:srgbClr val="EA968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9FF9AA04-E757-404D-2C55-3610113764C0}"/>
                </a:ext>
              </a:extLst>
            </p:cNvPr>
            <p:cNvSpPr/>
            <p:nvPr/>
          </p:nvSpPr>
          <p:spPr>
            <a:xfrm>
              <a:off x="6411847" y="1391787"/>
              <a:ext cx="1508760" cy="30344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accent5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零卷积层</a:t>
              </a: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id="{AB882140-8571-B4C5-4262-6A1FBE84CD7A}"/>
                </a:ext>
              </a:extLst>
            </p:cNvPr>
            <p:cNvSpPr/>
            <p:nvPr/>
          </p:nvSpPr>
          <p:spPr>
            <a:xfrm>
              <a:off x="6613476" y="790232"/>
              <a:ext cx="1105502" cy="30344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accent5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NN</a:t>
              </a:r>
              <a:endParaRPr lang="zh-CN" altLang="en-US" dirty="0">
                <a:solidFill>
                  <a:schemeClr val="accent5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97EB39E4-F980-28FD-F223-EDBF8425BA64}"/>
                </a:ext>
              </a:extLst>
            </p:cNvPr>
            <p:cNvGrpSpPr/>
            <p:nvPr/>
          </p:nvGrpSpPr>
          <p:grpSpPr>
            <a:xfrm>
              <a:off x="7003717" y="1932482"/>
              <a:ext cx="356188" cy="369332"/>
              <a:chOff x="9048071" y="1659784"/>
              <a:chExt cx="356188" cy="369332"/>
            </a:xfrm>
          </p:grpSpPr>
          <p:sp>
            <p:nvSpPr>
              <p:cNvPr id="60" name="文本框 59">
                <a:extLst>
                  <a:ext uri="{FF2B5EF4-FFF2-40B4-BE49-F238E27FC236}">
                    <a16:creationId xmlns:a16="http://schemas.microsoft.com/office/drawing/2014/main" id="{22B564D1-C967-73AF-E0F9-37F556BCA247}"/>
                  </a:ext>
                </a:extLst>
              </p:cNvPr>
              <p:cNvSpPr txBox="1"/>
              <p:nvPr/>
            </p:nvSpPr>
            <p:spPr>
              <a:xfrm>
                <a:off x="9048071" y="1659784"/>
                <a:ext cx="3561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+</a:t>
                </a:r>
                <a:endParaRPr lang="zh-CN" altLang="en-US" dirty="0"/>
              </a:p>
            </p:txBody>
          </p:sp>
          <p:sp>
            <p:nvSpPr>
              <p:cNvPr id="61" name="椭圆 60">
                <a:extLst>
                  <a:ext uri="{FF2B5EF4-FFF2-40B4-BE49-F238E27FC236}">
                    <a16:creationId xmlns:a16="http://schemas.microsoft.com/office/drawing/2014/main" id="{9DE712F3-2921-178E-397C-C0B2195A58D3}"/>
                  </a:ext>
                </a:extLst>
              </p:cNvPr>
              <p:cNvSpPr/>
              <p:nvPr/>
            </p:nvSpPr>
            <p:spPr>
              <a:xfrm>
                <a:off x="9088052" y="1721906"/>
                <a:ext cx="257175" cy="257175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40" name="直接箭头连接符 39">
              <a:extLst>
                <a:ext uri="{FF2B5EF4-FFF2-40B4-BE49-F238E27FC236}">
                  <a16:creationId xmlns:a16="http://schemas.microsoft.com/office/drawing/2014/main" id="{9348BDED-75C7-E576-24DD-CF3FC1CC565C}"/>
                </a:ext>
              </a:extLst>
            </p:cNvPr>
            <p:cNvCxnSpPr>
              <a:cxnSpLocks/>
              <a:endCxn id="61" idx="2"/>
            </p:cNvCxnSpPr>
            <p:nvPr/>
          </p:nvCxnSpPr>
          <p:spPr>
            <a:xfrm>
              <a:off x="4006815" y="2108183"/>
              <a:ext cx="3036883" cy="15009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1" name="直接箭头连接符 40">
              <a:extLst>
                <a:ext uri="{FF2B5EF4-FFF2-40B4-BE49-F238E27FC236}">
                  <a16:creationId xmlns:a16="http://schemas.microsoft.com/office/drawing/2014/main" id="{AD6043D5-581D-3842-F690-FBB7E62A35BC}"/>
                </a:ext>
              </a:extLst>
            </p:cNvPr>
            <p:cNvCxnSpPr>
              <a:cxnSpLocks/>
              <a:stCxn id="61" idx="4"/>
              <a:endCxn id="34" idx="0"/>
            </p:cNvCxnSpPr>
            <p:nvPr/>
          </p:nvCxnSpPr>
          <p:spPr>
            <a:xfrm>
              <a:off x="7172286" y="2251779"/>
              <a:ext cx="9525" cy="37069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直接箭头连接符 41">
              <a:extLst>
                <a:ext uri="{FF2B5EF4-FFF2-40B4-BE49-F238E27FC236}">
                  <a16:creationId xmlns:a16="http://schemas.microsoft.com/office/drawing/2014/main" id="{0C304308-5B3C-4326-CDE4-DD8384E50729}"/>
                </a:ext>
              </a:extLst>
            </p:cNvPr>
            <p:cNvCxnSpPr>
              <a:cxnSpLocks/>
            </p:cNvCxnSpPr>
            <p:nvPr/>
          </p:nvCxnSpPr>
          <p:spPr>
            <a:xfrm>
              <a:off x="7181810" y="1695229"/>
              <a:ext cx="6059" cy="299375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2A8FE5DB-92C8-1F01-A00E-D1B4BD163869}"/>
                </a:ext>
              </a:extLst>
            </p:cNvPr>
            <p:cNvCxnSpPr>
              <a:cxnSpLocks/>
              <a:stCxn id="38" idx="2"/>
              <a:endCxn id="37" idx="0"/>
            </p:cNvCxnSpPr>
            <p:nvPr/>
          </p:nvCxnSpPr>
          <p:spPr>
            <a:xfrm>
              <a:off x="7166227" y="1093674"/>
              <a:ext cx="0" cy="29811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C3385108-2DBD-B183-3E74-4CC844B064D7}"/>
                </a:ext>
              </a:extLst>
            </p:cNvPr>
            <p:cNvCxnSpPr>
              <a:cxnSpLocks/>
            </p:cNvCxnSpPr>
            <p:nvPr/>
          </p:nvCxnSpPr>
          <p:spPr>
            <a:xfrm>
              <a:off x="7166227" y="491920"/>
              <a:ext cx="0" cy="298113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C615AF4A-54A2-006F-8CDD-FC71FB45913A}"/>
                </a:ext>
              </a:extLst>
            </p:cNvPr>
            <p:cNvSpPr txBox="1"/>
            <p:nvPr/>
          </p:nvSpPr>
          <p:spPr>
            <a:xfrm>
              <a:off x="6377035" y="131006"/>
              <a:ext cx="159050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/>
                <a:t>条件控制信息</a:t>
              </a:r>
            </a:p>
          </p:txBody>
        </p: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B0D53949-12E3-2E50-4190-9C9C552AC732}"/>
                </a:ext>
              </a:extLst>
            </p:cNvPr>
            <p:cNvCxnSpPr>
              <a:cxnSpLocks/>
            </p:cNvCxnSpPr>
            <p:nvPr/>
          </p:nvCxnSpPr>
          <p:spPr>
            <a:xfrm>
              <a:off x="7172285" y="3479204"/>
              <a:ext cx="9525" cy="37069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46C6A638-1E37-8BDF-C6B6-3CE621AB016C}"/>
                </a:ext>
              </a:extLst>
            </p:cNvPr>
            <p:cNvSpPr/>
            <p:nvPr/>
          </p:nvSpPr>
          <p:spPr>
            <a:xfrm>
              <a:off x="6410508" y="3849898"/>
              <a:ext cx="1508760" cy="303442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28575"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accent5">
                      <a:lumMod val="50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零卷积层</a:t>
              </a:r>
            </a:p>
          </p:txBody>
        </p:sp>
        <p:cxnSp>
          <p:nvCxnSpPr>
            <p:cNvPr id="53" name="连接符: 肘形 52">
              <a:extLst>
                <a:ext uri="{FF2B5EF4-FFF2-40B4-BE49-F238E27FC236}">
                  <a16:creationId xmlns:a16="http://schemas.microsoft.com/office/drawing/2014/main" id="{FCA1BDF6-C20A-F61E-23ED-350E39DBA9E6}"/>
                </a:ext>
              </a:extLst>
            </p:cNvPr>
            <p:cNvCxnSpPr>
              <a:cxnSpLocks/>
              <a:stCxn id="49" idx="1"/>
              <a:endCxn id="59" idx="6"/>
            </p:cNvCxnSpPr>
            <p:nvPr/>
          </p:nvCxnSpPr>
          <p:spPr>
            <a:xfrm rot="10800000">
              <a:off x="4132554" y="3519321"/>
              <a:ext cx="2277954" cy="482299"/>
            </a:xfrm>
            <a:prstGeom prst="bentConnector3">
              <a:avLst>
                <a:gd name="adj1" fmla="val 42523"/>
              </a:avLst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grpSp>
          <p:nvGrpSpPr>
            <p:cNvPr id="54" name="组合 53">
              <a:extLst>
                <a:ext uri="{FF2B5EF4-FFF2-40B4-BE49-F238E27FC236}">
                  <a16:creationId xmlns:a16="http://schemas.microsoft.com/office/drawing/2014/main" id="{B5D237EB-81F2-5743-7DCB-1ECFCA9F005C}"/>
                </a:ext>
              </a:extLst>
            </p:cNvPr>
            <p:cNvGrpSpPr/>
            <p:nvPr/>
          </p:nvGrpSpPr>
          <p:grpSpPr>
            <a:xfrm>
              <a:off x="3835398" y="3328610"/>
              <a:ext cx="356188" cy="369332"/>
              <a:chOff x="9048071" y="1659784"/>
              <a:chExt cx="356188" cy="369332"/>
            </a:xfrm>
          </p:grpSpPr>
          <p:sp>
            <p:nvSpPr>
              <p:cNvPr id="58" name="文本框 57">
                <a:extLst>
                  <a:ext uri="{FF2B5EF4-FFF2-40B4-BE49-F238E27FC236}">
                    <a16:creationId xmlns:a16="http://schemas.microsoft.com/office/drawing/2014/main" id="{D29F966C-CF73-4144-A399-C0E8999F1A2B}"/>
                  </a:ext>
                </a:extLst>
              </p:cNvPr>
              <p:cNvSpPr txBox="1"/>
              <p:nvPr/>
            </p:nvSpPr>
            <p:spPr>
              <a:xfrm>
                <a:off x="9048071" y="1659784"/>
                <a:ext cx="3561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dirty="0"/>
                  <a:t>+</a:t>
                </a:r>
                <a:endParaRPr lang="zh-CN" altLang="en-US" dirty="0"/>
              </a:p>
            </p:txBody>
          </p:sp>
          <p:sp>
            <p:nvSpPr>
              <p:cNvPr id="59" name="椭圆 58">
                <a:extLst>
                  <a:ext uri="{FF2B5EF4-FFF2-40B4-BE49-F238E27FC236}">
                    <a16:creationId xmlns:a16="http://schemas.microsoft.com/office/drawing/2014/main" id="{2E7BFA1F-3564-F330-358A-1DACE7ACB454}"/>
                  </a:ext>
                </a:extLst>
              </p:cNvPr>
              <p:cNvSpPr/>
              <p:nvPr/>
            </p:nvSpPr>
            <p:spPr>
              <a:xfrm>
                <a:off x="9088052" y="1721906"/>
                <a:ext cx="257175" cy="257175"/>
              </a:xfrm>
              <a:prstGeom prst="ellipse">
                <a:avLst/>
              </a:prstGeom>
              <a:noFill/>
              <a:ln w="28575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cxnSp>
          <p:nvCxnSpPr>
            <p:cNvPr id="55" name="直接箭头连接符 54">
              <a:extLst>
                <a:ext uri="{FF2B5EF4-FFF2-40B4-BE49-F238E27FC236}">
                  <a16:creationId xmlns:a16="http://schemas.microsoft.com/office/drawing/2014/main" id="{6D5D869D-FBAA-49CE-9E2F-DED2F37DC6C0}"/>
                </a:ext>
              </a:extLst>
            </p:cNvPr>
            <p:cNvCxnSpPr>
              <a:cxnSpLocks/>
            </p:cNvCxnSpPr>
            <p:nvPr/>
          </p:nvCxnSpPr>
          <p:spPr>
            <a:xfrm>
              <a:off x="3993351" y="3652457"/>
              <a:ext cx="0" cy="174414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6" name="矩形 55">
              <a:extLst>
                <a:ext uri="{FF2B5EF4-FFF2-40B4-BE49-F238E27FC236}">
                  <a16:creationId xmlns:a16="http://schemas.microsoft.com/office/drawing/2014/main" id="{D43EBAA9-AF08-097F-C058-751B916E9C14}"/>
                </a:ext>
              </a:extLst>
            </p:cNvPr>
            <p:cNvSpPr/>
            <p:nvPr/>
          </p:nvSpPr>
          <p:spPr>
            <a:xfrm>
              <a:off x="5896427" y="1243802"/>
              <a:ext cx="2566253" cy="3118480"/>
            </a:xfrm>
            <a:prstGeom prst="rect">
              <a:avLst/>
            </a:prstGeom>
            <a:noFill/>
            <a:ln w="38100">
              <a:solidFill>
                <a:schemeClr val="accent6">
                  <a:lumMod val="75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0F0DC088-7956-487F-C923-99A5AFCD76FD}"/>
                </a:ext>
              </a:extLst>
            </p:cNvPr>
            <p:cNvSpPr txBox="1"/>
            <p:nvPr/>
          </p:nvSpPr>
          <p:spPr>
            <a:xfrm>
              <a:off x="5815556" y="4325030"/>
              <a:ext cx="18373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b="1" dirty="0"/>
                <a:t>ControlNet Part</a:t>
              </a:r>
              <a:endParaRPr lang="zh-CN" altLang="en-US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851135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/>
      <p:bldP spid="5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 8"/>
          <p:cNvSpPr/>
          <p:nvPr userDrawn="1">
            <p:custDataLst>
              <p:tags r:id="rId1"/>
            </p:custDataLst>
          </p:nvPr>
        </p:nvSpPr>
        <p:spPr>
          <a:xfrm>
            <a:off x="-14603" y="381541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035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cs typeface="+mn-ea"/>
              <a:sym typeface="+mn-lt"/>
            </a:endParaRPr>
          </a:p>
        </p:txBody>
      </p:sp>
      <p:sp>
        <p:nvSpPr>
          <p:cNvPr id="26" name="Title 1"/>
          <p:cNvSpPr txBox="1"/>
          <p:nvPr/>
        </p:nvSpPr>
        <p:spPr>
          <a:xfrm>
            <a:off x="600070" y="140300"/>
            <a:ext cx="7378518" cy="455756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>
              <a:defRPr/>
            </a:pPr>
            <a:r>
              <a:rPr lang="zh-CN" altLang="en-US" sz="3600" b="1" dirty="0">
                <a:solidFill>
                  <a:srgbClr val="035C9C"/>
                </a:solidFill>
                <a:latin typeface="+mn-lt"/>
                <a:ea typeface="+mn-ea"/>
                <a:cs typeface="+mn-ea"/>
                <a:sym typeface="+mn-lt"/>
              </a:rPr>
              <a:t>模型的架构</a:t>
            </a:r>
          </a:p>
        </p:txBody>
      </p:sp>
      <p:pic>
        <p:nvPicPr>
          <p:cNvPr id="1026" name="Picture 2" descr="宁波大学">
            <a:extLst>
              <a:ext uri="{FF2B5EF4-FFF2-40B4-BE49-F238E27FC236}">
                <a16:creationId xmlns:a16="http://schemas.microsoft.com/office/drawing/2014/main" id="{FBEECA7A-C6CA-4559-7150-86965CE36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2161" y="126019"/>
            <a:ext cx="1698399" cy="53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箭头: 下 2">
            <a:extLst>
              <a:ext uri="{FF2B5EF4-FFF2-40B4-BE49-F238E27FC236}">
                <a16:creationId xmlns:a16="http://schemas.microsoft.com/office/drawing/2014/main" id="{4CDFEE3D-E21C-78F1-D20E-33D87C2FC5F3}"/>
              </a:ext>
            </a:extLst>
          </p:cNvPr>
          <p:cNvSpPr/>
          <p:nvPr/>
        </p:nvSpPr>
        <p:spPr>
          <a:xfrm>
            <a:off x="12444051" y="1286845"/>
            <a:ext cx="207096" cy="542041"/>
          </a:xfrm>
          <a:prstGeom prst="downArrow">
            <a:avLst/>
          </a:prstGeom>
          <a:ln>
            <a:solidFill>
              <a:srgbClr val="0D6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7A14BE4-1C2E-1182-4A06-ADA561B97272}"/>
              </a:ext>
            </a:extLst>
          </p:cNvPr>
          <p:cNvSpPr txBox="1"/>
          <p:nvPr/>
        </p:nvSpPr>
        <p:spPr>
          <a:xfrm>
            <a:off x="367358" y="1016565"/>
            <a:ext cx="107848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en-US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市面上最常见的对</a:t>
            </a:r>
            <a:r>
              <a:rPr lang="en-US" altLang="zh-CN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Stable Diffusion Model</a:t>
            </a:r>
            <a:r>
              <a:rPr lang="zh-CN" altLang="en-US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进行控制是怎么做的？</a:t>
            </a:r>
          </a:p>
        </p:txBody>
      </p:sp>
      <p:sp>
        <p:nvSpPr>
          <p:cNvPr id="7" name="任意多边形 7">
            <a:extLst>
              <a:ext uri="{FF2B5EF4-FFF2-40B4-BE49-F238E27FC236}">
                <a16:creationId xmlns:a16="http://schemas.microsoft.com/office/drawing/2014/main" id="{55492E30-1BCA-6876-0229-1FAC1D94BF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 flipV="1">
            <a:off x="521335" y="687070"/>
            <a:ext cx="11670665" cy="76200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rgbClr val="035C9C">
              <a:alpha val="96000"/>
            </a:srgbClr>
          </a:solidFill>
          <a:ln>
            <a:solidFill>
              <a:srgbClr val="0D62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cs typeface="+mn-ea"/>
              <a:sym typeface="+mn-lt"/>
            </a:endParaRPr>
          </a:p>
        </p:txBody>
      </p:sp>
      <p:pic>
        <p:nvPicPr>
          <p:cNvPr id="20" name="图片 19">
            <a:extLst>
              <a:ext uri="{FF2B5EF4-FFF2-40B4-BE49-F238E27FC236}">
                <a16:creationId xmlns:a16="http://schemas.microsoft.com/office/drawing/2014/main" id="{7887DE14-891D-3043-A9B5-006CDA01B3E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68965" y="96461"/>
            <a:ext cx="5227310" cy="6665077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5BB4CDEF-1CDF-30B1-D152-43C173D509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76267" y="1016565"/>
            <a:ext cx="8239466" cy="5632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5786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 8"/>
          <p:cNvSpPr/>
          <p:nvPr userDrawn="1">
            <p:custDataLst>
              <p:tags r:id="rId1"/>
            </p:custDataLst>
          </p:nvPr>
        </p:nvSpPr>
        <p:spPr>
          <a:xfrm>
            <a:off x="-14603" y="381541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035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cs typeface="+mn-ea"/>
              <a:sym typeface="+mn-lt"/>
            </a:endParaRPr>
          </a:p>
        </p:txBody>
      </p:sp>
      <p:sp>
        <p:nvSpPr>
          <p:cNvPr id="26" name="Title 1"/>
          <p:cNvSpPr txBox="1"/>
          <p:nvPr/>
        </p:nvSpPr>
        <p:spPr>
          <a:xfrm>
            <a:off x="600070" y="140300"/>
            <a:ext cx="7378518" cy="455756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>
              <a:defRPr/>
            </a:pPr>
            <a:r>
              <a:rPr lang="zh-CN" altLang="en-US" sz="3600" b="1" dirty="0">
                <a:solidFill>
                  <a:srgbClr val="035C9C"/>
                </a:solidFill>
                <a:latin typeface="+mn-lt"/>
                <a:ea typeface="+mn-ea"/>
                <a:cs typeface="+mn-ea"/>
                <a:sym typeface="+mn-lt"/>
              </a:rPr>
              <a:t>实验的过程与细节</a:t>
            </a:r>
          </a:p>
        </p:txBody>
      </p:sp>
      <p:pic>
        <p:nvPicPr>
          <p:cNvPr id="1026" name="Picture 2" descr="宁波大学">
            <a:extLst>
              <a:ext uri="{FF2B5EF4-FFF2-40B4-BE49-F238E27FC236}">
                <a16:creationId xmlns:a16="http://schemas.microsoft.com/office/drawing/2014/main" id="{FBEECA7A-C6CA-4559-7150-86965CE36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2161" y="126019"/>
            <a:ext cx="1698399" cy="53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箭头: 下 2">
            <a:extLst>
              <a:ext uri="{FF2B5EF4-FFF2-40B4-BE49-F238E27FC236}">
                <a16:creationId xmlns:a16="http://schemas.microsoft.com/office/drawing/2014/main" id="{4CDFEE3D-E21C-78F1-D20E-33D87C2FC5F3}"/>
              </a:ext>
            </a:extLst>
          </p:cNvPr>
          <p:cNvSpPr/>
          <p:nvPr/>
        </p:nvSpPr>
        <p:spPr>
          <a:xfrm>
            <a:off x="12444051" y="1286845"/>
            <a:ext cx="207096" cy="542041"/>
          </a:xfrm>
          <a:prstGeom prst="downArrow">
            <a:avLst/>
          </a:prstGeom>
          <a:ln>
            <a:solidFill>
              <a:srgbClr val="0D6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7A14BE4-1C2E-1182-4A06-ADA561B97272}"/>
              </a:ext>
            </a:extLst>
          </p:cNvPr>
          <p:cNvSpPr txBox="1"/>
          <p:nvPr/>
        </p:nvSpPr>
        <p:spPr>
          <a:xfrm>
            <a:off x="466519" y="996305"/>
            <a:ext cx="11277805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en-US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首先复现论文。</a:t>
            </a:r>
            <a:endParaRPr lang="en-US" altLang="zh-CN" sz="2800" dirty="0">
              <a:ln w="0"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/>
            <a:r>
              <a:rPr lang="zh-CN" altLang="en-US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使用其它数据集训练一个带条件控制的文生图模型。</a:t>
            </a:r>
            <a:endParaRPr lang="en-US" altLang="zh-CN" sz="2800" dirty="0">
              <a:ln w="0"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/>
            <a:r>
              <a:rPr lang="zh-CN" altLang="en-US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使用</a:t>
            </a:r>
            <a:r>
              <a:rPr lang="en-US" altLang="zh-CN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ControlNet</a:t>
            </a:r>
            <a:r>
              <a:rPr lang="zh-CN" altLang="en-US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方案对</a:t>
            </a:r>
            <a:r>
              <a:rPr lang="en-US" altLang="zh-CN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Stable Diffusion Model</a:t>
            </a:r>
            <a:r>
              <a:rPr lang="zh-CN" altLang="en-US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进行条件控制。</a:t>
            </a:r>
            <a:endParaRPr lang="en-US" altLang="zh-CN" sz="2800" dirty="0">
              <a:ln w="0"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/>
            <a:r>
              <a:rPr lang="zh-CN" altLang="en-US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模型能够根据提示词以及给定的手绘草稿进行图像的生成。</a:t>
            </a:r>
            <a:endParaRPr lang="en-US" altLang="zh-CN" sz="2800" dirty="0">
              <a:ln w="0"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任意多边形 7">
            <a:extLst>
              <a:ext uri="{FF2B5EF4-FFF2-40B4-BE49-F238E27FC236}">
                <a16:creationId xmlns:a16="http://schemas.microsoft.com/office/drawing/2014/main" id="{55492E30-1BCA-6876-0229-1FAC1D94BF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 flipV="1">
            <a:off x="521335" y="687070"/>
            <a:ext cx="11670665" cy="76200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rgbClr val="035C9C">
              <a:alpha val="96000"/>
            </a:srgbClr>
          </a:solidFill>
          <a:ln>
            <a:solidFill>
              <a:srgbClr val="0D62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991605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 8"/>
          <p:cNvSpPr/>
          <p:nvPr userDrawn="1">
            <p:custDataLst>
              <p:tags r:id="rId1"/>
            </p:custDataLst>
          </p:nvPr>
        </p:nvSpPr>
        <p:spPr>
          <a:xfrm>
            <a:off x="-14603" y="381541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035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cs typeface="+mn-ea"/>
              <a:sym typeface="+mn-lt"/>
            </a:endParaRPr>
          </a:p>
        </p:txBody>
      </p:sp>
      <p:sp>
        <p:nvSpPr>
          <p:cNvPr id="26" name="Title 1"/>
          <p:cNvSpPr txBox="1"/>
          <p:nvPr/>
        </p:nvSpPr>
        <p:spPr>
          <a:xfrm>
            <a:off x="600070" y="140300"/>
            <a:ext cx="7378518" cy="455756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>
              <a:defRPr/>
            </a:pPr>
            <a:r>
              <a:rPr lang="zh-CN" altLang="en-US" sz="3600" b="1" dirty="0">
                <a:solidFill>
                  <a:srgbClr val="035C9C"/>
                </a:solidFill>
                <a:latin typeface="+mn-lt"/>
                <a:ea typeface="+mn-ea"/>
                <a:cs typeface="+mn-ea"/>
                <a:sym typeface="+mn-lt"/>
              </a:rPr>
              <a:t>实验的过程与细节</a:t>
            </a:r>
          </a:p>
        </p:txBody>
      </p:sp>
      <p:pic>
        <p:nvPicPr>
          <p:cNvPr id="1026" name="Picture 2" descr="宁波大学">
            <a:extLst>
              <a:ext uri="{FF2B5EF4-FFF2-40B4-BE49-F238E27FC236}">
                <a16:creationId xmlns:a16="http://schemas.microsoft.com/office/drawing/2014/main" id="{FBEECA7A-C6CA-4559-7150-86965CE36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2161" y="126019"/>
            <a:ext cx="1698399" cy="53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箭头: 下 2">
            <a:extLst>
              <a:ext uri="{FF2B5EF4-FFF2-40B4-BE49-F238E27FC236}">
                <a16:creationId xmlns:a16="http://schemas.microsoft.com/office/drawing/2014/main" id="{4CDFEE3D-E21C-78F1-D20E-33D87C2FC5F3}"/>
              </a:ext>
            </a:extLst>
          </p:cNvPr>
          <p:cNvSpPr/>
          <p:nvPr/>
        </p:nvSpPr>
        <p:spPr>
          <a:xfrm>
            <a:off x="12444051" y="1286845"/>
            <a:ext cx="207096" cy="542041"/>
          </a:xfrm>
          <a:prstGeom prst="downArrow">
            <a:avLst/>
          </a:prstGeom>
          <a:ln>
            <a:solidFill>
              <a:srgbClr val="0D6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7A14BE4-1C2E-1182-4A06-ADA561B97272}"/>
              </a:ext>
            </a:extLst>
          </p:cNvPr>
          <p:cNvSpPr txBox="1"/>
          <p:nvPr/>
        </p:nvSpPr>
        <p:spPr>
          <a:xfrm>
            <a:off x="521335" y="996304"/>
            <a:ext cx="45364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en-US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复现论文时的有趣现象</a:t>
            </a:r>
            <a:endParaRPr lang="en-US" altLang="zh-CN" sz="2800" dirty="0">
              <a:ln w="0"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任意多边形 7">
            <a:extLst>
              <a:ext uri="{FF2B5EF4-FFF2-40B4-BE49-F238E27FC236}">
                <a16:creationId xmlns:a16="http://schemas.microsoft.com/office/drawing/2014/main" id="{55492E30-1BCA-6876-0229-1FAC1D94BF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 flipV="1">
            <a:off x="521335" y="687070"/>
            <a:ext cx="11670665" cy="76200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rgbClr val="035C9C">
              <a:alpha val="96000"/>
            </a:srgbClr>
          </a:solidFill>
          <a:ln>
            <a:solidFill>
              <a:srgbClr val="0D62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09CD34A-1877-C18C-2CF0-B64BF72B6C8B}"/>
              </a:ext>
            </a:extLst>
          </p:cNvPr>
          <p:cNvSpPr txBox="1"/>
          <p:nvPr/>
        </p:nvSpPr>
        <p:spPr>
          <a:xfrm>
            <a:off x="521335" y="1844115"/>
            <a:ext cx="31267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en-US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回顾零卷积层</a:t>
            </a:r>
            <a:r>
              <a:rPr lang="en-US" altLang="zh-CN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…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B716B029-7219-44E7-45FA-BF68F2861A4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2" y="1395699"/>
            <a:ext cx="8022590" cy="4954893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8476F728-680A-C6BD-AC1D-CFA93F14BAED}"/>
              </a:ext>
            </a:extLst>
          </p:cNvPr>
          <p:cNvSpPr txBox="1"/>
          <p:nvPr/>
        </p:nvSpPr>
        <p:spPr>
          <a:xfrm>
            <a:off x="521335" y="2691926"/>
            <a:ext cx="312674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en-US" sz="20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训练初期，辅助的条件控制图像似乎对图像生成没什么影响，这正是因为零卷积层的作用，当然也隔绝了噪声的干扰</a:t>
            </a:r>
            <a:r>
              <a:rPr lang="en-US" altLang="zh-CN" sz="20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…</a:t>
            </a:r>
          </a:p>
          <a:p>
            <a:pPr lvl="0"/>
            <a:r>
              <a:rPr lang="zh-CN" altLang="en-US" sz="20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随着训练的进行，零卷积层也进行调整和收敛，条件控制图像的影响逐渐增大，直到最后</a:t>
            </a:r>
            <a:r>
              <a:rPr lang="en-US" altLang="zh-CN" sz="20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734365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 8"/>
          <p:cNvSpPr/>
          <p:nvPr userDrawn="1">
            <p:custDataLst>
              <p:tags r:id="rId1"/>
            </p:custDataLst>
          </p:nvPr>
        </p:nvSpPr>
        <p:spPr>
          <a:xfrm>
            <a:off x="-14603" y="381541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035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cs typeface="+mn-ea"/>
              <a:sym typeface="+mn-lt"/>
            </a:endParaRPr>
          </a:p>
        </p:txBody>
      </p:sp>
      <p:sp>
        <p:nvSpPr>
          <p:cNvPr id="26" name="Title 1"/>
          <p:cNvSpPr txBox="1"/>
          <p:nvPr/>
        </p:nvSpPr>
        <p:spPr>
          <a:xfrm>
            <a:off x="600070" y="140300"/>
            <a:ext cx="7378518" cy="455756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>
              <a:defRPr/>
            </a:pPr>
            <a:r>
              <a:rPr lang="zh-CN" altLang="en-US" sz="3600" b="1" dirty="0">
                <a:solidFill>
                  <a:srgbClr val="035C9C"/>
                </a:solidFill>
                <a:latin typeface="+mn-lt"/>
                <a:ea typeface="+mn-ea"/>
                <a:cs typeface="+mn-ea"/>
                <a:sym typeface="+mn-lt"/>
              </a:rPr>
              <a:t>实验的过程与细节</a:t>
            </a:r>
          </a:p>
        </p:txBody>
      </p:sp>
      <p:pic>
        <p:nvPicPr>
          <p:cNvPr id="1026" name="Picture 2" descr="宁波大学">
            <a:extLst>
              <a:ext uri="{FF2B5EF4-FFF2-40B4-BE49-F238E27FC236}">
                <a16:creationId xmlns:a16="http://schemas.microsoft.com/office/drawing/2014/main" id="{FBEECA7A-C6CA-4559-7150-86965CE36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2161" y="126019"/>
            <a:ext cx="1698399" cy="53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箭头: 下 2">
            <a:extLst>
              <a:ext uri="{FF2B5EF4-FFF2-40B4-BE49-F238E27FC236}">
                <a16:creationId xmlns:a16="http://schemas.microsoft.com/office/drawing/2014/main" id="{4CDFEE3D-E21C-78F1-D20E-33D87C2FC5F3}"/>
              </a:ext>
            </a:extLst>
          </p:cNvPr>
          <p:cNvSpPr/>
          <p:nvPr/>
        </p:nvSpPr>
        <p:spPr>
          <a:xfrm>
            <a:off x="12444051" y="1286845"/>
            <a:ext cx="207096" cy="542041"/>
          </a:xfrm>
          <a:prstGeom prst="downArrow">
            <a:avLst/>
          </a:prstGeom>
          <a:ln>
            <a:solidFill>
              <a:srgbClr val="0D6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7A14BE4-1C2E-1182-4A06-ADA561B97272}"/>
              </a:ext>
            </a:extLst>
          </p:cNvPr>
          <p:cNvSpPr txBox="1"/>
          <p:nvPr/>
        </p:nvSpPr>
        <p:spPr>
          <a:xfrm>
            <a:off x="466520" y="996305"/>
            <a:ext cx="1078484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en-US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使用数据集</a:t>
            </a:r>
            <a:endParaRPr lang="en-US" altLang="zh-CN" sz="2800" dirty="0">
              <a:ln w="0"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任意多边形 7">
            <a:extLst>
              <a:ext uri="{FF2B5EF4-FFF2-40B4-BE49-F238E27FC236}">
                <a16:creationId xmlns:a16="http://schemas.microsoft.com/office/drawing/2014/main" id="{55492E30-1BCA-6876-0229-1FAC1D94BF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 flipV="1">
            <a:off x="521335" y="687070"/>
            <a:ext cx="11670665" cy="76200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rgbClr val="035C9C">
              <a:alpha val="96000"/>
            </a:srgbClr>
          </a:solidFill>
          <a:ln>
            <a:solidFill>
              <a:srgbClr val="0D62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7A6EE4C-BD41-A600-8888-23FB1DA1D56F}"/>
              </a:ext>
            </a:extLst>
          </p:cNvPr>
          <p:cNvSpPr txBox="1"/>
          <p:nvPr/>
        </p:nvSpPr>
        <p:spPr>
          <a:xfrm>
            <a:off x="2546254" y="965527"/>
            <a:ext cx="19781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zh-CN" sz="3200" b="1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fill50k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23172FA-7E41-059C-07C2-8CFAE3FF3C49}"/>
              </a:ext>
            </a:extLst>
          </p:cNvPr>
          <p:cNvSpPr txBox="1"/>
          <p:nvPr/>
        </p:nvSpPr>
        <p:spPr>
          <a:xfrm>
            <a:off x="395933" y="1636042"/>
            <a:ext cx="1123409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en-US" sz="24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该数据集主要训练用于文生图。根据输入的文字提示词以及控制条件图片，生成 </a:t>
            </a:r>
            <a:r>
              <a:rPr lang="en-US" altLang="zh-CN" sz="24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Target Image</a:t>
            </a:r>
            <a:r>
              <a:rPr lang="zh-CN" altLang="en-US" sz="24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。主要针对颜色的正确生成。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0D9D2D7-09EB-8E75-0A17-BAB668A9B28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537" y="2583556"/>
            <a:ext cx="10210805" cy="419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6771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 8"/>
          <p:cNvSpPr/>
          <p:nvPr userDrawn="1">
            <p:custDataLst>
              <p:tags r:id="rId1"/>
            </p:custDataLst>
          </p:nvPr>
        </p:nvSpPr>
        <p:spPr>
          <a:xfrm>
            <a:off x="-14603" y="381541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035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cs typeface="+mn-ea"/>
              <a:sym typeface="+mn-lt"/>
            </a:endParaRPr>
          </a:p>
        </p:txBody>
      </p:sp>
      <p:sp>
        <p:nvSpPr>
          <p:cNvPr id="26" name="Title 1"/>
          <p:cNvSpPr txBox="1"/>
          <p:nvPr/>
        </p:nvSpPr>
        <p:spPr>
          <a:xfrm>
            <a:off x="600070" y="140300"/>
            <a:ext cx="7378518" cy="455756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>
              <a:defRPr/>
            </a:pPr>
            <a:r>
              <a:rPr lang="zh-CN" altLang="en-US" sz="3600" b="1" dirty="0">
                <a:solidFill>
                  <a:srgbClr val="035C9C"/>
                </a:solidFill>
                <a:latin typeface="+mn-lt"/>
                <a:ea typeface="+mn-ea"/>
                <a:cs typeface="+mn-ea"/>
                <a:sym typeface="+mn-lt"/>
              </a:rPr>
              <a:t>实验的过程与细节</a:t>
            </a:r>
          </a:p>
        </p:txBody>
      </p:sp>
      <p:pic>
        <p:nvPicPr>
          <p:cNvPr id="1026" name="Picture 2" descr="宁波大学">
            <a:extLst>
              <a:ext uri="{FF2B5EF4-FFF2-40B4-BE49-F238E27FC236}">
                <a16:creationId xmlns:a16="http://schemas.microsoft.com/office/drawing/2014/main" id="{FBEECA7A-C6CA-4559-7150-86965CE36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2161" y="126019"/>
            <a:ext cx="1698399" cy="53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箭头: 下 2">
            <a:extLst>
              <a:ext uri="{FF2B5EF4-FFF2-40B4-BE49-F238E27FC236}">
                <a16:creationId xmlns:a16="http://schemas.microsoft.com/office/drawing/2014/main" id="{4CDFEE3D-E21C-78F1-D20E-33D87C2FC5F3}"/>
              </a:ext>
            </a:extLst>
          </p:cNvPr>
          <p:cNvSpPr/>
          <p:nvPr/>
        </p:nvSpPr>
        <p:spPr>
          <a:xfrm>
            <a:off x="12444051" y="1286845"/>
            <a:ext cx="207096" cy="542041"/>
          </a:xfrm>
          <a:prstGeom prst="downArrow">
            <a:avLst/>
          </a:prstGeom>
          <a:ln>
            <a:solidFill>
              <a:srgbClr val="0D6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7A14BE4-1C2E-1182-4A06-ADA561B97272}"/>
              </a:ext>
            </a:extLst>
          </p:cNvPr>
          <p:cNvSpPr txBox="1"/>
          <p:nvPr/>
        </p:nvSpPr>
        <p:spPr>
          <a:xfrm>
            <a:off x="521335" y="996304"/>
            <a:ext cx="17432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en-US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训练设备</a:t>
            </a:r>
            <a:endParaRPr lang="en-US" altLang="zh-CN" sz="2800" dirty="0">
              <a:ln w="0"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任意多边形 7">
            <a:extLst>
              <a:ext uri="{FF2B5EF4-FFF2-40B4-BE49-F238E27FC236}">
                <a16:creationId xmlns:a16="http://schemas.microsoft.com/office/drawing/2014/main" id="{55492E30-1BCA-6876-0229-1FAC1D94BF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 flipV="1">
            <a:off x="521335" y="687070"/>
            <a:ext cx="11670665" cy="76200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rgbClr val="035C9C">
              <a:alpha val="96000"/>
            </a:srgbClr>
          </a:solidFill>
          <a:ln>
            <a:solidFill>
              <a:srgbClr val="0D62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7A6EE4C-BD41-A600-8888-23FB1DA1D56F}"/>
              </a:ext>
            </a:extLst>
          </p:cNvPr>
          <p:cNvSpPr txBox="1"/>
          <p:nvPr/>
        </p:nvSpPr>
        <p:spPr>
          <a:xfrm>
            <a:off x="2546253" y="965527"/>
            <a:ext cx="600719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zh-CN" sz="3200" b="1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Nvidia GeForce RTX 3090 24G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470A47D-009C-8CC0-18B1-2567C5755A49}"/>
              </a:ext>
            </a:extLst>
          </p:cNvPr>
          <p:cNvSpPr txBox="1"/>
          <p:nvPr/>
        </p:nvSpPr>
        <p:spPr>
          <a:xfrm>
            <a:off x="521335" y="1783336"/>
            <a:ext cx="20249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en-US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预训练模型</a:t>
            </a:r>
            <a:endParaRPr lang="en-US" altLang="zh-CN" sz="2800" dirty="0">
              <a:ln w="0"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F79C4F41-3E93-B319-4933-AAB97B2DEA6F}"/>
              </a:ext>
            </a:extLst>
          </p:cNvPr>
          <p:cNvSpPr txBox="1"/>
          <p:nvPr/>
        </p:nvSpPr>
        <p:spPr>
          <a:xfrm>
            <a:off x="2727228" y="1752559"/>
            <a:ext cx="72549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zh-CN" sz="3200" b="1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CLIP</a:t>
            </a:r>
            <a:r>
              <a:rPr lang="zh-CN" altLang="en-US" sz="3200" b="1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3200" b="1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clip-vit-large-patch14 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C737BDB-BCCA-DC7D-FA32-4AEC5A36F1CC}"/>
              </a:ext>
            </a:extLst>
          </p:cNvPr>
          <p:cNvSpPr txBox="1"/>
          <p:nvPr/>
        </p:nvSpPr>
        <p:spPr>
          <a:xfrm>
            <a:off x="2727228" y="2337334"/>
            <a:ext cx="813127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zh-CN" sz="3200" b="1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Stable Diffusion</a:t>
            </a:r>
            <a:r>
              <a:rPr lang="zh-CN" altLang="en-US" sz="3200" b="1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en-US" altLang="zh-CN" sz="3200" b="1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stable-diffusion-v1-5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1CA76DC9-A540-7CB8-A4FA-636F429235E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7712" y="3660121"/>
            <a:ext cx="10353675" cy="1104900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77D7FDFA-446B-C9F7-A72E-830443A7E7D6}"/>
              </a:ext>
            </a:extLst>
          </p:cNvPr>
          <p:cNvSpPr txBox="1"/>
          <p:nvPr/>
        </p:nvSpPr>
        <p:spPr>
          <a:xfrm>
            <a:off x="521335" y="3091054"/>
            <a:ext cx="202491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en-US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损失函数</a:t>
            </a:r>
            <a:endParaRPr lang="en-US" altLang="zh-CN" sz="2800" dirty="0">
              <a:ln w="0"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693664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 8"/>
          <p:cNvSpPr/>
          <p:nvPr userDrawn="1">
            <p:custDataLst>
              <p:tags r:id="rId1"/>
            </p:custDataLst>
          </p:nvPr>
        </p:nvSpPr>
        <p:spPr>
          <a:xfrm>
            <a:off x="-14603" y="381541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035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cs typeface="+mn-ea"/>
              <a:sym typeface="+mn-lt"/>
            </a:endParaRPr>
          </a:p>
        </p:txBody>
      </p:sp>
      <p:sp>
        <p:nvSpPr>
          <p:cNvPr id="26" name="Title 1"/>
          <p:cNvSpPr txBox="1"/>
          <p:nvPr/>
        </p:nvSpPr>
        <p:spPr>
          <a:xfrm>
            <a:off x="600070" y="140300"/>
            <a:ext cx="7378518" cy="455756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>
              <a:defRPr/>
            </a:pPr>
            <a:r>
              <a:rPr lang="zh-CN" altLang="en-US" sz="3600" b="1" dirty="0">
                <a:solidFill>
                  <a:srgbClr val="035C9C"/>
                </a:solidFill>
                <a:latin typeface="+mn-lt"/>
                <a:ea typeface="+mn-ea"/>
                <a:cs typeface="+mn-ea"/>
                <a:sym typeface="+mn-lt"/>
              </a:rPr>
              <a:t>模型的效果呈现</a:t>
            </a:r>
          </a:p>
        </p:txBody>
      </p:sp>
      <p:pic>
        <p:nvPicPr>
          <p:cNvPr id="1026" name="Picture 2" descr="宁波大学">
            <a:extLst>
              <a:ext uri="{FF2B5EF4-FFF2-40B4-BE49-F238E27FC236}">
                <a16:creationId xmlns:a16="http://schemas.microsoft.com/office/drawing/2014/main" id="{FBEECA7A-C6CA-4559-7150-86965CE36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2161" y="126019"/>
            <a:ext cx="1698399" cy="53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任意多边形 7">
            <a:extLst>
              <a:ext uri="{FF2B5EF4-FFF2-40B4-BE49-F238E27FC236}">
                <a16:creationId xmlns:a16="http://schemas.microsoft.com/office/drawing/2014/main" id="{55492E30-1BCA-6876-0229-1FAC1D94BF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 flipV="1">
            <a:off x="521335" y="687070"/>
            <a:ext cx="11670665" cy="76200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rgbClr val="035C9C">
              <a:alpha val="96000"/>
            </a:srgbClr>
          </a:solidFill>
          <a:ln>
            <a:solidFill>
              <a:srgbClr val="0D62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470A47D-009C-8CC0-18B1-2567C5755A49}"/>
              </a:ext>
            </a:extLst>
          </p:cNvPr>
          <p:cNvSpPr txBox="1"/>
          <p:nvPr/>
        </p:nvSpPr>
        <p:spPr>
          <a:xfrm>
            <a:off x="521334" y="1044256"/>
            <a:ext cx="111182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en-US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基于</a:t>
            </a:r>
            <a:r>
              <a:rPr lang="en-US" altLang="zh-CN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fill50k</a:t>
            </a:r>
            <a:r>
              <a:rPr lang="zh-CN" altLang="en-US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数据集进行训练，约</a:t>
            </a:r>
            <a:r>
              <a:rPr lang="en-US" altLang="zh-CN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5h</a:t>
            </a:r>
            <a:r>
              <a:rPr lang="zh-CN" altLang="en-US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的训练后模型已初具一些简单的能力。</a:t>
            </a:r>
            <a:endParaRPr lang="en-US" altLang="zh-CN" sz="2800" dirty="0">
              <a:ln w="0"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84B5D36F-EB1F-7E08-256C-AB5FCA637681}"/>
              </a:ext>
            </a:extLst>
          </p:cNvPr>
          <p:cNvGrpSpPr/>
          <p:nvPr/>
        </p:nvGrpSpPr>
        <p:grpSpPr>
          <a:xfrm>
            <a:off x="942975" y="2352675"/>
            <a:ext cx="9812019" cy="3886286"/>
            <a:chOff x="942975" y="2352675"/>
            <a:chExt cx="9812019" cy="3886286"/>
          </a:xfrm>
        </p:grpSpPr>
        <p:sp>
          <p:nvSpPr>
            <p:cNvPr id="3" name="箭头: 下 2">
              <a:extLst>
                <a:ext uri="{FF2B5EF4-FFF2-40B4-BE49-F238E27FC236}">
                  <a16:creationId xmlns:a16="http://schemas.microsoft.com/office/drawing/2014/main" id="{4CDFEE3D-E21C-78F1-D20E-33D87C2FC5F3}"/>
                </a:ext>
              </a:extLst>
            </p:cNvPr>
            <p:cNvSpPr/>
            <p:nvPr/>
          </p:nvSpPr>
          <p:spPr>
            <a:xfrm rot="16200000">
              <a:off x="6112192" y="3849070"/>
              <a:ext cx="207096" cy="542041"/>
            </a:xfrm>
            <a:prstGeom prst="downArrow">
              <a:avLst/>
            </a:prstGeom>
            <a:ln/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671D95EE-58AE-B29D-D0E8-063BAB43808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2975" y="2352675"/>
              <a:ext cx="3886286" cy="3886286"/>
            </a:xfrm>
            <a:prstGeom prst="rect">
              <a:avLst/>
            </a:prstGeom>
          </p:spPr>
        </p:pic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C0422677-FB70-8DBE-199F-54464FFF9A00}"/>
                </a:ext>
              </a:extLst>
            </p:cNvPr>
            <p:cNvSpPr txBox="1"/>
            <p:nvPr/>
          </p:nvSpPr>
          <p:spPr>
            <a:xfrm>
              <a:off x="1981200" y="5869629"/>
              <a:ext cx="21336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a pink turtle</a:t>
              </a:r>
            </a:p>
          </p:txBody>
        </p:sp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95E8BC44-70BD-7DF9-89AA-2F488B1F3B1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02219" y="2647251"/>
              <a:ext cx="3152775" cy="3152775"/>
            </a:xfrm>
            <a:prstGeom prst="rect">
              <a:avLst/>
            </a:prstGeom>
          </p:spPr>
        </p:pic>
      </p:grp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08384088-B77E-1345-3743-BD6D799B09E8}"/>
              </a:ext>
            </a:extLst>
          </p:cNvPr>
          <p:cNvGrpSpPr/>
          <p:nvPr/>
        </p:nvGrpSpPr>
        <p:grpSpPr>
          <a:xfrm>
            <a:off x="1104857" y="2098406"/>
            <a:ext cx="9650137" cy="4140555"/>
            <a:chOff x="1104857" y="1913740"/>
            <a:chExt cx="9650137" cy="4140555"/>
          </a:xfrm>
        </p:grpSpPr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E94F4F84-FC31-3CEF-0291-FDB26445DF45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V="1">
              <a:off x="1104857" y="1913740"/>
              <a:ext cx="3886286" cy="3886286"/>
            </a:xfrm>
            <a:prstGeom prst="rect">
              <a:avLst/>
            </a:prstGeom>
          </p:spPr>
        </p:pic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7D99E97B-CC71-E69B-C442-52BD7D5931E0}"/>
                </a:ext>
              </a:extLst>
            </p:cNvPr>
            <p:cNvSpPr txBox="1"/>
            <p:nvPr/>
          </p:nvSpPr>
          <p:spPr>
            <a:xfrm>
              <a:off x="1981200" y="5684963"/>
              <a:ext cx="179316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a pink house</a:t>
              </a:r>
            </a:p>
          </p:txBody>
        </p:sp>
        <p:sp>
          <p:nvSpPr>
            <p:cNvPr id="24" name="箭头: 下 23">
              <a:extLst>
                <a:ext uri="{FF2B5EF4-FFF2-40B4-BE49-F238E27FC236}">
                  <a16:creationId xmlns:a16="http://schemas.microsoft.com/office/drawing/2014/main" id="{CCB9F195-7F43-4F1B-31E0-49AB6DC41E83}"/>
                </a:ext>
              </a:extLst>
            </p:cNvPr>
            <p:cNvSpPr/>
            <p:nvPr/>
          </p:nvSpPr>
          <p:spPr>
            <a:xfrm rot="16200000">
              <a:off x="6115685" y="3664403"/>
              <a:ext cx="207096" cy="542041"/>
            </a:xfrm>
            <a:prstGeom prst="downArrow">
              <a:avLst/>
            </a:prstGeom>
            <a:ln/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27" name="图片 26">
              <a:extLst>
                <a:ext uri="{FF2B5EF4-FFF2-40B4-BE49-F238E27FC236}">
                  <a16:creationId xmlns:a16="http://schemas.microsoft.com/office/drawing/2014/main" id="{CF1A287E-2433-CE2A-01D0-25AA5F91D4F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02218" y="2647251"/>
              <a:ext cx="3152776" cy="315277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424146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任意多边形 8"/>
          <p:cNvSpPr/>
          <p:nvPr userDrawn="1">
            <p:custDataLst>
              <p:tags r:id="rId1"/>
            </p:custDataLst>
          </p:nvPr>
        </p:nvSpPr>
        <p:spPr>
          <a:xfrm>
            <a:off x="-14603" y="381541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035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cs typeface="+mn-ea"/>
              <a:sym typeface="+mn-lt"/>
            </a:endParaRPr>
          </a:p>
        </p:txBody>
      </p:sp>
      <p:pic>
        <p:nvPicPr>
          <p:cNvPr id="1026" name="Picture 2" descr="宁波大学">
            <a:extLst>
              <a:ext uri="{FF2B5EF4-FFF2-40B4-BE49-F238E27FC236}">
                <a16:creationId xmlns:a16="http://schemas.microsoft.com/office/drawing/2014/main" id="{FBEECA7A-C6CA-4559-7150-86965CE36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2161" y="126019"/>
            <a:ext cx="1698399" cy="53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任意多边形 7">
            <a:extLst>
              <a:ext uri="{FF2B5EF4-FFF2-40B4-BE49-F238E27FC236}">
                <a16:creationId xmlns:a16="http://schemas.microsoft.com/office/drawing/2014/main" id="{55492E30-1BCA-6876-0229-1FAC1D94BFF1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 flipV="1">
            <a:off x="521335" y="687070"/>
            <a:ext cx="11670665" cy="76200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rgbClr val="035C9C">
              <a:alpha val="96000"/>
            </a:srgbClr>
          </a:solidFill>
          <a:ln>
            <a:solidFill>
              <a:srgbClr val="0D62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470A47D-009C-8CC0-18B1-2567C5755A49}"/>
              </a:ext>
            </a:extLst>
          </p:cNvPr>
          <p:cNvSpPr txBox="1"/>
          <p:nvPr/>
        </p:nvSpPr>
        <p:spPr>
          <a:xfrm>
            <a:off x="521334" y="1044256"/>
            <a:ext cx="111182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en-US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增加训练时间，约两天时间后</a:t>
            </a:r>
            <a:r>
              <a:rPr lang="en-US" altLang="zh-CN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…</a:t>
            </a: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DD6A4B29-FDC9-8D90-8623-E1FB4D1A2A14}"/>
              </a:ext>
            </a:extLst>
          </p:cNvPr>
          <p:cNvGrpSpPr/>
          <p:nvPr/>
        </p:nvGrpSpPr>
        <p:grpSpPr>
          <a:xfrm>
            <a:off x="1228725" y="1503376"/>
            <a:ext cx="9955555" cy="5278424"/>
            <a:chOff x="1228725" y="1503376"/>
            <a:chExt cx="9955555" cy="5278424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55ACF25C-EE1D-23CF-7202-DEF1DC95247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28725" y="1503376"/>
              <a:ext cx="3792236" cy="5214324"/>
            </a:xfrm>
            <a:prstGeom prst="rect">
              <a:avLst/>
            </a:prstGeom>
          </p:spPr>
        </p:pic>
        <p:pic>
          <p:nvPicPr>
            <p:cNvPr id="10" name="图片 9">
              <a:extLst>
                <a:ext uri="{FF2B5EF4-FFF2-40B4-BE49-F238E27FC236}">
                  <a16:creationId xmlns:a16="http://schemas.microsoft.com/office/drawing/2014/main" id="{BBA320AE-F07E-E997-2A2A-DECED703162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92044" y="1567476"/>
              <a:ext cx="3792236" cy="5214324"/>
            </a:xfrm>
            <a:prstGeom prst="rect">
              <a:avLst/>
            </a:prstGeom>
          </p:spPr>
        </p:pic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3FC1A02B-34F3-2CCE-D035-7979D2B1AE7F}"/>
                </a:ext>
              </a:extLst>
            </p:cNvPr>
            <p:cNvSpPr txBox="1"/>
            <p:nvPr/>
          </p:nvSpPr>
          <p:spPr>
            <a:xfrm>
              <a:off x="3040857" y="6324209"/>
              <a:ext cx="611028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/>
                <a:t>a pink room</a:t>
              </a:r>
              <a:endParaRPr lang="en-US" altLang="zh-CN" dirty="0"/>
            </a:p>
          </p:txBody>
        </p:sp>
        <p:sp>
          <p:nvSpPr>
            <p:cNvPr id="14" name="箭头: 下 13">
              <a:extLst>
                <a:ext uri="{FF2B5EF4-FFF2-40B4-BE49-F238E27FC236}">
                  <a16:creationId xmlns:a16="http://schemas.microsoft.com/office/drawing/2014/main" id="{F8B7407C-0A37-4E2A-1858-716C4AFBAB16}"/>
                </a:ext>
              </a:extLst>
            </p:cNvPr>
            <p:cNvSpPr/>
            <p:nvPr/>
          </p:nvSpPr>
          <p:spPr>
            <a:xfrm rot="16200000">
              <a:off x="6115685" y="3849069"/>
              <a:ext cx="207096" cy="542041"/>
            </a:xfrm>
            <a:prstGeom prst="downArrow">
              <a:avLst/>
            </a:prstGeom>
            <a:ln/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6" name="Title 1">
            <a:extLst>
              <a:ext uri="{FF2B5EF4-FFF2-40B4-BE49-F238E27FC236}">
                <a16:creationId xmlns:a16="http://schemas.microsoft.com/office/drawing/2014/main" id="{A28FF18B-8358-98AC-78DA-87773BD771DE}"/>
              </a:ext>
            </a:extLst>
          </p:cNvPr>
          <p:cNvSpPr txBox="1"/>
          <p:nvPr/>
        </p:nvSpPr>
        <p:spPr>
          <a:xfrm>
            <a:off x="600070" y="140300"/>
            <a:ext cx="7378518" cy="455756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>
              <a:defRPr/>
            </a:pPr>
            <a:r>
              <a:rPr lang="zh-CN" altLang="en-US" sz="3600" b="1" dirty="0">
                <a:solidFill>
                  <a:srgbClr val="035C9C"/>
                </a:solidFill>
                <a:latin typeface="+mn-lt"/>
                <a:ea typeface="+mn-ea"/>
                <a:cs typeface="+mn-ea"/>
                <a:sym typeface="+mn-lt"/>
              </a:rPr>
              <a:t>模型的效果呈现</a:t>
            </a:r>
          </a:p>
        </p:txBody>
      </p:sp>
    </p:spTree>
    <p:extLst>
      <p:ext uri="{BB962C8B-B14F-4D97-AF65-F5344CB8AC3E}">
        <p14:creationId xmlns:p14="http://schemas.microsoft.com/office/powerpoint/2010/main" val="28930239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 7"/>
          <p:cNvSpPr/>
          <p:nvPr userDrawn="1">
            <p:custDataLst>
              <p:tags r:id="rId1"/>
            </p:custDataLst>
          </p:nvPr>
        </p:nvSpPr>
        <p:spPr>
          <a:xfrm flipV="1">
            <a:off x="521335" y="687070"/>
            <a:ext cx="11670665" cy="76200"/>
          </a:xfrm>
          <a:custGeom>
            <a:avLst/>
            <a:gdLst>
              <a:gd name="connsiteX0" fmla="*/ 0 w 12125327"/>
              <a:gd name="connsiteY0" fmla="*/ 0 h 31282"/>
              <a:gd name="connsiteX1" fmla="*/ 12125327 w 12125327"/>
              <a:gd name="connsiteY1" fmla="*/ 0 h 31282"/>
              <a:gd name="connsiteX2" fmla="*/ 12125327 w 12125327"/>
              <a:gd name="connsiteY2" fmla="*/ 31282 h 31282"/>
              <a:gd name="connsiteX3" fmla="*/ 17139 w 12125327"/>
              <a:gd name="connsiteY3" fmla="*/ 31282 h 312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25327" h="31282">
                <a:moveTo>
                  <a:pt x="0" y="0"/>
                </a:moveTo>
                <a:lnTo>
                  <a:pt x="12125327" y="0"/>
                </a:lnTo>
                <a:lnTo>
                  <a:pt x="12125327" y="31282"/>
                </a:lnTo>
                <a:lnTo>
                  <a:pt x="17139" y="31282"/>
                </a:lnTo>
                <a:close/>
              </a:path>
            </a:pathLst>
          </a:custGeom>
          <a:solidFill>
            <a:srgbClr val="035C9C">
              <a:alpha val="96000"/>
            </a:srgbClr>
          </a:solidFill>
          <a:ln>
            <a:solidFill>
              <a:srgbClr val="0D62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9" name="任意多边形 8"/>
          <p:cNvSpPr/>
          <p:nvPr userDrawn="1">
            <p:custDataLst>
              <p:tags r:id="rId2"/>
            </p:custDataLst>
          </p:nvPr>
        </p:nvSpPr>
        <p:spPr>
          <a:xfrm>
            <a:off x="-14603" y="381541"/>
            <a:ext cx="410536" cy="381886"/>
          </a:xfrm>
          <a:custGeom>
            <a:avLst/>
            <a:gdLst>
              <a:gd name="connsiteX0" fmla="*/ 284734 w 577217"/>
              <a:gd name="connsiteY0" fmla="*/ 0 h 536832"/>
              <a:gd name="connsiteX1" fmla="*/ 577217 w 577217"/>
              <a:gd name="connsiteY1" fmla="*/ 536832 h 536832"/>
              <a:gd name="connsiteX2" fmla="*/ 0 w 577217"/>
              <a:gd name="connsiteY2" fmla="*/ 536832 h 536832"/>
              <a:gd name="connsiteX3" fmla="*/ 0 w 577217"/>
              <a:gd name="connsiteY3" fmla="*/ 184 h 536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77217" h="536832">
                <a:moveTo>
                  <a:pt x="284734" y="0"/>
                </a:moveTo>
                <a:lnTo>
                  <a:pt x="577217" y="536832"/>
                </a:lnTo>
                <a:lnTo>
                  <a:pt x="0" y="536832"/>
                </a:lnTo>
                <a:lnTo>
                  <a:pt x="0" y="184"/>
                </a:lnTo>
                <a:close/>
              </a:path>
            </a:pathLst>
          </a:custGeom>
          <a:solidFill>
            <a:srgbClr val="035C9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7032" tIns="33516" rIns="67032" bIns="33516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 sz="1400" dirty="0">
              <a:solidFill>
                <a:srgbClr val="7EC234"/>
              </a:solidFill>
              <a:cs typeface="+mn-ea"/>
              <a:sym typeface="+mn-lt"/>
            </a:endParaRPr>
          </a:p>
        </p:txBody>
      </p:sp>
      <p:sp>
        <p:nvSpPr>
          <p:cNvPr id="26" name="Title 1"/>
          <p:cNvSpPr txBox="1"/>
          <p:nvPr/>
        </p:nvSpPr>
        <p:spPr>
          <a:xfrm>
            <a:off x="600070" y="140300"/>
            <a:ext cx="7378518" cy="455756"/>
          </a:xfrm>
          <a:prstGeom prst="rect">
            <a:avLst/>
          </a:prstGeom>
        </p:spPr>
        <p:txBody>
          <a:bodyPr lIns="0" rIns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3000" b="0" kern="1200">
                <a:solidFill>
                  <a:schemeClr val="accent1"/>
                </a:solidFill>
                <a:latin typeface="U.S. 101" pitchFamily="2" charset="0"/>
                <a:ea typeface="Roboto" pitchFamily="2" charset="0"/>
                <a:cs typeface="Open Sans Light" panose="020B0306030504020204" pitchFamily="34" charset="0"/>
              </a:defRPr>
            </a:lvl1pPr>
          </a:lstStyle>
          <a:p>
            <a:pPr algn="l">
              <a:defRPr/>
            </a:pPr>
            <a:r>
              <a:rPr lang="zh-CN" altLang="en-US" sz="3600" b="1" dirty="0">
                <a:solidFill>
                  <a:srgbClr val="035C9C"/>
                </a:solidFill>
                <a:latin typeface="+mn-lt"/>
                <a:ea typeface="+mn-ea"/>
                <a:cs typeface="+mn-ea"/>
                <a:sym typeface="+mn-lt"/>
              </a:rPr>
              <a:t>总结与展望</a:t>
            </a:r>
          </a:p>
        </p:txBody>
      </p:sp>
      <p:pic>
        <p:nvPicPr>
          <p:cNvPr id="1026" name="Picture 2" descr="宁波大学">
            <a:extLst>
              <a:ext uri="{FF2B5EF4-FFF2-40B4-BE49-F238E27FC236}">
                <a16:creationId xmlns:a16="http://schemas.microsoft.com/office/drawing/2014/main" id="{FBEECA7A-C6CA-4559-7150-86965CE36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2161" y="126019"/>
            <a:ext cx="1698399" cy="5310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箭头: 下 2">
            <a:extLst>
              <a:ext uri="{FF2B5EF4-FFF2-40B4-BE49-F238E27FC236}">
                <a16:creationId xmlns:a16="http://schemas.microsoft.com/office/drawing/2014/main" id="{4CDFEE3D-E21C-78F1-D20E-33D87C2FC5F3}"/>
              </a:ext>
            </a:extLst>
          </p:cNvPr>
          <p:cNvSpPr/>
          <p:nvPr/>
        </p:nvSpPr>
        <p:spPr>
          <a:xfrm>
            <a:off x="12444051" y="1286845"/>
            <a:ext cx="207096" cy="542041"/>
          </a:xfrm>
          <a:prstGeom prst="downArrow">
            <a:avLst/>
          </a:prstGeom>
          <a:ln>
            <a:solidFill>
              <a:srgbClr val="0D62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149C780-6B80-F4DB-DC6C-DDD757644EF8}"/>
              </a:ext>
            </a:extLst>
          </p:cNvPr>
          <p:cNvSpPr txBox="1"/>
          <p:nvPr/>
        </p:nvSpPr>
        <p:spPr>
          <a:xfrm>
            <a:off x="521335" y="986494"/>
            <a:ext cx="1110869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US" altLang="zh-CN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ControlNet</a:t>
            </a:r>
            <a:r>
              <a:rPr lang="zh-CN" altLang="en-US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已经在</a:t>
            </a:r>
            <a:r>
              <a:rPr lang="en-US" altLang="zh-CN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AI</a:t>
            </a:r>
            <a:r>
              <a:rPr lang="zh-CN" altLang="en-US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绘图市场上有较为广泛的应用。</a:t>
            </a:r>
            <a:endParaRPr lang="en-US" altLang="zh-CN" sz="2800" dirty="0">
              <a:ln w="0"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lvl="0"/>
            <a:r>
              <a:rPr lang="zh-CN" altLang="en-US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通过</a:t>
            </a:r>
            <a:r>
              <a:rPr lang="en-US" altLang="zh-CN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ControlNet</a:t>
            </a:r>
            <a:r>
              <a:rPr lang="zh-CN" altLang="en-US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进行空间控制，结合</a:t>
            </a:r>
            <a:r>
              <a:rPr lang="en-US" altLang="zh-CN" sz="2800" dirty="0" err="1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LoRA</a:t>
            </a:r>
            <a:r>
              <a:rPr lang="zh-CN" altLang="en-US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的风格控制能力，使得</a:t>
            </a:r>
            <a:r>
              <a:rPr lang="en-US" altLang="zh-CN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AIGC</a:t>
            </a:r>
            <a:r>
              <a:rPr lang="zh-CN" altLang="en-US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已经具备惊人的绘图能力。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5138C35-4090-A0FA-45AC-B9A927023545}"/>
              </a:ext>
            </a:extLst>
          </p:cNvPr>
          <p:cNvSpPr txBox="1"/>
          <p:nvPr/>
        </p:nvSpPr>
        <p:spPr>
          <a:xfrm>
            <a:off x="600070" y="2570051"/>
            <a:ext cx="107848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zh-CN" altLang="en-US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通过自己训练一个具有指定功能的生成模型，能够收获不少模型的训练技巧，架构设计方案。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A86686D-AAE6-C9F8-9D11-FEBD23117882}"/>
              </a:ext>
            </a:extLst>
          </p:cNvPr>
          <p:cNvSpPr txBox="1"/>
          <p:nvPr/>
        </p:nvSpPr>
        <p:spPr>
          <a:xfrm>
            <a:off x="521335" y="3794014"/>
            <a:ext cx="1078484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lvl="0" indent="-514350">
              <a:buAutoNum type="arabicPeriod"/>
            </a:pPr>
            <a:r>
              <a:rPr lang="zh-CN" altLang="en-US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一种新颖且简单的模型微调方案</a:t>
            </a:r>
            <a:r>
              <a:rPr lang="en-US" altLang="zh-CN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在备份参数上进行特定任务的训练；</a:t>
            </a:r>
            <a:endParaRPr lang="en-US" altLang="zh-CN" sz="2800" dirty="0">
              <a:ln w="0"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514350" lvl="0" indent="-514350">
              <a:buAutoNum type="arabicPeriod"/>
            </a:pPr>
            <a:r>
              <a:rPr lang="zh-CN" altLang="en-US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零卷积层的使用</a:t>
            </a:r>
            <a:r>
              <a:rPr lang="en-US" altLang="zh-CN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lang="zh-CN" altLang="en-US" sz="2800" dirty="0">
                <a:ln w="0"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有效控制预训练模型与微调过程的稳定性。</a:t>
            </a:r>
            <a:endParaRPr lang="en-US" altLang="zh-CN" sz="2800" dirty="0">
              <a:ln w="0"/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891759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A_等腰三角形 11"/>
          <p:cNvSpPr/>
          <p:nvPr>
            <p:custDataLst>
              <p:tags r:id="rId1"/>
            </p:custDataLst>
          </p:nvPr>
        </p:nvSpPr>
        <p:spPr>
          <a:xfrm flipV="1">
            <a:off x="8977053" y="4704820"/>
            <a:ext cx="359294" cy="206608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7467600" y="4704820"/>
            <a:ext cx="2809875" cy="102923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微软雅黑" panose="020B0503020204020204" charset="-122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9D3E37B-C450-3C0E-660A-43293FCFCC6A}"/>
              </a:ext>
            </a:extLst>
          </p:cNvPr>
          <p:cNvSpPr txBox="1"/>
          <p:nvPr/>
        </p:nvSpPr>
        <p:spPr>
          <a:xfrm>
            <a:off x="3493459" y="2494197"/>
            <a:ext cx="5205081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6600" dirty="0">
                <a:solidFill>
                  <a:schemeClr val="bg1"/>
                </a:solidFill>
                <a:latin typeface="Times New Roman Regular" panose="02020503050405090304" charset="0"/>
                <a:ea typeface="Microsoft YaHei UI" panose="020B0503020204020204" pitchFamily="34" charset="-122"/>
                <a:cs typeface="Times New Roman Regular" panose="02020503050405090304" charset="0"/>
              </a:rPr>
              <a:t>THANK YOU</a:t>
            </a:r>
            <a:r>
              <a:rPr lang="en-US" altLang="zh-CN" sz="6600" dirty="0">
                <a:solidFill>
                  <a:schemeClr val="bg1"/>
                </a:solidFill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      </a:t>
            </a:r>
            <a:endParaRPr lang="zh-CN" altLang="en-US" sz="6600" dirty="0">
              <a:solidFill>
                <a:schemeClr val="bg1"/>
              </a:solidFill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47BD6DE-B22E-D719-E635-4B6BF44859EB}"/>
              </a:ext>
            </a:extLst>
          </p:cNvPr>
          <p:cNvSpPr/>
          <p:nvPr/>
        </p:nvSpPr>
        <p:spPr>
          <a:xfrm>
            <a:off x="8977053" y="47371"/>
            <a:ext cx="1416424" cy="59535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87086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PRESENTATION_TITLE" val="蓝色厦门大学论文答辩模板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H" val="20160830110547"/>
  <p:tag name="MH_LIBRARY" val="CONTENTS"/>
  <p:tag name="MH_TYPE" val="OTHERS"/>
  <p:tag name="ID" val="54584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2.4"/>
</p:tagLst>
</file>

<file path=ppt/theme/theme1.xml><?xml version="1.0" encoding="utf-8"?>
<a:theme xmlns:a="http://schemas.openxmlformats.org/drawingml/2006/main" name="第一PPT，www.1ppt.co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qqrpo5ba">
      <a:majorFont>
        <a:latin typeface="微软雅黑" panose="020F0302020204030204"/>
        <a:ea typeface="微软雅黑"/>
        <a:cs typeface=""/>
      </a:majorFont>
      <a:minorFont>
        <a:latin typeface="微软雅黑" panose="020F0502020204030204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7304</TotalTime>
  <Words>1101</Words>
  <Application>Microsoft Office PowerPoint</Application>
  <PresentationFormat>宽屏</PresentationFormat>
  <Paragraphs>145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0" baseType="lpstr">
      <vt:lpstr>-apple-system</vt:lpstr>
      <vt:lpstr>Microsoft YaHei UI</vt:lpstr>
      <vt:lpstr>Times New Roman Regular</vt:lpstr>
      <vt:lpstr>等线</vt:lpstr>
      <vt:lpstr>微软雅黑</vt:lpstr>
      <vt:lpstr>Arial</vt:lpstr>
      <vt:lpstr>Calibri</vt:lpstr>
      <vt:lpstr>Open Sans</vt:lpstr>
      <vt:lpstr>Times New Roman</vt:lpstr>
      <vt:lpstr>第一PPT，www.1ppt.com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第一PPT，www.1ppt.com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蓝色厦门大学论文答辩模板</dc:title>
  <dc:creator>第一PPT</dc:creator>
  <cp:keywords>www.1ppt.com</cp:keywords>
  <dc:description>www.1ppt.com</dc:description>
  <cp:lastModifiedBy>_Coinisi_ 坩埚花菜</cp:lastModifiedBy>
  <cp:revision>893</cp:revision>
  <dcterms:created xsi:type="dcterms:W3CDTF">2018-03-09T23:56:55Z</dcterms:created>
  <dcterms:modified xsi:type="dcterms:W3CDTF">2024-06-23T14:32:19Z</dcterms:modified>
</cp:coreProperties>
</file>