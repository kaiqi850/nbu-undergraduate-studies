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361" r:id="rId3"/>
    <p:sldId id="316" r:id="rId4"/>
    <p:sldId id="317" r:id="rId5"/>
    <p:sldId id="318" r:id="rId6"/>
    <p:sldId id="319" r:id="rId7"/>
    <p:sldId id="320" r:id="rId8"/>
    <p:sldId id="32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7E365-620F-8867-C497-2A145BD83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E77960-8A8D-46EA-EF52-F197029E6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F023F-115D-CF7E-27FD-BD4A37B4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D81A7-66FC-BC8F-C421-4FA87682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E90DB-1E15-27AA-EC70-D5AB1414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65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80E57-500D-0B89-2C3A-FBDF4271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1122B-73D1-F3DC-FF94-5CC07FAB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9006D-DB96-C200-F2CE-30385529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0377F-F9F6-8061-795D-56C2EFB7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F884F-38F5-E1C6-882F-ECC9B87E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7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B3ACD-BCAA-BD03-C6C7-B3313ED0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A21DE0-3C53-DA96-D2EC-2F5F837F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FA51FE-7F1E-780D-6C3E-9020FBAD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15544-ED21-D08F-15F5-7AD0ED91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167F4-8731-94F5-E396-035337A7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32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84D21-B668-1E0E-7A26-219FB34E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8BB4BE-57D5-33CC-286D-3DB977D1C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AA9F3-1D50-CEB4-E9A6-E49AC7F0D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2633FF-4CDF-8D91-B1C0-2B342C3A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83800C-797F-0821-DDE7-4E6A2A04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40E32C-B4F4-3097-0F6A-8173E858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42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C94E7-CC94-DC34-55A3-D5147B6E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B1A297-2CB2-C347-CBD3-FE91A0464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A059B-3213-0820-F5D7-071C91630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9C7692-939A-D072-7413-0CCB56DB8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F91A59-37F5-B8EF-D838-4B18BB4E4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D1F4AA-6F9E-E548-5267-9190D8BC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59CE0C-DA7F-6487-C992-3FFD45FA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B8883C-2F16-68AE-D613-372AA17D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19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38B2C-66E6-B61F-2300-7CC12F3E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DAD26D-654B-2956-87C4-9C756912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9BFE20-24BA-F6E9-008B-D8E36898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4993C-3125-9A59-FFBC-AB41E327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02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549C10-0EC6-09D4-92D8-A93C9009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0F9AE1-12A8-B355-5D70-EDB82FC0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323704-3FD9-1385-8F85-2F60E643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3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35BA8-8122-EAC2-E3F2-CE5F4434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B6A74-534A-33D7-525E-F423C864F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84B837-E5A1-AE14-8B8D-84D4E2318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A6D8C6-5155-B581-E630-BA87530B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2A4FB2-B4E9-DC4D-8410-D4F29D977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3AA038-C6B2-06AE-5318-9F455A2F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40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E840-8FD6-5D2E-568E-B9DFAB60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09E431-1D65-4FC8-4DC3-9E1B002CD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8A66BD-06E4-C10A-36BE-FAC4038B6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56848-1948-A800-62EB-E0D5998D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E8BB49-F6B8-ED53-39EF-0976EC23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7AA522-8DBE-330E-FE1B-DBC89990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37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58F2F-D9E4-43BD-2482-0F70653C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F461A4-4B9E-6471-6D05-4AEDC2EF3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9FEB0-ECCF-C052-1127-B9D39361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33C21-95D8-4ABF-5CDA-DEEE3832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FF9A9-6BEF-B423-E286-647679D5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1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CEC2EE-E12E-C547-4F67-CB74EEDFA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592C2D-AAFC-F42D-6130-B94972259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39915-7ABA-A2AD-38A9-CC4A7026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9705B-192A-2C34-34C4-F05AC63A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A1305E-5C4D-6E66-995D-023C76A1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9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774C90-F313-911F-CDFE-2A33492B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518784-7677-CCA0-4964-63BB3015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EE5AF-843C-19DE-EE4D-56638B4BF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2C951-3671-478E-B303-96DAE6E132D4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193153-EAB0-3121-03AD-A82C5BA15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D8BDC-8CCE-F4F8-9312-FDD50EE0D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5CAEC-A1A6-4E2D-A86E-8BD5272DB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0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18913" y="1708058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396482" y="3576625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43181" y="2574495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881172" y="2530885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28104" y="3467708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881172" y="4407621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B1471D-7F50-576B-F43E-B85CA41F48E0}"/>
              </a:ext>
            </a:extLst>
          </p:cNvPr>
          <p:cNvSpPr txBox="1"/>
          <p:nvPr/>
        </p:nvSpPr>
        <p:spPr>
          <a:xfrm>
            <a:off x="4390823" y="2775270"/>
            <a:ext cx="52334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333333"/>
                </a:solidFill>
                <a:effectLst/>
                <a:latin typeface="OpenSans-Bold"/>
              </a:rPr>
              <a:t>论文解读</a:t>
            </a:r>
            <a:endParaRPr lang="en-US" altLang="zh-CN" sz="66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E07519-27B5-34E2-6934-7F330DDD3ABA}"/>
              </a:ext>
            </a:extLst>
          </p:cNvPr>
          <p:cNvSpPr txBox="1"/>
          <p:nvPr/>
        </p:nvSpPr>
        <p:spPr>
          <a:xfrm>
            <a:off x="7881172" y="3976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333333"/>
                </a:solidFill>
                <a:latin typeface="OpenSans-Bold"/>
              </a:rPr>
              <a:t>jiangyb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8204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18913" y="1708058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396482" y="3576625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43181" y="2574495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881172" y="2530885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28104" y="3467708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881172" y="4407621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4B2622-1A2A-456E-5A7A-F761758C732F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E748340-257C-F9D5-AE80-DF6CDF7F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25" y="504176"/>
            <a:ext cx="2629927" cy="340047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8467D5E-60D9-36EA-C0B3-A2FB88A80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68" y="805463"/>
            <a:ext cx="3227742" cy="2649689"/>
          </a:xfrm>
          <a:prstGeom prst="rect">
            <a:avLst/>
          </a:prstGeom>
        </p:spPr>
      </p:pic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CEFBFC7-CBD6-12F2-AAB1-D8AF6AF0F4E3}"/>
              </a:ext>
            </a:extLst>
          </p:cNvPr>
          <p:cNvCxnSpPr/>
          <p:nvPr/>
        </p:nvCxnSpPr>
        <p:spPr>
          <a:xfrm>
            <a:off x="987654" y="1065737"/>
            <a:ext cx="29273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1F09F36-E313-0CE1-00FB-FFE761C21DB1}"/>
              </a:ext>
            </a:extLst>
          </p:cNvPr>
          <p:cNvCxnSpPr>
            <a:cxnSpLocks/>
          </p:cNvCxnSpPr>
          <p:nvPr/>
        </p:nvCxnSpPr>
        <p:spPr>
          <a:xfrm>
            <a:off x="847954" y="1224487"/>
            <a:ext cx="30670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D157400-FB2B-2EBA-3EC8-7690FE82C5E7}"/>
              </a:ext>
            </a:extLst>
          </p:cNvPr>
          <p:cNvCxnSpPr>
            <a:cxnSpLocks/>
          </p:cNvCxnSpPr>
          <p:nvPr/>
        </p:nvCxnSpPr>
        <p:spPr>
          <a:xfrm>
            <a:off x="866426" y="1395937"/>
            <a:ext cx="13271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8D3BD38-95B4-D51C-BDAF-CF2019B603EF}"/>
              </a:ext>
            </a:extLst>
          </p:cNvPr>
          <p:cNvSpPr txBox="1"/>
          <p:nvPr/>
        </p:nvSpPr>
        <p:spPr>
          <a:xfrm>
            <a:off x="4328822" y="1412036"/>
            <a:ext cx="4592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总结一下：</a:t>
            </a:r>
            <a:endParaRPr lang="en-US" altLang="zh-CN" sz="1600" b="1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just"/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这篇文章提出了一个新的神经网络架构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—</a:t>
            </a:r>
            <a:r>
              <a:rPr lang="en-US" altLang="zh-CN" sz="16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Controlnet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（本文取名），这个神经网络能够控制以及训练好的大模型，如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stable diffusion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），控制的方式是增加一些条件。</a:t>
            </a:r>
          </a:p>
        </p:txBody>
      </p:sp>
    </p:spTree>
    <p:extLst>
      <p:ext uri="{BB962C8B-B14F-4D97-AF65-F5344CB8AC3E}">
        <p14:creationId xmlns:p14="http://schemas.microsoft.com/office/powerpoint/2010/main" val="261979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412639" y="1457454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390208" y="3326021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2036907" y="2323891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874898" y="2280281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2521830" y="3217104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874898" y="4157017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A3C599-68E0-562C-C455-7461A6F51A2D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88279D-2343-217B-9A85-1A253999B256}"/>
              </a:ext>
            </a:extLst>
          </p:cNvPr>
          <p:cNvSpPr txBox="1"/>
          <p:nvPr/>
        </p:nvSpPr>
        <p:spPr>
          <a:xfrm>
            <a:off x="763421" y="107322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开门见山：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BE6DFE8-131A-53E5-5D6A-165A857EA788}"/>
              </a:ext>
            </a:extLst>
          </p:cNvPr>
          <p:cNvGrpSpPr/>
          <p:nvPr/>
        </p:nvGrpSpPr>
        <p:grpSpPr>
          <a:xfrm>
            <a:off x="852819" y="1621150"/>
            <a:ext cx="4653840" cy="4330136"/>
            <a:chOff x="969475" y="1537264"/>
            <a:chExt cx="3410125" cy="3108271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454BBAA-35B0-ADF1-ECE4-1CAF0B429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9475" y="1537264"/>
              <a:ext cx="3410125" cy="2800494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664B3A5-01AD-B0E2-5A17-0E8787FF4256}"/>
                </a:ext>
              </a:extLst>
            </p:cNvPr>
            <p:cNvSpPr txBox="1"/>
            <p:nvPr/>
          </p:nvSpPr>
          <p:spPr>
            <a:xfrm>
              <a:off x="2008498" y="4337758"/>
              <a:ext cx="13320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333333"/>
                  </a:solidFill>
                  <a:latin typeface="OpenSans-Bold"/>
                </a:rPr>
                <a:t>模型结构图</a:t>
              </a:r>
              <a:r>
                <a:rPr lang="zh-CN" altLang="en-US" sz="1400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       </a:t>
              </a:r>
              <a:endPara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BADC1BB0-C3A5-F6E2-9004-52914BA70B98}"/>
              </a:ext>
            </a:extLst>
          </p:cNvPr>
          <p:cNvSpPr txBox="1"/>
          <p:nvPr/>
        </p:nvSpPr>
        <p:spPr>
          <a:xfrm>
            <a:off x="5889641" y="3483352"/>
            <a:ext cx="55374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额外的条件，如图片</a:t>
            </a:r>
          </a:p>
          <a:p>
            <a:pPr algn="just"/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x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正常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的输入</a:t>
            </a:r>
          </a:p>
          <a:p>
            <a:pPr algn="just"/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network block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可以是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stable diffusion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）中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U-net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的参数，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locked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说明这个参数不可更改，个人理解实现的时候类似</a:t>
            </a:r>
            <a:r>
              <a:rPr lang="en-US" altLang="zh-CN" sz="16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pytorch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的冻结参数</a:t>
            </a:r>
          </a:p>
          <a:p>
            <a:pPr algn="just"/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trainable copy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训练之前和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network block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一样（即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network block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和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trainable copy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完全一样），为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的参数，区别在于可训练</a:t>
            </a:r>
          </a:p>
          <a:p>
            <a:pPr algn="just"/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zero convolution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初始权重为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的大小为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1*1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的卷积层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35425EF-DB31-3948-8DB0-7ECAB34091E0}"/>
              </a:ext>
            </a:extLst>
          </p:cNvPr>
          <p:cNvSpPr txBox="1"/>
          <p:nvPr/>
        </p:nvSpPr>
        <p:spPr>
          <a:xfrm>
            <a:off x="5605218" y="3135337"/>
            <a:ext cx="1817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OpenSans-Bold"/>
              </a:rPr>
              <a:t>模块变量介绍：</a:t>
            </a:r>
            <a:endParaRPr lang="zh-CN" altLang="en-US" sz="14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5B6EEF6-6EF7-4A6A-A359-E4D9076D6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210" y="981229"/>
            <a:ext cx="3515351" cy="206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2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634424" y="2236400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611993" y="4104967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896929" y="3145662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258692" y="3102837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8096683" y="3059227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743615" y="3996050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8096683" y="4935963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387620" y="3990387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E03B66-7192-C42C-E9A5-896C70932884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C3204A-DECB-8ACA-C50A-89D118B553E9}"/>
              </a:ext>
            </a:extLst>
          </p:cNvPr>
          <p:cNvSpPr txBox="1"/>
          <p:nvPr/>
        </p:nvSpPr>
        <p:spPr>
          <a:xfrm>
            <a:off x="763422" y="97797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加深理解：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F150304-0F52-C25A-BC09-B862E5A6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18" y="1401487"/>
            <a:ext cx="3219615" cy="159393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147FECB-9AC1-6519-986B-EAF5CB2B003B}"/>
              </a:ext>
            </a:extLst>
          </p:cNvPr>
          <p:cNvSpPr txBox="1"/>
          <p:nvPr/>
        </p:nvSpPr>
        <p:spPr>
          <a:xfrm>
            <a:off x="1170044" y="3721105"/>
            <a:ext cx="33972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F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不同参数的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模型</a:t>
            </a:r>
          </a:p>
          <a:p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Z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卷积</a:t>
            </a:r>
          </a:p>
          <a:p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theta</a:t>
            </a:r>
            <a:r>
              <a:rPr lang="zh-CN" altLang="en-US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被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lock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的参数</a:t>
            </a:r>
          </a:p>
          <a:p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theta_{z1}: </a:t>
            </a:r>
            <a:r>
              <a:rPr lang="en-US" altLang="zh-CN" sz="16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controlnet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中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trainable copy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前面那个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zero conv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的参数</a:t>
            </a:r>
          </a:p>
          <a:p>
            <a:r>
              <a:rPr lang="en-US" altLang="zh-CN" sz="16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theta_{z2}: </a:t>
            </a:r>
            <a:r>
              <a:rPr lang="en-US" altLang="zh-CN" sz="16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controlnet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中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trainable copy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后面那个</a:t>
            </a:r>
            <a:r>
              <a:rPr lang="en-US" altLang="zh-CN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zero conv</a:t>
            </a:r>
            <a:r>
              <a:rPr lang="zh-CN" altLang="en-US" sz="16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的参数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A12098-8598-4760-607F-A2E10F605F0B}"/>
              </a:ext>
            </a:extLst>
          </p:cNvPr>
          <p:cNvSpPr txBox="1"/>
          <p:nvPr/>
        </p:nvSpPr>
        <p:spPr>
          <a:xfrm>
            <a:off x="739503" y="3343006"/>
            <a:ext cx="5201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OpenSans-Bold"/>
              </a:rPr>
              <a:t>增加一些名字：</a:t>
            </a:r>
            <a:endParaRPr lang="zh-CN" altLang="en-US" sz="14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1396809-3F34-4A24-F252-7545BA506B2A}"/>
              </a:ext>
            </a:extLst>
          </p:cNvPr>
          <p:cNvSpPr/>
          <p:nvPr/>
        </p:nvSpPr>
        <p:spPr>
          <a:xfrm>
            <a:off x="4693920" y="3343006"/>
            <a:ext cx="777843" cy="30777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FC420F6-DA28-A600-20C2-AF742B1ED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512" y="2166078"/>
            <a:ext cx="5721859" cy="59462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0227C435-17F8-7672-689B-02CFF48A4972}"/>
              </a:ext>
            </a:extLst>
          </p:cNvPr>
          <p:cNvSpPr txBox="1"/>
          <p:nvPr/>
        </p:nvSpPr>
        <p:spPr>
          <a:xfrm>
            <a:off x="5941071" y="1822995"/>
            <a:ext cx="1499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OpenSans-Bold"/>
              </a:rPr>
              <a:t>模型公式：</a:t>
            </a:r>
            <a:endParaRPr lang="zh-CN" altLang="en-US" sz="14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3CF289-B38B-FB54-2161-F21268F3A75E}"/>
              </a:ext>
            </a:extLst>
          </p:cNvPr>
          <p:cNvSpPr txBox="1"/>
          <p:nvPr/>
        </p:nvSpPr>
        <p:spPr>
          <a:xfrm>
            <a:off x="5941071" y="2767563"/>
            <a:ext cx="591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OpenSans-Bold"/>
              </a:rPr>
              <a:t>更近一步：</a:t>
            </a:r>
            <a:endParaRPr lang="en-US" altLang="zh-CN" sz="1400" b="1" dirty="0">
              <a:solidFill>
                <a:srgbClr val="333333"/>
              </a:solidFill>
              <a:latin typeface="OpenSans-Bold"/>
            </a:endParaRPr>
          </a:p>
          <a:p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       一开始（即训练前）模型的样子，零卷积参数是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，相当于没有：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AEFDD6D-ACDE-0E5B-7C2E-52272C870B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048"/>
          <a:stretch/>
        </p:blipFill>
        <p:spPr>
          <a:xfrm>
            <a:off x="6494606" y="3466040"/>
            <a:ext cx="4393830" cy="84751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AF71B18-340A-A1C2-25B2-89A7C16AB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294" y="4462169"/>
            <a:ext cx="3002733" cy="419835"/>
          </a:xfrm>
          <a:prstGeom prst="rect">
            <a:avLst/>
          </a:prstGeom>
        </p:spPr>
      </p:pic>
      <p:sp>
        <p:nvSpPr>
          <p:cNvPr id="39" name="箭头: 右 38">
            <a:extLst>
              <a:ext uri="{FF2B5EF4-FFF2-40B4-BE49-F238E27FC236}">
                <a16:creationId xmlns:a16="http://schemas.microsoft.com/office/drawing/2014/main" id="{B17F454C-FB0E-5A76-FB97-E03E47C82B12}"/>
              </a:ext>
            </a:extLst>
          </p:cNvPr>
          <p:cNvSpPr/>
          <p:nvPr/>
        </p:nvSpPr>
        <p:spPr>
          <a:xfrm>
            <a:off x="7016594" y="4569368"/>
            <a:ext cx="569224" cy="12954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27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18913" y="1708058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396482" y="3576625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43181" y="2574495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881172" y="2530885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28104" y="3467708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881172" y="4407621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499038-02D9-B03D-FFEC-07BE05749CB1}"/>
              </a:ext>
            </a:extLst>
          </p:cNvPr>
          <p:cNvSpPr txBox="1"/>
          <p:nvPr/>
        </p:nvSpPr>
        <p:spPr>
          <a:xfrm>
            <a:off x="763422" y="97797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直击灵魂（先跳过</a:t>
            </a:r>
            <a:r>
              <a:rPr lang="en-US" altLang="zh-CN" b="1" dirty="0">
                <a:solidFill>
                  <a:srgbClr val="333333"/>
                </a:solidFill>
                <a:latin typeface="OpenSans-Bold"/>
              </a:rPr>
              <a:t>Loss</a:t>
            </a:r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，先看模型是如何到</a:t>
            </a:r>
            <a:r>
              <a:rPr lang="en-US" altLang="zh-CN" b="1" dirty="0">
                <a:solidFill>
                  <a:srgbClr val="333333"/>
                </a:solidFill>
                <a:latin typeface="OpenSans-Bold"/>
              </a:rPr>
              <a:t>SD</a:t>
            </a:r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中）：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B9813-1189-D8D6-66DA-E7711506960D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2054484-5707-F314-71C9-BE733D61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25" y="1461820"/>
            <a:ext cx="3501966" cy="476733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567F594-0871-5C64-96FA-333BC777EBB6}"/>
              </a:ext>
            </a:extLst>
          </p:cNvPr>
          <p:cNvSpPr txBox="1"/>
          <p:nvPr/>
        </p:nvSpPr>
        <p:spPr>
          <a:xfrm>
            <a:off x="5813753" y="4649794"/>
            <a:ext cx="56203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一句话：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trainable copy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的encoder的每个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block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输出经过一个zero conv，然后加到decoder的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block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的输出上，作为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decoder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下一个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block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的输入，如此达到控制的效果。整体框架其实根本还是之前提到的框架，这个框架只是粗看复杂，细看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easy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！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70AB1DF-F141-591B-1E8D-E1C67C69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404" y="1708727"/>
            <a:ext cx="4326378" cy="214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5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51274" y="1850619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428843" y="3719186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75542" y="2717056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913533" y="2673446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60465" y="3610269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913533" y="4550182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204470" y="3604606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0402BA-7D1B-E2D6-51FC-A68F8598BE87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FED646-A406-085D-094B-33BDE7BD1129}"/>
              </a:ext>
            </a:extLst>
          </p:cNvPr>
          <p:cNvSpPr txBox="1"/>
          <p:nvPr/>
        </p:nvSpPr>
        <p:spPr>
          <a:xfrm>
            <a:off x="763422" y="97797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33333"/>
                </a:solidFill>
                <a:latin typeface="OpenSans-Bold"/>
              </a:rPr>
              <a:t>Loss</a:t>
            </a:r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讲解（前置知识</a:t>
            </a:r>
            <a:r>
              <a:rPr lang="en-US" altLang="zh-CN" b="1" dirty="0">
                <a:solidFill>
                  <a:srgbClr val="333333"/>
                </a:solidFill>
                <a:latin typeface="OpenSans-Bold"/>
              </a:rPr>
              <a:t>DM</a:t>
            </a:r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或者</a:t>
            </a:r>
            <a:r>
              <a:rPr lang="en-US" altLang="zh-CN" b="1" dirty="0">
                <a:solidFill>
                  <a:srgbClr val="333333"/>
                </a:solidFill>
                <a:latin typeface="OpenSans-Bold"/>
              </a:rPr>
              <a:t>SD</a:t>
            </a:r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）：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86EC792-8F68-E504-2928-8E09A79C2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13" y="2059158"/>
            <a:ext cx="5016758" cy="255918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B46518C-C9D4-0019-D3C0-47FAA9452F2B}"/>
              </a:ext>
            </a:extLst>
          </p:cNvPr>
          <p:cNvSpPr txBox="1"/>
          <p:nvPr/>
        </p:nvSpPr>
        <p:spPr>
          <a:xfrm>
            <a:off x="906613" y="1690471"/>
            <a:ext cx="1817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OpenSans-Bold"/>
              </a:rPr>
              <a:t>SD</a:t>
            </a:r>
            <a:r>
              <a:rPr lang="zh-CN" altLang="en-US" sz="1400" b="1" dirty="0">
                <a:solidFill>
                  <a:srgbClr val="333333"/>
                </a:solidFill>
                <a:latin typeface="OpenSans-Bold"/>
              </a:rPr>
              <a:t>的流程介绍：</a:t>
            </a:r>
            <a:endParaRPr lang="zh-CN" altLang="en-US" sz="14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AAF345-CD61-3255-C7CA-B66AC09EC0D4}"/>
              </a:ext>
            </a:extLst>
          </p:cNvPr>
          <p:cNvSpPr txBox="1"/>
          <p:nvPr/>
        </p:nvSpPr>
        <p:spPr>
          <a:xfrm>
            <a:off x="868227" y="4730786"/>
            <a:ext cx="540868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这里不详细介绍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的原理或者模型的流程（讲的话太多了，得加钱！）。这里我主要以自己的理解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一句话概括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生成时候的流程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：先将输入的文本转换为向量然后经过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transformer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，将这个结果与时间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、噪声图片作为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U-net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的输入，然后预测噪声，利用公式去噪还原图片。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F647456-30F5-E6BF-DB8A-47DC46BC5AF7}"/>
              </a:ext>
            </a:extLst>
          </p:cNvPr>
          <p:cNvSpPr txBox="1"/>
          <p:nvPr/>
        </p:nvSpPr>
        <p:spPr>
          <a:xfrm>
            <a:off x="6253088" y="2897070"/>
            <a:ext cx="56449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思考：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U-net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在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或者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DM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中扮演的角色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——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预测每一个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timestep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时候的噪声，而本文提出的</a:t>
            </a:r>
            <a:r>
              <a:rPr lang="en-US" altLang="zh-CN" sz="14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Controlnet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是和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U-net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连接，因此思考</a:t>
            </a:r>
            <a:r>
              <a:rPr lang="en-US" altLang="zh-CN" sz="1400" dirty="0" err="1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Controlnet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的损失函数发现其实不难理解，直接使用原来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DM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或者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的损失函数。</a:t>
            </a:r>
            <a:endParaRPr lang="en-US" altLang="zh-CN" sz="14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EB5210A-54B7-AE9A-7E2E-DF9CE2FA5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55" y="3680186"/>
            <a:ext cx="3937202" cy="41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7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18913" y="1708058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396482" y="3576625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43181" y="2574495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881172" y="2530885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28104" y="3467708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881172" y="4407621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6B6109-B143-F52C-3744-622B89F38707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1F9A1B-3F5C-2B37-CEE2-F1C97BBADAB7}"/>
              </a:ext>
            </a:extLst>
          </p:cNvPr>
          <p:cNvSpPr txBox="1"/>
          <p:nvPr/>
        </p:nvSpPr>
        <p:spPr>
          <a:xfrm>
            <a:off x="763422" y="97797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补充（学习过程中遇到的问题以及注意事项）：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63E510-FD0D-F0D6-3AC7-E60893FF877E}"/>
              </a:ext>
            </a:extLst>
          </p:cNvPr>
          <p:cNvSpPr txBox="1"/>
          <p:nvPr/>
        </p:nvSpPr>
        <p:spPr>
          <a:xfrm>
            <a:off x="763421" y="1947345"/>
            <a:ext cx="4098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、为什么trainable copy是network block的copy，而不是重新进行训练？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1497A5-9940-5033-8D03-27E5A59E8F19}"/>
              </a:ext>
            </a:extLst>
          </p:cNvPr>
          <p:cNvSpPr txBox="1"/>
          <p:nvPr/>
        </p:nvSpPr>
        <p:spPr>
          <a:xfrm>
            <a:off x="780622" y="2478488"/>
            <a:ext cx="4242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答：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避免过拟合当数据集过小时候过拟合，同时保持原来的模型从大量数据上已经学习到的能力。</a:t>
            </a:r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69135F41-8316-C053-D54E-09E67101FD7A}"/>
              </a:ext>
            </a:extLst>
          </p:cNvPr>
          <p:cNvSpPr/>
          <p:nvPr/>
        </p:nvSpPr>
        <p:spPr>
          <a:xfrm>
            <a:off x="7429025" y="2599782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 9">
            <a:extLst>
              <a:ext uri="{FF2B5EF4-FFF2-40B4-BE49-F238E27FC236}">
                <a16:creationId xmlns:a16="http://schemas.microsoft.com/office/drawing/2014/main" id="{3F8EDBC8-C0B4-10D4-D0A3-E75EF1F913AD}"/>
              </a:ext>
            </a:extLst>
          </p:cNvPr>
          <p:cNvSpPr/>
          <p:nvPr/>
        </p:nvSpPr>
        <p:spPr>
          <a:xfrm>
            <a:off x="5691530" y="3509044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 10">
            <a:extLst>
              <a:ext uri="{FF2B5EF4-FFF2-40B4-BE49-F238E27FC236}">
                <a16:creationId xmlns:a16="http://schemas.microsoft.com/office/drawing/2014/main" id="{8D67B0BE-4947-9690-B715-7A6B6554011F}"/>
              </a:ext>
            </a:extLst>
          </p:cNvPr>
          <p:cNvSpPr/>
          <p:nvPr/>
        </p:nvSpPr>
        <p:spPr>
          <a:xfrm>
            <a:off x="9053293" y="3466219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3" name="Прямоугольник 15">
            <a:extLst>
              <a:ext uri="{FF2B5EF4-FFF2-40B4-BE49-F238E27FC236}">
                <a16:creationId xmlns:a16="http://schemas.microsoft.com/office/drawing/2014/main" id="{7E378E73-62E5-311E-EB32-FFBA30199F6E}"/>
              </a:ext>
            </a:extLst>
          </p:cNvPr>
          <p:cNvSpPr/>
          <p:nvPr/>
        </p:nvSpPr>
        <p:spPr>
          <a:xfrm>
            <a:off x="7891284" y="3422609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79693CD-F3DB-C16B-6300-619610B4E8FC}"/>
              </a:ext>
            </a:extLst>
          </p:cNvPr>
          <p:cNvSpPr txBox="1"/>
          <p:nvPr/>
        </p:nvSpPr>
        <p:spPr>
          <a:xfrm>
            <a:off x="763420" y="3181826"/>
            <a:ext cx="7779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、为什么用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zero conv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？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86E264-A5EE-A741-99F3-753DB7D3409C}"/>
              </a:ext>
            </a:extLst>
          </p:cNvPr>
          <p:cNvSpPr txBox="1"/>
          <p:nvPr/>
        </p:nvSpPr>
        <p:spPr>
          <a:xfrm>
            <a:off x="763420" y="3515882"/>
            <a:ext cx="40981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答：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防止在训练开始有害的噪声影响模型，且一开始相当于原先的</a:t>
            </a:r>
            <a:r>
              <a:rPr lang="en-US" altLang="zh-CN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DM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。这样设计使得模型功能齐全，并保留了大型预训练模型的功能。零卷积通过消除初始梯度中的随机噪声来保护这个框架。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2D6752A-7B96-350C-A74C-2ECFA97A5E03}"/>
              </a:ext>
            </a:extLst>
          </p:cNvPr>
          <p:cNvSpPr txBox="1"/>
          <p:nvPr/>
        </p:nvSpPr>
        <p:spPr>
          <a:xfrm>
            <a:off x="763420" y="1542413"/>
            <a:ext cx="5942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问题：</a:t>
            </a:r>
          </a:p>
        </p:txBody>
      </p:sp>
      <p:sp>
        <p:nvSpPr>
          <p:cNvPr id="37" name="Прямоугольник 9">
            <a:extLst>
              <a:ext uri="{FF2B5EF4-FFF2-40B4-BE49-F238E27FC236}">
                <a16:creationId xmlns:a16="http://schemas.microsoft.com/office/drawing/2014/main" id="{5EBB5767-320B-13E8-DD0C-EC51FA6B19C6}"/>
              </a:ext>
            </a:extLst>
          </p:cNvPr>
          <p:cNvSpPr/>
          <p:nvPr/>
        </p:nvSpPr>
        <p:spPr>
          <a:xfrm>
            <a:off x="12104174" y="2670141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18">
            <a:extLst>
              <a:ext uri="{FF2B5EF4-FFF2-40B4-BE49-F238E27FC236}">
                <a16:creationId xmlns:a16="http://schemas.microsoft.com/office/drawing/2014/main" id="{085590FE-2294-E9C1-C6A6-5C07C93020AB}"/>
              </a:ext>
            </a:extLst>
          </p:cNvPr>
          <p:cNvSpPr/>
          <p:nvPr/>
        </p:nvSpPr>
        <p:spPr>
          <a:xfrm>
            <a:off x="12594865" y="3514866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C6A4F2-13A3-D845-F265-B6B03F04812F}"/>
              </a:ext>
            </a:extLst>
          </p:cNvPr>
          <p:cNvSpPr txBox="1"/>
          <p:nvPr/>
        </p:nvSpPr>
        <p:spPr>
          <a:xfrm>
            <a:off x="5870568" y="1703112"/>
            <a:ext cx="59421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由于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SD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是将图片先映射到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latent images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上训练的，所以我们要将额外的条件图片，也就是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也映射到</a:t>
            </a:r>
            <a:r>
              <a:rPr lang="en-US" altLang="zh-CN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latent images</a:t>
            </a:r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</a:p>
        </p:txBody>
      </p:sp>
      <p:sp>
        <p:nvSpPr>
          <p:cNvPr id="41" name="Прямоугольник 9">
            <a:extLst>
              <a:ext uri="{FF2B5EF4-FFF2-40B4-BE49-F238E27FC236}">
                <a16:creationId xmlns:a16="http://schemas.microsoft.com/office/drawing/2014/main" id="{124EF4D7-6A7C-88F4-4677-12AA099699D4}"/>
              </a:ext>
            </a:extLst>
          </p:cNvPr>
          <p:cNvSpPr/>
          <p:nvPr/>
        </p:nvSpPr>
        <p:spPr>
          <a:xfrm>
            <a:off x="12114286" y="3561865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88F1E7-3C10-D8DE-4F17-B53DD3B310FA}"/>
              </a:ext>
            </a:extLst>
          </p:cNvPr>
          <p:cNvSpPr txBox="1"/>
          <p:nvPr/>
        </p:nvSpPr>
        <p:spPr>
          <a:xfrm>
            <a:off x="3569281" y="48883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小技巧（？）：</a:t>
            </a:r>
            <a:r>
              <a:rPr lang="zh-CN" altLang="en-US" sz="1400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训练的时候可以将文本提示词设置为空，实验中这样使得模型能力更好了。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67F8150-56D6-E16F-7BA1-0E7C5D1DF3E9}"/>
              </a:ext>
            </a:extLst>
          </p:cNvPr>
          <p:cNvSpPr txBox="1"/>
          <p:nvPr/>
        </p:nvSpPr>
        <p:spPr>
          <a:xfrm>
            <a:off x="5535582" y="1411539"/>
            <a:ext cx="3036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33333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注意事项：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AAEB3F4-5891-A7B4-B17B-5DF7E311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588" y="2275407"/>
            <a:ext cx="3569452" cy="243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1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7" grpId="0"/>
      <p:bldP spid="38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005" y="346710"/>
            <a:ext cx="11603990" cy="6163945"/>
          </a:xfrm>
          <a:prstGeom prst="rect">
            <a:avLst/>
          </a:prstGeom>
          <a:noFill/>
          <a:ln w="31750">
            <a:solidFill>
              <a:srgbClr val="4C5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9337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6" name="矩形 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541000" y="34417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0" name="矩形 9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294005" y="5150485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3" name="矩形 12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 flipH="1" flipV="1">
            <a:off x="10497820" y="5111750"/>
            <a:ext cx="1457960" cy="1457960"/>
            <a:chOff x="394" y="480"/>
            <a:chExt cx="2296" cy="2296"/>
          </a:xfrm>
          <a:solidFill>
            <a:srgbClr val="69565B">
              <a:alpha val="74000"/>
            </a:srgbClr>
          </a:solidFill>
        </p:grpSpPr>
        <p:sp>
          <p:nvSpPr>
            <p:cNvPr id="16" name="矩形 15"/>
            <p:cNvSpPr/>
            <p:nvPr/>
          </p:nvSpPr>
          <p:spPr>
            <a:xfrm>
              <a:off x="394" y="481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16200000">
              <a:off x="-678" y="1552"/>
              <a:ext cx="2296" cy="153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Прямоугольник 7"/>
          <p:cNvSpPr/>
          <p:nvPr/>
        </p:nvSpPr>
        <p:spPr>
          <a:xfrm>
            <a:off x="7418913" y="1708058"/>
            <a:ext cx="67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8"/>
          <p:cNvSpPr/>
          <p:nvPr/>
        </p:nvSpPr>
        <p:spPr>
          <a:xfrm>
            <a:off x="7396482" y="3576625"/>
            <a:ext cx="747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5681418" y="2617320"/>
            <a:ext cx="757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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10"/>
          <p:cNvSpPr/>
          <p:nvPr/>
        </p:nvSpPr>
        <p:spPr>
          <a:xfrm>
            <a:off x="9043181" y="2574495"/>
            <a:ext cx="716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7881172" y="2530885"/>
            <a:ext cx="44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16"/>
          <p:cNvSpPr/>
          <p:nvPr/>
        </p:nvSpPr>
        <p:spPr>
          <a:xfrm>
            <a:off x="9528104" y="3467708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17"/>
          <p:cNvSpPr/>
          <p:nvPr/>
        </p:nvSpPr>
        <p:spPr>
          <a:xfrm>
            <a:off x="7881172" y="4407621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18"/>
          <p:cNvSpPr/>
          <p:nvPr/>
        </p:nvSpPr>
        <p:spPr>
          <a:xfrm>
            <a:off x="6172109" y="3462045"/>
            <a:ext cx="44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/>
                </a:solidFill>
                <a:latin typeface="Montserrat SemiBold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057376-2142-FD15-13A6-BF4C8E1C25D5}"/>
              </a:ext>
            </a:extLst>
          </p:cNvPr>
          <p:cNvSpPr txBox="1"/>
          <p:nvPr/>
        </p:nvSpPr>
        <p:spPr>
          <a:xfrm>
            <a:off x="763422" y="525302"/>
            <a:ext cx="84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“Adding Conditional Control to Text-to-Image Diffusion Models”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（</a:t>
            </a:r>
            <a:r>
              <a:rPr lang="en-US" altLang="zh-CN" sz="1800" b="1" dirty="0">
                <a:solidFill>
                  <a:srgbClr val="333333"/>
                </a:solidFill>
                <a:effectLst/>
                <a:latin typeface="OpenSans-Bold"/>
              </a:rPr>
              <a:t>ICCV 2023</a:t>
            </a:r>
            <a:r>
              <a:rPr lang="zh-CN" altLang="en-US" sz="1800" b="1" dirty="0">
                <a:solidFill>
                  <a:srgbClr val="333333"/>
                </a:solidFill>
                <a:effectLst/>
                <a:latin typeface="OpenSans-Bold"/>
              </a:rPr>
              <a:t>）</a:t>
            </a:r>
            <a:endParaRPr lang="en-US" altLang="zh-CN" sz="1800" b="1" dirty="0">
              <a:solidFill>
                <a:srgbClr val="333333"/>
              </a:solidFill>
              <a:effectLst/>
              <a:latin typeface="OpenSans-Bold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CC501B-67D5-A31B-EF02-D30773F4A87D}"/>
              </a:ext>
            </a:extLst>
          </p:cNvPr>
          <p:cNvSpPr txBox="1"/>
          <p:nvPr/>
        </p:nvSpPr>
        <p:spPr>
          <a:xfrm>
            <a:off x="763422" y="977976"/>
            <a:ext cx="540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Sans-Bold"/>
              </a:rPr>
              <a:t>在回顾一遍：</a:t>
            </a:r>
            <a:r>
              <a:rPr lang="zh-CN" altLang="en-US" sz="16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endParaRPr lang="zh-CN" altLang="en-US" sz="1600" dirty="0">
              <a:solidFill>
                <a:srgbClr val="3333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14F5390-1DE4-CFA8-DD36-72BE0A203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212" y="1213140"/>
            <a:ext cx="8043794" cy="472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4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794</Words>
  <Application>Microsoft Office PowerPoint</Application>
  <PresentationFormat>宽屏</PresentationFormat>
  <Paragraphs>116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FontAwesome</vt:lpstr>
      <vt:lpstr>OpenSans-Bold</vt:lpstr>
      <vt:lpstr>等线</vt:lpstr>
      <vt:lpstr>等线 Light</vt:lpstr>
      <vt:lpstr>华文仿宋</vt:lpstr>
      <vt:lpstr>Arial</vt:lpstr>
      <vt:lpstr>Montserrat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轶波 蒋</dc:creator>
  <cp:lastModifiedBy>轶波 蒋</cp:lastModifiedBy>
  <cp:revision>2</cp:revision>
  <dcterms:created xsi:type="dcterms:W3CDTF">2024-06-08T07:32:36Z</dcterms:created>
  <dcterms:modified xsi:type="dcterms:W3CDTF">2024-06-13T10:14:57Z</dcterms:modified>
</cp:coreProperties>
</file>