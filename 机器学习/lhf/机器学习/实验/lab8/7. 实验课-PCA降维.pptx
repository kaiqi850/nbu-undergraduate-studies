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460" r:id="rId2"/>
    <p:sldId id="429" r:id="rId3"/>
    <p:sldId id="516" r:id="rId4"/>
    <p:sldId id="520" r:id="rId5"/>
    <p:sldId id="430" r:id="rId6"/>
    <p:sldId id="517" r:id="rId7"/>
    <p:sldId id="449" r:id="rId8"/>
  </p:sldIdLst>
  <p:sldSz cx="12192000" cy="6858000"/>
  <p:notesSz cx="12192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90">
          <p15:clr>
            <a:srgbClr val="A4A3A4"/>
          </p15:clr>
        </p15:guide>
        <p15:guide id="2" pos="217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7" d="100"/>
          <a:sy n="117" d="100"/>
        </p:scale>
        <p:origin x="566" y="96"/>
      </p:cViewPr>
      <p:guideLst>
        <p:guide orient="horz" pos="2990"/>
        <p:guide pos="217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2024/6/18</a:t>
            </a:fld>
            <a:endParaRPr lang="zh-CN" altLang="en-US"/>
          </a:p>
        </p:txBody>
      </p:sp>
      <p:sp>
        <p:nvSpPr>
          <p:cNvPr id="4" name="幻灯片图像占位符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294813" y="642938"/>
            <a:ext cx="3086100" cy="1736725"/>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300" b="0" i="0">
                <a:solidFill>
                  <a:schemeClr val="tx1"/>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微软雅黑" panose="020B0503020204020204" charset="-122"/>
                <a:cs typeface="微软雅黑" panose="020B0503020204020204" charset="-122"/>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300" b="0" i="0">
                <a:solidFill>
                  <a:schemeClr val="tx1"/>
                </a:solidFill>
                <a:latin typeface="微软雅黑" panose="020B0503020204020204" charset="-122"/>
                <a:cs typeface="微软雅黑" panose="020B0503020204020204" charset="-122"/>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543555" y="1412747"/>
            <a:ext cx="6624828" cy="3977640"/>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5300" b="0" i="0">
                <a:solidFill>
                  <a:schemeClr val="tx1"/>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109216" y="1519427"/>
            <a:ext cx="7973568" cy="4780788"/>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580129" y="438734"/>
            <a:ext cx="5031740" cy="838200"/>
          </a:xfrm>
          <a:prstGeom prst="rect">
            <a:avLst/>
          </a:prstGeom>
        </p:spPr>
        <p:txBody>
          <a:bodyPr wrap="square" lIns="0" tIns="0" rIns="0" bIns="0">
            <a:spAutoFit/>
          </a:bodyPr>
          <a:lstStyle>
            <a:lvl1pPr>
              <a:defRPr sz="5300" b="0" i="0">
                <a:solidFill>
                  <a:schemeClr val="tx1"/>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a:xfrm>
            <a:off x="1399412" y="1832435"/>
            <a:ext cx="9393174" cy="4598035"/>
          </a:xfrm>
          <a:prstGeom prst="rect">
            <a:avLst/>
          </a:prstGeom>
        </p:spPr>
        <p:txBody>
          <a:bodyPr wrap="square" lIns="0" tIns="0" rIns="0" bIns="0">
            <a:spAutoFit/>
          </a:bodyPr>
          <a:lstStyle>
            <a:lvl1pPr>
              <a:defRPr sz="2000" b="0" i="0">
                <a:solidFill>
                  <a:schemeClr val="tx1"/>
                </a:solidFill>
                <a:latin typeface="微软雅黑" panose="020B0503020204020204" charset="-122"/>
                <a:cs typeface="微软雅黑" panose="020B0503020204020204" charset="-122"/>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scikit-learn.org/stable/modules/generated/sklearn.decomposition.PCA.html?highlight=decomposition%20pca#sklearn.decomposition.PCA" TargetMode="Externa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43583" y="4036314"/>
            <a:ext cx="9715500" cy="0"/>
          </a:xfrm>
          <a:custGeom>
            <a:avLst/>
            <a:gdLst/>
            <a:ahLst/>
            <a:cxnLst/>
            <a:rect l="l" t="t" r="r" b="b"/>
            <a:pathLst>
              <a:path w="9715500">
                <a:moveTo>
                  <a:pt x="0" y="0"/>
                </a:moveTo>
                <a:lnTo>
                  <a:pt x="9715500" y="0"/>
                </a:lnTo>
              </a:path>
            </a:pathLst>
          </a:custGeom>
          <a:ln w="16763">
            <a:solidFill>
              <a:srgbClr val="C19958"/>
            </a:solidFill>
          </a:ln>
        </p:spPr>
        <p:txBody>
          <a:bodyPr wrap="square" lIns="0" tIns="0" rIns="0" bIns="0" rtlCol="0"/>
          <a:lstStyle/>
          <a:p>
            <a:endParaRPr/>
          </a:p>
        </p:txBody>
      </p:sp>
      <p:sp>
        <p:nvSpPr>
          <p:cNvPr id="3" name="object 3"/>
          <p:cNvSpPr txBox="1">
            <a:spLocks noGrp="1"/>
          </p:cNvSpPr>
          <p:nvPr>
            <p:ph type="title"/>
          </p:nvPr>
        </p:nvSpPr>
        <p:spPr>
          <a:xfrm>
            <a:off x="4648200" y="152400"/>
            <a:ext cx="2821305" cy="444500"/>
          </a:xfrm>
          <a:prstGeom prst="rect">
            <a:avLst/>
          </a:prstGeom>
        </p:spPr>
        <p:txBody>
          <a:bodyPr vert="horz" wrap="square" lIns="0" tIns="14604" rIns="0" bIns="0" rtlCol="0">
            <a:spAutoFit/>
          </a:bodyPr>
          <a:lstStyle/>
          <a:p>
            <a:pPr marL="12700">
              <a:lnSpc>
                <a:spcPct val="100000"/>
              </a:lnSpc>
              <a:spcBef>
                <a:spcPts val="115"/>
              </a:spcBef>
            </a:pPr>
            <a:r>
              <a:rPr lang="zh-CN" sz="2800" spc="15" dirty="0">
                <a:ea typeface="微软雅黑" panose="020B0503020204020204" charset="-122"/>
              </a:rPr>
              <a:t>机器学习实验课</a:t>
            </a:r>
            <a:r>
              <a:rPr lang="en-US" altLang="zh-CN" sz="2800" spc="15" dirty="0">
                <a:ea typeface="微软雅黑" panose="020B0503020204020204" charset="-122"/>
              </a:rPr>
              <a:t>7</a:t>
            </a:r>
          </a:p>
        </p:txBody>
      </p:sp>
      <p:sp>
        <p:nvSpPr>
          <p:cNvPr id="4" name="object 4"/>
          <p:cNvSpPr txBox="1"/>
          <p:nvPr/>
        </p:nvSpPr>
        <p:spPr>
          <a:xfrm>
            <a:off x="6378955" y="3604971"/>
            <a:ext cx="4503420" cy="1980565"/>
          </a:xfrm>
          <a:prstGeom prst="rect">
            <a:avLst/>
          </a:prstGeom>
        </p:spPr>
        <p:txBody>
          <a:bodyPr vert="horz" wrap="square" lIns="0" tIns="17145" rIns="0" bIns="0" rtlCol="0">
            <a:spAutoFit/>
          </a:bodyPr>
          <a:lstStyle/>
          <a:p>
            <a:pPr marR="5080" algn="r">
              <a:lnSpc>
                <a:spcPct val="100000"/>
              </a:lnSpc>
              <a:spcBef>
                <a:spcPts val="135"/>
              </a:spcBef>
            </a:pPr>
            <a:r>
              <a:rPr sz="2100" b="1" i="1" spc="20" dirty="0">
                <a:solidFill>
                  <a:srgbClr val="585858"/>
                </a:solidFill>
                <a:latin typeface="Palatino Linotype" panose="02040502050505030304"/>
                <a:cs typeface="Palatino Linotype" panose="02040502050505030304"/>
              </a:rPr>
              <a:t>ML0</a:t>
            </a:r>
            <a:r>
              <a:rPr lang="en-US" sz="2100" b="1" i="1" spc="20" dirty="0">
                <a:solidFill>
                  <a:srgbClr val="585858"/>
                </a:solidFill>
                <a:latin typeface="Palatino Linotype" panose="02040502050505030304"/>
                <a:cs typeface="Palatino Linotype" panose="02040502050505030304"/>
              </a:rPr>
              <a:t>7</a:t>
            </a:r>
            <a:endParaRPr sz="2100" dirty="0">
              <a:latin typeface="Palatino Linotype" panose="02040502050505030304"/>
              <a:cs typeface="Palatino Linotype" panose="02040502050505030304"/>
            </a:endParaRPr>
          </a:p>
          <a:p>
            <a:pPr>
              <a:lnSpc>
                <a:spcPct val="100000"/>
              </a:lnSpc>
            </a:pPr>
            <a:endParaRPr sz="2100" dirty="0">
              <a:latin typeface="Times New Roman" panose="02020603050405020304"/>
              <a:cs typeface="Times New Roman" panose="02020603050405020304"/>
            </a:endParaRPr>
          </a:p>
          <a:p>
            <a:pPr>
              <a:lnSpc>
                <a:spcPct val="100000"/>
              </a:lnSpc>
              <a:spcBef>
                <a:spcPts val="40"/>
              </a:spcBef>
            </a:pPr>
            <a:endParaRPr sz="2800" dirty="0">
              <a:latin typeface="Times New Roman" panose="02020603050405020304"/>
              <a:cs typeface="Times New Roman" panose="02020603050405020304"/>
            </a:endParaRPr>
          </a:p>
          <a:p>
            <a:pPr marR="1304290" algn="ctr">
              <a:lnSpc>
                <a:spcPct val="100000"/>
              </a:lnSpc>
            </a:pPr>
            <a:r>
              <a:rPr lang="en-US" altLang="zh-CN" sz="2400" dirty="0">
                <a:latin typeface="微软雅黑" panose="020B0503020204020204" charset="-122"/>
                <a:cs typeface="微软雅黑" panose="020B0503020204020204" charset="-122"/>
              </a:rPr>
              <a:t>    </a:t>
            </a:r>
            <a:r>
              <a:rPr sz="2400" b="1" dirty="0" err="1">
                <a:latin typeface="微软雅黑" panose="020B0503020204020204" charset="-122"/>
                <a:ea typeface="微软雅黑" panose="020B0503020204020204" charset="-122"/>
                <a:cs typeface="微软雅黑" panose="020B0503020204020204" charset="-122"/>
              </a:rPr>
              <a:t>助教</a:t>
            </a:r>
            <a:r>
              <a:rPr sz="2400" b="1" dirty="0">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万凌鸿</a:t>
            </a:r>
            <a:endParaRPr sz="2400" b="1" dirty="0">
              <a:latin typeface="微软雅黑" panose="020B0503020204020204" charset="-122"/>
              <a:cs typeface="微软雅黑" panose="020B0503020204020204" charset="-122"/>
            </a:endParaRPr>
          </a:p>
          <a:p>
            <a:pPr marR="1217930" algn="ctr">
              <a:lnSpc>
                <a:spcPct val="100000"/>
              </a:lnSpc>
              <a:spcBef>
                <a:spcPts val="1110"/>
              </a:spcBef>
            </a:pPr>
            <a:endParaRPr sz="2400" b="1" dirty="0">
              <a:latin typeface="微软雅黑" panose="020B0503020204020204" charset="-122"/>
              <a:cs typeface="微软雅黑" panose="020B0503020204020204" charset="-122"/>
            </a:endParaRPr>
          </a:p>
        </p:txBody>
      </p:sp>
      <p:sp>
        <p:nvSpPr>
          <p:cNvPr id="5" name="object 5"/>
          <p:cNvSpPr/>
          <p:nvPr/>
        </p:nvSpPr>
        <p:spPr>
          <a:xfrm>
            <a:off x="2712290" y="4835024"/>
            <a:ext cx="2404664" cy="794484"/>
          </a:xfrm>
          <a:prstGeom prst="rect">
            <a:avLst/>
          </a:prstGeom>
          <a:blipFill>
            <a:blip r:embed="rId2" cstate="print"/>
            <a:stretch>
              <a:fillRect/>
            </a:stretch>
          </a:blipFill>
        </p:spPr>
        <p:txBody>
          <a:bodyPr wrap="square" lIns="0" tIns="0" rIns="0" bIns="0" rtlCol="0"/>
          <a:lstStyle/>
          <a:p>
            <a:endParaRPr/>
          </a:p>
        </p:txBody>
      </p:sp>
      <p:sp>
        <p:nvSpPr>
          <p:cNvPr id="6" name="灯片编号占位符 5"/>
          <p:cNvSpPr>
            <a:spLocks noGrp="1"/>
          </p:cNvSpPr>
          <p:nvPr>
            <p:ph type="sldNum" sz="quarter" idx="7"/>
          </p:nvPr>
        </p:nvSpPr>
        <p:spPr/>
        <p:txBody>
          <a:bodyPr/>
          <a:lstStyle/>
          <a:p>
            <a:fld id="{B6F15528-21DE-4FAA-801E-634DDDAF4B2B}" type="slidenum">
              <a:rPr/>
              <a:t>1</a:t>
            </a:fld>
            <a:endParaRPr/>
          </a:p>
        </p:txBody>
      </p:sp>
      <p:sp>
        <p:nvSpPr>
          <p:cNvPr id="7" name="object 3"/>
          <p:cNvSpPr txBox="1">
            <a:spLocks noGrp="1"/>
          </p:cNvSpPr>
          <p:nvPr/>
        </p:nvSpPr>
        <p:spPr>
          <a:xfrm>
            <a:off x="2712085" y="2971800"/>
            <a:ext cx="7226300" cy="937260"/>
          </a:xfrm>
          <a:prstGeom prst="rect">
            <a:avLst/>
          </a:prstGeom>
        </p:spPr>
        <p:txBody>
          <a:bodyPr vert="horz" wrap="square" lIns="0" tIns="14604" rIns="0" bIns="0" rtlCol="0">
            <a:spAutoFit/>
          </a:bodyPr>
          <a:lstStyle>
            <a:lvl1pPr>
              <a:defRPr sz="5300" b="0" i="0">
                <a:solidFill>
                  <a:schemeClr val="tx1"/>
                </a:solidFill>
                <a:latin typeface="微软雅黑" panose="020B0503020204020204" charset="-122"/>
                <a:ea typeface="+mj-ea"/>
                <a:cs typeface="微软雅黑" panose="020B0503020204020204" charset="-122"/>
              </a:defRPr>
            </a:lvl1pPr>
          </a:lstStyle>
          <a:p>
            <a:pPr marL="12700">
              <a:lnSpc>
                <a:spcPct val="100000"/>
              </a:lnSpc>
              <a:spcBef>
                <a:spcPts val="115"/>
              </a:spcBef>
            </a:pPr>
            <a:r>
              <a:rPr lang="en-US" altLang="zh-CN" sz="6000" b="1" spc="15" dirty="0">
                <a:ea typeface="微软雅黑" panose="020B0503020204020204" charset="-122"/>
              </a:rPr>
              <a:t>    </a:t>
            </a:r>
            <a:r>
              <a:rPr lang="en-US" altLang="zh-CN" sz="6000" b="1" spc="15" dirty="0">
                <a:latin typeface="Arial" panose="020B0604020202020204" pitchFamily="34" charset="0"/>
                <a:ea typeface="微软雅黑" panose="020B0503020204020204" charset="-122"/>
                <a:cs typeface="Arial" panose="020B0604020202020204" pitchFamily="34" charset="0"/>
              </a:rPr>
              <a:t>   PCA</a:t>
            </a:r>
            <a:r>
              <a:rPr lang="zh-CN" altLang="en-US" sz="6000" b="1" spc="15" dirty="0">
                <a:latin typeface="Arial" panose="020B0604020202020204" pitchFamily="34" charset="0"/>
                <a:ea typeface="微软雅黑" panose="020B0503020204020204" charset="-122"/>
                <a:cs typeface="Arial" panose="020B0604020202020204" pitchFamily="34" charset="0"/>
              </a:rPr>
              <a:t>降维</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5800" y="3048000"/>
            <a:ext cx="2909570" cy="754380"/>
          </a:xfrm>
          <a:prstGeom prst="rect">
            <a:avLst/>
          </a:prstGeom>
        </p:spPr>
        <p:txBody>
          <a:bodyPr vert="horz" wrap="square" lIns="0" tIns="15875" rIns="0" bIns="0" rtlCol="0">
            <a:spAutoFit/>
          </a:bodyPr>
          <a:lstStyle/>
          <a:p>
            <a:pPr marL="12700" algn="ctr">
              <a:lnSpc>
                <a:spcPct val="100000"/>
              </a:lnSpc>
              <a:spcBef>
                <a:spcPts val="125"/>
              </a:spcBef>
            </a:pPr>
            <a:r>
              <a:rPr lang="zh-CN" sz="4800" b="1" spc="25" dirty="0">
                <a:latin typeface="楷体" panose="02010609060101010101" charset="-122"/>
                <a:ea typeface="楷体" panose="02010609060101010101" charset="-122"/>
              </a:rPr>
              <a:t>实验任务</a:t>
            </a:r>
            <a:endParaRPr sz="4800" b="1" spc="25" dirty="0">
              <a:latin typeface="楷体" panose="02010609060101010101" charset="-122"/>
              <a:ea typeface="楷体" panose="02010609060101010101" charset="-122"/>
            </a:endParaRPr>
          </a:p>
        </p:txBody>
      </p:sp>
      <p:sp>
        <p:nvSpPr>
          <p:cNvPr id="3" name="灯片编号占位符 2"/>
          <p:cNvSpPr>
            <a:spLocks noGrp="1"/>
          </p:cNvSpPr>
          <p:nvPr>
            <p:ph type="sldNum" sz="quarter" idx="7"/>
          </p:nvPr>
        </p:nvSpPr>
        <p:spPr/>
        <p:txBody>
          <a:bodyPr/>
          <a:lstStyle/>
          <a:p>
            <a:fld id="{B6F15528-21DE-4FAA-801E-634DDDAF4B2B}"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7"/>
          </p:nvPr>
        </p:nvSpPr>
        <p:spPr/>
        <p:txBody>
          <a:bodyPr/>
          <a:lstStyle/>
          <a:p>
            <a:fld id="{B6F15528-21DE-4FAA-801E-634DDDAF4B2B}" type="slidenum">
              <a:rPr/>
              <a:t>3</a:t>
            </a:fld>
            <a:endParaRPr/>
          </a:p>
        </p:txBody>
      </p:sp>
      <p:sp>
        <p:nvSpPr>
          <p:cNvPr id="12" name="Rectangle 1"/>
          <p:cNvSpPr/>
          <p:nvPr/>
        </p:nvSpPr>
        <p:spPr>
          <a:xfrm>
            <a:off x="271780" y="71755"/>
            <a:ext cx="362077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3353"/>
            <a:ext cx="3597275"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sz="2000" spc="15" dirty="0">
                <a:solidFill>
                  <a:schemeClr val="bg1"/>
                </a:solidFill>
                <a:ea typeface="微软雅黑" panose="020B0503020204020204" charset="-122"/>
                <a:sym typeface="+mn-ea"/>
              </a:rPr>
              <a:t>主成分分析（PCA）</a:t>
            </a:r>
            <a:r>
              <a:rPr lang="zh-CN" sz="2000" spc="15" dirty="0">
                <a:solidFill>
                  <a:schemeClr val="bg1"/>
                </a:solidFill>
                <a:ea typeface="微软雅黑" panose="020B0503020204020204" charset="-122"/>
                <a:sym typeface="+mn-ea"/>
              </a:rPr>
              <a:t>实验任务</a:t>
            </a:r>
          </a:p>
        </p:txBody>
      </p:sp>
      <p:sp>
        <p:nvSpPr>
          <p:cNvPr id="6" name="文本框 5"/>
          <p:cNvSpPr txBox="1"/>
          <p:nvPr/>
        </p:nvSpPr>
        <p:spPr>
          <a:xfrm>
            <a:off x="609600" y="762000"/>
            <a:ext cx="11290300" cy="1337945"/>
          </a:xfrm>
          <a:prstGeom prst="rect">
            <a:avLst/>
          </a:prstGeom>
          <a:noFill/>
        </p:spPr>
        <p:txBody>
          <a:bodyPr wrap="square" rtlCol="0" anchor="t">
            <a:spAutoFit/>
          </a:bodyPr>
          <a:lstStyle/>
          <a:p>
            <a:pPr marL="342900" indent="-342900">
              <a:lnSpc>
                <a:spcPct val="150000"/>
              </a:lnSpc>
              <a:spcBef>
                <a:spcPts val="0"/>
              </a:spcBef>
              <a:spcAft>
                <a:spcPts val="0"/>
              </a:spcAft>
              <a:buBlip>
                <a:blip r:embed="rId2"/>
              </a:buBlip>
            </a:pPr>
            <a:r>
              <a:rPr lang="zh-CN">
                <a:latin typeface="微软雅黑" panose="020B0503020204020204" charset="-122"/>
                <a:ea typeface="微软雅黑" panose="020B0503020204020204" charset="-122"/>
                <a:cs typeface="微软雅黑" panose="020B0503020204020204" charset="-122"/>
                <a:sym typeface="+mn-ea"/>
              </a:rPr>
              <a:t>使用PCA算法对sklearn自带的鸢尾花数据集进行降维处理。</a:t>
            </a:r>
          </a:p>
          <a:p>
            <a:pPr marL="342900" indent="-342900">
              <a:lnSpc>
                <a:spcPct val="150000"/>
              </a:lnSpc>
              <a:spcBef>
                <a:spcPts val="0"/>
              </a:spcBef>
              <a:spcAft>
                <a:spcPts val="0"/>
              </a:spcAft>
              <a:buBlip>
                <a:blip r:embed="rId2"/>
              </a:buBlip>
            </a:pPr>
            <a:r>
              <a:rPr lang="zh-CN" altLang="en-US">
                <a:solidFill>
                  <a:srgbClr val="FF0000"/>
                </a:solidFill>
                <a:latin typeface="微软雅黑" panose="020B0503020204020204" charset="-122"/>
                <a:ea typeface="微软雅黑" panose="020B0503020204020204" charset="-122"/>
                <a:cs typeface="微软雅黑" panose="020B0503020204020204" charset="-122"/>
              </a:rPr>
              <a:t>要求</a:t>
            </a:r>
            <a:r>
              <a:rPr lang="zh-CN" altLang="en-US">
                <a:latin typeface="微软雅黑" panose="020B0503020204020204" charset="-122"/>
                <a:ea typeface="微软雅黑" panose="020B0503020204020204" charset="-122"/>
                <a:cs typeface="微软雅黑" panose="020B0503020204020204" charset="-122"/>
              </a:rPr>
              <a:t>：</a:t>
            </a:r>
            <a:r>
              <a:rPr lang="en-US" altLang="zh-CN">
                <a:latin typeface="微软雅黑" panose="020B0503020204020204" charset="-122"/>
                <a:ea typeface="微软雅黑" panose="020B0503020204020204" charset="-122"/>
                <a:cs typeface="微软雅黑" panose="020B0503020204020204" charset="-122"/>
              </a:rPr>
              <a:t>1. </a:t>
            </a:r>
            <a:r>
              <a:rPr lang="zh-CN" altLang="en-US">
                <a:latin typeface="微软雅黑" panose="020B0503020204020204" charset="-122"/>
                <a:ea typeface="微软雅黑" panose="020B0503020204020204" charset="-122"/>
                <a:cs typeface="微软雅黑" panose="020B0503020204020204" charset="-122"/>
                <a:sym typeface="+mn-ea"/>
              </a:rPr>
              <a:t>并选取最佳的降维维度</a:t>
            </a:r>
            <a:r>
              <a:rPr lang="en-US" altLang="zh-CN">
                <a:latin typeface="微软雅黑" panose="020B0503020204020204" charset="-122"/>
                <a:ea typeface="微软雅黑" panose="020B0503020204020204" charset="-122"/>
                <a:cs typeface="微软雅黑" panose="020B0503020204020204" charset="-122"/>
                <a:sym typeface="+mn-ea"/>
              </a:rPr>
              <a:t>(n_components)</a:t>
            </a:r>
          </a:p>
          <a:p>
            <a:pPr indent="0">
              <a:lnSpc>
                <a:spcPct val="150000"/>
              </a:lnSpc>
              <a:spcBef>
                <a:spcPts val="0"/>
              </a:spcBef>
              <a:spcAft>
                <a:spcPts val="0"/>
              </a:spcAft>
              <a:buNone/>
            </a:pPr>
            <a:r>
              <a:rPr lang="en-US" altLang="zh-CN">
                <a:latin typeface="微软雅黑" panose="020B0503020204020204" charset="-122"/>
                <a:ea typeface="微软雅黑" panose="020B0503020204020204" charset="-122"/>
                <a:cs typeface="微软雅黑" panose="020B0503020204020204" charset="-122"/>
              </a:rPr>
              <a:t> 	  2. </a:t>
            </a:r>
            <a:r>
              <a:rPr lang="zh-CN" altLang="en-US">
                <a:latin typeface="微软雅黑" panose="020B0503020204020204" charset="-122"/>
                <a:ea typeface="微软雅黑" panose="020B0503020204020204" charset="-122"/>
                <a:cs typeface="微软雅黑" panose="020B0503020204020204" charset="-122"/>
              </a:rPr>
              <a:t>自己实现的</a:t>
            </a:r>
            <a:r>
              <a:rPr lang="en-US" altLang="zh-CN">
                <a:latin typeface="微软雅黑" panose="020B0503020204020204" charset="-122"/>
                <a:ea typeface="微软雅黑" panose="020B0503020204020204" charset="-122"/>
                <a:cs typeface="微软雅黑" panose="020B0503020204020204" charset="-122"/>
              </a:rPr>
              <a:t>PCA</a:t>
            </a:r>
            <a:r>
              <a:rPr lang="zh-CN" altLang="en-US">
                <a:latin typeface="微软雅黑" panose="020B0503020204020204" charset="-122"/>
                <a:ea typeface="微软雅黑" panose="020B0503020204020204" charset="-122"/>
                <a:cs typeface="微软雅黑" panose="020B0503020204020204" charset="-122"/>
              </a:rPr>
              <a:t>代码和</a:t>
            </a:r>
            <a:r>
              <a:rPr lang="zh-CN">
                <a:latin typeface="微软雅黑" panose="020B0503020204020204" charset="-122"/>
                <a:ea typeface="微软雅黑" panose="020B0503020204020204" charset="-122"/>
                <a:cs typeface="微软雅黑" panose="020B0503020204020204" charset="-122"/>
                <a:sym typeface="+mn-ea"/>
              </a:rPr>
              <a:t>sklearn中的</a:t>
            </a:r>
            <a:r>
              <a:rPr lang="en-US" altLang="zh-CN">
                <a:latin typeface="微软雅黑" panose="020B0503020204020204" charset="-122"/>
                <a:ea typeface="微软雅黑" panose="020B0503020204020204" charset="-122"/>
                <a:cs typeface="微软雅黑" panose="020B0503020204020204" charset="-122"/>
                <a:sym typeface="+mn-ea"/>
              </a:rPr>
              <a:t>PCA</a:t>
            </a:r>
            <a:r>
              <a:rPr lang="zh-CN" altLang="en-US">
                <a:latin typeface="微软雅黑" panose="020B0503020204020204" charset="-122"/>
                <a:ea typeface="微软雅黑" panose="020B0503020204020204" charset="-122"/>
                <a:cs typeface="微软雅黑" panose="020B0503020204020204" charset="-122"/>
                <a:sym typeface="+mn-ea"/>
              </a:rPr>
              <a:t>作对比；</a:t>
            </a:r>
            <a:endParaRPr lang="en-US" altLang="zh-CN">
              <a:latin typeface="微软雅黑" panose="020B0503020204020204" charset="-122"/>
              <a:ea typeface="微软雅黑" panose="020B0503020204020204" charset="-122"/>
              <a:cs typeface="微软雅黑" panose="020B0503020204020204" charset="-122"/>
              <a:sym typeface="+mn-ea"/>
            </a:endParaRPr>
          </a:p>
        </p:txBody>
      </p:sp>
      <p:pic>
        <p:nvPicPr>
          <p:cNvPr id="7" name="图片 6" descr="Figure_1"/>
          <p:cNvPicPr>
            <a:picLocks noChangeAspect="1"/>
          </p:cNvPicPr>
          <p:nvPr/>
        </p:nvPicPr>
        <p:blipFill>
          <a:blip r:embed="rId3"/>
          <a:srcRect l="36032" r="8963"/>
          <a:stretch>
            <a:fillRect/>
          </a:stretch>
        </p:blipFill>
        <p:spPr>
          <a:xfrm>
            <a:off x="1697990" y="2209800"/>
            <a:ext cx="7080250" cy="34328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7"/>
          </p:nvPr>
        </p:nvSpPr>
        <p:spPr/>
        <p:txBody>
          <a:bodyPr/>
          <a:lstStyle/>
          <a:p>
            <a:fld id="{B6F15528-21DE-4FAA-801E-634DDDAF4B2B}" type="slidenum">
              <a:rPr/>
              <a:t>4</a:t>
            </a:fld>
            <a:endParaRPr/>
          </a:p>
        </p:txBody>
      </p:sp>
      <p:sp>
        <p:nvSpPr>
          <p:cNvPr id="12" name="Rectangle 1"/>
          <p:cNvSpPr/>
          <p:nvPr/>
        </p:nvSpPr>
        <p:spPr>
          <a:xfrm>
            <a:off x="271780" y="71755"/>
            <a:ext cx="215011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3670"/>
            <a:ext cx="204089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sz="2000" spc="15" dirty="0">
                <a:solidFill>
                  <a:schemeClr val="bg1"/>
                </a:solidFill>
                <a:ea typeface="微软雅黑" panose="020B0503020204020204" charset="-122"/>
                <a:sym typeface="+mn-ea"/>
              </a:rPr>
              <a:t>鸢尾花数据集</a:t>
            </a:r>
          </a:p>
        </p:txBody>
      </p:sp>
      <p:sp>
        <p:nvSpPr>
          <p:cNvPr id="6" name="文本框 5"/>
          <p:cNvSpPr txBox="1"/>
          <p:nvPr/>
        </p:nvSpPr>
        <p:spPr>
          <a:xfrm>
            <a:off x="609600" y="762000"/>
            <a:ext cx="11290300" cy="1753235"/>
          </a:xfrm>
          <a:prstGeom prst="rect">
            <a:avLst/>
          </a:prstGeom>
          <a:noFill/>
        </p:spPr>
        <p:txBody>
          <a:bodyPr wrap="square" rtlCol="0" anchor="t">
            <a:spAutoFit/>
          </a:bodyPr>
          <a:lstStyle/>
          <a:p>
            <a:pPr marL="342900" indent="-342900">
              <a:lnSpc>
                <a:spcPct val="150000"/>
              </a:lnSpc>
              <a:spcBef>
                <a:spcPts val="0"/>
              </a:spcBef>
              <a:spcAft>
                <a:spcPts val="0"/>
              </a:spcAft>
              <a:buBlip>
                <a:blip r:embed="rId2"/>
              </a:buBlip>
            </a:pPr>
            <a:r>
              <a:rPr lang="zh-CN" dirty="0">
                <a:latin typeface="微软雅黑" panose="020B0503020204020204" charset="-122"/>
                <a:ea typeface="微软雅黑" panose="020B0503020204020204" charset="-122"/>
                <a:cs typeface="微软雅黑" panose="020B0503020204020204" charset="-122"/>
                <a:sym typeface="+mn-ea"/>
              </a:rPr>
              <a:t>数据集内包含 3 类共 150 条记录，每类各 50 个数据，每条记录都有 4 项特征：花萼长度、花萼宽度、花瓣长度、花瓣宽度；</a:t>
            </a:r>
          </a:p>
          <a:p>
            <a:pPr marL="342900" indent="-342900">
              <a:lnSpc>
                <a:spcPct val="150000"/>
              </a:lnSpc>
              <a:spcBef>
                <a:spcPts val="0"/>
              </a:spcBef>
              <a:spcAft>
                <a:spcPts val="0"/>
              </a:spcAft>
              <a:buBlip>
                <a:blip r:embed="rId2"/>
              </a:buBlip>
            </a:pPr>
            <a:r>
              <a:rPr lang="zh-CN" dirty="0">
                <a:latin typeface="微软雅黑" panose="020B0503020204020204" charset="-122"/>
                <a:ea typeface="微软雅黑" panose="020B0503020204020204" charset="-122"/>
                <a:cs typeface="微软雅黑" panose="020B0503020204020204" charset="-122"/>
                <a:sym typeface="+mn-ea"/>
              </a:rPr>
              <a:t>数据集包含150个样本（数据集的行）</a:t>
            </a:r>
            <a:endParaRPr lang="zh-CN" dirty="0">
              <a:latin typeface="微软雅黑" panose="020B0503020204020204" charset="-122"/>
              <a:ea typeface="微软雅黑" panose="020B0503020204020204" charset="-122"/>
              <a:cs typeface="微软雅黑" panose="020B0503020204020204" charset="-122"/>
            </a:endParaRPr>
          </a:p>
          <a:p>
            <a:pPr marL="342900" indent="-342900">
              <a:lnSpc>
                <a:spcPct val="150000"/>
              </a:lnSpc>
              <a:spcBef>
                <a:spcPts val="0"/>
              </a:spcBef>
              <a:spcAft>
                <a:spcPts val="0"/>
              </a:spcAft>
              <a:buBlip>
                <a:blip r:embed="rId2"/>
              </a:buBlip>
            </a:pPr>
            <a:r>
              <a:rPr lang="zh-CN" dirty="0">
                <a:latin typeface="微软雅黑" panose="020B0503020204020204" charset="-122"/>
                <a:ea typeface="微软雅黑" panose="020B0503020204020204" charset="-122"/>
                <a:cs typeface="微软雅黑" panose="020B0503020204020204" charset="-122"/>
                <a:sym typeface="+mn-ea"/>
              </a:rPr>
              <a:t>数据集包含4个属性（数据集的列）</a:t>
            </a:r>
          </a:p>
        </p:txBody>
      </p:sp>
      <p:pic>
        <p:nvPicPr>
          <p:cNvPr id="3" name="图片 2"/>
          <p:cNvPicPr>
            <a:picLocks noChangeAspect="1"/>
          </p:cNvPicPr>
          <p:nvPr/>
        </p:nvPicPr>
        <p:blipFill>
          <a:blip r:embed="rId3"/>
          <a:stretch>
            <a:fillRect/>
          </a:stretch>
        </p:blipFill>
        <p:spPr>
          <a:xfrm>
            <a:off x="1066800" y="2590800"/>
            <a:ext cx="8239125" cy="4286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5800" y="3048000"/>
            <a:ext cx="2909570" cy="754380"/>
          </a:xfrm>
          <a:prstGeom prst="rect">
            <a:avLst/>
          </a:prstGeom>
        </p:spPr>
        <p:txBody>
          <a:bodyPr vert="horz" wrap="square" lIns="0" tIns="15875" rIns="0" bIns="0" rtlCol="0">
            <a:spAutoFit/>
          </a:bodyPr>
          <a:lstStyle/>
          <a:p>
            <a:pPr marL="12700" algn="ctr">
              <a:lnSpc>
                <a:spcPct val="100000"/>
              </a:lnSpc>
              <a:spcBef>
                <a:spcPts val="125"/>
              </a:spcBef>
            </a:pPr>
            <a:r>
              <a:rPr lang="zh-CN" sz="4800" b="1" spc="25" dirty="0">
                <a:latin typeface="楷体" panose="02010609060101010101" charset="-122"/>
                <a:ea typeface="楷体" panose="02010609060101010101" charset="-122"/>
              </a:rPr>
              <a:t>实验步骤</a:t>
            </a:r>
          </a:p>
        </p:txBody>
      </p:sp>
      <p:sp>
        <p:nvSpPr>
          <p:cNvPr id="3" name="灯片编号占位符 2"/>
          <p:cNvSpPr>
            <a:spLocks noGrp="1"/>
          </p:cNvSpPr>
          <p:nvPr>
            <p:ph type="sldNum" sz="quarter" idx="7"/>
          </p:nvPr>
        </p:nvSpPr>
        <p:spPr/>
        <p:txBody>
          <a:bodyPr/>
          <a:lstStyle/>
          <a:p>
            <a:fld id="{B6F15528-21DE-4FAA-801E-634DDDAF4B2B}"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7"/>
          </p:nvPr>
        </p:nvSpPr>
        <p:spPr/>
        <p:txBody>
          <a:bodyPr/>
          <a:lstStyle/>
          <a:p>
            <a:fld id="{B6F15528-21DE-4FAA-801E-634DDDAF4B2B}" type="slidenum">
              <a:rPr/>
              <a:t>6</a:t>
            </a:fld>
            <a:endParaRPr/>
          </a:p>
        </p:txBody>
      </p:sp>
      <p:sp>
        <p:nvSpPr>
          <p:cNvPr id="100" name="文本框 99"/>
          <p:cNvSpPr txBox="1"/>
          <p:nvPr/>
        </p:nvSpPr>
        <p:spPr>
          <a:xfrm>
            <a:off x="6096000" y="4800600"/>
            <a:ext cx="5080000" cy="629920"/>
          </a:xfrm>
          <a:prstGeom prst="rect">
            <a:avLst/>
          </a:prstGeom>
          <a:noFill/>
          <a:ln w="9525">
            <a:noFill/>
          </a:ln>
        </p:spPr>
        <p:txBody>
          <a:bodyPr>
            <a:spAutoFit/>
          </a:bodyPr>
          <a:lstStyle/>
          <a:p>
            <a:pPr indent="0" fontAlgn="auto">
              <a:lnSpc>
                <a:spcPct val="125000"/>
              </a:lnSpc>
            </a:pPr>
            <a:r>
              <a:rPr lang="en-US" sz="1400" b="0">
                <a:solidFill>
                  <a:srgbClr val="383A42"/>
                </a:solidFill>
                <a:latin typeface="JetBrains Mono" panose="020B0509020102050004" charset="0"/>
                <a:ea typeface="宋体" panose="02010600030101010101" pitchFamily="2" charset="-122"/>
              </a:rPr>
              <a:t>    sklearn_pca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PCA</a:t>
            </a:r>
            <a:r>
              <a:rPr lang="en-US" sz="1400" b="0">
                <a:solidFill>
                  <a:srgbClr val="7A82DA"/>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n_components</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2</a:t>
            </a:r>
            <a:r>
              <a:rPr lang="en-US" sz="1400" b="0">
                <a:solidFill>
                  <a:srgbClr val="7A82DA"/>
                </a:solidFill>
                <a:latin typeface="JetBrains Mono" panose="020B0509020102050004" charset="0"/>
                <a:ea typeface="宋体" panose="02010600030101010101" pitchFamily="2" charset="-122"/>
              </a:rPr>
              <a:t>)</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data_2d2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sklearn_pca</a:t>
            </a:r>
            <a:r>
              <a:rPr lang="en-US" sz="1400" b="0">
                <a:solidFill>
                  <a:srgbClr val="23974A"/>
                </a:solidFill>
                <a:latin typeface="JetBrains Mono" panose="020B0509020102050004" charset="0"/>
                <a:ea typeface="宋体" panose="02010600030101010101" pitchFamily="2" charset="-122"/>
              </a:rPr>
              <a:t>.fit_transform</a:t>
            </a:r>
            <a:r>
              <a:rPr lang="en-US" sz="1400" b="0">
                <a:solidFill>
                  <a:srgbClr val="7A82DA"/>
                </a:solidFill>
                <a:latin typeface="JetBrains Mono" panose="020B0509020102050004" charset="0"/>
                <a:ea typeface="宋体" panose="02010600030101010101" pitchFamily="2" charset="-122"/>
              </a:rPr>
              <a:t>(</a:t>
            </a:r>
            <a:r>
              <a:rPr lang="en-US" sz="1400" b="0">
                <a:solidFill>
                  <a:srgbClr val="823FF1"/>
                </a:solidFill>
                <a:latin typeface="JetBrains Mono" panose="020B0509020102050004" charset="0"/>
                <a:ea typeface="宋体" panose="02010600030101010101" pitchFamily="2" charset="-122"/>
              </a:rPr>
              <a:t>X</a:t>
            </a:r>
            <a:r>
              <a:rPr lang="en-US" sz="1400" b="0">
                <a:solidFill>
                  <a:srgbClr val="7A82DA"/>
                </a:solidFill>
                <a:latin typeface="JetBrains Mono" panose="020B0509020102050004" charset="0"/>
                <a:ea typeface="宋体" panose="02010600030101010101" pitchFamily="2" charset="-122"/>
              </a:rPr>
              <a:t>)</a:t>
            </a:r>
            <a:endParaRPr lang="en-US" altLang="en-US" sz="1400" b="0">
              <a:solidFill>
                <a:srgbClr val="7A82DA"/>
              </a:solidFill>
              <a:latin typeface="JetBrains Mono" panose="020B0509020102050004" charset="0"/>
              <a:ea typeface="宋体" panose="02010600030101010101" pitchFamily="2" charset="-122"/>
            </a:endParaRPr>
          </a:p>
        </p:txBody>
      </p:sp>
      <p:sp>
        <p:nvSpPr>
          <p:cNvPr id="12" name="Rectangle 1"/>
          <p:cNvSpPr/>
          <p:nvPr/>
        </p:nvSpPr>
        <p:spPr>
          <a:xfrm>
            <a:off x="271780" y="71755"/>
            <a:ext cx="217805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3670"/>
            <a:ext cx="1919605"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en-US" sz="2000" spc="15" dirty="0">
                <a:solidFill>
                  <a:schemeClr val="bg1"/>
                </a:solidFill>
                <a:ea typeface="微软雅黑" panose="020B0503020204020204" charset="-122"/>
                <a:sym typeface="+mn-ea"/>
              </a:rPr>
              <a:t>Sklearn—</a:t>
            </a:r>
            <a:r>
              <a:rPr sz="2000" spc="15" dirty="0">
                <a:solidFill>
                  <a:schemeClr val="bg1"/>
                </a:solidFill>
                <a:ea typeface="微软雅黑" panose="020B0503020204020204" charset="-122"/>
                <a:sym typeface="+mn-ea"/>
              </a:rPr>
              <a:t>PCA</a:t>
            </a:r>
            <a:endParaRPr lang="zh-CN" sz="2000" spc="15" dirty="0">
              <a:solidFill>
                <a:schemeClr val="bg1"/>
              </a:solidFill>
              <a:ea typeface="微软雅黑" panose="020B0503020204020204" charset="-122"/>
              <a:sym typeface="+mn-ea"/>
            </a:endParaRPr>
          </a:p>
        </p:txBody>
      </p:sp>
      <p:sp>
        <p:nvSpPr>
          <p:cNvPr id="6" name="文本框 5"/>
          <p:cNvSpPr txBox="1"/>
          <p:nvPr/>
        </p:nvSpPr>
        <p:spPr>
          <a:xfrm>
            <a:off x="685800" y="5571490"/>
            <a:ext cx="10589260" cy="1198880"/>
          </a:xfrm>
          <a:prstGeom prst="rect">
            <a:avLst/>
          </a:prstGeom>
          <a:noFill/>
        </p:spPr>
        <p:txBody>
          <a:bodyPr wrap="square" rtlCol="0" anchor="t">
            <a:spAutoFit/>
          </a:bodyPr>
          <a:lstStyle/>
          <a:p>
            <a:r>
              <a:rPr lang="zh-CN" altLang="en-US"/>
              <a:t>官方文档：</a:t>
            </a:r>
          </a:p>
          <a:p>
            <a:r>
              <a:rPr lang="zh-CN" altLang="en-US">
                <a:hlinkClick r:id="rId2" action="ppaction://hlinkfile"/>
              </a:rPr>
              <a:t>https://scikit</a:t>
            </a:r>
            <a:r>
              <a:rPr lang="en-US" altLang="zh-CN">
                <a:hlinkClick r:id="rId2" action="ppaction://hlinkfile"/>
              </a:rPr>
              <a:t>-</a:t>
            </a:r>
            <a:r>
              <a:rPr lang="zh-CN" altLang="en-US">
                <a:hlinkClick r:id="rId2" action="ppaction://hlinkfile"/>
              </a:rPr>
              <a:t>learn.org/stable/modules/generated/sklearn.decomposition.PCA.html?highlight=decomposition%20pca#sklearn.decomposition.PCA</a:t>
            </a:r>
            <a:endParaRPr lang="zh-CN" altLang="en-US"/>
          </a:p>
        </p:txBody>
      </p:sp>
      <p:pic>
        <p:nvPicPr>
          <p:cNvPr id="7" name="图片 6"/>
          <p:cNvPicPr>
            <a:picLocks noChangeAspect="1"/>
          </p:cNvPicPr>
          <p:nvPr/>
        </p:nvPicPr>
        <p:blipFill>
          <a:blip r:embed="rId3"/>
          <a:stretch>
            <a:fillRect/>
          </a:stretch>
        </p:blipFill>
        <p:spPr>
          <a:xfrm>
            <a:off x="5791200" y="551180"/>
            <a:ext cx="5372100" cy="4010025"/>
          </a:xfrm>
          <a:prstGeom prst="rect">
            <a:avLst/>
          </a:prstGeom>
        </p:spPr>
      </p:pic>
      <p:sp>
        <p:nvSpPr>
          <p:cNvPr id="9" name="文本框 8"/>
          <p:cNvSpPr txBox="1"/>
          <p:nvPr/>
        </p:nvSpPr>
        <p:spPr>
          <a:xfrm>
            <a:off x="324485" y="762000"/>
            <a:ext cx="5466715" cy="2099310"/>
          </a:xfrm>
          <a:prstGeom prst="rect">
            <a:avLst/>
          </a:prstGeom>
          <a:noFill/>
        </p:spPr>
        <p:txBody>
          <a:bodyPr wrap="square" rtlCol="0" anchor="t">
            <a:spAutoFit/>
          </a:bodyPr>
          <a:lstStyle/>
          <a:p>
            <a:pPr marL="342900" indent="-342900">
              <a:lnSpc>
                <a:spcPct val="125000"/>
              </a:lnSpc>
              <a:spcBef>
                <a:spcPts val="0"/>
              </a:spcBef>
              <a:spcAft>
                <a:spcPts val="0"/>
              </a:spcAft>
              <a:buBlip>
                <a:blip r:embed="rId4"/>
              </a:buBlip>
            </a:pPr>
            <a:r>
              <a:rPr lang="zh-CN">
                <a:latin typeface="微软雅黑" panose="020B0503020204020204" charset="-122"/>
                <a:ea typeface="微软雅黑" panose="020B0503020204020204" charset="-122"/>
                <a:cs typeface="微软雅黑" panose="020B0503020204020204" charset="-122"/>
                <a:sym typeface="+mn-ea"/>
              </a:rPr>
              <a:t>累积可解释方差贡献率曲线是一条以降维后保留的特征个数为横坐标，降维后新特征矩阵捕捉到的可解释</a:t>
            </a:r>
            <a:r>
              <a:rPr lang="zh-CN">
                <a:solidFill>
                  <a:srgbClr val="FF0000"/>
                </a:solidFill>
                <a:latin typeface="微软雅黑" panose="020B0503020204020204" charset="-122"/>
                <a:ea typeface="微软雅黑" panose="020B0503020204020204" charset="-122"/>
                <a:cs typeface="微软雅黑" panose="020B0503020204020204" charset="-122"/>
                <a:sym typeface="+mn-ea"/>
              </a:rPr>
              <a:t>方差贡献率</a:t>
            </a:r>
            <a:r>
              <a:rPr lang="zh-CN">
                <a:latin typeface="微软雅黑" panose="020B0503020204020204" charset="-122"/>
                <a:ea typeface="微软雅黑" panose="020B0503020204020204" charset="-122"/>
                <a:cs typeface="微软雅黑" panose="020B0503020204020204" charset="-122"/>
                <a:sym typeface="+mn-ea"/>
              </a:rPr>
              <a:t>为纵坐标的曲线，能够帮助我们决定n_components最好的取值。</a:t>
            </a:r>
            <a:endParaRPr lang="zh-CN">
              <a:latin typeface="微软雅黑" panose="020B0503020204020204" charset="-122"/>
              <a:ea typeface="微软雅黑" panose="020B0503020204020204" charset="-122"/>
              <a:cs typeface="微软雅黑" panose="020B0503020204020204" charset="-122"/>
            </a:endParaRPr>
          </a:p>
          <a:p>
            <a:pPr marL="342900" indent="-342900">
              <a:lnSpc>
                <a:spcPct val="125000"/>
              </a:lnSpc>
              <a:spcBef>
                <a:spcPts val="0"/>
              </a:spcBef>
              <a:spcAft>
                <a:spcPts val="0"/>
              </a:spcAft>
              <a:buBlip>
                <a:blip r:embed="rId4"/>
              </a:buBlip>
            </a:pPr>
            <a:endParaRPr lang="zh-CN" altLang="en-US">
              <a:latin typeface="微软雅黑" panose="020B0503020204020204" charset="-122"/>
              <a:ea typeface="微软雅黑" panose="020B0503020204020204" charset="-122"/>
              <a:cs typeface="微软雅黑" panose="020B0503020204020204" charset="-122"/>
            </a:endParaRPr>
          </a:p>
          <a:p>
            <a:pPr>
              <a:buBlip>
                <a:blip r:embed="rId4"/>
              </a:buBlip>
            </a:pPr>
            <a:endParaRPr lang="zh-CN" altLang="en-US">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685800" y="2438400"/>
            <a:ext cx="5080000" cy="2461260"/>
          </a:xfrm>
          <a:prstGeom prst="rect">
            <a:avLst/>
          </a:prstGeom>
          <a:noFill/>
          <a:ln w="9525">
            <a:noFill/>
          </a:ln>
        </p:spPr>
        <p:txBody>
          <a:bodyPr>
            <a:spAutoFit/>
          </a:bodyPr>
          <a:lstStyle/>
          <a:p>
            <a:pPr indent="0"/>
            <a:r>
              <a:rPr lang="en-US" sz="1400" b="0">
                <a:solidFill>
                  <a:srgbClr val="383A42"/>
                </a:solidFill>
                <a:latin typeface="JetBrains Mono" panose="020B0509020102050004" charset="0"/>
                <a:ea typeface="宋体" panose="02010600030101010101" pitchFamily="2" charset="-122"/>
              </a:rPr>
              <a:t>    pca_line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PCA</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a:t>
            </a:r>
            <a:r>
              <a:rPr lang="en-US" sz="1400" b="0">
                <a:solidFill>
                  <a:srgbClr val="23974A"/>
                </a:solidFill>
                <a:latin typeface="JetBrains Mono" panose="020B0509020102050004" charset="0"/>
                <a:ea typeface="宋体" panose="02010600030101010101" pitchFamily="2" charset="-122"/>
              </a:rPr>
              <a:t>fit</a:t>
            </a:r>
            <a:r>
              <a:rPr lang="en-US" sz="1400" b="0">
                <a:solidFill>
                  <a:srgbClr val="7A82DA"/>
                </a:solidFill>
                <a:latin typeface="JetBrains Mono" panose="020B0509020102050004" charset="0"/>
                <a:ea typeface="宋体" panose="02010600030101010101" pitchFamily="2" charset="-122"/>
              </a:rPr>
              <a:t>(</a:t>
            </a:r>
            <a:r>
              <a:rPr lang="en-US" sz="1400" b="0">
                <a:solidFill>
                  <a:srgbClr val="823FF1"/>
                </a:solidFill>
                <a:latin typeface="JetBrains Mono" panose="020B0509020102050004" charset="0"/>
                <a:ea typeface="宋体" panose="02010600030101010101" pitchFamily="2" charset="-122"/>
              </a:rPr>
              <a:t>X</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p>
          <a:p>
            <a:pPr indent="0"/>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plt.plot</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1</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2</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3</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4</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a:t>
            </a:r>
            <a:r>
              <a:rPr lang="en-US" sz="1400" b="0">
                <a:solidFill>
                  <a:srgbClr val="23974A"/>
                </a:solidFill>
                <a:latin typeface="JetBrains Mono" panose="020B0509020102050004" charset="0"/>
                <a:ea typeface="宋体" panose="02010600030101010101" pitchFamily="2" charset="-122"/>
              </a:rPr>
              <a:t>np.cumsum</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pca_line.explained_variance_ratio_</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p>
          <a:p>
            <a:pPr indent="0"/>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plt.xticks</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1</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2</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3</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4</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zh-CN" sz="1400" b="0">
                <a:solidFill>
                  <a:srgbClr val="A0A1A7"/>
                </a:solidFill>
                <a:ea typeface="宋体" panose="02010600030101010101" pitchFamily="2" charset="-122"/>
              </a:rPr>
              <a:t>#这是为了限制坐标轴显示为整数</a:t>
            </a:r>
            <a:endParaRPr lang="en-US" sz="1400" b="0">
              <a:solidFill>
                <a:srgbClr val="383A42"/>
              </a:solidFill>
              <a:latin typeface="JetBrains Mono" panose="020B0509020102050004" charset="0"/>
              <a:ea typeface="宋体" panose="02010600030101010101" pitchFamily="2" charset="-122"/>
            </a:endParaRPr>
          </a:p>
          <a:p>
            <a:pPr indent="0"/>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plt.xlabel</a:t>
            </a:r>
            <a:r>
              <a:rPr lang="en-US" sz="1400" b="0">
                <a:solidFill>
                  <a:srgbClr val="7A82DA"/>
                </a:solidFill>
                <a:latin typeface="JetBrains Mono" panose="020B0509020102050004" charset="0"/>
                <a:ea typeface="宋体" panose="02010600030101010101" pitchFamily="2" charset="-122"/>
              </a:rPr>
              <a:t>(</a:t>
            </a:r>
            <a:r>
              <a:rPr lang="en-US" sz="1400" b="0">
                <a:solidFill>
                  <a:srgbClr val="C5A332"/>
                </a:solidFill>
                <a:latin typeface="JetBrains Mono" panose="020B0509020102050004" charset="0"/>
                <a:ea typeface="宋体" panose="02010600030101010101" pitchFamily="2" charset="-122"/>
              </a:rPr>
              <a:t>"number of components after dimension reduction"</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p>
          <a:p>
            <a:pPr indent="0"/>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plt.ylabel</a:t>
            </a:r>
            <a:r>
              <a:rPr lang="en-US" sz="1400" b="0">
                <a:solidFill>
                  <a:srgbClr val="7A82DA"/>
                </a:solidFill>
                <a:latin typeface="JetBrains Mono" panose="020B0509020102050004" charset="0"/>
                <a:ea typeface="宋体" panose="02010600030101010101" pitchFamily="2" charset="-122"/>
              </a:rPr>
              <a:t>(</a:t>
            </a:r>
            <a:r>
              <a:rPr lang="en-US" sz="1400" b="0">
                <a:solidFill>
                  <a:srgbClr val="C5A332"/>
                </a:solidFill>
                <a:latin typeface="JetBrains Mono" panose="020B0509020102050004" charset="0"/>
                <a:ea typeface="宋体" panose="02010600030101010101" pitchFamily="2" charset="-122"/>
              </a:rPr>
              <a:t>"cumulative explained variance ratio"</a:t>
            </a:r>
            <a:r>
              <a:rPr lang="en-US" sz="1400" b="0">
                <a:solidFill>
                  <a:srgbClr val="7A82DA"/>
                </a:solidFill>
                <a:latin typeface="JetBrains Mono" panose="020B0509020102050004" charset="0"/>
                <a:ea typeface="宋体" panose="02010600030101010101" pitchFamily="2" charset="-122"/>
              </a:rPr>
              <a:t>)</a:t>
            </a:r>
            <a:endParaRPr lang="en-US" sz="1400" b="0">
              <a:solidFill>
                <a:srgbClr val="383A42"/>
              </a:solidFill>
              <a:latin typeface="JetBrains Mono" panose="020B0509020102050004" charset="0"/>
              <a:ea typeface="宋体" panose="02010600030101010101" pitchFamily="2" charset="-122"/>
            </a:endParaRPr>
          </a:p>
          <a:p>
            <a:pPr indent="0"/>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plt.show</a:t>
            </a:r>
            <a:r>
              <a:rPr lang="en-US" sz="1400" b="0">
                <a:solidFill>
                  <a:srgbClr val="7A82DA"/>
                </a:solidFill>
                <a:latin typeface="JetBrains Mono" panose="020B0509020102050004" charset="0"/>
                <a:ea typeface="宋体" panose="02010600030101010101" pitchFamily="2" charset="-122"/>
              </a:rPr>
              <a:t>()</a:t>
            </a:r>
            <a:endParaRPr lang="en-US" altLang="en-US" sz="1400" b="0">
              <a:solidFill>
                <a:srgbClr val="7A82DA"/>
              </a:solidFill>
              <a:latin typeface="JetBrains Mono" panose="020B0509020102050004" charset="0"/>
              <a:ea typeface="宋体" panose="02010600030101010101" pitchFamily="2" charset="-122"/>
            </a:endParaRPr>
          </a:p>
        </p:txBody>
      </p:sp>
      <p:sp>
        <p:nvSpPr>
          <p:cNvPr id="11" name="圆角矩形 10"/>
          <p:cNvSpPr/>
          <p:nvPr/>
        </p:nvSpPr>
        <p:spPr>
          <a:xfrm>
            <a:off x="685800" y="2438400"/>
            <a:ext cx="5029200" cy="2514600"/>
          </a:xfrm>
          <a:prstGeom prst="roundRect">
            <a:avLst/>
          </a:prstGeom>
          <a:noFill/>
          <a:ln w="28575" cmpd="sng">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6510020" y="4864100"/>
            <a:ext cx="4347845" cy="598170"/>
          </a:xfrm>
          <a:prstGeom prst="roundRect">
            <a:avLst/>
          </a:prstGeom>
          <a:noFill/>
          <a:ln w="28575" cmpd="sng">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7"/>
          </p:nvPr>
        </p:nvSpPr>
        <p:spPr/>
        <p:txBody>
          <a:bodyPr/>
          <a:lstStyle/>
          <a:p>
            <a:fld id="{B6F15528-21DE-4FAA-801E-634DDDAF4B2B}" type="slidenum">
              <a:rPr/>
              <a:t>7</a:t>
            </a:fld>
            <a:endParaRPr/>
          </a:p>
        </p:txBody>
      </p:sp>
      <p:sp>
        <p:nvSpPr>
          <p:cNvPr id="12" name="Rectangle 1"/>
          <p:cNvSpPr/>
          <p:nvPr/>
        </p:nvSpPr>
        <p:spPr>
          <a:xfrm>
            <a:off x="271780" y="71755"/>
            <a:ext cx="219519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2718"/>
            <a:ext cx="208661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sz="2000" spc="15" dirty="0">
                <a:solidFill>
                  <a:schemeClr val="bg1"/>
                </a:solidFill>
                <a:latin typeface="微软雅黑" panose="020B0503020204020204" charset="-122"/>
                <a:ea typeface="微软雅黑" panose="020B0503020204020204" charset="-122"/>
                <a:cs typeface="微软雅黑" panose="020B0503020204020204" charset="-122"/>
              </a:rPr>
              <a:t>实验步骤</a:t>
            </a:r>
          </a:p>
        </p:txBody>
      </p:sp>
      <p:pic>
        <p:nvPicPr>
          <p:cNvPr id="2" name="图片 1"/>
          <p:cNvPicPr>
            <a:picLocks noChangeAspect="1"/>
          </p:cNvPicPr>
          <p:nvPr/>
        </p:nvPicPr>
        <p:blipFill>
          <a:blip r:embed="rId3"/>
          <a:srcRect l="1077"/>
          <a:stretch>
            <a:fillRect/>
          </a:stretch>
        </p:blipFill>
        <p:spPr>
          <a:xfrm>
            <a:off x="6239510" y="3276600"/>
            <a:ext cx="6183630" cy="2880995"/>
          </a:xfrm>
          <a:prstGeom prst="rect">
            <a:avLst/>
          </a:prstGeom>
        </p:spPr>
      </p:pic>
      <p:sp>
        <p:nvSpPr>
          <p:cNvPr id="100" name="文本框 99"/>
          <p:cNvSpPr txBox="1"/>
          <p:nvPr/>
        </p:nvSpPr>
        <p:spPr>
          <a:xfrm>
            <a:off x="304800" y="762000"/>
            <a:ext cx="6689090" cy="5477510"/>
          </a:xfrm>
          <a:prstGeom prst="rect">
            <a:avLst/>
          </a:prstGeom>
          <a:noFill/>
          <a:ln w="9525">
            <a:noFill/>
          </a:ln>
        </p:spPr>
        <p:txBody>
          <a:bodyPr wrap="square">
            <a:spAutoFit/>
          </a:bodyPr>
          <a:lstStyle/>
          <a:p>
            <a:pPr indent="0" fontAlgn="auto">
              <a:lnSpc>
                <a:spcPct val="125000"/>
              </a:lnSpc>
            </a:pPr>
            <a:r>
              <a:rPr lang="en-US" sz="1400" b="0">
                <a:solidFill>
                  <a:srgbClr val="0098DD"/>
                </a:solidFill>
                <a:latin typeface="JetBrains Mono" panose="020B0509020102050004" charset="0"/>
                <a:ea typeface="宋体" panose="02010600030101010101" pitchFamily="2" charset="-122"/>
              </a:rPr>
              <a:t>def</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pca</a:t>
            </a:r>
            <a:r>
              <a:rPr lang="en-US" sz="1400" b="0">
                <a:solidFill>
                  <a:srgbClr val="7A82DA"/>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data</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n_components</a:t>
            </a:r>
            <a:r>
              <a:rPr lang="en-US" sz="1400" b="0">
                <a:solidFill>
                  <a:srgbClr val="7A82DA"/>
                </a:solidFill>
                <a:latin typeface="JetBrains Mono" panose="020B0509020102050004" charset="0"/>
                <a:ea typeface="宋体" panose="02010600030101010101" pitchFamily="2" charset="-122"/>
              </a:rPr>
              <a:t>):</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a:t>
            </a:r>
            <a:r>
              <a:rPr lang="en-US" sz="1400" b="0">
                <a:solidFill>
                  <a:srgbClr val="C5A332"/>
                </a:solidFill>
                <a:latin typeface="JetBrains Mono" panose="020B0509020102050004" charset="0"/>
                <a:ea typeface="宋体" panose="02010600030101010101" pitchFamily="2" charset="-122"/>
              </a:rPr>
              <a:t>'''</a:t>
            </a:r>
          </a:p>
          <a:p>
            <a:pPr indent="0" fontAlgn="auto">
              <a:lnSpc>
                <a:spcPct val="125000"/>
              </a:lnSpc>
            </a:pPr>
            <a:r>
              <a:rPr lang="en-US" sz="1400" b="0">
                <a:solidFill>
                  <a:srgbClr val="C5A332"/>
                </a:solidFill>
                <a:latin typeface="JetBrains Mono" panose="020B0509020102050004" charset="0"/>
                <a:ea typeface="宋体" panose="02010600030101010101" pitchFamily="2" charset="-122"/>
              </a:rPr>
              <a:t>    pca is O(D^3)</a:t>
            </a:r>
          </a:p>
          <a:p>
            <a:pPr indent="0" fontAlgn="auto">
              <a:lnSpc>
                <a:spcPct val="125000"/>
              </a:lnSpc>
            </a:pPr>
            <a:r>
              <a:rPr lang="en-US" sz="1400" b="0">
                <a:solidFill>
                  <a:srgbClr val="C5A332"/>
                </a:solidFill>
                <a:latin typeface="JetBrains Mono" panose="020B0509020102050004" charset="0"/>
                <a:ea typeface="宋体" panose="02010600030101010101" pitchFamily="2" charset="-122"/>
              </a:rPr>
              <a:t>    :param data: (n_samples, n_features(D))</a:t>
            </a:r>
          </a:p>
          <a:p>
            <a:pPr indent="0" fontAlgn="auto">
              <a:lnSpc>
                <a:spcPct val="125000"/>
              </a:lnSpc>
            </a:pPr>
            <a:r>
              <a:rPr lang="en-US" sz="1400" b="0">
                <a:solidFill>
                  <a:srgbClr val="C5A332"/>
                </a:solidFill>
                <a:latin typeface="JetBrains Mono" panose="020B0509020102050004" charset="0"/>
                <a:ea typeface="宋体" panose="02010600030101010101" pitchFamily="2" charset="-122"/>
              </a:rPr>
              <a:t>    :param n_dim: target dimensions</a:t>
            </a:r>
          </a:p>
          <a:p>
            <a:pPr indent="0" fontAlgn="auto">
              <a:lnSpc>
                <a:spcPct val="125000"/>
              </a:lnSpc>
            </a:pPr>
            <a:r>
              <a:rPr lang="en-US" sz="1400" b="0">
                <a:solidFill>
                  <a:srgbClr val="C5A332"/>
                </a:solidFill>
                <a:latin typeface="JetBrains Mono" panose="020B0509020102050004" charset="0"/>
                <a:ea typeface="宋体" panose="02010600030101010101" pitchFamily="2" charset="-122"/>
              </a:rPr>
              <a:t>    :return: (n_samples, n_components)</a:t>
            </a:r>
          </a:p>
          <a:p>
            <a:pPr indent="0" fontAlgn="auto">
              <a:lnSpc>
                <a:spcPct val="125000"/>
              </a:lnSpc>
            </a:pPr>
            <a:r>
              <a:rPr lang="en-US" sz="1400" b="0">
                <a:solidFill>
                  <a:srgbClr val="C5A332"/>
                </a:solidFill>
                <a:latin typeface="JetBrains Mono" panose="020B0509020102050004" charset="0"/>
                <a:ea typeface="宋体" panose="02010600030101010101" pitchFamily="2" charset="-122"/>
              </a:rPr>
              <a:t>    '''</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a:t>
            </a:r>
            <a:r>
              <a:rPr lang="zh-CN" sz="1400" b="0">
                <a:solidFill>
                  <a:srgbClr val="A0A1A7"/>
                </a:solidFill>
                <a:ea typeface="宋体" panose="02010600030101010101" pitchFamily="2" charset="-122"/>
              </a:rPr>
              <a:t># 减去均值，也可以进行标准化处理（除以方差）</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np.mean</a:t>
            </a:r>
            <a:r>
              <a:rPr lang="en-US" sz="1400" b="0">
                <a:solidFill>
                  <a:srgbClr val="7A82DA"/>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axis</a:t>
            </a:r>
            <a:r>
              <a:rPr lang="en-US" sz="1400" b="0">
                <a:solidFill>
                  <a:srgbClr val="383A42"/>
                </a:solidFill>
                <a:latin typeface="JetBrains Mono" panose="020B0509020102050004" charset="0"/>
                <a:ea typeface="宋体" panose="02010600030101010101" pitchFamily="2" charset="-122"/>
              </a:rPr>
              <a:t>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CE33C0"/>
                </a:solidFill>
                <a:latin typeface="JetBrains Mono" panose="020B0509020102050004" charset="0"/>
                <a:ea typeface="宋体" panose="02010600030101010101" pitchFamily="2" charset="-122"/>
              </a:rPr>
              <a:t>0</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keepdims</a:t>
            </a:r>
            <a:r>
              <a:rPr lang="en-US" sz="1400" b="0">
                <a:solidFill>
                  <a:srgbClr val="383A42"/>
                </a:solidFill>
                <a:latin typeface="JetBrains Mono" panose="020B0509020102050004" charset="0"/>
                <a:ea typeface="宋体" panose="02010600030101010101" pitchFamily="2" charset="-122"/>
              </a:rPr>
              <a:t>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0098DD"/>
                </a:solidFill>
                <a:latin typeface="JetBrains Mono" panose="020B0509020102050004" charset="0"/>
                <a:ea typeface="宋体" panose="02010600030101010101" pitchFamily="2" charset="-122"/>
              </a:rPr>
              <a:t>True</a:t>
            </a:r>
            <a:r>
              <a:rPr lang="en-US" sz="1400" b="0">
                <a:solidFill>
                  <a:srgbClr val="7A82DA"/>
                </a:solidFill>
                <a:latin typeface="JetBrains Mono" panose="020B0509020102050004" charset="0"/>
                <a:ea typeface="宋体" panose="02010600030101010101" pitchFamily="2" charset="-122"/>
              </a:rPr>
              <a:t>)</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m,_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.shape</a:t>
            </a: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a:t>
            </a:r>
            <a:r>
              <a:rPr lang="zh-CN" sz="1400" b="0">
                <a:solidFill>
                  <a:srgbClr val="A0A1A7"/>
                </a:solidFill>
                <a:ea typeface="宋体" panose="02010600030101010101" pitchFamily="2" charset="-122"/>
              </a:rPr>
              <a:t># 计算协方差矩阵</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cov_matrix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CE33C0"/>
                </a:solidFill>
                <a:latin typeface="JetBrains Mono" panose="020B0509020102050004" charset="0"/>
                <a:ea typeface="宋体" panose="02010600030101010101" pitchFamily="2" charset="-122"/>
              </a:rPr>
              <a:t>1</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m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np.matmul</a:t>
            </a:r>
            <a:r>
              <a:rPr lang="en-US" sz="1400" b="0">
                <a:solidFill>
                  <a:srgbClr val="7A82DA"/>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.T, </a:t>
            </a:r>
            <a:r>
              <a:rPr lang="en-US" sz="1400" b="0">
                <a:solidFill>
                  <a:srgbClr val="40B8C5"/>
                </a:solidFill>
                <a:latin typeface="JetBrains Mono" panose="020B0509020102050004" charset="0"/>
                <a:ea typeface="宋体" panose="02010600030101010101" pitchFamily="2" charset="-122"/>
              </a:rPr>
              <a:t>data</a:t>
            </a:r>
            <a:r>
              <a:rPr lang="en-US" sz="1400" b="0">
                <a:solidFill>
                  <a:srgbClr val="7A82DA"/>
                </a:solidFill>
                <a:latin typeface="JetBrains Mono" panose="020B0509020102050004" charset="0"/>
                <a:ea typeface="宋体" panose="02010600030101010101" pitchFamily="2" charset="-122"/>
              </a:rPr>
              <a:t>)</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a:t>
            </a:r>
            <a:r>
              <a:rPr lang="zh-CN" sz="1400" b="0">
                <a:solidFill>
                  <a:srgbClr val="A0A1A7"/>
                </a:solidFill>
                <a:ea typeface="宋体" panose="02010600030101010101" pitchFamily="2" charset="-122"/>
              </a:rPr>
              <a:t># 计算协方差矩阵特征值及对于的特征向量</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eig_values, eig_vector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np.linalg.eig</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cov_matrix</a:t>
            </a:r>
            <a:r>
              <a:rPr lang="en-US" sz="1400" b="0">
                <a:solidFill>
                  <a:srgbClr val="7A82DA"/>
                </a:solidFill>
                <a:latin typeface="JetBrains Mono" panose="020B0509020102050004" charset="0"/>
                <a:ea typeface="宋体" panose="02010600030101010101" pitchFamily="2" charset="-122"/>
              </a:rPr>
              <a:t>)</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a:t>
            </a:r>
            <a:r>
              <a:rPr lang="en-US" sz="1400" b="0">
                <a:solidFill>
                  <a:srgbClr val="A0A1A7"/>
                </a:solidFill>
                <a:latin typeface="JetBrains Mono" panose="020B0509020102050004" charset="0"/>
                <a:ea typeface="宋体" panose="02010600030101010101" pitchFamily="2" charset="-122"/>
              </a:rPr>
              <a:t># print(eig_values)</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a:t>
            </a:r>
            <a:r>
              <a:rPr lang="zh-CN" sz="1400" b="0">
                <a:solidFill>
                  <a:srgbClr val="A0A1A7"/>
                </a:solidFill>
                <a:ea typeface="宋体" panose="02010600030101010101" pitchFamily="2" charset="-122"/>
              </a:rPr>
              <a:t># 对特征值进行排序，并取前n_components组</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indexs_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np.argsort</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eig_values</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n_components</a:t>
            </a:r>
            <a:r>
              <a:rPr lang="en-US" sz="1400" b="0">
                <a:solidFill>
                  <a:srgbClr val="7A82DA"/>
                </a:solidFill>
                <a:latin typeface="JetBrains Mono" panose="020B0509020102050004" charset="0"/>
                <a:ea typeface="宋体" panose="02010600030101010101" pitchFamily="2" charset="-122"/>
              </a:rPr>
              <a:t>]</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picked_eig_vector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eig_vector</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indexs_</a:t>
            </a:r>
            <a:r>
              <a:rPr lang="en-US" sz="1400" b="0">
                <a:solidFill>
                  <a:srgbClr val="7A82DA"/>
                </a:solidFill>
                <a:latin typeface="JetBrains Mono" panose="020B0509020102050004" charset="0"/>
                <a:ea typeface="宋体" panose="02010600030101010101" pitchFamily="2" charset="-122"/>
              </a:rPr>
              <a:t>]</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data_ndim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np.matmul</a:t>
            </a:r>
            <a:r>
              <a:rPr lang="en-US" sz="1400" b="0">
                <a:solidFill>
                  <a:srgbClr val="7A82DA"/>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 picked_eig_vector</a:t>
            </a:r>
            <a:r>
              <a:rPr lang="en-US" sz="1400" b="0">
                <a:solidFill>
                  <a:srgbClr val="7A82DA"/>
                </a:solidFill>
                <a:latin typeface="JetBrains Mono" panose="020B0509020102050004" charset="0"/>
                <a:ea typeface="宋体" panose="02010600030101010101" pitchFamily="2" charset="-122"/>
              </a:rPr>
              <a:t>)</a:t>
            </a:r>
            <a:endParaRPr lang="en-US" sz="1400" b="0">
              <a:solidFill>
                <a:srgbClr val="383A42"/>
              </a:solidFill>
              <a:latin typeface="JetBrains Mono" panose="020B0509020102050004" charset="0"/>
              <a:ea typeface="宋体" panose="02010600030101010101" pitchFamily="2" charset="-122"/>
            </a:endParaRPr>
          </a:p>
          <a:p>
            <a:pPr indent="0" fontAlgn="auto">
              <a:lnSpc>
                <a:spcPct val="125000"/>
              </a:lnSpc>
            </a:pPr>
            <a:r>
              <a:rPr lang="en-US" sz="1400" b="0">
                <a:solidFill>
                  <a:srgbClr val="383A42"/>
                </a:solidFill>
                <a:latin typeface="JetBrains Mono" panose="020B0509020102050004" charset="0"/>
                <a:ea typeface="宋体" panose="02010600030101010101" pitchFamily="2" charset="-122"/>
              </a:rPr>
              <a:t>    </a:t>
            </a:r>
            <a:r>
              <a:rPr lang="en-US" sz="1400" b="0">
                <a:solidFill>
                  <a:srgbClr val="0098DD"/>
                </a:solidFill>
                <a:latin typeface="JetBrains Mono" panose="020B0509020102050004" charset="0"/>
                <a:ea typeface="宋体" panose="02010600030101010101" pitchFamily="2" charset="-122"/>
              </a:rPr>
              <a:t>return</a:t>
            </a:r>
            <a:r>
              <a:rPr lang="en-US" sz="1400" b="0">
                <a:solidFill>
                  <a:srgbClr val="383A42"/>
                </a:solidFill>
                <a:latin typeface="JetBrains Mono" panose="020B0509020102050004" charset="0"/>
                <a:ea typeface="宋体" panose="02010600030101010101" pitchFamily="2" charset="-122"/>
              </a:rPr>
              <a:t> data_ndim</a:t>
            </a:r>
            <a:endParaRPr lang="en-US" altLang="en-US" sz="1400" b="0">
              <a:solidFill>
                <a:srgbClr val="383A42"/>
              </a:solidFill>
              <a:latin typeface="JetBrains Mono" panose="020B0509020102050004" charset="0"/>
              <a:ea typeface="宋体" panose="02010600030101010101" pitchFamily="2"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573</Words>
  <Application>Microsoft Office PowerPoint</Application>
  <PresentationFormat>宽屏</PresentationFormat>
  <Paragraphs>56</Paragraphs>
  <Slides>7</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vt:i4>
      </vt:variant>
    </vt:vector>
  </HeadingPairs>
  <TitlesOfParts>
    <vt:vector size="16" baseType="lpstr">
      <vt:lpstr>楷体</vt:lpstr>
      <vt:lpstr>宋体</vt:lpstr>
      <vt:lpstr>微软雅黑</vt:lpstr>
      <vt:lpstr>Arial</vt:lpstr>
      <vt:lpstr>Calibri</vt:lpstr>
      <vt:lpstr>JetBrains Mono</vt:lpstr>
      <vt:lpstr>Palatino Linotype</vt:lpstr>
      <vt:lpstr>Times New Roman</vt:lpstr>
      <vt:lpstr>Office Theme</vt:lpstr>
      <vt:lpstr>机器学习实验课7</vt:lpstr>
      <vt:lpstr>实验任务</vt:lpstr>
      <vt:lpstr>PowerPoint 演示文稿</vt:lpstr>
      <vt:lpstr>PowerPoint 演示文稿</vt:lpstr>
      <vt:lpstr>实验步骤</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sklearn库的安装</dc:title>
  <dc:creator>QW</dc:creator>
  <cp:lastModifiedBy>万凌鸿</cp:lastModifiedBy>
  <cp:revision>138</cp:revision>
  <dcterms:created xsi:type="dcterms:W3CDTF">2022-02-24T06:40:00Z</dcterms:created>
  <dcterms:modified xsi:type="dcterms:W3CDTF">2024-06-18T05:55:52Z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2017-05-20T16:00:00Z</vt:filetime>
  </property>
  <property fmtid="{D5CDD505-2E9C-101B-9397-08002B2CF9AE}" pid="3" name="Creator">
    <vt:lpwstr>Microsoft® PowerPoint® 2016</vt:lpwstr>
  </property>
  <property fmtid="{D5CDD505-2E9C-101B-9397-08002B2CF9AE}" pid="4" name="LastSaved">
    <vt:filetime>2022-03-01T16:00:00Z</vt:filetime>
  </property>
  <property fmtid="{D5CDD505-2E9C-101B-9397-08002B2CF9AE}" pid="5" name="KSOProductBuildVer">
    <vt:lpwstr>2052-11.1.0.11579</vt:lpwstr>
  </property>
  <property fmtid="{D5CDD505-2E9C-101B-9397-08002B2CF9AE}" pid="6" name="ICV">
    <vt:lpwstr>30EAA01A05464D609DB49A848DAD7CC0</vt:lpwstr>
  </property>
</Properties>
</file>