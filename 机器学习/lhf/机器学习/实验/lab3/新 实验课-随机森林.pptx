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1.jpg" ContentType="image/jpeg"/>
  <Override PartName="/ppt/media/image12.jpg" ContentType="image/jpeg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7"/>
  </p:notesMasterIdLst>
  <p:sldIdLst>
    <p:sldId id="256" r:id="rId3"/>
    <p:sldId id="366" r:id="rId4"/>
    <p:sldId id="441" r:id="rId5"/>
    <p:sldId id="443" r:id="rId6"/>
    <p:sldId id="428" r:id="rId7"/>
    <p:sldId id="436" r:id="rId8"/>
    <p:sldId id="435" r:id="rId9"/>
    <p:sldId id="438" r:id="rId10"/>
    <p:sldId id="437" r:id="rId11"/>
    <p:sldId id="439" r:id="rId12"/>
    <p:sldId id="429" r:id="rId13"/>
    <p:sldId id="444" r:id="rId14"/>
    <p:sldId id="430" r:id="rId15"/>
    <p:sldId id="445" r:id="rId1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0">
          <p15:clr>
            <a:srgbClr val="A4A3A4"/>
          </p15:clr>
        </p15:guide>
        <p15:guide id="2" pos="21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566" y="96"/>
      </p:cViewPr>
      <p:guideLst>
        <p:guide orient="horz" pos="2940"/>
        <p:guide pos="2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  <a:t>2024/4/6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78955" y="3604971"/>
            <a:ext cx="4503420" cy="197425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ML0</a:t>
            </a:r>
            <a:r>
              <a:rPr lang="en-US"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5</a:t>
            </a:r>
            <a:endParaRPr sz="210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R="1304290" algn="ctr">
              <a:lnSpc>
                <a:spcPct val="100000"/>
              </a:lnSpc>
            </a:pPr>
            <a:r>
              <a:rPr lang="en-US" altLang="zh-CN" sz="2400" dirty="0"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万凌鸿</a:t>
            </a:r>
            <a:endParaRPr sz="2400" b="1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R="1217930" algn="ctr">
              <a:lnSpc>
                <a:spcPct val="100000"/>
              </a:lnSpc>
              <a:spcBef>
                <a:spcPts val="1110"/>
              </a:spcBef>
            </a:pPr>
            <a:endParaRPr sz="24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7180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6000" b="1" spc="15" dirty="0">
                <a:ea typeface="微软雅黑" panose="020B0503020204020204" charset="-122"/>
              </a:rPr>
              <a:t>       </a:t>
            </a:r>
            <a:r>
              <a:rPr lang="zh-CN" sz="6000" b="1" spc="15" dirty="0">
                <a:ea typeface="微软雅黑" panose="020B0503020204020204" charset="-122"/>
              </a:rPr>
              <a:t>随机森林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2</a:t>
            </a:fld>
            <a:endParaRPr lang="zh-CN" altLang="en-US"/>
          </a:p>
        </p:txBody>
      </p:sp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791082" y="180720"/>
            <a:ext cx="2993390" cy="46545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lang="zh-CN" altLang="en-US" sz="2800" b="1" kern="1200" dirty="0">
                <a:solidFill>
                  <a:schemeClr val="bg1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  <a:sym typeface="+mn-ea"/>
              </a:rPr>
              <a:t>随机森林</a:t>
            </a:r>
          </a:p>
        </p:txBody>
      </p:sp>
      <p:sp>
        <p:nvSpPr>
          <p:cNvPr id="4" name="object 3"/>
          <p:cNvSpPr/>
          <p:nvPr/>
        </p:nvSpPr>
        <p:spPr>
          <a:xfrm>
            <a:off x="3784980" y="381127"/>
            <a:ext cx="6976745" cy="0"/>
          </a:xfrm>
          <a:custGeom>
            <a:avLst/>
            <a:gdLst/>
            <a:ahLst/>
            <a:cxnLst/>
            <a:rect l="l" t="t" r="r" b="b"/>
            <a:pathLst>
              <a:path w="6976745">
                <a:moveTo>
                  <a:pt x="0" y="0"/>
                </a:moveTo>
                <a:lnTo>
                  <a:pt x="697661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791210" y="899160"/>
            <a:ext cx="99714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随机森林：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随机森林是最具代表性的</a:t>
            </a:r>
            <a:r>
              <a:rPr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Bagging集成算法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，它的所有弱评估器都是</a:t>
            </a:r>
            <a:r>
              <a:rPr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决策树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。</a:t>
            </a:r>
          </a:p>
          <a:p>
            <a:endParaRPr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Bagging集成算法算法是什么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102610"/>
            <a:ext cx="5467350" cy="3094990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791210" y="2004695"/>
            <a:ext cx="1905635" cy="31432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9060" algn="l">
              <a:lnSpc>
                <a:spcPct val="100000"/>
              </a:lnSpc>
              <a:spcBef>
                <a:spcPts val="295"/>
              </a:spcBef>
            </a:pPr>
            <a:r>
              <a:rPr lang="zh-CN" altLang="en-US" sz="1800" b="1" dirty="0">
                <a:solidFill>
                  <a:schemeClr val="bg1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集成算法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0575" y="2319020"/>
            <a:ext cx="997140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集成学习：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就是将若干个</a:t>
            </a:r>
            <a:r>
              <a:rPr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弱分类器</a:t>
            </a:r>
            <a:r>
              <a:rPr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通过一定的策略组合之后，产生一个强分类器。弱分类器指的就是那些分类准确率只比随机猜测略好一点的分类器。</a:t>
            </a:r>
            <a:endParaRPr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57800" y="6323520"/>
            <a:ext cx="21234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图</a:t>
            </a:r>
            <a:r>
              <a:rPr lang="en-US" altLang="zh-CN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-</a:t>
            </a:r>
            <a:r>
              <a:rPr lang="zh-CN" altLang="en-US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集成学习原理</a:t>
            </a:r>
          </a:p>
        </p:txBody>
      </p:sp>
    </p:spTree>
    <p:extLst>
      <p:ext uri="{BB962C8B-B14F-4D97-AF65-F5344CB8AC3E}">
        <p14:creationId xmlns:p14="http://schemas.microsoft.com/office/powerpoint/2010/main" val="48409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3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337886"/>
            <a:ext cx="8081010" cy="27876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04800" y="1219200"/>
            <a:ext cx="4237990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集成学习算法的流派主要有两种：</a:t>
            </a:r>
          </a:p>
          <a:p>
            <a:pPr>
              <a:lnSpc>
                <a:spcPct val="125000"/>
              </a:lnSpc>
            </a:pPr>
            <a:r>
              <a:rPr 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1. bagging 装袋法</a:t>
            </a:r>
          </a:p>
          <a:p>
            <a:pPr>
              <a:lnSpc>
                <a:spcPct val="125000"/>
              </a:lnSpc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2. boosting 提升法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3245" y="4283121"/>
            <a:ext cx="11019155" cy="23775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装袋法</a:t>
            </a:r>
            <a:r>
              <a:rPr lang="zh-CN" alt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是一种通过结合多个模型</a:t>
            </a:r>
            <a:r>
              <a:rPr lang="zh-CN" alt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减少方差</a:t>
            </a:r>
            <a:r>
              <a:rPr lang="zh-CN" alt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的技术，增强模型的稳定性和准确性。在</a:t>
            </a:r>
            <a:r>
              <a:rPr lang="en-US" altLang="zh-CN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Bagging</a:t>
            </a:r>
            <a:r>
              <a:rPr lang="zh-CN" alt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过程中，每个模型都是独立训练的，并且具有相同的权重，每个模型的</a:t>
            </a:r>
            <a:r>
              <a:rPr lang="zh-CN" alt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训练数据是随机</a:t>
            </a:r>
            <a:r>
              <a:rPr lang="en-US" altLang="zh-CN" b="1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采样</a:t>
            </a:r>
            <a:r>
              <a:rPr lang="zh-CN" alt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的，</a:t>
            </a:r>
            <a:r>
              <a:rPr lang="en-US" altLang="zh-CN" b="1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装袋法的代表算法是随机森林</a:t>
            </a:r>
            <a:endParaRPr lang="en-US" dirty="0"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随机森林的弱学习器都是</a:t>
            </a:r>
            <a:r>
              <a:rPr lang="en-US" b="1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决策树</a:t>
            </a:r>
            <a:r>
              <a:rPr lang="zh-CN" alt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；</a:t>
            </a:r>
            <a:r>
              <a:rPr lang="en-US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除此以外，随机森林在</a:t>
            </a:r>
            <a:r>
              <a:rPr lang="en-US" altLang="zh-CN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装袋法</a:t>
            </a:r>
            <a:r>
              <a:rPr lang="en-US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的样本随机采样基础上又加上了</a:t>
            </a:r>
            <a:r>
              <a:rPr lang="en-US" b="1" dirty="0" err="1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特征的随机选择</a:t>
            </a:r>
            <a:r>
              <a:rPr 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。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随机森林的”随机“表达了</a:t>
            </a:r>
            <a:r>
              <a:rPr 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2种</a:t>
            </a:r>
            <a:r>
              <a:rPr 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随机性，即每颗树的</a:t>
            </a:r>
            <a:r>
              <a:rPr 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训练样本</a:t>
            </a:r>
            <a:r>
              <a:rPr 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以及</a:t>
            </a:r>
            <a:r>
              <a:rPr 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训练特征</a:t>
            </a:r>
            <a:r>
              <a:rPr lang="en-US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都是随机选取的。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043D83F-112F-1BFD-DEC3-A02A82D23FFF}"/>
              </a:ext>
            </a:extLst>
          </p:cNvPr>
          <p:cNvSpPr/>
          <p:nvPr/>
        </p:nvSpPr>
        <p:spPr>
          <a:xfrm>
            <a:off x="6158258" y="197628"/>
            <a:ext cx="526559" cy="246066"/>
          </a:xfrm>
          <a:custGeom>
            <a:avLst/>
            <a:gdLst/>
            <a:ahLst/>
            <a:cxnLst/>
            <a:rect l="l" t="t" r="r" b="b"/>
            <a:pathLst>
              <a:path w="459963" h="214945">
                <a:moveTo>
                  <a:pt x="232693" y="0"/>
                </a:moveTo>
                <a:cubicBezTo>
                  <a:pt x="245839" y="20049"/>
                  <a:pt x="261286" y="46013"/>
                  <a:pt x="279034" y="77893"/>
                </a:cubicBezTo>
                <a:lnTo>
                  <a:pt x="245018" y="93669"/>
                </a:lnTo>
                <a:lnTo>
                  <a:pt x="305409" y="93669"/>
                </a:lnTo>
                <a:cubicBezTo>
                  <a:pt x="327923" y="61296"/>
                  <a:pt x="346903" y="33195"/>
                  <a:pt x="362350" y="9367"/>
                </a:cubicBezTo>
                <a:lnTo>
                  <a:pt x="428904" y="45849"/>
                </a:lnTo>
                <a:lnTo>
                  <a:pt x="388972" y="93669"/>
                </a:lnTo>
                <a:lnTo>
                  <a:pt x="459963" y="93669"/>
                </a:lnTo>
                <a:lnTo>
                  <a:pt x="459963" y="214945"/>
                </a:lnTo>
                <a:lnTo>
                  <a:pt x="390944" y="214945"/>
                </a:lnTo>
                <a:lnTo>
                  <a:pt x="390944" y="153814"/>
                </a:lnTo>
                <a:lnTo>
                  <a:pt x="69019" y="153814"/>
                </a:lnTo>
                <a:lnTo>
                  <a:pt x="69019" y="214945"/>
                </a:lnTo>
                <a:lnTo>
                  <a:pt x="0" y="214945"/>
                </a:lnTo>
                <a:lnTo>
                  <a:pt x="0" y="93669"/>
                </a:lnTo>
                <a:lnTo>
                  <a:pt x="80604" y="93669"/>
                </a:lnTo>
                <a:cubicBezTo>
                  <a:pt x="66143" y="73785"/>
                  <a:pt x="52093" y="55544"/>
                  <a:pt x="38453" y="38947"/>
                </a:cubicBezTo>
                <a:lnTo>
                  <a:pt x="90218" y="3944"/>
                </a:lnTo>
                <a:cubicBezTo>
                  <a:pt x="109937" y="26293"/>
                  <a:pt x="129986" y="51272"/>
                  <a:pt x="150363" y="78879"/>
                </a:cubicBezTo>
                <a:lnTo>
                  <a:pt x="128425" y="93669"/>
                </a:lnTo>
                <a:lnTo>
                  <a:pt x="210755" y="93669"/>
                </a:lnTo>
                <a:cubicBezTo>
                  <a:pt x="196951" y="67212"/>
                  <a:pt x="184215" y="44863"/>
                  <a:pt x="172548" y="26622"/>
                </a:cubicBezTo>
                <a:lnTo>
                  <a:pt x="23269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5E18EB3-2847-38B3-A5A9-D1F9C45AC991}"/>
              </a:ext>
            </a:extLst>
          </p:cNvPr>
          <p:cNvSpPr/>
          <p:nvPr/>
        </p:nvSpPr>
        <p:spPr>
          <a:xfrm>
            <a:off x="4984929" y="200450"/>
            <a:ext cx="538411" cy="354990"/>
          </a:xfrm>
          <a:custGeom>
            <a:avLst/>
            <a:gdLst/>
            <a:ahLst/>
            <a:cxnLst/>
            <a:rect l="l" t="t" r="r" b="b"/>
            <a:pathLst>
              <a:path w="470316" h="310093">
                <a:moveTo>
                  <a:pt x="278048" y="0"/>
                </a:moveTo>
                <a:cubicBezTo>
                  <a:pt x="286758" y="15447"/>
                  <a:pt x="295139" y="31881"/>
                  <a:pt x="303191" y="49300"/>
                </a:cubicBezTo>
                <a:lnTo>
                  <a:pt x="463414" y="49300"/>
                </a:lnTo>
                <a:lnTo>
                  <a:pt x="463414" y="91697"/>
                </a:lnTo>
                <a:lnTo>
                  <a:pt x="298754" y="91697"/>
                </a:lnTo>
                <a:lnTo>
                  <a:pt x="298754" y="117826"/>
                </a:lnTo>
                <a:lnTo>
                  <a:pt x="445666" y="117826"/>
                </a:lnTo>
                <a:lnTo>
                  <a:pt x="445666" y="157265"/>
                </a:lnTo>
                <a:lnTo>
                  <a:pt x="298754" y="157265"/>
                </a:lnTo>
                <a:lnTo>
                  <a:pt x="298754" y="183394"/>
                </a:lnTo>
                <a:lnTo>
                  <a:pt x="445666" y="183394"/>
                </a:lnTo>
                <a:lnTo>
                  <a:pt x="445666" y="222833"/>
                </a:lnTo>
                <a:lnTo>
                  <a:pt x="298754" y="222833"/>
                </a:lnTo>
                <a:lnTo>
                  <a:pt x="298754" y="248962"/>
                </a:lnTo>
                <a:lnTo>
                  <a:pt x="470316" y="248962"/>
                </a:lnTo>
                <a:lnTo>
                  <a:pt x="470316" y="292345"/>
                </a:lnTo>
                <a:lnTo>
                  <a:pt x="120291" y="292345"/>
                </a:lnTo>
                <a:lnTo>
                  <a:pt x="120291" y="310093"/>
                </a:lnTo>
                <a:lnTo>
                  <a:pt x="55215" y="310093"/>
                </a:lnTo>
                <a:lnTo>
                  <a:pt x="55215" y="167372"/>
                </a:lnTo>
                <a:cubicBezTo>
                  <a:pt x="46342" y="175917"/>
                  <a:pt x="37139" y="184215"/>
                  <a:pt x="27608" y="192268"/>
                </a:cubicBezTo>
                <a:cubicBezTo>
                  <a:pt x="19063" y="165646"/>
                  <a:pt x="9860" y="141654"/>
                  <a:pt x="0" y="120291"/>
                </a:cubicBezTo>
                <a:cubicBezTo>
                  <a:pt x="39768" y="89396"/>
                  <a:pt x="72306" y="50286"/>
                  <a:pt x="97613" y="2958"/>
                </a:cubicBezTo>
                <a:lnTo>
                  <a:pt x="166139" y="17748"/>
                </a:lnTo>
                <a:cubicBezTo>
                  <a:pt x="160552" y="28594"/>
                  <a:pt x="154718" y="39111"/>
                  <a:pt x="148638" y="49300"/>
                </a:cubicBezTo>
                <a:lnTo>
                  <a:pt x="233186" y="49300"/>
                </a:lnTo>
                <a:cubicBezTo>
                  <a:pt x="227106" y="35660"/>
                  <a:pt x="220861" y="23007"/>
                  <a:pt x="214452" y="11339"/>
                </a:cubicBezTo>
                <a:lnTo>
                  <a:pt x="278048" y="0"/>
                </a:lnTo>
                <a:close/>
                <a:moveTo>
                  <a:pt x="120784" y="91697"/>
                </a:moveTo>
                <a:lnTo>
                  <a:pt x="120291" y="92683"/>
                </a:lnTo>
                <a:lnTo>
                  <a:pt x="120291" y="117826"/>
                </a:lnTo>
                <a:lnTo>
                  <a:pt x="233679" y="117826"/>
                </a:lnTo>
                <a:lnTo>
                  <a:pt x="233679" y="91697"/>
                </a:lnTo>
                <a:lnTo>
                  <a:pt x="120784" y="91697"/>
                </a:lnTo>
                <a:close/>
                <a:moveTo>
                  <a:pt x="120291" y="157265"/>
                </a:moveTo>
                <a:lnTo>
                  <a:pt x="120291" y="183394"/>
                </a:lnTo>
                <a:lnTo>
                  <a:pt x="233679" y="183394"/>
                </a:lnTo>
                <a:lnTo>
                  <a:pt x="233679" y="157265"/>
                </a:lnTo>
                <a:lnTo>
                  <a:pt x="120291" y="157265"/>
                </a:lnTo>
                <a:close/>
                <a:moveTo>
                  <a:pt x="120291" y="222833"/>
                </a:moveTo>
                <a:lnTo>
                  <a:pt x="120291" y="248962"/>
                </a:lnTo>
                <a:lnTo>
                  <a:pt x="233679" y="248962"/>
                </a:lnTo>
                <a:lnTo>
                  <a:pt x="233679" y="222833"/>
                </a:lnTo>
                <a:lnTo>
                  <a:pt x="120291" y="222833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59BA6CE-0C23-EF34-5C1B-5541409CAF10}"/>
              </a:ext>
            </a:extLst>
          </p:cNvPr>
          <p:cNvSpPr/>
          <p:nvPr/>
        </p:nvSpPr>
        <p:spPr>
          <a:xfrm>
            <a:off x="5562845" y="203836"/>
            <a:ext cx="563807" cy="558164"/>
          </a:xfrm>
          <a:custGeom>
            <a:avLst/>
            <a:gdLst/>
            <a:ahLst/>
            <a:cxnLst/>
            <a:rect l="l" t="t" r="r" b="b"/>
            <a:pathLst>
              <a:path w="492500" h="487571">
                <a:moveTo>
                  <a:pt x="270653" y="0"/>
                </a:moveTo>
                <a:lnTo>
                  <a:pt x="340658" y="0"/>
                </a:lnTo>
                <a:lnTo>
                  <a:pt x="341398" y="81344"/>
                </a:lnTo>
                <a:lnTo>
                  <a:pt x="408692" y="81344"/>
                </a:lnTo>
                <a:cubicBezTo>
                  <a:pt x="399982" y="69841"/>
                  <a:pt x="386014" y="52751"/>
                  <a:pt x="366787" y="30073"/>
                </a:cubicBezTo>
                <a:lnTo>
                  <a:pt x="418551" y="1972"/>
                </a:lnTo>
                <a:cubicBezTo>
                  <a:pt x="430055" y="14461"/>
                  <a:pt x="446488" y="34017"/>
                  <a:pt x="467851" y="60638"/>
                </a:cubicBezTo>
                <a:lnTo>
                  <a:pt x="429890" y="81344"/>
                </a:lnTo>
                <a:lnTo>
                  <a:pt x="484119" y="81344"/>
                </a:lnTo>
                <a:lnTo>
                  <a:pt x="484119" y="140503"/>
                </a:lnTo>
                <a:lnTo>
                  <a:pt x="342630" y="140503"/>
                </a:lnTo>
                <a:cubicBezTo>
                  <a:pt x="344274" y="191610"/>
                  <a:pt x="347807" y="235898"/>
                  <a:pt x="353230" y="273365"/>
                </a:cubicBezTo>
                <a:cubicBezTo>
                  <a:pt x="374921" y="240006"/>
                  <a:pt x="394230" y="203771"/>
                  <a:pt x="411156" y="164660"/>
                </a:cubicBezTo>
                <a:lnTo>
                  <a:pt x="471795" y="192761"/>
                </a:lnTo>
                <a:cubicBezTo>
                  <a:pt x="442872" y="256685"/>
                  <a:pt x="410253" y="313051"/>
                  <a:pt x="373935" y="361857"/>
                </a:cubicBezTo>
                <a:cubicBezTo>
                  <a:pt x="386260" y="393902"/>
                  <a:pt x="397353" y="409924"/>
                  <a:pt x="407213" y="409924"/>
                </a:cubicBezTo>
                <a:cubicBezTo>
                  <a:pt x="410992" y="409924"/>
                  <a:pt x="414114" y="407541"/>
                  <a:pt x="416579" y="402776"/>
                </a:cubicBezTo>
                <a:cubicBezTo>
                  <a:pt x="419044" y="398010"/>
                  <a:pt x="421756" y="386137"/>
                  <a:pt x="424714" y="367157"/>
                </a:cubicBezTo>
                <a:cubicBezTo>
                  <a:pt x="427672" y="348177"/>
                  <a:pt x="429233" y="331785"/>
                  <a:pt x="429397" y="317981"/>
                </a:cubicBezTo>
                <a:cubicBezTo>
                  <a:pt x="444187" y="326526"/>
                  <a:pt x="465221" y="336550"/>
                  <a:pt x="492500" y="348054"/>
                </a:cubicBezTo>
                <a:cubicBezTo>
                  <a:pt x="491514" y="365801"/>
                  <a:pt x="487406" y="389136"/>
                  <a:pt x="480175" y="418059"/>
                </a:cubicBezTo>
                <a:cubicBezTo>
                  <a:pt x="472945" y="446981"/>
                  <a:pt x="463414" y="465468"/>
                  <a:pt x="451582" y="473520"/>
                </a:cubicBezTo>
                <a:cubicBezTo>
                  <a:pt x="439750" y="481573"/>
                  <a:pt x="427836" y="485599"/>
                  <a:pt x="415840" y="485599"/>
                </a:cubicBezTo>
                <a:cubicBezTo>
                  <a:pt x="380016" y="485599"/>
                  <a:pt x="350354" y="463250"/>
                  <a:pt x="326855" y="418552"/>
                </a:cubicBezTo>
                <a:cubicBezTo>
                  <a:pt x="303191" y="444187"/>
                  <a:pt x="278213" y="467194"/>
                  <a:pt x="251920" y="487571"/>
                </a:cubicBezTo>
                <a:cubicBezTo>
                  <a:pt x="236144" y="468180"/>
                  <a:pt x="219053" y="450760"/>
                  <a:pt x="200648" y="435313"/>
                </a:cubicBezTo>
                <a:cubicBezTo>
                  <a:pt x="236966" y="409185"/>
                  <a:pt x="269996" y="378948"/>
                  <a:pt x="299740" y="344603"/>
                </a:cubicBezTo>
                <a:cubicBezTo>
                  <a:pt x="287744" y="295303"/>
                  <a:pt x="279609" y="227270"/>
                  <a:pt x="275337" y="140503"/>
                </a:cubicBezTo>
                <a:lnTo>
                  <a:pt x="106487" y="140503"/>
                </a:lnTo>
                <a:lnTo>
                  <a:pt x="106487" y="198677"/>
                </a:lnTo>
                <a:lnTo>
                  <a:pt x="246990" y="198677"/>
                </a:lnTo>
                <a:cubicBezTo>
                  <a:pt x="246990" y="203607"/>
                  <a:pt x="246004" y="232241"/>
                  <a:pt x="244032" y="284581"/>
                </a:cubicBezTo>
                <a:cubicBezTo>
                  <a:pt x="242060" y="336920"/>
                  <a:pt x="237623" y="369088"/>
                  <a:pt x="230721" y="381084"/>
                </a:cubicBezTo>
                <a:cubicBezTo>
                  <a:pt x="223819" y="393080"/>
                  <a:pt x="214904" y="402899"/>
                  <a:pt x="203976" y="410540"/>
                </a:cubicBezTo>
                <a:cubicBezTo>
                  <a:pt x="193048" y="418182"/>
                  <a:pt x="164988" y="421017"/>
                  <a:pt x="119797" y="419045"/>
                </a:cubicBezTo>
                <a:cubicBezTo>
                  <a:pt x="116511" y="391108"/>
                  <a:pt x="112567" y="367116"/>
                  <a:pt x="107966" y="347068"/>
                </a:cubicBezTo>
                <a:cubicBezTo>
                  <a:pt x="123577" y="350026"/>
                  <a:pt x="135902" y="351504"/>
                  <a:pt x="144940" y="351504"/>
                </a:cubicBezTo>
                <a:cubicBezTo>
                  <a:pt x="162523" y="351504"/>
                  <a:pt x="172507" y="342795"/>
                  <a:pt x="174889" y="325376"/>
                </a:cubicBezTo>
                <a:cubicBezTo>
                  <a:pt x="177272" y="307957"/>
                  <a:pt x="178464" y="285608"/>
                  <a:pt x="178464" y="258329"/>
                </a:cubicBezTo>
                <a:lnTo>
                  <a:pt x="106487" y="258329"/>
                </a:lnTo>
                <a:cubicBezTo>
                  <a:pt x="105994" y="360378"/>
                  <a:pt x="89889" y="436792"/>
                  <a:pt x="58173" y="487571"/>
                </a:cubicBezTo>
                <a:cubicBezTo>
                  <a:pt x="40097" y="470480"/>
                  <a:pt x="20706" y="454376"/>
                  <a:pt x="0" y="439257"/>
                </a:cubicBezTo>
                <a:cubicBezTo>
                  <a:pt x="27279" y="394888"/>
                  <a:pt x="41083" y="331292"/>
                  <a:pt x="41412" y="248469"/>
                </a:cubicBezTo>
                <a:lnTo>
                  <a:pt x="41412" y="81344"/>
                </a:lnTo>
                <a:lnTo>
                  <a:pt x="272872" y="81344"/>
                </a:lnTo>
                <a:lnTo>
                  <a:pt x="27065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CB8FB00-C644-893C-DE17-1738D7A4B6F4}"/>
              </a:ext>
            </a:extLst>
          </p:cNvPr>
          <p:cNvSpPr/>
          <p:nvPr/>
        </p:nvSpPr>
        <p:spPr>
          <a:xfrm>
            <a:off x="6755927" y="241648"/>
            <a:ext cx="484230" cy="506805"/>
          </a:xfrm>
          <a:custGeom>
            <a:avLst/>
            <a:gdLst/>
            <a:ahLst/>
            <a:cxnLst/>
            <a:rect l="l" t="t" r="r" b="b"/>
            <a:pathLst>
              <a:path w="422988" h="442708">
                <a:moveTo>
                  <a:pt x="0" y="0"/>
                </a:moveTo>
                <a:lnTo>
                  <a:pt x="422988" y="0"/>
                </a:lnTo>
                <a:cubicBezTo>
                  <a:pt x="422495" y="63596"/>
                  <a:pt x="421180" y="133683"/>
                  <a:pt x="419044" y="210261"/>
                </a:cubicBezTo>
                <a:lnTo>
                  <a:pt x="414114" y="358899"/>
                </a:lnTo>
                <a:cubicBezTo>
                  <a:pt x="412964" y="381412"/>
                  <a:pt x="406637" y="399489"/>
                  <a:pt x="395134" y="413128"/>
                </a:cubicBezTo>
                <a:cubicBezTo>
                  <a:pt x="383631" y="426768"/>
                  <a:pt x="368389" y="434984"/>
                  <a:pt x="349409" y="437778"/>
                </a:cubicBezTo>
                <a:cubicBezTo>
                  <a:pt x="330428" y="440571"/>
                  <a:pt x="291030" y="442215"/>
                  <a:pt x="231213" y="442708"/>
                </a:cubicBezTo>
                <a:cubicBezTo>
                  <a:pt x="226612" y="419701"/>
                  <a:pt x="220696" y="394723"/>
                  <a:pt x="213466" y="367773"/>
                </a:cubicBezTo>
                <a:cubicBezTo>
                  <a:pt x="248797" y="370073"/>
                  <a:pt x="278870" y="371224"/>
                  <a:pt x="303683" y="371224"/>
                </a:cubicBezTo>
                <a:cubicBezTo>
                  <a:pt x="324718" y="371224"/>
                  <a:pt x="337248" y="361610"/>
                  <a:pt x="341274" y="342384"/>
                </a:cubicBezTo>
                <a:cubicBezTo>
                  <a:pt x="345300" y="323157"/>
                  <a:pt x="347889" y="231049"/>
                  <a:pt x="349039" y="66061"/>
                </a:cubicBezTo>
                <a:lnTo>
                  <a:pt x="0" y="66061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A6D608A-6CA7-AE57-57D8-D3CDAD2342EA}"/>
              </a:ext>
            </a:extLst>
          </p:cNvPr>
          <p:cNvSpPr/>
          <p:nvPr/>
        </p:nvSpPr>
        <p:spPr>
          <a:xfrm>
            <a:off x="6828167" y="330820"/>
            <a:ext cx="198658" cy="176648"/>
          </a:xfrm>
          <a:custGeom>
            <a:avLst/>
            <a:gdLst/>
            <a:ahLst/>
            <a:cxnLst/>
            <a:rect l="l" t="t" r="r" b="b"/>
            <a:pathLst>
              <a:path w="173533" h="154307">
                <a:moveTo>
                  <a:pt x="40425" y="0"/>
                </a:moveTo>
                <a:cubicBezTo>
                  <a:pt x="92683" y="35495"/>
                  <a:pt x="137052" y="67211"/>
                  <a:pt x="173533" y="95147"/>
                </a:cubicBezTo>
                <a:lnTo>
                  <a:pt x="124727" y="154307"/>
                </a:lnTo>
                <a:cubicBezTo>
                  <a:pt x="82987" y="118154"/>
                  <a:pt x="41411" y="83973"/>
                  <a:pt x="0" y="51764"/>
                </a:cubicBezTo>
                <a:lnTo>
                  <a:pt x="40425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C368AFB-A5FD-0156-21E2-FFBA265867D6}"/>
              </a:ext>
            </a:extLst>
          </p:cNvPr>
          <p:cNvSpPr/>
          <p:nvPr/>
        </p:nvSpPr>
        <p:spPr>
          <a:xfrm>
            <a:off x="6148663" y="413782"/>
            <a:ext cx="546875" cy="343138"/>
          </a:xfrm>
          <a:custGeom>
            <a:avLst/>
            <a:gdLst/>
            <a:ahLst/>
            <a:cxnLst/>
            <a:rect l="l" t="t" r="r" b="b"/>
            <a:pathLst>
              <a:path w="477710" h="299740">
                <a:moveTo>
                  <a:pt x="101064" y="0"/>
                </a:moveTo>
                <a:lnTo>
                  <a:pt x="378619" y="0"/>
                </a:lnTo>
                <a:lnTo>
                  <a:pt x="378619" y="59652"/>
                </a:lnTo>
                <a:lnTo>
                  <a:pt x="293824" y="115853"/>
                </a:lnTo>
                <a:lnTo>
                  <a:pt x="477710" y="115853"/>
                </a:lnTo>
                <a:lnTo>
                  <a:pt x="477710" y="176984"/>
                </a:lnTo>
                <a:lnTo>
                  <a:pt x="286429" y="176984"/>
                </a:lnTo>
                <a:lnTo>
                  <a:pt x="286429" y="227270"/>
                </a:lnTo>
                <a:cubicBezTo>
                  <a:pt x="286429" y="249947"/>
                  <a:pt x="280102" y="267613"/>
                  <a:pt x="267449" y="280266"/>
                </a:cubicBezTo>
                <a:cubicBezTo>
                  <a:pt x="254795" y="292920"/>
                  <a:pt x="235445" y="299329"/>
                  <a:pt x="209399" y="299493"/>
                </a:cubicBezTo>
                <a:cubicBezTo>
                  <a:pt x="183352" y="299657"/>
                  <a:pt x="156608" y="299740"/>
                  <a:pt x="129164" y="299740"/>
                </a:cubicBezTo>
                <a:cubicBezTo>
                  <a:pt x="124563" y="277062"/>
                  <a:pt x="118976" y="255370"/>
                  <a:pt x="112402" y="234665"/>
                </a:cubicBezTo>
                <a:cubicBezTo>
                  <a:pt x="137381" y="235979"/>
                  <a:pt x="160223" y="236637"/>
                  <a:pt x="180929" y="236637"/>
                </a:cubicBezTo>
                <a:cubicBezTo>
                  <a:pt x="203935" y="236637"/>
                  <a:pt x="215438" y="226612"/>
                  <a:pt x="215438" y="206564"/>
                </a:cubicBezTo>
                <a:lnTo>
                  <a:pt x="215438" y="176984"/>
                </a:lnTo>
                <a:lnTo>
                  <a:pt x="0" y="176984"/>
                </a:lnTo>
                <a:lnTo>
                  <a:pt x="0" y="115853"/>
                </a:lnTo>
                <a:lnTo>
                  <a:pt x="215438" y="115853"/>
                </a:lnTo>
                <a:lnTo>
                  <a:pt x="215438" y="103035"/>
                </a:lnTo>
                <a:lnTo>
                  <a:pt x="281499" y="60145"/>
                </a:lnTo>
                <a:lnTo>
                  <a:pt x="101064" y="60145"/>
                </a:lnTo>
                <a:lnTo>
                  <a:pt x="101064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9293F287-EE39-9416-A08F-D9000CDD894C}"/>
              </a:ext>
            </a:extLst>
          </p:cNvPr>
          <p:cNvSpPr/>
          <p:nvPr/>
        </p:nvSpPr>
        <p:spPr>
          <a:xfrm>
            <a:off x="6737866" y="470220"/>
            <a:ext cx="394495" cy="209382"/>
          </a:xfrm>
          <a:custGeom>
            <a:avLst/>
            <a:gdLst/>
            <a:ahLst/>
            <a:cxnLst/>
            <a:rect l="l" t="t" r="r" b="b"/>
            <a:pathLst>
              <a:path w="344602" h="182901">
                <a:moveTo>
                  <a:pt x="343616" y="0"/>
                </a:moveTo>
                <a:cubicBezTo>
                  <a:pt x="343616" y="15447"/>
                  <a:pt x="343945" y="38782"/>
                  <a:pt x="344602" y="70005"/>
                </a:cubicBezTo>
                <a:cubicBezTo>
                  <a:pt x="249290" y="104843"/>
                  <a:pt x="142968" y="142475"/>
                  <a:pt x="25636" y="182901"/>
                </a:cubicBezTo>
                <a:lnTo>
                  <a:pt x="0" y="107473"/>
                </a:lnTo>
                <a:cubicBezTo>
                  <a:pt x="124563" y="72963"/>
                  <a:pt x="239102" y="37139"/>
                  <a:pt x="343616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15F0C43-4640-6B91-4693-11B33A8F31D4}"/>
              </a:ext>
            </a:extLst>
          </p:cNvPr>
          <p:cNvSpPr/>
          <p:nvPr/>
        </p:nvSpPr>
        <p:spPr>
          <a:xfrm>
            <a:off x="4984930" y="547537"/>
            <a:ext cx="562114" cy="212204"/>
          </a:xfrm>
          <a:custGeom>
            <a:avLst/>
            <a:gdLst/>
            <a:ahLst/>
            <a:cxnLst/>
            <a:rect l="l" t="t" r="r" b="b"/>
            <a:pathLst>
              <a:path w="491021" h="185366">
                <a:moveTo>
                  <a:pt x="212480" y="0"/>
                </a:moveTo>
                <a:lnTo>
                  <a:pt x="277555" y="0"/>
                </a:lnTo>
                <a:lnTo>
                  <a:pt x="277555" y="22678"/>
                </a:lnTo>
                <a:lnTo>
                  <a:pt x="484119" y="22678"/>
                </a:lnTo>
                <a:lnTo>
                  <a:pt x="484119" y="70005"/>
                </a:lnTo>
                <a:lnTo>
                  <a:pt x="339672" y="70005"/>
                </a:lnTo>
                <a:cubicBezTo>
                  <a:pt x="379934" y="92683"/>
                  <a:pt x="430383" y="109280"/>
                  <a:pt x="491021" y="119798"/>
                </a:cubicBezTo>
                <a:cubicBezTo>
                  <a:pt x="476889" y="142147"/>
                  <a:pt x="465386" y="161702"/>
                  <a:pt x="456512" y="178464"/>
                </a:cubicBezTo>
                <a:cubicBezTo>
                  <a:pt x="378290" y="156936"/>
                  <a:pt x="318638" y="125549"/>
                  <a:pt x="277555" y="84302"/>
                </a:cubicBezTo>
                <a:lnTo>
                  <a:pt x="277555" y="185366"/>
                </a:lnTo>
                <a:lnTo>
                  <a:pt x="212480" y="185366"/>
                </a:lnTo>
                <a:lnTo>
                  <a:pt x="212480" y="88492"/>
                </a:lnTo>
                <a:cubicBezTo>
                  <a:pt x="169097" y="126617"/>
                  <a:pt x="109609" y="158251"/>
                  <a:pt x="34017" y="183394"/>
                </a:cubicBezTo>
                <a:cubicBezTo>
                  <a:pt x="25800" y="166303"/>
                  <a:pt x="14461" y="147241"/>
                  <a:pt x="0" y="126206"/>
                </a:cubicBezTo>
                <a:cubicBezTo>
                  <a:pt x="62939" y="110595"/>
                  <a:pt x="113389" y="91861"/>
                  <a:pt x="151349" y="70005"/>
                </a:cubicBezTo>
                <a:lnTo>
                  <a:pt x="10846" y="70005"/>
                </a:lnTo>
                <a:lnTo>
                  <a:pt x="10846" y="22678"/>
                </a:lnTo>
                <a:lnTo>
                  <a:pt x="212480" y="22678"/>
                </a:lnTo>
                <a:lnTo>
                  <a:pt x="21248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90FE50F-53B7-F471-59F6-99676C447216}"/>
              </a:ext>
            </a:extLst>
          </p:cNvPr>
          <p:cNvSpPr/>
          <p:nvPr/>
        </p:nvSpPr>
        <p:spPr>
          <a:xfrm>
            <a:off x="5122636" y="305423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493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986"/>
                </a:lnTo>
                <a:lnTo>
                  <a:pt x="49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259BCA1-FB86-CDF4-CFDB-338D404E972F}"/>
              </a:ext>
            </a:extLst>
          </p:cNvPr>
          <p:cNvSpPr/>
          <p:nvPr/>
        </p:nvSpPr>
        <p:spPr>
          <a:xfrm>
            <a:off x="5122636" y="380484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0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03FF8754-541E-BC4B-82B0-ADF4CA0BD592}"/>
              </a:ext>
            </a:extLst>
          </p:cNvPr>
          <p:cNvSpPr/>
          <p:nvPr/>
        </p:nvSpPr>
        <p:spPr>
          <a:xfrm>
            <a:off x="5122636" y="455546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0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14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4</a:t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" y="974725"/>
            <a:ext cx="4237990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集成学习算法的流派主要有两种：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1. bagging 装袋法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2. boosting 提升法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70A040-78BB-4277-B5DD-800FB8EB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2667000"/>
            <a:ext cx="5409565" cy="2028825"/>
          </a:xfrm>
          <a:prstGeom prst="rect">
            <a:avLst/>
          </a:prstGeom>
        </p:spPr>
      </p:pic>
      <p:sp>
        <p:nvSpPr>
          <p:cNvPr id="10" name="文本框 12">
            <a:extLst>
              <a:ext uri="{FF2B5EF4-FFF2-40B4-BE49-F238E27FC236}">
                <a16:creationId xmlns:a16="http://schemas.microsoft.com/office/drawing/2014/main" id="{1BC4928B-6E3C-4DFE-B87B-E955643EF787}"/>
              </a:ext>
            </a:extLst>
          </p:cNvPr>
          <p:cNvSpPr txBox="1"/>
          <p:nvPr/>
        </p:nvSpPr>
        <p:spPr>
          <a:xfrm>
            <a:off x="2480310" y="4721860"/>
            <a:ext cx="16878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boosting</a:t>
            </a:r>
            <a:r>
              <a:rPr lang="zh-CN" altLang="en-US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图示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F240917-FCA4-4986-84A8-EFD961E9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903383"/>
            <a:ext cx="5619750" cy="2818477"/>
          </a:xfrm>
          <a:prstGeom prst="rect">
            <a:avLst/>
          </a:prstGeom>
        </p:spPr>
      </p:pic>
      <p:sp>
        <p:nvSpPr>
          <p:cNvPr id="12" name="文本框 9">
            <a:extLst>
              <a:ext uri="{FF2B5EF4-FFF2-40B4-BE49-F238E27FC236}">
                <a16:creationId xmlns:a16="http://schemas.microsoft.com/office/drawing/2014/main" id="{E1730020-E752-47E2-A82B-0BD731D81EE5}"/>
              </a:ext>
            </a:extLst>
          </p:cNvPr>
          <p:cNvSpPr txBox="1"/>
          <p:nvPr/>
        </p:nvSpPr>
        <p:spPr>
          <a:xfrm>
            <a:off x="8036562" y="4763770"/>
            <a:ext cx="27870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图</a:t>
            </a:r>
            <a:r>
              <a:rPr lang="en-US" altLang="zh-CN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-boosting</a:t>
            </a:r>
            <a:r>
              <a:rPr lang="zh-CN" altLang="en-US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的</a:t>
            </a:r>
            <a:r>
              <a:rPr lang="en-US" altLang="zh-CN" sz="1400" b="1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放回随机抽样</a:t>
            </a:r>
            <a:endParaRPr lang="en-US" altLang="zh-CN" sz="1400" b="1"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endParaRPr lang="zh-CN" altLang="en-US" sz="1400" b="1"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ED478-C5CA-3CEF-6FBC-552790E471A0}"/>
              </a:ext>
            </a:extLst>
          </p:cNvPr>
          <p:cNvSpPr txBox="1"/>
          <p:nvPr/>
        </p:nvSpPr>
        <p:spPr>
          <a:xfrm>
            <a:off x="381000" y="5327650"/>
            <a:ext cx="1082040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Boosting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方法中，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后一个模型会在前一个模型基础上进行改进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，尝试纠正前面模型的错误。提升法专注于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提高那些被之前模型错误分类的观察样本的权重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。因此，随着训练过程的进行，模型越来越专注于难以分类的案例。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6A5065D8-1A7C-1C6D-8D7F-E33DFEB570F1}"/>
              </a:ext>
            </a:extLst>
          </p:cNvPr>
          <p:cNvSpPr/>
          <p:nvPr/>
        </p:nvSpPr>
        <p:spPr>
          <a:xfrm>
            <a:off x="6158258" y="197628"/>
            <a:ext cx="526559" cy="246066"/>
          </a:xfrm>
          <a:custGeom>
            <a:avLst/>
            <a:gdLst/>
            <a:ahLst/>
            <a:cxnLst/>
            <a:rect l="l" t="t" r="r" b="b"/>
            <a:pathLst>
              <a:path w="459963" h="214945">
                <a:moveTo>
                  <a:pt x="232693" y="0"/>
                </a:moveTo>
                <a:cubicBezTo>
                  <a:pt x="245839" y="20049"/>
                  <a:pt x="261286" y="46013"/>
                  <a:pt x="279034" y="77893"/>
                </a:cubicBezTo>
                <a:lnTo>
                  <a:pt x="245018" y="93669"/>
                </a:lnTo>
                <a:lnTo>
                  <a:pt x="305409" y="93669"/>
                </a:lnTo>
                <a:cubicBezTo>
                  <a:pt x="327923" y="61296"/>
                  <a:pt x="346903" y="33195"/>
                  <a:pt x="362350" y="9367"/>
                </a:cubicBezTo>
                <a:lnTo>
                  <a:pt x="428904" y="45849"/>
                </a:lnTo>
                <a:lnTo>
                  <a:pt x="388972" y="93669"/>
                </a:lnTo>
                <a:lnTo>
                  <a:pt x="459963" y="93669"/>
                </a:lnTo>
                <a:lnTo>
                  <a:pt x="459963" y="214945"/>
                </a:lnTo>
                <a:lnTo>
                  <a:pt x="390944" y="214945"/>
                </a:lnTo>
                <a:lnTo>
                  <a:pt x="390944" y="153814"/>
                </a:lnTo>
                <a:lnTo>
                  <a:pt x="69019" y="153814"/>
                </a:lnTo>
                <a:lnTo>
                  <a:pt x="69019" y="214945"/>
                </a:lnTo>
                <a:lnTo>
                  <a:pt x="0" y="214945"/>
                </a:lnTo>
                <a:lnTo>
                  <a:pt x="0" y="93669"/>
                </a:lnTo>
                <a:lnTo>
                  <a:pt x="80604" y="93669"/>
                </a:lnTo>
                <a:cubicBezTo>
                  <a:pt x="66143" y="73785"/>
                  <a:pt x="52093" y="55544"/>
                  <a:pt x="38453" y="38947"/>
                </a:cubicBezTo>
                <a:lnTo>
                  <a:pt x="90218" y="3944"/>
                </a:lnTo>
                <a:cubicBezTo>
                  <a:pt x="109937" y="26293"/>
                  <a:pt x="129986" y="51272"/>
                  <a:pt x="150363" y="78879"/>
                </a:cubicBezTo>
                <a:lnTo>
                  <a:pt x="128425" y="93669"/>
                </a:lnTo>
                <a:lnTo>
                  <a:pt x="210755" y="93669"/>
                </a:lnTo>
                <a:cubicBezTo>
                  <a:pt x="196951" y="67212"/>
                  <a:pt x="184215" y="44863"/>
                  <a:pt x="172548" y="26622"/>
                </a:cubicBezTo>
                <a:lnTo>
                  <a:pt x="23269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B377A6D-D281-0970-F522-3C910E71300D}"/>
              </a:ext>
            </a:extLst>
          </p:cNvPr>
          <p:cNvSpPr/>
          <p:nvPr/>
        </p:nvSpPr>
        <p:spPr>
          <a:xfrm>
            <a:off x="4984929" y="200450"/>
            <a:ext cx="538411" cy="354990"/>
          </a:xfrm>
          <a:custGeom>
            <a:avLst/>
            <a:gdLst/>
            <a:ahLst/>
            <a:cxnLst/>
            <a:rect l="l" t="t" r="r" b="b"/>
            <a:pathLst>
              <a:path w="470316" h="310093">
                <a:moveTo>
                  <a:pt x="278048" y="0"/>
                </a:moveTo>
                <a:cubicBezTo>
                  <a:pt x="286758" y="15447"/>
                  <a:pt x="295139" y="31881"/>
                  <a:pt x="303191" y="49300"/>
                </a:cubicBezTo>
                <a:lnTo>
                  <a:pt x="463414" y="49300"/>
                </a:lnTo>
                <a:lnTo>
                  <a:pt x="463414" y="91697"/>
                </a:lnTo>
                <a:lnTo>
                  <a:pt x="298754" y="91697"/>
                </a:lnTo>
                <a:lnTo>
                  <a:pt x="298754" y="117826"/>
                </a:lnTo>
                <a:lnTo>
                  <a:pt x="445666" y="117826"/>
                </a:lnTo>
                <a:lnTo>
                  <a:pt x="445666" y="157265"/>
                </a:lnTo>
                <a:lnTo>
                  <a:pt x="298754" y="157265"/>
                </a:lnTo>
                <a:lnTo>
                  <a:pt x="298754" y="183394"/>
                </a:lnTo>
                <a:lnTo>
                  <a:pt x="445666" y="183394"/>
                </a:lnTo>
                <a:lnTo>
                  <a:pt x="445666" y="222833"/>
                </a:lnTo>
                <a:lnTo>
                  <a:pt x="298754" y="222833"/>
                </a:lnTo>
                <a:lnTo>
                  <a:pt x="298754" y="248962"/>
                </a:lnTo>
                <a:lnTo>
                  <a:pt x="470316" y="248962"/>
                </a:lnTo>
                <a:lnTo>
                  <a:pt x="470316" y="292345"/>
                </a:lnTo>
                <a:lnTo>
                  <a:pt x="120291" y="292345"/>
                </a:lnTo>
                <a:lnTo>
                  <a:pt x="120291" y="310093"/>
                </a:lnTo>
                <a:lnTo>
                  <a:pt x="55215" y="310093"/>
                </a:lnTo>
                <a:lnTo>
                  <a:pt x="55215" y="167372"/>
                </a:lnTo>
                <a:cubicBezTo>
                  <a:pt x="46342" y="175917"/>
                  <a:pt x="37139" y="184215"/>
                  <a:pt x="27608" y="192268"/>
                </a:cubicBezTo>
                <a:cubicBezTo>
                  <a:pt x="19063" y="165646"/>
                  <a:pt x="9860" y="141654"/>
                  <a:pt x="0" y="120291"/>
                </a:cubicBezTo>
                <a:cubicBezTo>
                  <a:pt x="39768" y="89396"/>
                  <a:pt x="72306" y="50286"/>
                  <a:pt x="97613" y="2958"/>
                </a:cubicBezTo>
                <a:lnTo>
                  <a:pt x="166139" y="17748"/>
                </a:lnTo>
                <a:cubicBezTo>
                  <a:pt x="160552" y="28594"/>
                  <a:pt x="154718" y="39111"/>
                  <a:pt x="148638" y="49300"/>
                </a:cubicBezTo>
                <a:lnTo>
                  <a:pt x="233186" y="49300"/>
                </a:lnTo>
                <a:cubicBezTo>
                  <a:pt x="227106" y="35660"/>
                  <a:pt x="220861" y="23007"/>
                  <a:pt x="214452" y="11339"/>
                </a:cubicBezTo>
                <a:lnTo>
                  <a:pt x="278048" y="0"/>
                </a:lnTo>
                <a:close/>
                <a:moveTo>
                  <a:pt x="120784" y="91697"/>
                </a:moveTo>
                <a:lnTo>
                  <a:pt x="120291" y="92683"/>
                </a:lnTo>
                <a:lnTo>
                  <a:pt x="120291" y="117826"/>
                </a:lnTo>
                <a:lnTo>
                  <a:pt x="233679" y="117826"/>
                </a:lnTo>
                <a:lnTo>
                  <a:pt x="233679" y="91697"/>
                </a:lnTo>
                <a:lnTo>
                  <a:pt x="120784" y="91697"/>
                </a:lnTo>
                <a:close/>
                <a:moveTo>
                  <a:pt x="120291" y="157265"/>
                </a:moveTo>
                <a:lnTo>
                  <a:pt x="120291" y="183394"/>
                </a:lnTo>
                <a:lnTo>
                  <a:pt x="233679" y="183394"/>
                </a:lnTo>
                <a:lnTo>
                  <a:pt x="233679" y="157265"/>
                </a:lnTo>
                <a:lnTo>
                  <a:pt x="120291" y="157265"/>
                </a:lnTo>
                <a:close/>
                <a:moveTo>
                  <a:pt x="120291" y="222833"/>
                </a:moveTo>
                <a:lnTo>
                  <a:pt x="120291" y="248962"/>
                </a:lnTo>
                <a:lnTo>
                  <a:pt x="233679" y="248962"/>
                </a:lnTo>
                <a:lnTo>
                  <a:pt x="233679" y="222833"/>
                </a:lnTo>
                <a:lnTo>
                  <a:pt x="120291" y="222833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3460764-8F37-47BE-5AAB-37F24622E8B3}"/>
              </a:ext>
            </a:extLst>
          </p:cNvPr>
          <p:cNvSpPr/>
          <p:nvPr/>
        </p:nvSpPr>
        <p:spPr>
          <a:xfrm>
            <a:off x="5562845" y="203836"/>
            <a:ext cx="563807" cy="558164"/>
          </a:xfrm>
          <a:custGeom>
            <a:avLst/>
            <a:gdLst/>
            <a:ahLst/>
            <a:cxnLst/>
            <a:rect l="l" t="t" r="r" b="b"/>
            <a:pathLst>
              <a:path w="492500" h="487571">
                <a:moveTo>
                  <a:pt x="270653" y="0"/>
                </a:moveTo>
                <a:lnTo>
                  <a:pt x="340658" y="0"/>
                </a:lnTo>
                <a:lnTo>
                  <a:pt x="341398" y="81344"/>
                </a:lnTo>
                <a:lnTo>
                  <a:pt x="408692" y="81344"/>
                </a:lnTo>
                <a:cubicBezTo>
                  <a:pt x="399982" y="69841"/>
                  <a:pt x="386014" y="52751"/>
                  <a:pt x="366787" y="30073"/>
                </a:cubicBezTo>
                <a:lnTo>
                  <a:pt x="418551" y="1972"/>
                </a:lnTo>
                <a:cubicBezTo>
                  <a:pt x="430055" y="14461"/>
                  <a:pt x="446488" y="34017"/>
                  <a:pt x="467851" y="60638"/>
                </a:cubicBezTo>
                <a:lnTo>
                  <a:pt x="429890" y="81344"/>
                </a:lnTo>
                <a:lnTo>
                  <a:pt x="484119" y="81344"/>
                </a:lnTo>
                <a:lnTo>
                  <a:pt x="484119" y="140503"/>
                </a:lnTo>
                <a:lnTo>
                  <a:pt x="342630" y="140503"/>
                </a:lnTo>
                <a:cubicBezTo>
                  <a:pt x="344274" y="191610"/>
                  <a:pt x="347807" y="235898"/>
                  <a:pt x="353230" y="273365"/>
                </a:cubicBezTo>
                <a:cubicBezTo>
                  <a:pt x="374921" y="240006"/>
                  <a:pt x="394230" y="203771"/>
                  <a:pt x="411156" y="164660"/>
                </a:cubicBezTo>
                <a:lnTo>
                  <a:pt x="471795" y="192761"/>
                </a:lnTo>
                <a:cubicBezTo>
                  <a:pt x="442872" y="256685"/>
                  <a:pt x="410253" y="313051"/>
                  <a:pt x="373935" y="361857"/>
                </a:cubicBezTo>
                <a:cubicBezTo>
                  <a:pt x="386260" y="393902"/>
                  <a:pt x="397353" y="409924"/>
                  <a:pt x="407213" y="409924"/>
                </a:cubicBezTo>
                <a:cubicBezTo>
                  <a:pt x="410992" y="409924"/>
                  <a:pt x="414114" y="407541"/>
                  <a:pt x="416579" y="402776"/>
                </a:cubicBezTo>
                <a:cubicBezTo>
                  <a:pt x="419044" y="398010"/>
                  <a:pt x="421756" y="386137"/>
                  <a:pt x="424714" y="367157"/>
                </a:cubicBezTo>
                <a:cubicBezTo>
                  <a:pt x="427672" y="348177"/>
                  <a:pt x="429233" y="331785"/>
                  <a:pt x="429397" y="317981"/>
                </a:cubicBezTo>
                <a:cubicBezTo>
                  <a:pt x="444187" y="326526"/>
                  <a:pt x="465221" y="336550"/>
                  <a:pt x="492500" y="348054"/>
                </a:cubicBezTo>
                <a:cubicBezTo>
                  <a:pt x="491514" y="365801"/>
                  <a:pt x="487406" y="389136"/>
                  <a:pt x="480175" y="418059"/>
                </a:cubicBezTo>
                <a:cubicBezTo>
                  <a:pt x="472945" y="446981"/>
                  <a:pt x="463414" y="465468"/>
                  <a:pt x="451582" y="473520"/>
                </a:cubicBezTo>
                <a:cubicBezTo>
                  <a:pt x="439750" y="481573"/>
                  <a:pt x="427836" y="485599"/>
                  <a:pt x="415840" y="485599"/>
                </a:cubicBezTo>
                <a:cubicBezTo>
                  <a:pt x="380016" y="485599"/>
                  <a:pt x="350354" y="463250"/>
                  <a:pt x="326855" y="418552"/>
                </a:cubicBezTo>
                <a:cubicBezTo>
                  <a:pt x="303191" y="444187"/>
                  <a:pt x="278213" y="467194"/>
                  <a:pt x="251920" y="487571"/>
                </a:cubicBezTo>
                <a:cubicBezTo>
                  <a:pt x="236144" y="468180"/>
                  <a:pt x="219053" y="450760"/>
                  <a:pt x="200648" y="435313"/>
                </a:cubicBezTo>
                <a:cubicBezTo>
                  <a:pt x="236966" y="409185"/>
                  <a:pt x="269996" y="378948"/>
                  <a:pt x="299740" y="344603"/>
                </a:cubicBezTo>
                <a:cubicBezTo>
                  <a:pt x="287744" y="295303"/>
                  <a:pt x="279609" y="227270"/>
                  <a:pt x="275337" y="140503"/>
                </a:cubicBezTo>
                <a:lnTo>
                  <a:pt x="106487" y="140503"/>
                </a:lnTo>
                <a:lnTo>
                  <a:pt x="106487" y="198677"/>
                </a:lnTo>
                <a:lnTo>
                  <a:pt x="246990" y="198677"/>
                </a:lnTo>
                <a:cubicBezTo>
                  <a:pt x="246990" y="203607"/>
                  <a:pt x="246004" y="232241"/>
                  <a:pt x="244032" y="284581"/>
                </a:cubicBezTo>
                <a:cubicBezTo>
                  <a:pt x="242060" y="336920"/>
                  <a:pt x="237623" y="369088"/>
                  <a:pt x="230721" y="381084"/>
                </a:cubicBezTo>
                <a:cubicBezTo>
                  <a:pt x="223819" y="393080"/>
                  <a:pt x="214904" y="402899"/>
                  <a:pt x="203976" y="410540"/>
                </a:cubicBezTo>
                <a:cubicBezTo>
                  <a:pt x="193048" y="418182"/>
                  <a:pt x="164988" y="421017"/>
                  <a:pt x="119797" y="419045"/>
                </a:cubicBezTo>
                <a:cubicBezTo>
                  <a:pt x="116511" y="391108"/>
                  <a:pt x="112567" y="367116"/>
                  <a:pt x="107966" y="347068"/>
                </a:cubicBezTo>
                <a:cubicBezTo>
                  <a:pt x="123577" y="350026"/>
                  <a:pt x="135902" y="351504"/>
                  <a:pt x="144940" y="351504"/>
                </a:cubicBezTo>
                <a:cubicBezTo>
                  <a:pt x="162523" y="351504"/>
                  <a:pt x="172507" y="342795"/>
                  <a:pt x="174889" y="325376"/>
                </a:cubicBezTo>
                <a:cubicBezTo>
                  <a:pt x="177272" y="307957"/>
                  <a:pt x="178464" y="285608"/>
                  <a:pt x="178464" y="258329"/>
                </a:cubicBezTo>
                <a:lnTo>
                  <a:pt x="106487" y="258329"/>
                </a:lnTo>
                <a:cubicBezTo>
                  <a:pt x="105994" y="360378"/>
                  <a:pt x="89889" y="436792"/>
                  <a:pt x="58173" y="487571"/>
                </a:cubicBezTo>
                <a:cubicBezTo>
                  <a:pt x="40097" y="470480"/>
                  <a:pt x="20706" y="454376"/>
                  <a:pt x="0" y="439257"/>
                </a:cubicBezTo>
                <a:cubicBezTo>
                  <a:pt x="27279" y="394888"/>
                  <a:pt x="41083" y="331292"/>
                  <a:pt x="41412" y="248469"/>
                </a:cubicBezTo>
                <a:lnTo>
                  <a:pt x="41412" y="81344"/>
                </a:lnTo>
                <a:lnTo>
                  <a:pt x="272872" y="81344"/>
                </a:lnTo>
                <a:lnTo>
                  <a:pt x="27065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6C9F9EB1-C30F-66A0-786A-80CDBF1A8FE4}"/>
              </a:ext>
            </a:extLst>
          </p:cNvPr>
          <p:cNvSpPr/>
          <p:nvPr/>
        </p:nvSpPr>
        <p:spPr>
          <a:xfrm>
            <a:off x="6755927" y="241648"/>
            <a:ext cx="484230" cy="506805"/>
          </a:xfrm>
          <a:custGeom>
            <a:avLst/>
            <a:gdLst/>
            <a:ahLst/>
            <a:cxnLst/>
            <a:rect l="l" t="t" r="r" b="b"/>
            <a:pathLst>
              <a:path w="422988" h="442708">
                <a:moveTo>
                  <a:pt x="0" y="0"/>
                </a:moveTo>
                <a:lnTo>
                  <a:pt x="422988" y="0"/>
                </a:lnTo>
                <a:cubicBezTo>
                  <a:pt x="422495" y="63596"/>
                  <a:pt x="421180" y="133683"/>
                  <a:pt x="419044" y="210261"/>
                </a:cubicBezTo>
                <a:lnTo>
                  <a:pt x="414114" y="358899"/>
                </a:lnTo>
                <a:cubicBezTo>
                  <a:pt x="412964" y="381412"/>
                  <a:pt x="406637" y="399489"/>
                  <a:pt x="395134" y="413128"/>
                </a:cubicBezTo>
                <a:cubicBezTo>
                  <a:pt x="383631" y="426768"/>
                  <a:pt x="368389" y="434984"/>
                  <a:pt x="349409" y="437778"/>
                </a:cubicBezTo>
                <a:cubicBezTo>
                  <a:pt x="330428" y="440571"/>
                  <a:pt x="291030" y="442215"/>
                  <a:pt x="231213" y="442708"/>
                </a:cubicBezTo>
                <a:cubicBezTo>
                  <a:pt x="226612" y="419701"/>
                  <a:pt x="220696" y="394723"/>
                  <a:pt x="213466" y="367773"/>
                </a:cubicBezTo>
                <a:cubicBezTo>
                  <a:pt x="248797" y="370073"/>
                  <a:pt x="278870" y="371224"/>
                  <a:pt x="303683" y="371224"/>
                </a:cubicBezTo>
                <a:cubicBezTo>
                  <a:pt x="324718" y="371224"/>
                  <a:pt x="337248" y="361610"/>
                  <a:pt x="341274" y="342384"/>
                </a:cubicBezTo>
                <a:cubicBezTo>
                  <a:pt x="345300" y="323157"/>
                  <a:pt x="347889" y="231049"/>
                  <a:pt x="349039" y="66061"/>
                </a:cubicBezTo>
                <a:lnTo>
                  <a:pt x="0" y="66061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0381BE5-5AAE-5C2F-4FE3-A21433DD1A89}"/>
              </a:ext>
            </a:extLst>
          </p:cNvPr>
          <p:cNvSpPr/>
          <p:nvPr/>
        </p:nvSpPr>
        <p:spPr>
          <a:xfrm>
            <a:off x="6828167" y="330820"/>
            <a:ext cx="198658" cy="176648"/>
          </a:xfrm>
          <a:custGeom>
            <a:avLst/>
            <a:gdLst/>
            <a:ahLst/>
            <a:cxnLst/>
            <a:rect l="l" t="t" r="r" b="b"/>
            <a:pathLst>
              <a:path w="173533" h="154307">
                <a:moveTo>
                  <a:pt x="40425" y="0"/>
                </a:moveTo>
                <a:cubicBezTo>
                  <a:pt x="92683" y="35495"/>
                  <a:pt x="137052" y="67211"/>
                  <a:pt x="173533" y="95147"/>
                </a:cubicBezTo>
                <a:lnTo>
                  <a:pt x="124727" y="154307"/>
                </a:lnTo>
                <a:cubicBezTo>
                  <a:pt x="82987" y="118154"/>
                  <a:pt x="41411" y="83973"/>
                  <a:pt x="0" y="51764"/>
                </a:cubicBezTo>
                <a:lnTo>
                  <a:pt x="40425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A1045FE1-82A4-D071-2026-3EEE2F6CB4B0}"/>
              </a:ext>
            </a:extLst>
          </p:cNvPr>
          <p:cNvSpPr/>
          <p:nvPr/>
        </p:nvSpPr>
        <p:spPr>
          <a:xfrm>
            <a:off x="6148663" y="413782"/>
            <a:ext cx="546875" cy="343138"/>
          </a:xfrm>
          <a:custGeom>
            <a:avLst/>
            <a:gdLst/>
            <a:ahLst/>
            <a:cxnLst/>
            <a:rect l="l" t="t" r="r" b="b"/>
            <a:pathLst>
              <a:path w="477710" h="299740">
                <a:moveTo>
                  <a:pt x="101064" y="0"/>
                </a:moveTo>
                <a:lnTo>
                  <a:pt x="378619" y="0"/>
                </a:lnTo>
                <a:lnTo>
                  <a:pt x="378619" y="59652"/>
                </a:lnTo>
                <a:lnTo>
                  <a:pt x="293824" y="115853"/>
                </a:lnTo>
                <a:lnTo>
                  <a:pt x="477710" y="115853"/>
                </a:lnTo>
                <a:lnTo>
                  <a:pt x="477710" y="176984"/>
                </a:lnTo>
                <a:lnTo>
                  <a:pt x="286429" y="176984"/>
                </a:lnTo>
                <a:lnTo>
                  <a:pt x="286429" y="227270"/>
                </a:lnTo>
                <a:cubicBezTo>
                  <a:pt x="286429" y="249947"/>
                  <a:pt x="280102" y="267613"/>
                  <a:pt x="267449" y="280266"/>
                </a:cubicBezTo>
                <a:cubicBezTo>
                  <a:pt x="254795" y="292920"/>
                  <a:pt x="235445" y="299329"/>
                  <a:pt x="209399" y="299493"/>
                </a:cubicBezTo>
                <a:cubicBezTo>
                  <a:pt x="183352" y="299657"/>
                  <a:pt x="156608" y="299740"/>
                  <a:pt x="129164" y="299740"/>
                </a:cubicBezTo>
                <a:cubicBezTo>
                  <a:pt x="124563" y="277062"/>
                  <a:pt x="118976" y="255370"/>
                  <a:pt x="112402" y="234665"/>
                </a:cubicBezTo>
                <a:cubicBezTo>
                  <a:pt x="137381" y="235979"/>
                  <a:pt x="160223" y="236637"/>
                  <a:pt x="180929" y="236637"/>
                </a:cubicBezTo>
                <a:cubicBezTo>
                  <a:pt x="203935" y="236637"/>
                  <a:pt x="215438" y="226612"/>
                  <a:pt x="215438" y="206564"/>
                </a:cubicBezTo>
                <a:lnTo>
                  <a:pt x="215438" y="176984"/>
                </a:lnTo>
                <a:lnTo>
                  <a:pt x="0" y="176984"/>
                </a:lnTo>
                <a:lnTo>
                  <a:pt x="0" y="115853"/>
                </a:lnTo>
                <a:lnTo>
                  <a:pt x="215438" y="115853"/>
                </a:lnTo>
                <a:lnTo>
                  <a:pt x="215438" y="103035"/>
                </a:lnTo>
                <a:lnTo>
                  <a:pt x="281499" y="60145"/>
                </a:lnTo>
                <a:lnTo>
                  <a:pt x="101064" y="60145"/>
                </a:lnTo>
                <a:lnTo>
                  <a:pt x="101064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3979DEFC-3D23-E0D5-6DD5-29B5C03A2255}"/>
              </a:ext>
            </a:extLst>
          </p:cNvPr>
          <p:cNvSpPr/>
          <p:nvPr/>
        </p:nvSpPr>
        <p:spPr>
          <a:xfrm>
            <a:off x="6737866" y="470220"/>
            <a:ext cx="394495" cy="209382"/>
          </a:xfrm>
          <a:custGeom>
            <a:avLst/>
            <a:gdLst/>
            <a:ahLst/>
            <a:cxnLst/>
            <a:rect l="l" t="t" r="r" b="b"/>
            <a:pathLst>
              <a:path w="344602" h="182901">
                <a:moveTo>
                  <a:pt x="343616" y="0"/>
                </a:moveTo>
                <a:cubicBezTo>
                  <a:pt x="343616" y="15447"/>
                  <a:pt x="343945" y="38782"/>
                  <a:pt x="344602" y="70005"/>
                </a:cubicBezTo>
                <a:cubicBezTo>
                  <a:pt x="249290" y="104843"/>
                  <a:pt x="142968" y="142475"/>
                  <a:pt x="25636" y="182901"/>
                </a:cubicBezTo>
                <a:lnTo>
                  <a:pt x="0" y="107473"/>
                </a:lnTo>
                <a:cubicBezTo>
                  <a:pt x="124563" y="72963"/>
                  <a:pt x="239102" y="37139"/>
                  <a:pt x="343616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3DE2933-3A9C-61AA-6920-075B185DF8A7}"/>
              </a:ext>
            </a:extLst>
          </p:cNvPr>
          <p:cNvSpPr/>
          <p:nvPr/>
        </p:nvSpPr>
        <p:spPr>
          <a:xfrm>
            <a:off x="4984930" y="547537"/>
            <a:ext cx="562114" cy="212204"/>
          </a:xfrm>
          <a:custGeom>
            <a:avLst/>
            <a:gdLst/>
            <a:ahLst/>
            <a:cxnLst/>
            <a:rect l="l" t="t" r="r" b="b"/>
            <a:pathLst>
              <a:path w="491021" h="185366">
                <a:moveTo>
                  <a:pt x="212480" y="0"/>
                </a:moveTo>
                <a:lnTo>
                  <a:pt x="277555" y="0"/>
                </a:lnTo>
                <a:lnTo>
                  <a:pt x="277555" y="22678"/>
                </a:lnTo>
                <a:lnTo>
                  <a:pt x="484119" y="22678"/>
                </a:lnTo>
                <a:lnTo>
                  <a:pt x="484119" y="70005"/>
                </a:lnTo>
                <a:lnTo>
                  <a:pt x="339672" y="70005"/>
                </a:lnTo>
                <a:cubicBezTo>
                  <a:pt x="379934" y="92683"/>
                  <a:pt x="430383" y="109280"/>
                  <a:pt x="491021" y="119798"/>
                </a:cubicBezTo>
                <a:cubicBezTo>
                  <a:pt x="476889" y="142147"/>
                  <a:pt x="465386" y="161702"/>
                  <a:pt x="456512" y="178464"/>
                </a:cubicBezTo>
                <a:cubicBezTo>
                  <a:pt x="378290" y="156936"/>
                  <a:pt x="318638" y="125549"/>
                  <a:pt x="277555" y="84302"/>
                </a:cubicBezTo>
                <a:lnTo>
                  <a:pt x="277555" y="185366"/>
                </a:lnTo>
                <a:lnTo>
                  <a:pt x="212480" y="185366"/>
                </a:lnTo>
                <a:lnTo>
                  <a:pt x="212480" y="88492"/>
                </a:lnTo>
                <a:cubicBezTo>
                  <a:pt x="169097" y="126617"/>
                  <a:pt x="109609" y="158251"/>
                  <a:pt x="34017" y="183394"/>
                </a:cubicBezTo>
                <a:cubicBezTo>
                  <a:pt x="25800" y="166303"/>
                  <a:pt x="14461" y="147241"/>
                  <a:pt x="0" y="126206"/>
                </a:cubicBezTo>
                <a:cubicBezTo>
                  <a:pt x="62939" y="110595"/>
                  <a:pt x="113389" y="91861"/>
                  <a:pt x="151349" y="70005"/>
                </a:cubicBezTo>
                <a:lnTo>
                  <a:pt x="10846" y="70005"/>
                </a:lnTo>
                <a:lnTo>
                  <a:pt x="10846" y="22678"/>
                </a:lnTo>
                <a:lnTo>
                  <a:pt x="212480" y="22678"/>
                </a:lnTo>
                <a:lnTo>
                  <a:pt x="21248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92E1FF2-9397-DB66-D5A4-8330EB5E7833}"/>
              </a:ext>
            </a:extLst>
          </p:cNvPr>
          <p:cNvSpPr/>
          <p:nvPr/>
        </p:nvSpPr>
        <p:spPr>
          <a:xfrm>
            <a:off x="5122636" y="305423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493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986"/>
                </a:lnTo>
                <a:lnTo>
                  <a:pt x="493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90600A5-5EFA-9664-3041-52C98484603E}"/>
              </a:ext>
            </a:extLst>
          </p:cNvPr>
          <p:cNvSpPr/>
          <p:nvPr/>
        </p:nvSpPr>
        <p:spPr>
          <a:xfrm>
            <a:off x="5122636" y="380484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0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AB6E7D54-EDF0-E304-C30F-1C6AF36E3D96}"/>
              </a:ext>
            </a:extLst>
          </p:cNvPr>
          <p:cNvSpPr/>
          <p:nvPr/>
        </p:nvSpPr>
        <p:spPr>
          <a:xfrm>
            <a:off x="5122636" y="455546"/>
            <a:ext cx="129805" cy="29912"/>
          </a:xfrm>
          <a:custGeom>
            <a:avLst/>
            <a:gdLst/>
            <a:ahLst/>
            <a:cxnLst/>
            <a:rect l="l" t="t" r="r" b="b"/>
            <a:pathLst>
              <a:path w="113388" h="26129">
                <a:moveTo>
                  <a:pt x="0" y="0"/>
                </a:moveTo>
                <a:lnTo>
                  <a:pt x="113388" y="0"/>
                </a:lnTo>
                <a:lnTo>
                  <a:pt x="113388" y="26129"/>
                </a:lnTo>
                <a:lnTo>
                  <a:pt x="0" y="26129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3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随机森林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3B09CD-2FBB-41D8-9464-E1E50CD2E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  <p:pic>
        <p:nvPicPr>
          <p:cNvPr id="2" name="图片 1" descr="_cgi-bin_mmwebwx-bin_webwxgetmsgimg &amp;MsgID=8395254654964065989&amp;skey=@crypt_ea0015aa_60b5e938ca36a5229e0e954e776e34d8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3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  <p:pic>
        <p:nvPicPr>
          <p:cNvPr id="5" name="图片 4" descr="_cgi-bin_mmwebwx-bin_webwxgetmsgimg &amp;MsgID=7108406368381387387&amp;skey=@crypt_ea0015aa_60b5e938ca36a5229e0e954e776e34d8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CD8B06-D9CF-41AA-B00C-D3B6D47DE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58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A659B7-5EAE-40C7-A271-0C4E0548B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2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3378E8-0BEE-4DBE-BE4D-58197C3B9E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F239629-FC0C-43A8-81D3-82E35C2D5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0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  <a:endParaRPr sz="4800" b="1" spc="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12</a:t>
            </a:fld>
            <a:endParaRPr lang="zh-CN" altLang="en-US"/>
          </a:p>
        </p:txBody>
      </p:sp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4038600" y="381000"/>
            <a:ext cx="3858895" cy="589264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lang="zh-CN" altLang="en-US" sz="3600" b="1" kern="1200" dirty="0">
                <a:solidFill>
                  <a:schemeClr val="bg1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  <a:sym typeface="+mn-ea"/>
              </a:rPr>
              <a:t>随机森林实验任务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817866-31BD-4F00-96FB-9B715D63E076}"/>
              </a:ext>
            </a:extLst>
          </p:cNvPr>
          <p:cNvSpPr txBox="1"/>
          <p:nvPr/>
        </p:nvSpPr>
        <p:spPr>
          <a:xfrm>
            <a:off x="571500" y="2590800"/>
            <a:ext cx="11049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2400" dirty="0">
                <a:ea typeface="方正宋刻本秀楷简体" panose="02000000000000000000" pitchFamily="2" charset="-122"/>
              </a:rPr>
              <a:t>1. 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基于</a:t>
            </a:r>
            <a:r>
              <a:rPr lang="en-US" altLang="zh-CN" sz="2400" dirty="0" err="1">
                <a:ea typeface="方正宋刻本秀楷简体" panose="02000000000000000000" pitchFamily="2" charset="-122"/>
              </a:rPr>
              <a:t>Sklearn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框架实现使用</a:t>
            </a:r>
            <a:r>
              <a:rPr lang="zh-CN" altLang="zh-CN" sz="2400" b="1" dirty="0">
                <a:ea typeface="方正宋刻本秀楷简体" panose="02000000000000000000" pitchFamily="2" charset="-122"/>
              </a:rPr>
              <a:t>随机森林算法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对</a:t>
            </a:r>
            <a:r>
              <a:rPr lang="en-US" altLang="zh-CN" sz="2400" dirty="0">
                <a:ea typeface="方正宋刻本秀楷简体" panose="02000000000000000000" pitchFamily="2" charset="-122"/>
              </a:rPr>
              <a:t>Fashion-</a:t>
            </a:r>
            <a:r>
              <a:rPr lang="en-US" altLang="zh-CN" sz="2400" dirty="0" err="1">
                <a:ea typeface="方正宋刻本秀楷简体" panose="02000000000000000000" pitchFamily="2" charset="-122"/>
              </a:rPr>
              <a:t>Mnist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数据集的分类任务；</a:t>
            </a:r>
            <a:endParaRPr lang="en-US" altLang="zh-CN" sz="2400" dirty="0">
              <a:ea typeface="方正宋刻本秀楷简体" panose="02000000000000000000" pitchFamily="2" charset="-122"/>
            </a:endParaRPr>
          </a:p>
          <a:p>
            <a:pPr marL="609600" indent="-342900" algn="just">
              <a:buAutoNum type="arabicPeriod"/>
            </a:pPr>
            <a:endParaRPr lang="zh-CN" altLang="zh-CN" sz="2400" dirty="0">
              <a:ea typeface="方正宋刻本秀楷简体" panose="02000000000000000000" pitchFamily="2" charset="-122"/>
            </a:endParaRPr>
          </a:p>
          <a:p>
            <a:pPr marL="266700" algn="just"/>
            <a:r>
              <a:rPr lang="en-US" altLang="zh-CN" sz="2400" dirty="0">
                <a:ea typeface="方正宋刻本秀楷简体" panose="02000000000000000000" pitchFamily="2" charset="-122"/>
              </a:rPr>
              <a:t>2.  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基于</a:t>
            </a:r>
            <a:r>
              <a:rPr lang="en-US" altLang="zh-CN" sz="2400" dirty="0" err="1">
                <a:ea typeface="方正宋刻本秀楷简体" panose="02000000000000000000" pitchFamily="2" charset="-122"/>
              </a:rPr>
              <a:t>Sklearn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框架实现使用</a:t>
            </a:r>
            <a:r>
              <a:rPr lang="zh-CN" altLang="zh-CN" sz="2400" b="1" dirty="0">
                <a:ea typeface="方正宋刻本秀楷简体" panose="02000000000000000000" pitchFamily="2" charset="-122"/>
              </a:rPr>
              <a:t>逻辑回归算法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对</a:t>
            </a:r>
            <a:r>
              <a:rPr lang="en-US" altLang="zh-CN" sz="2400" dirty="0">
                <a:ea typeface="方正宋刻本秀楷简体" panose="02000000000000000000" pitchFamily="2" charset="-122"/>
              </a:rPr>
              <a:t>Fashion-</a:t>
            </a:r>
            <a:r>
              <a:rPr lang="en-US" altLang="zh-CN" sz="2400" dirty="0" err="1">
                <a:ea typeface="方正宋刻本秀楷简体" panose="02000000000000000000" pitchFamily="2" charset="-122"/>
              </a:rPr>
              <a:t>Mnist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数据集的分类任务；</a:t>
            </a:r>
            <a:endParaRPr lang="en-US" altLang="zh-CN" sz="2400" dirty="0">
              <a:ea typeface="方正宋刻本秀楷简体" panose="02000000000000000000" pitchFamily="2" charset="-122"/>
            </a:endParaRPr>
          </a:p>
          <a:p>
            <a:pPr marL="266700" algn="just"/>
            <a:endParaRPr lang="zh-CN" altLang="zh-CN" sz="2400" dirty="0">
              <a:ea typeface="方正宋刻本秀楷简体" panose="02000000000000000000" pitchFamily="2" charset="-122"/>
            </a:endParaRPr>
          </a:p>
          <a:p>
            <a:pPr marL="266700" algn="just"/>
            <a:r>
              <a:rPr lang="en-US" altLang="zh-CN" sz="2400" dirty="0">
                <a:ea typeface="方正宋刻本秀楷简体" panose="02000000000000000000" pitchFamily="2" charset="-122"/>
              </a:rPr>
              <a:t>3.  </a:t>
            </a:r>
            <a:r>
              <a:rPr lang="zh-CN" altLang="zh-CN" sz="2400" dirty="0">
                <a:ea typeface="方正宋刻本秀楷简体" panose="02000000000000000000" pitchFamily="2" charset="-122"/>
              </a:rPr>
              <a:t>比较这两种方法的准确率。</a:t>
            </a:r>
          </a:p>
        </p:txBody>
      </p:sp>
    </p:spTree>
    <p:extLst>
      <p:ext uri="{BB962C8B-B14F-4D97-AF65-F5344CB8AC3E}">
        <p14:creationId xmlns:p14="http://schemas.microsoft.com/office/powerpoint/2010/main" val="33408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spcBef>
                <a:spcPts val="125"/>
              </a:spcBef>
            </a:pPr>
            <a:r>
              <a:rPr lang="zh-CN" altLang="en-US" sz="4800" b="1" spc="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  <a:endParaRPr sz="4800" b="1" spc="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F989F-8D12-475D-9C50-23F49E8F4161}" type="slidenum">
              <a:rPr lang="zh-CN" altLang="en-US"/>
              <a:t>14</a:t>
            </a:fld>
            <a:endParaRPr lang="zh-CN" altLang="en-US"/>
          </a:p>
        </p:txBody>
      </p:sp>
      <p:sp>
        <p:nvSpPr>
          <p:cNvPr id="3" name="object 2"/>
          <p:cNvSpPr txBox="1">
            <a:spLocks noGrp="1"/>
          </p:cNvSpPr>
          <p:nvPr>
            <p:ph type="title"/>
          </p:nvPr>
        </p:nvSpPr>
        <p:spPr>
          <a:xfrm>
            <a:off x="791082" y="180720"/>
            <a:ext cx="2993390" cy="46545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lang="zh-CN" altLang="en-US" sz="2800" b="1" kern="1200" dirty="0">
                <a:solidFill>
                  <a:schemeClr val="bg1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  <a:sym typeface="+mn-ea"/>
              </a:rPr>
              <a:t>随机森林实验步骤</a:t>
            </a:r>
          </a:p>
        </p:txBody>
      </p:sp>
      <p:sp>
        <p:nvSpPr>
          <p:cNvPr id="4" name="object 3"/>
          <p:cNvSpPr/>
          <p:nvPr/>
        </p:nvSpPr>
        <p:spPr>
          <a:xfrm>
            <a:off x="3784980" y="381127"/>
            <a:ext cx="6976745" cy="0"/>
          </a:xfrm>
          <a:custGeom>
            <a:avLst/>
            <a:gdLst/>
            <a:ahLst/>
            <a:cxnLst/>
            <a:rect l="l" t="t" r="r" b="b"/>
            <a:pathLst>
              <a:path w="6976745">
                <a:moveTo>
                  <a:pt x="0" y="0"/>
                </a:moveTo>
                <a:lnTo>
                  <a:pt x="6976617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817866-31BD-4F00-96FB-9B715D63E076}"/>
              </a:ext>
            </a:extLst>
          </p:cNvPr>
          <p:cNvSpPr txBox="1"/>
          <p:nvPr/>
        </p:nvSpPr>
        <p:spPr>
          <a:xfrm>
            <a:off x="765682" y="782259"/>
            <a:ext cx="10363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 </a:t>
            </a:r>
            <a:endParaRPr lang="zh-CN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加载数据集；</a:t>
            </a:r>
            <a:endParaRPr lang="en-US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zh-CN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创建随机森林分类模型；</a:t>
            </a:r>
            <a:endParaRPr lang="en-US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zh-CN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使用模型对训练集进行分类；</a:t>
            </a:r>
            <a:endParaRPr lang="en-US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zh-CN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使用模型对测试集进行分类；</a:t>
            </a:r>
            <a:endParaRPr lang="en-US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endParaRPr lang="zh-CN" altLang="zh-CN" dirty="0">
              <a:solidFill>
                <a:srgbClr val="44546A"/>
              </a:solidFill>
              <a:ea typeface="方正宋刻本秀楷简体" panose="02000000000000000000" pitchFamily="2" charset="-122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dirty="0">
                <a:solidFill>
                  <a:srgbClr val="44546A"/>
                </a:solidFill>
                <a:ea typeface="方正宋刻本秀楷简体" panose="02000000000000000000" pitchFamily="2" charset="-122"/>
              </a:rPr>
              <a:t>评价准确率；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EDD17E-0F8C-4EF1-900F-36FCF1B7259B}"/>
              </a:ext>
            </a:extLst>
          </p:cNvPr>
          <p:cNvSpPr txBox="1"/>
          <p:nvPr/>
        </p:nvSpPr>
        <p:spPr>
          <a:xfrm>
            <a:off x="4419600" y="948690"/>
            <a:ext cx="7467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def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4078F2"/>
                </a:solidFill>
                <a:effectLst/>
                <a:latin typeface="JetBrains Mono"/>
              </a:rPr>
              <a:t>load_mnist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 kind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'train'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):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import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os</a:t>
            </a:r>
            <a:endParaRPr lang="en-US" altLang="zh-CN" b="0" dirty="0">
              <a:solidFill>
                <a:srgbClr val="383A42"/>
              </a:solidFill>
              <a:effectLst/>
              <a:latin typeface="JetBrains Mono"/>
            </a:endParaRP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import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gzip</a:t>
            </a:r>
            <a:endParaRPr lang="en-US" altLang="zh-CN" b="0" dirty="0">
              <a:solidFill>
                <a:srgbClr val="383A42"/>
              </a:solidFill>
              <a:effectLst/>
              <a:latin typeface="JetBrains Mono"/>
            </a:endParaRP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import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numpy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as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np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labels_path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os.path.join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(path,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%s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-labels-idx1-ubyte'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% kind)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images_path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os.path.join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(path,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%s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-images-idx3-ubyte'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% kind)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with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>
                <a:solidFill>
                  <a:srgbClr val="0184BC"/>
                </a:solidFill>
                <a:effectLst/>
                <a:latin typeface="JetBrains Mono"/>
              </a:rPr>
              <a:t>open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labels_path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 err="1">
                <a:solidFill>
                  <a:srgbClr val="50A14F"/>
                </a:solidFill>
                <a:effectLst/>
                <a:latin typeface="JetBrains Mono"/>
              </a:rPr>
              <a:t>rb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as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lbpath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: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    labels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np.frombuffer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lbpath.read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(), </a:t>
            </a:r>
            <a:r>
              <a:rPr lang="en-US" altLang="zh-CN" b="0" dirty="0" err="1">
                <a:solidFill>
                  <a:srgbClr val="986801"/>
                </a:solidFill>
                <a:effectLst/>
                <a:latin typeface="JetBrains Mono"/>
              </a:rPr>
              <a:t>dtype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=np.uint8,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                           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offset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8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with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>
                <a:solidFill>
                  <a:srgbClr val="0184BC"/>
                </a:solidFill>
                <a:effectLst/>
                <a:latin typeface="JetBrains Mono"/>
              </a:rPr>
              <a:t>open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images_path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 err="1">
                <a:solidFill>
                  <a:srgbClr val="50A14F"/>
                </a:solidFill>
                <a:effectLst/>
                <a:latin typeface="JetBrains Mono"/>
              </a:rPr>
              <a:t>rb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as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imgpath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: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    images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np.frombuffer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imgpath.read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(), </a:t>
            </a:r>
            <a:r>
              <a:rPr lang="en-US" altLang="zh-CN" b="0" dirty="0" err="1">
                <a:solidFill>
                  <a:srgbClr val="986801"/>
                </a:solidFill>
                <a:effectLst/>
                <a:latin typeface="JetBrains Mono"/>
              </a:rPr>
              <a:t>dtype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=np.uint8,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                           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offset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16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).reshape(</a:t>
            </a:r>
            <a:r>
              <a:rPr lang="en-US" altLang="zh-CN" b="0" dirty="0" err="1">
                <a:solidFill>
                  <a:srgbClr val="0184BC"/>
                </a:solidFill>
                <a:effectLst/>
                <a:latin typeface="JetBrains Mono"/>
              </a:rPr>
              <a:t>len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(labels), 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784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</a:t>
            </a: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b="0" dirty="0">
                <a:solidFill>
                  <a:srgbClr val="A626A4"/>
                </a:solidFill>
                <a:effectLst/>
                <a:latin typeface="JetBrains Mono"/>
              </a:rPr>
              <a:t>return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images, labels</a:t>
            </a:r>
          </a:p>
          <a:p>
            <a:endParaRPr lang="en-US" altLang="zh-CN" dirty="0">
              <a:solidFill>
                <a:srgbClr val="383A42"/>
              </a:solidFill>
              <a:latin typeface="JetBrains Mono"/>
            </a:endParaRPr>
          </a:p>
          <a:p>
            <a:endParaRPr lang="en-US" altLang="zh-CN" b="0" dirty="0">
              <a:solidFill>
                <a:srgbClr val="383A42"/>
              </a:solidFill>
              <a:effectLst/>
              <a:latin typeface="JetBrains Mono"/>
            </a:endParaRPr>
          </a:p>
          <a:p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dirty="0" err="1">
                <a:solidFill>
                  <a:srgbClr val="383A42"/>
                </a:solidFill>
                <a:latin typeface="JetBrains Mono"/>
              </a:rPr>
              <a:t>x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_train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y_train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load_mnist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'./</a:t>
            </a:r>
            <a:r>
              <a:rPr lang="en-US" altLang="zh-CN" b="0" dirty="0" err="1">
                <a:solidFill>
                  <a:srgbClr val="50A14F"/>
                </a:solidFill>
                <a:effectLst/>
                <a:latin typeface="JetBrains Mono"/>
              </a:rPr>
              <a:t>FashionMNIST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/'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kind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'train'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JetBrains Mono"/>
              </a:rPr>
              <a:t>#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JetBrains Mono"/>
              </a:rPr>
              <a:t>处理训练数据</a:t>
            </a:r>
            <a:endParaRPr lang="zh-CN" altLang="en-US" b="0" dirty="0">
              <a:solidFill>
                <a:srgbClr val="383A42"/>
              </a:solidFill>
              <a:effectLst/>
              <a:latin typeface="JetBrains Mono"/>
            </a:endParaRPr>
          </a:p>
          <a:p>
            <a:r>
              <a:rPr lang="zh-CN" altLang="en-US" b="0" dirty="0">
                <a:solidFill>
                  <a:srgbClr val="383A42"/>
                </a:solidFill>
                <a:effectLst/>
                <a:latin typeface="JetBrains Mono"/>
              </a:rPr>
              <a:t>    </a:t>
            </a:r>
            <a:r>
              <a:rPr lang="en-US" altLang="zh-CN" dirty="0" err="1">
                <a:solidFill>
                  <a:srgbClr val="383A42"/>
                </a:solidFill>
                <a:latin typeface="JetBrains Mono"/>
              </a:rPr>
              <a:t>x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_test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y_test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 = </a:t>
            </a:r>
            <a:r>
              <a:rPr lang="en-US" altLang="zh-CN" b="0" dirty="0" err="1">
                <a:solidFill>
                  <a:srgbClr val="383A42"/>
                </a:solidFill>
                <a:effectLst/>
                <a:latin typeface="JetBrains Mono"/>
              </a:rPr>
              <a:t>load_mnist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(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'./</a:t>
            </a:r>
            <a:r>
              <a:rPr lang="en-US" altLang="zh-CN" b="0" dirty="0" err="1">
                <a:solidFill>
                  <a:srgbClr val="50A14F"/>
                </a:solidFill>
                <a:effectLst/>
                <a:latin typeface="JetBrains Mono"/>
              </a:rPr>
              <a:t>FashionMNIST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/'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, </a:t>
            </a:r>
            <a:r>
              <a:rPr lang="en-US" altLang="zh-CN" b="0" dirty="0">
                <a:solidFill>
                  <a:srgbClr val="986801"/>
                </a:solidFill>
                <a:effectLst/>
                <a:latin typeface="JetBrains Mono"/>
              </a:rPr>
              <a:t>kind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=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JetBrains Mono"/>
              </a:rPr>
              <a:t>'t10k'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JetBrains Mono"/>
              </a:rPr>
              <a:t>)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JetBrains Mono"/>
              </a:rPr>
              <a:t>#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JetBrains Mono"/>
              </a:rPr>
              <a:t>处理测试数据</a:t>
            </a:r>
            <a:endParaRPr lang="zh-CN" altLang="en-US" b="0" dirty="0">
              <a:solidFill>
                <a:srgbClr val="383A42"/>
              </a:solidFill>
              <a:effectLst/>
              <a:latin typeface="JetBrains Mono"/>
            </a:endParaRPr>
          </a:p>
          <a:p>
            <a:endParaRPr lang="en-US" altLang="zh-CN" b="0" dirty="0">
              <a:solidFill>
                <a:srgbClr val="383A42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563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TYwMjkzNjQ0MjI0IiwKCSJHcm91cElkIiA6ICI1NzU2ODI1NjUiLAoJIkltYWdlIiA6ICJpVkJPUncwS0dnb0FBQUFOU1VoRVVnQUFBcEFBQUFHMUNBWUFBQUJPUE1SSUFBQUFDWEJJV1hNQUFBc1RBQUFMRXdFQW1wd1lBQUFnQUVsRVFWUjRuT3pkZDNoVDllSS84SGQyVjBwM2FRc3RiVzJCcXpJTEl2T0NnZ2dvb0F4RlFRU1Y2VlVSOEFLQ0tDaERjQ0JjdU1BUEhBZ29seVZZaHFnTUFWbUN6RnFnZSsrUmp1emZILzJlWTlPa0k2eVU5djE2SGg2YW5KSFBTWnJUOS9tc0l6R2J6V1lRRVJFUkVkVkFJcEZJaEorbGppd0lFUkVSRWQxL0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WVVCa29pSWlJanN3Z0JKUkVSRVJIWmhnQ1FpSWlJaXV6QkFFaEVSRVpGZEdDQ0ppSWlJeUM0TWtFUkVSRVJrRndaSUlpSWlJcklMQXlRUkVSRVIyVVh1NkFJUUVWSDFOTVZGS01ndlFJbEdBNzFlQjVQSjVPZ2lFVkV0cEZJcEZBb2xYTjNjNE9IcEFUZTF1Nk9MZE1kSnpHYXoyZEdGSUNJaVMxcXRGaWxKaVRBYWpmRHk5b1phN1E2RlVnbXBsQTFIUlBXZHlXU0NYcWREY1hFUjhuSnpJWlBKMEN3NEJDcVZ5dEZGdXkwU2lVUWkvc3dBU1VSVXY1Um9ORWlNajROL1FBQzhmWHdkWFJ3aXVrMjVPZG5JVEU5SFNHZ1lYTjNjSEYyY1c4WUFTVVJVVDJtMVd0eU0vUXZCb2FGd2MxTTd1amhFZElkb05NVklpbzlIZUdUTCs3WW1zbktBWkZzSUVWRTlrcEtVQ1ArQUFJWkhvZ2JHelUwTi80QUFwQ1FsT3Jvb2R3UURKQkZSUGFFcExvTFJhR1N6TlZFRDVlM2pDNlBSQ0UxeGthT0xjdHNZSUltSTZvbUMvQUo0ZVhzN3VoaEVkQmQ1ZVh1aklML0EwY1c0YlF5UVJFVDFSSWxHQTNVRG5PNkRpUDZtVnJ1alJLTnhkREZ1R3dNa0VWRTlvZGZyb0ZBcUhWME1JcnFMRkVvbDlIcWRvNHR4MnhnZ2lZanFDWlBKeEhrZWlSbzRxVlRhSUc0SXdETVZFUkVSRWRtRkFaS0lpSWlJN01JQVNVUkVSRVIyWVlBa0lpSWlJcnN3UUJJUkVSR1JYUmdnaVlpSWlNZ3VESkJFUkVSVm1NMW1sSmFXUXEvWE83b28xVXBQVDBkT1RrNmQxemVaVENnb0tFQjVlYm5ONWZic3kxNWFyZmFXdHhVK0M2UFJlQWRMWk51Wk0yZFFVbEp5MTErbklXQ0FKQ0pxNElxTGkzSG8wS0ZxbHlja0pDQXpNOVBtc3JLeU1oZ01CcGpOWnJ0ZjEydzJRNi9YMzFaNDBHZzArTzIzMzdCNjllcHFBMFJPVGc1S1Mwc0JBTWVQSDhlQ0JRdFFYbDRPczltTW1KZ1ljYjFmZi8wVmh3OGZybE1vTENzcnd5dXZ2SUtmZi83NWxzdGVHNFBCZ05kZWV3M0xseSsvcGUyUEhEbUNOOTU0QTZkT25ZSldxN1g0ak14bXMxVlExR2cwbUR4NU12YnQyMmR6ZjB1WExzWGl4WXV0M3VlOHZEd2tKaVlpTlRVVmFXbHBWdjhLQ3Y2K0xaOWVyMGRCUVFFU0V4Tngvdng1N04yN0Y1OS8vamttVDU2TVk4ZU9JU2NucDhaOTVlYm1XcFZMcDlQaGxWZGV3ZFdyVjZ0OUwwd21rOVY3SUpUSFlEQlUveVpXY3VIQ0JYejY2YWVZUG4wNmRMcjdmNkx2dTAzdTZBSVFFZEhkOWUyMzMrTG8wYU13bTgzbzI3ZXYxZktEQncvaThPSERHRDE2Tko1ODhrbnhlYVBSaVBIang5LzI2M2ZyMWcxVHBreXBkcm5KWkVKcGFTbnk4L09SbTV1THRMUTBKQ1VsSVQ0K0hpa3BLVENielpCS3BRZ1BEMGUvZnYwc3RqV2J6ZmppaXk4Z2s4a3daODRjRkJZVzR0cTFhNURKWkxoMjdSb1dMbHlJRHovOEVLR2hvVGgrL0RneU1qTFFzMmZQV3N1cy9MODdBaWtyM1Jub2hSZGVxRk9RL3VxcnI2QlFLQ3llS3kwdHhjcVZLL0gwMDAralZhdFc0bkZyYnVPV2R1ZlBuNGU3dXp2Q3c4UHg4c3N2MjF4bjgrYk40czh1TGk0QUFGZFhWNnYxL3Z6elQ2U2twQ0FxS3NyaVlzTGIyeHUvL3ZvcnRtL2ZYbTA1K3ZYcmg3Rmp4d0lBUHY3NFkxeStmTmxpK1FNUFBJQisvZnJCeThzTDBkSFIyTDkvZjdYN2V1YVpaekJzMkRDTDU0VFB3TjI5NGphZk4yL2V4Tnk1Y3kzV1diQmdnZFZ6Z3RkZmZ4MlBQdnBvdGE4SkFKbVptZmpQZi80REx5OHZGQlFVSURvNkdrT0dES2x4bThhT0FaS0lxSUhac1dNSDh2UHpNV2JNR0NnVUNyejAwa3VJajQvSFYxOTloWUNBQUR6MDBFTVc2d3MxVHFHaG9SYlB5MlF5ZlBEQkIxQXFsWkRKWkpCSUpPS3k2ZE9uWThxVUtlSTI4K2JOdzVOUFBtbnhoOXBzTnNOb05GcUVNTUhYWDMrTm8wZVBRcS9YVzlRSUtwVktlSHQ3dzhmSEIwRkJRVWhPVHNhOGVmTVFHaG9LbFVwbHRSK0pSSUtwVTZkaTl1eloyTHQzTDV5ZG5jV3k3OTI3RiszYXRVTm9hQ2lNUmlQaTR1TFFwMCtmT3QzdFJ6ald5c2VzVUNqdzFGTlBWUnRHNHVQanNXclZLc2psMW45YUN3b0tFQjhmanlWTGxtRG16SmxvM2JxMVdNdmw2K3RiYTNtcVNrNU9Sbkp5TWdZT0hJZ21UWnBnd1lJRitPMjMzM0RvMENFc1diSUVScU1SR28wR2VyMGV5Y25KOFBEd2dKZVhGd0JZSGIvQllNQzMzMzRMQU5pMWF4ZDI3ZG9GQUdqZXZEa1dMbHlJcDU5K0drODk5UlJLU2tvd1pjb1VQUDMwMDNqdXVlY0FBQys5OUJMYzNOekVmUTBaTWdRdFc3WkU4K2JOa1ppWWlKMDdkK0s5OTk2RFhxK0hTcVhDZ3c4K0NFOVBUK3pac3dlclZxMFNnL2JHalJ0eDlPaFJQUDc0NDFiSEtud0d3cnJDNzhHeVpjdVFsWldGcFV1WElpZ29DTXVXTFFOUUVRYVhMVnVHanovK0dBREU0NjVPWGw0ZUZpMWFCQ2NuSjh5Yk53OVhyMTdGZi8vN1g1ak5aZ3dkT3JTdUgwbWp3d0JKUk5UQW5EdDNEdkh4OFJnM2Jod0F3Tm5aR2RPbVRjTzc3NzZMRlN0VzRLT1BQb0tQajQrNGZsbFpHUUFnTUREUWFsOFBQUEJBdGEvajQrTWpiaU9WU3RHa1NST2IrNmhPYVdrcDVzeVpBMjl2YnpnNU9XSEdqQmtZTkdnUUJnOGVES0FpQ1B6KysrL1Zoa2NBS0NvcWdrYWp3ZWpSb3hFU0VvSXpaODRBcU9nZkdCRVJBVzl2YjZTbXBxSzB0QlRsNWVXSWlvcXkyTjVzTm9zMW5BQlFYbDV1Vlh0b05CcWgxK3NobDh0clBNYmk0bUlBbHFGVEVCZ1lpTm16WjJQQmdnWDQrT09QTVdmT0hMRkd6Y1BEbzY1dm1lamd3WU1BZ0s1ZHUwS2hVQ0E4UEJ6SGp4KzNLbDkyZGpiZWZmZGRQUC84ODNqcXFhZHM3dXVycjc1Q2JtNHVWcXhZQVI4Zkh4dzdkZ3hyMTY3RnhJa1RMZDZMRXlkT0FBQTZkZW9Fb0tKZm8xNnZGNDhEQUpvMmJZcTR1RGkwYTlmT29pL2gxMTkvamV2WHIyUEpraVhvMmJNbmR1ellnZWpvYUF3ZVBCZzNiOTdFTDcvOGdpRkRobGk4RjJhekdZbUppV0laTWpNem9kVnF4WUJlK1RoVktwWDRXS2ZUUVNhVDFlbDNNVDA5SFV1V0xJSEJZTURjdVhOUlZsYUduajE3d21ReVlkMjZkY2pPenNiTEw3OXM5VHRCREpCRVJBMk84TWV1Y3BEeDkvZkh4SWtUc1h6NWNxeFlzUUx2dmZjZVpESVpnSW9RcGxLcExJTEEzU2FFZ05EUVVMRnBGWUJZSnVEdjR5Z3RMYTAyUUo0N2R3N3IxcTJ6ZW43R2pCbml6NjFidDBiTGxpMEJBQjk4OElIVnV2Mzc5OGVZTVdNQUFHKzk5UllLQ3d2RlpldldyY082ZGVzUUVoSUNxVlNLd3NKQ3BLV2wyU3lMTUFqRmJEYmJESkhObXpmSFcyKzloUysrK0FKbXMxbHN2clkzUUJZVkZlRzMzMzREWUZscm5KR1JZVlhiSnRUSUN2OVh0V3ZYTHZ6ODg4OFlQSGd3ZERvZFVsTlRzWDM3ZG5UdTNCa3FsUXBwYVdudzgvT0R5V1RDM3IxN0VSWVdodkR3Y0FBUSt6NTZlbnFLK3lzb0tNRG16WnZoNys5djhUb1hMMTVFbHk1ZHhBdU5ZY09HWWV2V3JYQjJkc1lQUC95QUZpMWFXRFVaR3d3R3pKNDlXM3dzMUNpKzk5NTdBSUMwdERSa1pXVUJxQWpLYjc3NUpyNzQ0Z3NZREFhYnRkNVZYYmh3QWF0V3JZS25weWZtelp1SG5Kd2N6SjgvSDFPbVRNRS8vL2xQdUxpNFlOV3FWVWhJU01Da1NaUFF2SG56V3ZmWm1EQkFFbEdqbEo5WGdzc1hVL0RYdFhUazVXbFFWRmdHcmJadW5lM3ZsdEZqVzk3Vi9YZnMyQkc5ZS9kR1FVRUJkRHFkR0NvS0Nnb3NRb0F0NmVucFZ2My9jbkp5b0ZhckFWVDA1N01WcmdJQ0FteUdLZUc1eXMycFpyUFpJa0FLd1ZLajBWUmJ2dTdkdTZOcjE2NHdHbzM0NktPUGtKR1JnZExTVWl4ZnZoeVptWmxvMDZZTnpHWXpwazJiaGs2ZE9tSGt5SkVBZ0pTVUZIejIyV2VZT25VcUlpTWp4ZjE5OE1FSGtNdmxrRWdrbUR4NU1sNTg4VVU4K3Vpak1KbE1tRFZyRnJadjMxNWpmMENnSXZoVXJySEt6czZHUnFPQlFxRkFreVpOTUdQR0RLaFVLbkdBajhsa3FqYVVBaFg5RUNzSDZEMTc5dGdjbUJRWEY0Y1dMVnFJKzFJb0ZHSTRyZnkrQ2twTFMzSDY5R2wwN05nUnUzZnZ4dTdkdThWbFdWbFpPSG55SkFCZytmTGwyTHAxcXhpd0FPRFFvVU9Jam82R2s1TVRJaUlpeE8zQ3dzTGc0ZUdCUzVjdWllRzJwS1FFSVNFaDZOQ2hnN2plZ0FFRGNQWHFWWHo1NVplUVNxV1lPWE9tVlJubGNqbldyRm1EcEtRa2ZQVFJSMWkwYUJIVWFyVTRZR3I2OU9uaXVrSmc5UER3UUhwNnVzVkZTVlZhclJiZmZmY2REaHc0Z0RadDJtRHExS2x3ZFhXRmw1Y1hldlRvZ2ErKytnb2RPM1pFNTg2ZDRlUGpnODgvL3h5elo4OUd2Mzc5TUhqdzRIdDZvVldmTVVBU1VhT1NrMU9NZlh2K3hNVUx5UUNBWnNGZWFCN3NEYlhhQ1VxVm8wK0pkMy9LbURGanhrQ3BWSW9Cem13Mkl6YzNGNjFidDY1eHU1a3paMXFOemwyMWFwWEZZMXZoYXVQR2pkWFdIZ0t3Q0ZvbWs4a2lSRGc1T2NISnlRbDVlWG5WMXY0b0ZBcGtabWJpODg4L2gxd3V4K0RCZzdGbHl4YjgvdnZ2MkwxN04vNzk3MzhEcUFoeG5UcDFFcHMxaGRHK1lXRmhGczM1UW45RTRWaWRuWjNoNmVrcGh1ZHg0OFpaOU5ONzZhV1hNR0xFQ0F3Y09MRGFZL3p4eHgvRkptZGIxcTVkVysweUFGaTRjQ0hDd3NJQVZEVGpIang0RUJLSnhDTFF4OGZIbzZpb0NCY3ZYaFNEVmF0V3JUQm56cHhxOSt2aTRvTDU4K2NqUHo4ZjU4NmR3M3Z2dlFlMVdvM3AwNmRqOCtiTlNFdEx3L1RwMDZGU3FSQWNISXcrZmZxZ1JZc1cwR3ExVUNxVjZOdTNMenAzN214UmczcnAwaVVNSGp3WVBqNCs0bUNhMk5oWTlPelpVM3dmWTJKaWNPREFBVnk0Y0FGdDI3WkZRa0lDM252dlBVUkZSYUZObXpabzBhSUZtalZyQm9sRUFuZDNkNlNrcEFDbytLeTl2THpFMGVXVnl5aGNpTWhrTWhRV0Z0b2NLRlJlWG83RGh3OWp6NTQ5S0Nnb3dKQWhROUMzYjE5SUpCSnhuOE9HRFJNSG1wV1hseU13TUJEdnZmY2V0bTdkaW4zNzl1SFFvVU1ZTUdDQWVDSFNtRG42YkVsRWRFK1l6Y0RSWDJNUXZlY0NYRjFWZUhwb0I3VHRFQXgzZDl0TmU0NXc4ZndmZC8wMXFvYTVyS3dzR0kxR3F5YkhxcFJLSlFZTkdvU2hRNGRDcTlYaTVaZGZ4cUpGaXhBU0VnSUFlTzIxMXpCaXhBZ3hYQWwvMkt2ck82Ylg2eUdUeVN3Q284bGtzaHFBNHV2cmk1U1VGTFJ0MjlacUgyYXpXYXc1YTlteUpkNTg4MDM4OHNzdkFDcHF1QklTRXJCNTgyYXg5aklwS1VuY05pOHZEeEtKcE5ZQkZqcWREanQzN3JRNXZZend2bFJ1TGpXWlRPS0FFY0h6enorUDU1OS9Ibks1SEZLcFZBenZ5NVl0UTB4TUROYXVYV3R6WU0vWFgzK04vZnYzaTJYVTYvVll0V29WREFZRHVuZnZqbVBIam9uckN0TU5MVnUyRElHQmdWaThlSEdkbW5HRkFWSkFSZE80eVdRUzN4K2hLZC9UMHhQUFB2c3NZbUppWURhYmtaNmVqalZyMW1ERGhnMXdjbkt5Mk4rdVhidHc3ZG8xaStjKytlUVRBTUJ6enoySFk4ZU9JVFUxRlY1ZVhwZzhlVEk2ZHV5SXNySXlSRWRINDlkZmY4WHg0OGZSc1dOSFRKczJUZHoreG8wYkFDcEdYMWRXZVlvZVlVQlNXbG9hVWxKU29GQW9rSmFXQm9QQkFHOXZiN2k2dW9wTjhuSzVISFBuemtXclZxM3cxbHR2VlR1RmxTQXFLZ3B2dmZVV2V2VG9nVjkrK2FYR2k0WEdoQUdTaUJvOG85R0ViVnRPNGR5WkJQVHEzUXA5bjN3WUtvZlhOdFlQd2gvbnFpT3dxNm9jOUlTK2Z0N2Uzclh1djdvUnoyVmxaVmExUkVhajBhb1pzMW16Wm9pUGo3ZTVENGxFZ2padDJzQm9OR0xJa0NFb0xDeEVWbFlXUm80Y0NabE1oa21USmlFMk5oWkxsaXhCU0VnSTR1TGl4UDZKMmRuWjhQTHlxalprQ1FOQU5tM2FCRjlmWDR3ZE94WW5UNTdFaGcwYnNHSERCb3QxTjI3Y2lJMGJONHFQL2YzOThlbW5uNHFQYmRYQUdnd0dYTDE2RmYvNHh6K3FmWS95OHZJZ2s4bkVKbE9aVElhSEgzNFlMVnEwUUhCd3NCZ2dNekl5Y09USUVUejAwRU5pRFd0NmVybzQyS1UyUW1pc1hPYXBVNmVLUDBza0V1VG41MlBCZ2dYbzI3ZXZXRU5uNjdqZWV1c3RTS1ZTcEtXbFlkNjhlUUNBLy9mLy9wL1lQU0VrSkFTWm1abm8zYnUzT0VQQVk0ODloakZqeG1ENDhPRzRjdVdLUmJjSHM5bU1LMWV1QUtoNG55TWpJOFgrcWkrOTlKTDR1c0xuVmJsWlcvaDUyclJwaUlxS2drUWl3VXN2dlFTOVhpOEczemZmZkJNcWxjcm03OEhxMWF1Um5aMk5pUk1uUWlLUjRPR0hIOGJERHo5Y3AvZTBNZUFabElnYXZOM2J6K0hDSDBrWU5hWXIybmNNY1hSeEhPTGF0V3RRcTlWbzFxeVp4Zk1YTDE0RWdGcWJzQ3U3ZnYwNlBEdzhMS1p2c1ZkUlVSR2FOR2tpUGpZYWpUWURaSGg0T0hidjNsM3R3SlNnb0NBMGI5NGNVcWtVNTgrZngwOC8vWVQ1OCtkRExwZERMcGZEeGNVRmJkdTJ4WkFoUXpCLy9uekV4Y1VoUER3Y3ljbkpWdThGVUZHcmRmandZV3pidGcxQVJSL0xjZVBHUWFGUVFLL1hZOXk0Y2ZqSFAvNGhybDkxK2lLajBWaW5pYXZQbkRtRDh2SnlkT25TQmNuSnlVaEtTa0szYnQwczFzbkx5NE9ucDZjWU1LVlNLWVlQSHc2ejJTeldPQm9NQnF4WnN3WW1rd205ZXZYQ2hRc1hFQjRlanV6czdEcVBpQmVhNjk5OTkxMDRPenRqenB3NTJMQmhBOUxUMDhVbThGOSsrUVZtc3hrSER4NFVtK05mZU9FRkFFQkVSQVRlZi85OUFCQi9KNFNhWUFENDQ0OC9rSitmajBHREJxRlZxMVlvTEN6RTJiTm5JWlZLSVpQSmtKK2ZqMU9uVHNGb05FSXVsNk5wMDZiaXR0ZXVYVU5SVVJFQW9IZnYzdGkzYjU5NDBmUDU1NStMNi9uNCtHRHo1czNRNi9WNDVaVlhNSFBtVER6NDRJTlcvWGFyMW5vTE5laUE1ZUNuM2J0M0l5WW1CdlBuejYreFAyVmp4Z0JKUkEzYXFaTTNjZkw0RFF4L3ZuT2pEWS94OGZGWXZudzVQRDA5c1dqUklyR1pXQmhFRVJRVWhJQ0FnRHJ2NytqUm96WnJZb1NhckxySXljbXg2SHNvOUVHcjJ1VDk0SU1QWXRPbVRZaUppYkVaY29YNUF5c1RSdWtDRllGaHpabzFjSEZ4Z1llSEI4NmNPWU93c0RERXhNUllUYXB1TUJnd2ZmcDBaR2RuNCtHSEg4YWxTNWNRR1JrSmhVSWgzcEVuT0RqWUlwamR5dlJGWnJNWjBkSFJjSE56UTZkT25jUmorTzIzM3pCKy9IanhmY25QejdkWnkxczVTQnNNQmpSdDJoUmhZV0ZJVEV6RWp6LytLTDVQbFFjSDFVUUl2R3ExV2d4WFRrNU9ZZzFqVGs0Tzl1M2JoeWVlZUFKOSsvWVY1MTVjdG13WmREcWQxVjFia3BLU2NQVG9VYlJxMVFveE1USEl5c3JDdG0zYjRPVGtoQTRkT21ETm1qVVc2NTg2ZFFxblRwMENVREhvcW5Qbnp1S3lBd2NPSUNJaUFyR3hzZWpXclJ1dVhMa2lCa3BiODJmZXZIa1RNcGxNbkt6ZDFrV0hzSjVVS2hWcjNrMG1FejcrK0dQNCtmbWhSNDhlMkw1OU8wYU1HQ0dPT0M4dExXV1FySUlCa29nYXJOSVNMZmJ1UG8rb3pxSG8zQ1hjMGNWeGlQajRlQ3hhdEFnQU1HclVLSXMraGp0MjdJQldxNjNUblZrRVo4NmNRVXhNakRpUnRFQ2xVbUhidG0wNGN1UUlTa3RMYmQ3eFJtQTBHcEdWbFdVUlFvVXBiYXIra1E0SkNZR1BqdzhPSGp4b00wQSsvL3p6R0Q1OE9LNWZ2NDRWSzFaZzl1elpZcTNTM0xsekVSUVVKRGFWZCt2V0RZY1BIMGJMbGkxUlhGeHMxYTlTTHBlamRldlc2TldyRndZUEhvelJvMGVMeS9MeThnQlUxTEJWdm5VZlVORWNYL2s1ZDNmM0dpY3IvKzIzMzNEejVrMk1IRGtTS3BVSzQ4YU5nNHVMQ3c0Y09JQ1pNMmRpN05peDZOR2pCd29LQ21vTmdVNU9UcGc0Y2FKWWV4c1lHSWdOR3piQXc4TURRVUZCNGlUdE5kMUJSNWdIOUoxMzNoR2ZHelZxbFBpelZDcEZodzRkTUhqd1lJc0JNN1pDczlGb3hILy8rMS80K2ZtaGE5ZXVpSW1Kd2ROUFB3MnRWb3NmZi93UjNidDN4NFlORzZCUUtDQ1ZTakZod2dROCtlU1RHREpraUZYdGJYeDhQTTZlUFlzeFk4WWdOallXVGs1T1dMUm9FZExUMDhVNzdFUkhSNk8wdEZTOGU4MlpNMmZRc1dOSGpCNDlHaDk4OEVHMTg1aHUyN1lONWVYbG1EVnJGaFl0V29TK2ZmdGk2TkNoV0xSb0VYUTZIVmF1WENuT01IRHExQ21zWDc4ZTc3Nzdya1dOWldQSGUyRVRVWVAxODhFck1CaE02RC9JZWdCR1l4QWJHNHNQUC93UVRrNU9tRDkvUHRxM2J5OHV1M3o1TWc0Y09BQ2dvcFluSXlPajF2MFpEQVpzM2JvVm5UdDN0Z28ybzBlUFJzdVdMZUhzN0F4Zlg5OGFhK1NTa3BLZzFXb1JIQndzUHBlZm53K2dJbndWRlJVaE9qb2FmLzMxRndDZ1o4K2VPSDM2TkJJU0VxejIxYVJKRTNoN2UrUEFnUU1JQ1FsQldGZ1kxR28xWW1OamtaV1ZoVUdEQm9ucjl1dlhEeVVsSlZpNWNpWDgvZjF0aG90eDQ4YmhtV2Vlc1hvK1BUMWQ3STg0ZWZKazhaOUdvOEdXTFZzc25xdHV3QTFRTVJwY3VDUFFnQUVEQUZRTVpCa3paZ3plZXVzdGkvZkFhRFRXcVo4cDhIY2ZWYUhadGt1WExwQklKT0tVTnpVMXF3dmhkOUdpUlpnNWN5YUFpc0U0d3M4QU1IRGdRSlNVbEZqTXZaaVdsb2JVMUZRa0pDUWdPenNiQVBEZGQ5OGhQajRlbzBlUHRtZ3FmdTY1NThSbWJpRThWcTRkbEVna2tNbGtrTXZsWW0yMHdXQ0FwNmNuZXZUb1liRmVWVC8rK0NNS0NncWcxK3R4L1BoeGRPL2VIUUJzM2hFSXFQZ3NMMTI2aEg3OStrRXVseU0yTmhZbEpTV0lqSXpFeElrVGNlVElFUnc2ZEVoOHJRNGRPcUJaczJaWXNtU0oyUCtYV0FOSlJBMlUwV2pDbVZQeDZQUklHSm8wcVQ4anJlK2xqejc2Q0w2K3ZwZzllN2JGUElxeHNiSDQ3TFBQb0Zhck1YRGdRR3pkdWhVTEZ5N0UzTGx6YXh5TkxZeGV0VFd5dW5QbnpoWk5qelhOYXlpTTBoV2FHWUcvcDlYeDl2YUdUcWZEZDk5OWg0Y2VlZ2d6WnN4QTM3NTlzWGZ2WHF4YnR3N3Z2LysrVlRBb0tpcUNyNjh2TGwrK2pGZGZmUlhCd2NFb0tDaEFhR2lveFd2NCt2cWlRNGNPT0hQbURKNTk5bG1iWWFTNlFUWHg4Zkh3OC9NVGF6T0YwYzZWVlo3MnhoYU5Sb01sUzVaQXI5ZGp5cFFwVnU5alZGUVVQdm5rRTNoNGVJZ0RoK29hSUFWYnRteUIyV3dXN3htdVZxdXhjdVhLR3B0Zk16SXk0Tzd1anBDUUVMRk1sWTlObVBwR21COVQ2S293Zi81OG1Fd21HSTFHOU9qUkF3TUhEc1MrZmZ2UXZYdDN0Ry9mSHIvKytxdkY2N2k3dStQbGwxKzJtc055MjdadFlwOVQ0TzlCU0JFUkVWaTRjS0ZWMllYYTFJc1hMMkx2M3IzUTZYVDQzLy8raDVDUUVEZzdPNk5ObXpZQWJNOTlDUUQvKzkvLzBMUnBVM0ZpYytEdndWNlBQUElJeG93Wkk0YlExTlJVTkczYUZOT25UOGVzV2JPd2ZQbHl6SjgvdjhhcHFSb0xCa2dpYXBEaWJtU2hyRXlIaDlzMnJydEhHSTFHY1ZxU29LQWcvUHZmL3hhYjRvVEJGOTk4OHcxY1hWM3g3cnZ2SWpBd0VINStmbGl4WWdVKy9QQkR6SjgvdjhhcGJXN2x0bnRWL2Y3NzcvRDM5NGVmbjUvNFhFcEtDcHljbk9EcTZvcmMzRnlFaElUZ3dvVUx5TXJLZ3ArZkh3WU9ISWlkTzNkaS9mcjFtREJoZ2tYNEUyb0ZnWXB3dkhqeFlnQkFRa0lDM25qakRieisrdXVJaUlqQW1UTm5jT0hDQmNqbGN1emZ2eCtkT25XcTgzMm9yMTI3aG9pSWlHcjcxRlZtYTUzYzNGd3NYcndZNmVucG1EUnBraml2WTFYQysydlBTSGZCNGNPSDhmdnZ2Nk5Qbno3aVFCU1pURmJyVkVXeHNiRm8wYUpGdGN1ZmVlWVppMXBaSVNqYm1yOXkyclJwTlE3SVdycDBLZVJ5dVJqdTNuNzdiVHorK09ONDhza254WHVuVis1TGErdjNUWmpPWjhtU0pYajY2YWZGL3ByYnQyL0htREZqckNhcHJ6dzQ1dXpac3poNThxUTRXbHhZci9Kcjl1L2ZYL3g1NjlhdHVISGpCajcvL0hOTW1qUUp5NWN2eDgyYk55MEdValZXREpCRTFDRGR2SkVGdVZ5S3NQQzZCWVNHSWlNakErWGw1UWdORGNYczJiUEZHck8vL3ZvTDMzMzNIV0ppWWhBV0ZvWnAwNmFKd2FKVHAwNTQ5ZFZYc1diTkdpeGV2TmpteUZPVHlXUlZVMVFYVlVkUHg4VEU0TWFOR3hnNmRLajRuRWFqd2ZIang2SFg2ekYrL0hob3RWb0VCZ1pDSnBQaHdJRURHRDE2TklZTUdZSno1ODdoNk5Hak1CcU5lUFhWVnkxcUN3MEdBMDZjT0lIdnYvOGV2cjYrNGhRdUJ3OGVoSmVYRnpaczJJQ2ZmLzRaM2J0M3g2QkJnL0QrKys5ajNyeDVtRHg1c3MwQlFVS1RyMFFpUVc1dUx2NzY2eS8wN3QxYlhDNDA0MVptNnptZ29sL2Urdlhyb2RGbzhOSkxMNG0xVzVVSjgwZks1WEtVbEpTSXRYZlZCVndoOEFqdjc4OC8vNHlOR3pjaUlDQUFMNzc0b3NXNldxMFdXcTFXSEh4U3VRYTNwS1FFbHk1ZHdvZ1JJeXkyMGV2MTFSNVBUZjBwSzNlVHFGeEdRZFhqTVp2TlVDZ1VOZDdkUmRoZStQL3k1Y3RRcVZTWVBIa3lPblhxQkxQWmpFOC8vUlNSa1pIbzJyV3IxZmF6WjgvRzFLbFRFUlFVaE9EZ1lEenp6RE1XVXh5cFZDckV4Y1ZCcjlkYjFBcG5abWJpeXBVckNBc0xnMUtwUk92V3JmSHBwNStLRjJTTkhRTWtFVFZJaFlWbGNHL2lBcG1zY1hYMURnb0t3cXhaczhUQkk1Y3ZYOGFXTFZzUUh4OFBxVlNLZ1FNSFlzU0lFVmJOcHoxNzlrUjZlanAyNzk2TkV5ZE9XTnh0QmFpbzJlemZ2Ny9WODlVUlJ1b0tVN01BRlVGbTQ4YU5rRXFsNk5Xcmw3aXVYQzZIeVdTQ3I2OHZCZzRjaUVjZWVRUnVibTdZc0dFRHpwOC9qeGRmZkJFS2hRTFRwMC9IdkhuemNPN2NPZlRwMHdldFc3ZEdYRndjZnZycEo1dzdkdzRta3dtREJnM0N3SUVEeGVQejhQREE3Tm16b2RmcjhkSkxMNGxOdTdObno4YlNwVXV4YU5FaWpCdzVFb01IRHhhUGMrdldyVWhOVFFWUTBjZHkxNjVka0VxbGFOKyt2UmhpbGk1ZFdxZjM0ZkRodzFpN2RpM2tjamttVFpwa016d0NGV0ZyeG93WkZuM3Nnb09ETGZxSlZsMGZxQWk2TzNic3dPN2R1K0hqNDROWnMyWlpUZTZ0MSt2eCt1dXZpd05xS28rNDM3Tm5Ed3dHQXg1NTVCRUFnSmVYRjZaTm00Wno1ODVoeFlvVkZyWEVBbUhhSDF2VExsVW1oSENEd1ZCdGYwU2hDYndtUXJtRi9ZMGZQeDU5Ky9aRlJFUUV6R1l6dnZubUcrVG01bUx1M0xuaU5qS1pERC8vL0RQOC9QeVFsSlFrVGkvazUrY25EcmdSUkVSRTRPalJvMWFqK1lHS2NGazVYRE04L28wQmtvZ2FwS0xDVXFqVlRyV3YyQUJWSHVBU0hoNk8wdEpTdEduVEJpTkhqcXh4d3ZEaHc0Y2pNakxTb2haSm9OZnJvVmFyNnp4ZGpWUXFoWXVMaTFpckp1aldyWnZZTEMxd2NuTENuRGx6NE8vdmJ6RjZlZGl3WVJnMWFwUllnK25qNDRPNWMrY2lQejlmYkNZTkNncENVVkVSbm4zMldmVHMyVk84djdjZ0pDUUU3ZHUzeDRnUkl5eWFjc1BDd3ZEUlJ4OWg3d2F4dVA4QUFDQUFTVVJCVk42OTRtQVdvQ0o0M0x4NUV5a3BLZWpkdXpmYXRHa0RaMmRuY2Q1TG9mOWVUWDBnS3dlaWYvN3puK0trM3RXTkNBWXFRblMvZnYxdyt2UnArUHI2SWlJaUFqMTc5cXkyeVZ3dWw4UEh4d2NHZ3dHREJ3OUdZV0Vobm52dU9aczFlVzV1YnVqVnE1ZjRlOUN5NWQvM1hCODRjQ0NhTjI4dVRoM2s1T1NFcUtnb2FMVmFUSmt5eGVZZGdQUjZQYVJTcWNYOTFHM3g4UEFRNzBWZW5RY2VlS0RXKzdBRHdKQWhROFFRcUZLcHhQdHZYN2x5QlZsWldWYkIrWmxubnNGdnYvMG1YdmhVbm5PMHFuZmVlUWZaMmRrMkJ4cDVlSGh3K3A1cVNNdzFmYkpFUlBlcDFWOVVUTFE4NmZYSEhGeVN1cnQ0L2crMGFkL2hqdSszdkx6Y3FsYktYa2FqMFdya2JFTlZXbG9LWjJkbm04ZHFOQnB4NDhZTmhJYUdXZzI0TVJnTXlNcktncisvZjQwMWMwUjM2N3QrdDBrcWZTbFlBMGxFVkU4SW5mbHJta1B3VnR4dWVBU3FIOUhhRU5WVTR5U1R5U3hxOENxVHkrVjJUU2hPamRQZCtJNDd3djEvQkVSRURZUkNvWVMreWwwOWlLaGgwZXQwVUNoc1R4ZDFQMkdBSkNLcUoxemQzRkJjWE9Ub1loRFJYVlJjWEFUWDI3aVBmSDNCQUVsRVZFOTRlSG9ncjRhN21CRFIvUzh2SnhjZW5yYy9uNnFqTVVBU0VkVVRibXAzeUdReTVPWmtPN29vUkhRWDVPWmtReWFYd1UxZC9ieVg5d3NHU0NLaWVxUlpjQWd5MDlPaDBSUTd1aWhFZEFkcGlvdVJtWjZPWnNFaGppN0tIY0VBU1VSVWo2aFVLb1NFaGlFcFBwNDFrVVFOUkc1T05wSVM0aEVTR3RaZzdxUE5hWHlJaU9vWlZ6YzNoRWUyUkVwU0luSnpjdURsN1EyMTJoMEtwYkpCVFA5QjFOQ1pUQ2JvZFRvVUZ4Y2hMemNYTXBrTTRaRXRHMHg0QkJnZ2lZanFKWlZLaGZDSVNHaUtpMUNRWDREYzdCem85VHJ4Rm5aRVZIOUpwVklvRkVxNHVya2hNQ2lvUWZSNXJJb0Jrb2lvSG5OVHV6ZklQejVFZEg5ald3Z1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d2dCSlJFUkVSSFpoZ0NRaUlpSWl1ekJBRWhFUkVaRmQ1STR1QUJFUlZVOVRYSVNDL0FLVWFEVFE2M1V3bVV5T0xsS2pKSlZLb1ZBbzRlcm1CZzlQRDdpcDNSMWRKQ0tIWW9Ba0lxcUh0Rm90VXBJU1lUUWE0ZVh0RFY4L1B5aVVTa2lsYkRoeUJKUEpCTDFPaCtMaUlxU2xwa0lteTBDejRCQ29WQ3BIRjQzSUlSZ2dpWWpxbVJLTkJvbnhjZkFQQ0lDM2o2K2ppME9vcUlGVU9UbEI1ZVFFSDE4LzVPWms0MmJzWHdnSkRZT3JtNXVqaTBkMHovRlNsb2lvSHRGcXRVaU1qME53YUNqRFl6M203ZU9MNE5CUUpNYkhRYXZWT3JvNFJQY2NBeVFSVVQyU2twUUkvNEFBdUxtcEhWMFVxb1dibXhyK0FRRklTVXAwZEZHSTdqa0dTQ0tpZWtKVFhBU2owY2lheC91SXQ0OHZqRVlqTk1WRmppNEswVDNGQUVsRVZFOFU1QmZBeTl2YjBjVWdPM2w1ZTZNZ3Y4RFJ4U0M2cHhnZ2lZanFpUktOQm1wT0QzUGZVYXZkVWFMUk9Mb1lSUGNVQXlRUlVUMmgxK3VnVUNvZFhReXlrMEtwaEY2dmMzUXhpTzRwQmtnaW9uckNaREp4bnNmN2tGUXE1UVR2MU9qd1RFVkVSRVJFZG1HQUpDSWlJaUs3TUVBU0VSRVJrVjBZSUltSWlJaklMZ3lRUkVSRVJHUVhCa2dpSWlJaXNnc0RKQkZSQTJVMm0rL1l2Z3dHQThyTHkrL1kvdTRtbzlGNFI0K2RpS3d4UUJJUk5VQkdveEd6Wjg5R2RIUzBWWmc2Y3VRSUprMmFoUDM3OXdNQVNrdExhdzFjMzMvL1BjYU5HNGV5c3JKcTE5bTFheGVtVHAxYWE5QXNMUzI5NVg5NnZiN0dmYWVtcG1MMDZOSFl2bjE3amVzUjBlMlJPN29BUkVSMDU1MDZkUXFKaVlubzJiTW5KQktKeFRKUFQwOFVGaGJDeGNVRkJRVUZtREZqQnZyMTY0Zmh3NGRYdXovbC85MGhSMW5wVGprbWt3bDc5dXhCaHc0ZDBMeDVjeGlOUnVUbDVVR2hVTlJZdHRkZWUrMldKOTUrNFlVWE1IRGd3R3FYQzYrdFVDZ1FIeCtQbXpkdlFpNlgxemhCZTlldVhTR1g4ODhoa1QzNGpTRWlhbURNWmpQMjdObURoeDU2Q0U4KythVFZjaWNuSndDQWk0c0xQRHc4MEw5L2YremN1Uk5SVVZFSURRMjF1VThoZ0ZVT1lwbVptZmp1dSsvZzZ1cUs1czJiaTh0a01sbU41WlBMNWVqZXZUdUdEUnRXNTJNcUxpN0dPKys4WXhWTzE2NWRpOE9IRDJQRGhnMXdjbklTZzZCTUpzT1ZLMWV3WmN1V2FnT2t3V0NBMFdqRUk0ODh3Z0JKWkNkK1k0aUlHcGdUSjA0Z05UVVZpeGN2QmdEczM3OGZIVHQyaEsrdkw0Qy9RNkJRTXpsMDZGQkVSVVhCMDlNVDE2OWZSMFJFaExpdjB0SlNPRHM3aSt1ZVBuMGF1Ym01R0RCZ0FKS1NrZ0FBclZ1M3Rsa09vOUVJdlY0dkJsYUJYQzZIVXFtRWg0ZUgzY2RXTlp4V3JSa1Zsa3NrRWd3WU1BQ0RCZzJxZGwrclZxM0M4ZVBITFdwVmlhaHVHQ0NKaUJxUXdzSkNiTnEwQ1U4OTlSUUNBd09SbVptSmI3NzVCcWRQbjhhNzc3NXJVUk4zNDhZTlpHZG5JeWtwQ1RkdTNFQnFhaXFhTm0ySzVjdVhpK3VzWGJzV3BhV2xZa2pNeXNyQ3pwMDcwYWRQSHlRbUpnSUFac3lZWVZHR1VhTkdpVDlMcFZKczJyVEpZbm5WSm5WN1ZOMjJhczJvc0Z3cWxkYjVkVzZuUEVTTkZRTWtFVFZLK1hrbHVId3hCWDlkUzBkZW5nWkZoV1hRYWcwT0xkUG9zUzF2YS92aTRtSXNXN1lNU3FVU3ZYdjNSbloyTnJadTNRbzNOemVNSGowYTI3WnRRM3A2T3VMaTRnQUFlL2Z1UmJObXpSQWFHb3JISG5zTUFRRUI4UGYzdDlobmRuWTJXclJvSVQ3dTBhTUh0bTdkaXRPblQrUHExYXVJaUlqQWdBRURBRlRVVHA0OGVSSnZ2UEVHZ0lvK2tyWUd2VlFOYkdQR2pJSEJZUHU5bno1OU9qcDA2RkR0dGxVSmZTdHJhMFlub3R2REFFbEVqVXBPVGpIMjdma1RGeThrQXdDYUJYdWhlYkEzMUdvbktGV09QaVhXUE1LNE5scXRGZ2tKQ1RBYWpmalh2LzRsUGo5NThtVDQrZm5oMkxGamFOV3FGZnIxNjRmTm16ZGoxS2hSTnZ0STZ2VjZLQlFLbU0xbXBLZW40OUZISHhXRG9JZUhCN3AwNllMQ3drSmN2MzRkbzBlUHhpT1BQQUlBU0V0TEF3RHhjVjBwbFVvOC92amplUHp4eDhYbjR1UGpzV3JWS3FoVUtydjJKUVJSTmtzVDNWMk9QbHNTRWQwVFpqTnc5TmNZUk8rNUFGZFhGWjRlMmdGdE93VEQzZDNaMFVVVFhUei94MjF0NytQamc3Rmp4OExmM3g4QkFRSDQ4c3N2b2RWcTBiMTdkd0RBeXBVckFWUU1zdG15WlF0S1MwdGhNcG1Ra1pHQnhNUkUzTGh4QTFldVhJR3ZyeS9lZnZ0dFpHVmxvYnk4SE0yYU5VTjhmTHo0T3ErLy9qcSsrKzQ3U0NRU2RPblM1YmJLREZRME42dlZhZ1FHQm9yUEZSY1hBN0MvZWJta3BBUUF4T0FaRXhPRHVMZzRtd05wTWpJeWJxZllSSTBhQXlRUk5YaEdvd25idHB6Q3VUTUo2Tlc3RmZvKytUQlVEcTl0dkRzZWUrd3hBTURGaXhkeDZkSWxMRm15QkVCRmFNekl5RUJXVmhhU2s1TWhsOHV4Yjk4KzdObXpCenFkRGs1T1RnZ09Ea2FyVnEzUXFsVXJBQkNidW9PRGd5MENKRkFSMExwMzczNUxBMkh1SmlGNHVycTZBZ0F1WGJxRUgzLzgwV2FBMUdxMTk3eDhSQTFGd3p5REVoRlZzbnY3T1Z6NEl3bWp4blJGKzQ0aGppN09YVmRVVklTMWE5ZGk2TkNoWXA5R2c4RWdEbllKQ0FpQWg0Y0h5c3ZMTVdIQ0JBUUhCOFBiMnh1SmlZa0lEdzhYOS9Qb280OGlMQ3dNWGw1ZVZxOHhaTWdRbEphVzRzS0ZDMUFvRkpCSUpNak96Z1lBWEwxNkZVREZLR3lWU29YSXlNZ2F5MXZUbkpEMjNsRW1LeXNMQU1RUjU4T0hENjkyZmt0aEZEWVIyWThCa29nYXRGTW5iK0xrOFJzWS9uem5SaEVlcjErL2pyVnIxMEt2MXlNd01CQkhqeDVGWVdFaDJyUnBnM256NWlFa0pBUXFsUXJSMGRIWXNtVUwycmR2RDdsY2prMmJObUgvL3YxNDdybm5MS2ErcVRxb3ByS01qQXdzWGJyVTZ2bUZDeGVLUDdkdTNScHo1ODZ0c2N4NnZSN2J0bTNEdG0zYnJKYnBkTG9hdHhYQ3A4bGtnbFFxUld4c0xKeWRuZEcwYWRNYXR5T2kyOE1BU1VRTmxzbG93dDdkNXhIVk9SU2R1NFRYdmtFRGNQNzhlYVNtcGdJQVB2dnNNNmpWYWpScDBnVHQycld6cUFtTWpJeUUwV2pFNWN1WGtaaVlpT2pvYUxScjF3NjlldldxODJzMWI5NGNuMy8rT1pSS0phUlNLYUtqbzdGNzkyNzg5Ny8vQlZEM2UxSXZYcnk0MnZWczFYNVdKZ1JNblU0SHVWeU9QLzc0QTIzYnR1WFVQRVIzR1FNa0VUVlkrZmtsTUJoTTZEK29yYU9MY3MvMDZORURZV0ZoYU42OE9YeDhmS3FkemlZOFBCeWVucDVZczJZTmlvcUswTFZyVjB5YU5NbXU2VzhVQ29YWVZBejhQZkpaclZiYlZlYUFnQUM3MXE5c3hJZ1JHRFJvRUZRcUZZNGRPd2FOUm9PZVBYdmU4djZJcUc0WUlJbW9RVEtielNndTB1S1JydUZvMHFUK2pMUysyd0lDQXNSQVpqYWJrWnljakpzM2IrTDY5ZXNZTjI2Y0dCREx5c3JRcEVrVEpDUWtvRjI3ZHBneVpjcDlVV3RYdGFiU3c4TURIaDRlS0NzcncvZmZmNC9nNEdDMGJkc1dPcDBPQnc0Y2dGS3ByRFlVY3hRMjBhMWpnQ1NpQnFtOFRBK1R5WVNIMnpaM2RGSHVHYTFXaTIzYnRpRTdPeHRaV1ZsSVQwK0hUcWVEV3EyMkdCd1RHeHVMLy96blB5Z3NMSVN2cnkvaTR1SlFXRmdJRHc4UG5EcDFDbWxwYVhqaWlTZmc0dUp5VjhwcE1wbFFVbElpemh0WkY4TG9hbHROM1VhakVTdFhya1IrZmo2bVRwMEtpVVFDclZhTDc3Ly9YbXhldHhXT2hWSFlaclA1dmdqUFJQVUpBeVFSTlVobFpYcElKRUJZdUcvdEt6Y1FLcFVLZVhsNXVITGxDdHEyYllzbm5uZ0NMVnUyRkdza2s1T1RzWHYzYnB3OGVSS0JnWUg0NElNUElKZkxNWGZ1WEN4WnNnVGp4NC9IenovL2pLdFhyNko3OSs0V0FWSUlia0xZMG1xMWtNbGtrTWxrMVlZdnM5a01vOUVvanNZV0dJMUdIRHQyRE1lT0hiUDdHSTFHbzhYajB0SlNyRnk1RWhjdVhNQ0lFU1BFS1lqVWFqVysrZWFiR3ZjbGpNSTJHQXhRS0JSMmw0V29NV09BSktJR3lXQTBRU2FYUVNhVDFyNXlBekp1M0RnNE96dGJOZHNlTzNZTXExZXZobFFxUmYvKy9URnk1RWl4eitMTW1UT3hkT2xTekpzM0R3RFFwMDhmaTc2TndOL0J6V2cwUWk2WFk4V0tGVGgvL3J6Tk1sUytGellBZE96WUVXKy8vYmI0V0svWFkvanc0Umc2ZEdpZGo2dWdvQUNUSjArMnVEV2kyV3pHc21YTEVCTVRnMzc5K21ISWtDRjEzaDlRRWJoZFhGd1lJSWx1Z2NSczd5UmJSRVQzZ1htenRzTnNNbVBCa21HT0xrcWRYVHovQjlxMDcxRDdpcmRveDQ0ZDZOeTVNNW8xYTJhMUxETXpVMnp5SFR0MnJOVXRCRGR2M295OWUvZGkvZnIxY0hGeFFVRkJBVXdtRStSeWVhMDFrQktKeEdMQzhZS0NBamc3Tzl0MW0wS3oyWXpDd2tLcjdUUWFEWTRlUFNyZWo5dFI3dlpuUjFRZlNDcDkyUmtnaWFoQm12dnYvd0VBRml4bWdLUzdqNThkTlFhVkEyVGphdHNoSXFySHBGSnBqWGRsb2ZwSm1NU2NxREhoYnp3UlVUMmhVQ2locitYT0sxVC82SFU2S0JSS1J4ZUQ2SjVpZ0NRaXFpZGMzZHhRWEZ6azZHS1FuWXFMaStEcTV1Ym9ZaERkVXd5UVJFVDFoSWVuQi9KeWN4MWRETEpUWGs0dVBEdzlhbCtScUFGaGdDUWlxaWZjMU82UXlXVEl6Y2wyZEZHb2puSnpzaUdUeStDbWRuZDBVWWp1S1FaSUlxSjZwRmx3Q0RMVDA2SFJGRHU2S0ZRTFRYRXhNdFBUMFN3NHhORkZJYnJuR0NDSmlPb1JsVXFGa05Bd0pNWEhzeWF5SHN2TnlVWlNRanhDUXNQc21zK1NxS0hnbldpSWlPb1pWemMzaEVlMlJFcFNJbkp6Y3VEbDdRMjEyaDJLLzd1dk05MTdKcE1KZXAwT3hjVkZ5TXZOaFV3bVEzaGtTNFpIYXJRWUlJbUk2aUdWU29Yd2lFaG9pb3RRa0YrQTNPd2M2UFU2emhQcElGS3BGQXFGRXE1dWJnZ01DbUtmUjJyMEdDQ0ppT294TjdVN3d3b1IxVHRzQ3lFaUlpSWl1ekJBRWhFUkVaRmRHQ0NKaUlpSXlDNE1rRVJFUkVSa0Z3WklJaUlpSXJJTEF5UVJFUkVSMllVQmtvaUlpSWpzd2dCSlJFUkVSSFpoZ0NRaUlpSWl1ekJBRWhFUkVaRmRHQ0NKaUlpSXlDNE1rRVJFUkVSa0Z3WklJaUlpSXJJTEF5UVJFUkVSMllVQmtvaUlpSWpzd2dCSlJFUkVSSFpoZ0NRaUlpSWl1ekJBRWhFUkVaRmRHQ0NKaUlpSXlDNE1rRVJFUkVSa0Z3WklJaUlpSXJJTEF5UVJFUkVSMllVQmtvaUlpSWpzSW5kMEFlNms3S3dzcEtXbUlDODNGK1hsWlRBWURJNHVFdEY5UVM2WHc4bkpHVjdlM2dnTWFnWmZQejlIRjRtSWlPcXhCaEVnU3pRYVhEai9Cd3g2SFlKRFFoSCtRQVNjWFp3aGt6V0l3eU82NjR4R0E4cEt5NUNkbFlXcmx5OUNybENpWGZzT2NIVnpjM1RSaUlpb0hycnZFMVplYmc3T25qNkZ5RmF0MFNJMHpOSEZJYm92eVdSeXVLblZjRk9yRVJvZWpvVDRPQncvZGdSUm5SK0JsN2VQbzR0SFJFVDF6SDNkQjdKRW84SFowNmZRb1ZObmhrZWlPNmhGYUJnNmRPcU1zNmRQb1VTamNYUnhpSWlvbnJtdkErU0Y4Mzhnc2xWcitQajRPcm9vUkEyT2o0OHZJbHUxeG9YemZ6aTZLRVJFVk0vY3R3RXlPeXNMQnIyT05ZOUVkMUdMMERBWTlEcGtaMlU1dWloRVJGU1AzTGQ5SU5OU1V4QWNFdXJvWWhBMWVNMURXaUF0TFlVanN4MUVVMXlFZ3Z3Q2xHZzAwT3QxTUpsTWppNVNveVNWU3FGUUtPSHE1Z1lQVHcrNHFkMGRYU1FpaDdwdkEyUmViaTdDSDRod2RER0lHancvUDM4a3hzYzd1aGlOamxhclJVcFNJb3hHSTd5OHZlSHI1d2VGVWdtcDlMNXRPTHF2bVV3bTZIVTZGQmNYSVMwMUZUSlpCcG9GaDBDbFVqbTZhRVFPY2Q4R3lQTHlNamk3T0R1NkdFUU5uck9MTThyTHl4eGRqRWFsUktOQllud2MvQU1DNE0wKzN2V0NWQ3FGeXNrSktpY24rUGo2SVRjbkd6ZGovMEpJYUJpbnU2Skc2YjY5bERVWURKem5rZWdla01ua25KVC9IdEpxdFVpTWowTndhQ2pEWXozbTdlT0w0TkJRSk1iSFFhdlZPcm80UlBmY2ZSc2dpWWdhb3BTa1JQZ0hCTUROVGUzb29sQXQzTnpVOEE4SVFFcFNvcU9MUW5UUE1VQVNFZFVUbXVJaUdJMUcxanplUjd4OWZHRTBHcUVwTG5KMFVZanVLUVpJSXFKNm9pQy9BRjdlM280dUJ0bkp5OXNiQmZrRmppNEcwVDNGQUVsRVZFK1VhRFJRYzNxWSs0NWE3YzQ3TmxHand3QkpSRlJQNlBVNktKUktSeGVEN0tSUUtxSFg2eHhkREtKN2lnR1NpS2llTUpsTW5PZnhQaVNWU2puQk96VTZQRk1SRVJFUmtWMFlJSW1JaUlqSUxneVFSRVJFUkdRWEJrZ2lJaUlpc2dzREpCRVJFUkhaaFFHUzdwcjdZVlNpaG5PM0VSRVIyWTBCOHY4a0pDU2dwS1RFNXJJTEZ5N2d6ei8vdER0c2pCbzFDa3VXTEtseG5lKy8veDR6WnN4QWFXbXBYZnUrRzI3ZXZJazMzM3dUZS9mdXZTUDdlL0hGRi9IbW0yL2UxajdNWmpOKy9mVlgvUFRUVCtKeitmbjVTRWxKcWZPLy9QejhhdmUvY2VOR3ZQcnFxOURwN284NTNPNzBaMFFOVTN4OFBLNWR1M2JIOTF0Y1hBeXoyWHpIOTN1bkdZM0crNktjUlBjenVhTUxVRitzVzdjT2NYRngrUERERHhFV0ZtYXhiTisrZmZqOTk5K3hkT2xTaElhRzRzaVJJK2pSb3dlY25KeHEzS2ZKWklKRUlyRjRycXlzREtXbHBmRCt2OXVWNWVmbkl6WTJGZ3FGb3NaOWJkaXdBYnQzNzc2Rkk2dlFwMDhmdlBIR0c3V1dOejQrSGlVbEpkRHBkTWpOellWU3FheHhYanFwVklvbVRacFlQVzh3R0ZCU1VnSlBUODliTGpNQVNDUVM3Tm16QjVtWm1lalRwdzlrTWhrMmJkcUVRNGNPMVhrZlR6enhCQ1pQbm14ejJmWHIxeEVTRWdKbGxjbWJodzhmWG1Pb2ZPKzk5OUNoUXdlTDUrNjN6NGdhcnBVclYwSXVsNHNYc0pzM2I3YnJvbVBEaGcwMnoyK2JObTFDYkd3c1B2bmtFL0hjWmphYmE3eTRkbkZ4Z1V3bXMzanVkaTZZRlFwRmplZkwxTlJVekpneEE4ODg4d3lHRFJ0Mnk2OURSRFZqZ0VURjFmcmx5NWZ4NUpOUFdvVkhBR0lJQ2dnSVFHSmlJbGF2WG8yelo4L2kzLy8rdDFWQXJFd21rMW1kT0M5ZHVvUVBQL3dRTTJmT1JMZHUzU0NYVjN3RXd2L1ZFWmEvL1BMTHRRYlhxbGF2WG0zemhQdnh4eC9EeWNrSnI3LytPZ0NJSVVvcWxTSXBLUWx2di8xMnJmdjI5UFRFbDE5K2FmVzhVT3ZYckZtek90ZnVtVXdtNlBWNk9EazVXWlMzZCsvZVdMOStQUzVkdW9SMjdkcEJwVklCZ0JqVzl1L2ZqOVdyVjJQMzd0MjRmUGt5NXN5Wmd6VnIxaUFnSUFDREJ3KzJPdmFFaEFTb1ZDcm9kRG9rSlNXaGQrL2V5TW5KZ2RGb2hGNnZoNnVySzVSS0pVYU9ISWx1M2JwWmJKdVJrWUg1OCtlTFphanNmdnVNcU9GcTM3NDlvcU9qa1plWEJ5OHZML0YzYTlteVpRQ0E2ZE9uWStiTW1mRHo4N1A0K2RDaFE5aS9mNy9WQlpYZ3hvMGJpSXlNdERqdmxaZVhZOEtFQ2RXV1plSENoVmJuMWRkZWUrMld1N2k4OE1JTEdEaHdZTFhMaFdOVktCU0lqNC9IelpzM0laZkxhN3pJNnRxMWE2M25ZQ0t5eEc4TUtwcVJ2YjI5TVhic1dKdkxoYkNnVkNvUkVSR0JNV1BHWVAvKy9VaExTME5RVUZDMSs1VklKSkJJSkdLQVVpcVZTRXBLQWdCRVJFUUFnSGhTcXltSUFuK0hrejU5K3NEZDNiNTc1VllYVHM2ZE93ZTFXaTArRnNLdVZDcUZ2NzgvM243N2JiRjJ5MWI1Rmk1Y2FETklBVUJPVGc0QTRJY2Zmc0FQUC94Z1Yzay8rT0FEdEczYlZuemN1WE5uckYrL0hoY3VYRUM3ZHUxcWZhK3FxcnIrRzIrOElSNnIyV3pHNXMyYjhlMjMzOEpvTk1Ka011SFpaNStGMld4R2t5Wk5FQkFRWUxHdDBXaTB1VS9nL3Z1TXFPRnEwNllOb3FPamNlblNKZlRxMVV2OHZRa01EQlRYOGZQekV4OExQd3UvYTVYRDFvMGJONkJVS2xGZVhvNzA5SFQwNmRNSHFhbXA0Z1dYY0E1Y3UzWXRuSjJkTGNveGV2VG9haSsydW5mdmJsY05ZWEZ4TWQ1NTV4MnI3OG5hdFd0eCtQQmhzZFpVK0I3S1pESmN1WElGVzdac3FUWkFHZ3dHR0kxR1BQTElJd3lRUkhacTlOK1lhOWV1NGNTSkUzam5uWGZnNU9TRUV5ZE80TXFWS3hneVpBaDhmWDB0MWhYNjFBd2VQQmk5ZXZYQ2pSczNjT1hLRmZUcjEwOWNwNmlvQ0tkUG4wYW5UcDBBVkFTT3laTW5ZOGlRSVJnMGFCRGk0K09oVkNvUkZ4ZUh1TGc0cEtlbkF3QisvLzEzQUJXMWNEcWREbEZSVVhCemN4UDNlN3UzTjdPMXZVd21zemhwQ3V0SXBWS28xV3IwN05tejF2MVdyV0VWWkdSa0FBQ2VmZlpaQkFjSDE2bU1ScU1SV3EzVzRvOGNBUGo3KytPamp6N0NQLzd4RHdCL0Q4NFJham1GNXJEOC9Id1VGeGNEcVBnY2hGckFxbjJodG0vZkRybGNqazgvL1JTNXVibFl1SENodU14a01zRnNObVBQbmoxWXVYSWxWcTVjYWJPc3RtcFY3N2ZQaUJxdXlNaEl1TGk0M0pGOXZmLysrMUFvRkdLWG5GMjdkbUhuenAxaWdQejQ0NDhCUUx3QXF3dTVYQTZsVWdrUER3Kzd5MVAxOTFtb0xSWCtGNVpMSkJJTUdEQUFnd1lOcW5aZnExYXR3dkhqeDZ1dGNTV2k2alhxQUZsV1ZvWVZLMVlnS2lvS1hidDJCUURzMkxFRGlZbUorT2MvL3lrR1NPR2t1R1BIRG1SbVppSWhJUUhKeWNrd21Venc5dmEyQ0pEeDhmSDQ0b3N2c0hqeFlnQVZKN09JaUFqczI3Y1Bnd1lOd28wYk42RFQ2YkJvMFNLTHNsUjkvTmxubjlVYUlGTlRVNnZ0S0I0VUZHUlJJMlZyZTZHR1ZDRHM2MDRFRGlFWVAvYllZelhXMHRiVmd3OCtLUDZzMVdvQndLckd1UExqbVRObmlqOVhEWHR5dVJ3bWt3bC8vUEVIUm8wYVpiRk1lSjgrKyt5ekdqdmgrL2o0V0QxM3YzMUcxSEE1T1RsWm5FT0Vtdk8wdERSeG5heXNMS3VmaFF1d3l2ZmsvdWFiYndBQW4zLytPYlJhcmNWM0M0QTQrSERTcEVrMnl5SjhYeXV6dHhXaHBtMHJYMVJWWGw1ZHJYeGQ5a2xFdFd1MEFiSzh2QndMRml4QVptWW14bzhmajVpWUdGeS9maDNYcjEvSHBFbVRjUDM2ZFd6WnNnWEp5Y25peWZYSWtTTjQ0SUVIMEt0WEw3Um8wUUpCUVVGV3RaUkN6VnZsME5TclZ5OHNXclFJdi8zMkd6SXlNdkQ4ODgvamlTZWVBQUI4OTkxMzJMZHZuOWhIeldReVFhdlYyZ3dvVmIzMTFsczJUODdDZnUzdGh5Y0U1VHZSbEpPZW5nNkpSQUovZi85YjNrZEdSZ2JPbmowTHVWd09tVXlHa0pBUVJFWkdZc0tFQ1JnL2ZyeTQzdGRmZncyejJZd1hYM3pSWnJDeWRUd1hMMTZFUnFOQjE2NWRNV3JVS0F3YU5BaWpSbzFDZG5ZMjlIbzk1SEo1alg5VTh2UHpZVGFicldwTHE2clBuNUc5WnJ5eDVaNi81cDF3UDVWNzlOaVd0N1c5MEk5WUxwZGJYSURxOVhvQUZYMGZCVXVYTHJYNU0xQngwVlg1ZDFPdjErUFBQLy9FeXkrL2JMR2VWcXVGVXFuRXVuWHJxdjIrMlBvZHI3cnVtREZqWURBWWJHNC9mZnAwaXdGcnRZVTk0VHZDaXl5aXU2dlJCa2lGUW9IczdHd1lqVVlzV0xBQVNxVVNPcDBPRHozMEVQcjM3NCtkTzNkQ0pwT2hmLy8rS0Nnb3dBOC8vSUJaczJZaE5EVFVhbC81K2ZuaVFKdms1R1M0dTd0YjlJSHIwS0VEaGd3Wmdnc1hMZ0FBZXZic0thNHY5QSs2bGRIS0twVUsvZnIxd3l1dnZDSSt0Mzc5ZXV6WnMrZVcrcjBKVGNIQ0NWOW9vbElvRkhaZHpRTVZOVzgrUGo2M0ZYUlNVbEx3MVZkZlFhbFVRcVBSWVBqdzRZaU1qSVJLcFJLUDcvVHAwemh3NEFDYU5XdUc0dUxpT3RkMkhqeDRFRzNidGtXVEprMWdOcHZGWS92bW0yOXc1TWlST3UyamZmdjJtRDkvZm8zcjFPZlB5RjV5K2YwMTY1ZkJZSUpFS3NIai9SNnNmZVY2UTM5Yld5Y25KMlBXckZuaTQrZWZmeDVQUGZVVVJvMGFKZGEySnlRa1lPblNwUmczYmh5aW9xTHF0Tit6WjgvQ2FEUWlLaW9LTDcvOE1wNTc3ams4OGNRVFdMdDJMVTZlUEZucjlpRWhJVmF0TEpVcGxVbzgvdmpqZVB6eHg4WG40dVBqc1dyVktydS9KMElRWmJNMDBkM1ZhQU9rVENiRHhJa1Q0ZXpzakpDUUVKdytmUnFyVnEzQ2xDbFRBQUJEaHc3RjBLRkRBVlQwVC96aGh4OVFVbEtDMHRKU0pDUWtJQ0VoQVRFeE1iaDgrVEw4L1B6RUp1dWJOMjhpSkNURTRyV1VTaVZHang2TlYxNTVCUzFidHF5MTFxcXVhdXB6ZHl0QlFwaUtRK2dJZitQR0Rhdm1xcm93bTgxSVRVMUZlWGs1Qmc4ZWJOZTJMVnUyRkd0RG9xS2lzRzNiTmdBVi9VNnIva0U0Zi80OFB2NzRZNWpOWmlRbko5dWNxc2ZWMVJYcjE2KzM2QTkyK2ZKbG5EaHhRaHpaTEpWS3hkcUtpUk1uWXZMa3lSZzVjaVFtVFpxRVBuMzZXT3p2bDE5K3dlclZxL0g5OTkrTHpZSTFxYStmMGExWXRIemtQWG1kTzJYdXYvOEhBT2ozNU1NT0xrbmRYVHoveDIxdEh4Z1lpQlVyVmtDcFZHTGl4SWxXMzVueThuTDg1ei8vZ1ZRcWhhK3ZyMFdUdHNERnhjV3FiK0xCZ3dmUm9VTUg4ZmRPdURCODl0bG44ZGhqajJIaHdvVllzR0NCeFNDYXJLd3NMRjI2Rk5PbVRiTnFxYWxLNk5OYitkd29OS2ZiK3owUm10U0Y0QmtURTRPNHVEaWJBMm1FRmlNaXNsK2pEWkFBMExGalJ3QVZmNVMvK3VvcmpCZ3hRanlCYVRRYVpHUmtJQ1VsQlgvOFVYRlMvK2lqajhTVGs0dUxDMEpEUTlHdFd6ZTBiUGwzczVOZXI3ZDRMREFZREJnMmJCajgvUHp1OW1IZE1tRlFpakJub0srdkw4YVBIeS9XYmxVOStWWTN3QVFBbGk5ZmJ0ZHJsNVNVWU9iTW1UV0c2OG9qcDMvNGRpTzVIUUFBSUFCSlJFRlU0UWQ4K2VXWFVLdlZlUGZkZDhWNU5RVkhqaHpCOTk5L2oyZWVlY1pxTU1HMzMzNExzOW1NRlN0V1lNV0tGZUp6MzM3N0xieTl2YkZod3dZQUZiOER1Ym01RnRzS0FjNVJJNXZ2NUdkRURZOUNvYkRvL2xLNUdWZXIxZUtUVHo1QlNrb0tBRmpVVkZiMit1dXY0OUZISHhVZi8vampqL2pycjc4d2V2Um9wS1dsUVNLUm9LaW9DR2xwYVhCeWNoSy9zd0VCQVRZSDd2ajcrNk41OCtaMzVQanFRZ2llcnE2dUFDcW1UdnZ4eHg5dEJzanF1cGNRVWUwYWRZQVVyRnExQ3U3dTduajIyV2ZGNS9idTNZc3RXN1pBSnBPaGVmUG1VQ3FWQ0F3TXhJZ1JJOUNpUlF0NGVIZ2dQVDNkcXJaUm1HZXRLaWNuSnd3YU5BZ3hNVEhZdW5XcjJNY3VOallXUU1YSVlPRHZPeWlNSEZsN2JVOU5JeDRyTjh2V3RFN2xBUjdKeWNrQUlFNWQ0K1hsaGFlZmZycmE3YXNMSnhLSkJNMmFOYXZ4dGF0S1RFd0VnRnI3VEpyTlppeGN1QkJuejU1RlVGQVE1czJiaCt2WHIrUFFvVU40L2ZYWG9WUXFVVmhZaUFNSERxQnAwNlkyeS8vQ0N5L0FaRExCeThzTFFNV0FtejU5K3FCLy8vNFdUZTdmZlBPTk9JRGdWdFhYejRnYWw2eXNMS3hZc1FMeDhmRVlPM1lzZXZUb1lWRmJlTzdjT1N4ZnZoemg0ZUhvMHFXTHhiYkMxR09WdncvYnRtM0R0bTNiMEw1OWU3ejY2cXNBWU5GTncxNjFmVS9zSWZSWkYybzlodzhmanVIRGg5dGNWeGlGVFVUMmE5UUJzcUNnQUY5OTlSVk9uRGlCS1ZPbTROcTFheWdvS0lCZXIwZVBIajNRcmwwN1BQREFBNURMNVpnelp3Nk1SaU02ZCs0TW9HTGV2bDkrK1FWang0NnRjVkxicXVMaTRyQmp4dzd4YWxpNEF0NjVjeWVBaWdDcFVDanFGQ0IxT2gzMjdObURQWHYyV0MzVDYvVzE5Z0V5bVV3V0orNUxseTdCejgvdnR1OGVjeXZ5OHZJQTJCN2RYSmxFSXNFTEw3d0FOemMzVEpnd0FjN096bGkvZmozT25EbUQ5UFIwekp3NUU4dVhMNGRHbzhHc1diTnN2Z2NQUGZTUXhXT3BWQXAzZDNlcjBEdDE2bFQwN2R2WDRybWZmdnJKcmxEV2tENGp1bjl0M2JvVmlZbUplUFhWVnhFU0VvSi8vZXRmZU82NTUvRFlZNDhoT3pzYjY5YXRnMEtod0t1dnZtcDFVVE5od2dSTW1EQkJyTDE3NVpWWDhNSUxMNkIzNzk0QUtzNmpRRVdyUStWUW1wbVppZmZmZjc5TzVkUHI5V0lvcmFxMkd4RUkzdzloNUhoc2JDeWNuWjNSdEduVE9yMDJFZDJhUmgwZy8venpUL3p5eXk4QUtxNUVnWXFBMHFWTEYvSGtLR2pac3FYWUQzTHYzcjNZdjM4L0lpSWkwTDU5ZTd0ZWM4Q0FBUmd3WUlENGVPUEdqZGkxYXhjMmJkcGtkL2xydXVLdnk1eUVXcTBXWldWbEFDb0d2ZHk4ZWJQR09kTnFVMVQwLzl1Nzk3Z295N3gvNEorWllRN0FEQXdNaUNDQ0p6eWdJbUZwYW14V1pwbWFsZG42MFA2MkxKOHlUMldwYVk5cm10YVd0cHR0cHJzZExPbGdtWWR3czlRVURMV3kwcElPS2lxSWdvUU1CK2ZFbk9mM0J6djNNZ0xDN1lFWmg4Lzc5ZktsTTNQUFBkOXhFRDljOTNWOUw0T3c2S1UxQ3pxOGZSOW56cHdwTkI1dmFhNFVBSFRyMWcyelpzMFNiaTlZc0FBYk4yN0VlKys5aHlsVHBzRHRkbVBHakJubzA2ZVA2UGRRVVZFaC9QbmN1WE5DTzZLRzk0a1JhSjhSdFUvVHAwOUhTVWtKdW5idENvdkZnajU5K3VEdHQ5L0dzV1BIOE50dnY4Rm9OR0xLbENsTjlteTkwTmRwU1VuSlpka204OFVYWDJ4MnBORjdwYUE1M29CcHQ5c1JFaEtDZ3djUFlzQ0FBV3pOUTNTRnRlc0FtWjZlanJ2dnZodGR1M1pGZkh3OFltSmlvTlZxbS95R2VkMTExMkhqeG8xWXNHQUJpb3FLa0o2ZWp2Lzd2Ly96NjBxLzgwZkh4TnEwYVpQd1orOElhTU5Wa0dKWnJWYms1ZVZCcVZTMktrQjZXeGFKRFpEbnE2cXFna1FpRWVZOHpabzFxMVdyU3owZUQwcEtTdUIwT3ZIMTExL2pxNisrUW1scEtaNTQ0Z2tBbCtjU2RxQjlSdFErU2FWU29ZTkVXRmdZcGsrZmpzV0xGeU0vUHg4S2hRSlRwMDV0dEczbitUd2VEMHBMUytGeXVaQ1hsNGRQUC8wVUJvTUJyN3p5Q2dDMGFsdk41cHkvNDVNWTk5MTNIOGFNR1FPbFVvazllL2JBWkRLMXFzRStFVjJhZGgwZ0l5TWpHeldqdGxnc0tDd3NSRWhJaU0rbHp1VGtaS2hVS2hRVkZlRzY2NjVyY2t1dEswbnNQQ0F4enk4c0xNVE9uVHR4M1hYWENmL0piTnk0RVZhcnRjVitpQTExNk5EQkovQ0ljZjY4cFFzcExDekV0OTkraTdLeU1wU1VsQWlqaEVPSERzWGt5Wk1iTGFocHlPUHg0S09QUHNMeDQ4ZHg1TWdSWVZHTTIrM0dpQkVqa0pHUmdlVGtaS3hZc2FMRlM5amU5amtOejMwcDJ1SXpvdmJKWUREZzVNbVR3aWkydHc5cTc5NjlNWG55NUdZWHIzazhIcXhmdng3RnhjVTRmdnk0MEVaS0pwUGgzbnZ2UlhwNnV0Q040UHh1QjJmT25CSDZUdGJWMVVHbFVsMldyOVB6LzUxb3RWcG90VnJVMWRWaC9mcjFTRXBLd29BQkEyQzMyN0Y5KzNZb0ZJb1dkOHdpSXZIYWRZQXNLQ2hBWldVbEtpb3FVRlpXSm13dDZQRjRNR0hDQkNGQUZoY1hZL255NWJEYjdjTE9JTjdnNE4xWnhydk4zcFhpbmVkVFhsNE9nOEZ3MGM4L24xNnZ4NHN2dmdpbFV1bHp1WFhYcmwyb3FhbUJUQ2E3WUVQZTFtNWQxcEx5OG5Kb05Kb21SM1M5QzBkeWNuTFFzV05IOU92WEQ5dTJiWVBaYkVhSERoMHdkdXhZakJneEFsMjZkR254ZFNRU0NRb0tDbEJYVjRkUm8wYmgybXV2eFpJbFN6QnMyRENoYlpPWHpXWkRXVmtaOUhvOTlIbzlxcXFxOFBQUFB3T29iL2Rqc1ZpUW5aMHRIQi9zbnhGZFBieGZmM3YzN2tYZnZuMFJFaEtDRlN0V3dHcTFJalEwRk9ucDZSZytmRGo2OTc5d2l5T0pSQ0lzb2hrL2ZqejY5KytQWjU5OUZwbVptY2pNekFUdzM4NEFwYVdsc0Znc3FLcXFRbFZWRmNyS3lnRFU3OGR1TXBsOHB1bTQzVzZZemVZbTJ3ZzF4N3U2dXFrZnRGd3VGMWF1WEltYW1ocE1uejRkRW9rRU5wc042OWV2ditDVUd1OGM5TllzYUNNaVgrMDZRT2JtNWlJdkx3OFNpUVJkdW5UQndJRURrWnFhaWw2OWVrR24wOEZrTW1IanhvM0l5Y21CV3EzRzRzV0w4ZU9QUDJMVHBrMzQ4TU1Qa1pXVmhkemNYR3pkdWhVTEZ5NFUyZ0o1ZWZkVjlpb3RMWVZTcWZSWjZldjlCdWI5Smd6VXQveHhPQncrb3dMZW4vSXZ0dWRmVTdzOEZCVVZZZW5TcGFpdXJzYnMyYk45SnAydldyV3F4WE9PR3pldVZiMFFtNnRISXBIQTZYVGl0OTkrdzdGang1cHMwbjd3NEVFc1g3NGMwZEhSU0VoSXdMSmx5NUNRa0lDdVhidGl5SkFodVBiYWE2SFZhb1cyT2g2UFIyaXU3WjAvYURLWjRIUTZoVG1SaXhjdjlnbXFEVmM2YjkrK0hldlcxZTljOHVhYmJ3ckhLQlFLbndVKzk5eHpUNk5GTjhIMkdkSFZxYmk0R0srODhncWlvcUxnOFhnd1o4NGNwS1dsb1cvZnZ1alRwdyt1di81NlJFUkVDTitIUEI0UG5FNG5uRTZuejcrWnpwMDdRNlZTWWM2Y09UN25iN2l3YTlPbVRVSUhpVVdMRmtFbWswR24weUUyTmxab2RqOWh3Z1NrcHFiNkJEU1h5NFU5ZS9aZ3o1NDlvdC9mK1YvUEZvc0ZLMWV1eEU4Ly9ZVDc3cnNQdlh2M0JnQm9OSm9XcDZCNFYyRTduYzQydmFKRUZBemFkWUM4OTk1N2tacWFpc0dEQi90TUJMZlpiRmk5ZWpWMjc5NE5xOVdLakl3TXpKdzVFMUZSVWVqWHJ4OSsvLzEzZlB6eHgvanFxNjlRV1ZtSmpoMDdJajA5dmRINVhTNlhUeWlZTVdOR3M2TkI1MTlLMTJnMFBqK3hlOCtUazVNaituMk9HemV1MFVyRzA2ZFA0K21ubjRiZGJzZi8vdS8vNG9ZYmJoQjlYcWxVS215Ukp0YW5uMzdhNkp2N3FGR2pmRzZmT25VS3p6Ly9QQ0lqSS9IU1N5OGhOallXQlFVRjJMQmhBMzcrK1dmODhzc3ZQaUh2UXU2Ly8zNGhRSjQveXRud2MwcExTOE9lUFhzd2ZQaHdkTzdjR1FrSkNlallzU08wV2kwa0VnbTJiOStPVmF0V1ljU0lFWTNteWdiYlowUlhINFBCZ0JkZmZCRUtoUUxQUGZjY2REb2REaDA2aE04Kyt3dy8vL3d6RGh3NDBLb0ZlN0d4c2NMY3h2TzVYQzRoeEtXbnA4UGo4ZmhzN2VvZERTOHRMY1dCQXdlUWtwTFM2Qks1dytIQWhBa1RHbzM2WDBodGJTMm1UcDNxOC9YczhYanc4c3N2NDhpUkl4ZzVjaVR1dXV1dVZwOFBxTy9uR2hZV3hnQkpkQkhhZFlCTVRFeHNzbCtoVXFsRVRFd01JaUlpTUgzNmRPRlNEVkQvSC9MczJiT3hkdTFhL1B2Zi8wWklTQWhtenB6WjVDVkV1OTN1ODgzdTJXZWZiWEdGc3NmamdkdnRidlJUOXQxMzMzM1JpeWRlZi8xMVlZR0pWK2ZPbmZIMDAwK2pwcWJtb2hkNmVCZDFYSXhSbzBiaDY2Ky9Sa3hNREpLU2tqQjQ4R0NrcEtUNEhKT1VsSVQ1OCtjTEl4cEFmY0JMUzB0RFhWMGRUcDQ4aWZMeWNsUlhWOE5rTXNGcXRjTGhjQWdqdncxSEZodCtodWR6T0J4QytJdVBqOGZTcFVzdmVLejM5L09iaVFmYlowUlhuNGlJQ015Yk53OXl1VnlZQ3p4Z3dBQmhUbUJwYVNuT25qMkxjK2ZPd1dLeHdHNjNDNzFuRy83cTBhTkhrNHNKRzQ1V0F2VWRFYnAxNjlaa0xkNnJLMDIxNFZtNWNxVlB5NS9XaUl5TXhLcFZxM3llSjVGSThPU1RUeUkvUDkrbnUwVnJUWjQ4K1pMNlZ4SzFaeExQcGM3ODk1Ti9mN29KWSsrNjU0cWQzM3VaNWtKN09aODlleFloSVNFdHRwbWd3TFozNzE1MDZ0U3B5VXZvNXlzcUtzTGh3NGN4Y3VUSWRqVmljYVgvdlYwSjNxME1sN3g0cjU4cmFiMkNIdzhpN1pvTWY1ZHhRVWFqRVVxbHNzVU9GSGE3SFhxOUhqRXhNZTFpWCtxcjRiTWp1bFNTQnFOZjdYb0U4a0thMmhidWZJRzhMU0cxbnBoTHd4Y2FjU0c2VkZLcFZHaUlIYWcwR2sycmp2UHUzdFVlQlBwblJuUWw4Q3VlaUNoQXlPVUtPRnJZZVlVQ2o4TnVoMXdlL0tPc1JBMHhRQklSQllod3RScEdvL2dXVU9SZlJxTUI0V3ExdjhzZ2FsTU1rRVJFQVVJYnBVVjFWWlcveXlDUnF2VlYwRVpwL1YwR1VadGlnQ1FpQ2hCcVRRUmtNaG1xOUpYK0xvVmFxVXBmQ1ZtSURHcE5oTDlMSVdwVFYyMkFEQWtKZ2N2VnVQRXlFVjFlTHBmemd0MEk2UEpLVEVwR1JYazVUQ2FqdjB1aEZwaU1SbFNVbHlNeEtkbmZwUkMxdWFzMlFLcFVvYWl6MVBtN0RLS2dWMmVwZzBvbHJtY2ZYVHlsVW9ua3J0MXdxcmlZSTVFQnJFcGZpVk1uaTVIY3RWdWpuckJFN2NGVk82d1FyZE9oOHV4WnFGdlpVb0tJTHM3WnN4V0lqdEg1dTR4MkpWeXRSdmVldlZCNnFnUlZlajJpZFRwb05CR1EvMmNqQW1wN2JyY2JEcnNkUnFNQjFWVlZrTWxrNk42ekY4TWp0VnRYYllCTTZKU0kzMzRwUU5mdTNmMWRDbEZRTzFWeUVuMzdwZm03akhaSHFWU2llMHBQbUl3RzFOYlVvcXBTRDRmRDN1eDJxSFJsU2FWU3lPVUtoS3ZWU09qVWlYTWVxZDI3YWdOa2JJY09DSkVyY0xLNENGMjZzckV6MFpWd3NyZ0lDcmtDc1d5YTd6ZHFUUVREQ2hFRm5LdjZXa2o2TlJrb1BISVllczRUSXJyczlKV1ZLRHh5R0FPNFBSc1JFWjNucWc2UTRXbzFyaDAwR0FlLy93NG5pNHY4WFE1UjBEaFpYSVNEUDN5SGF3Y05ab05rSWlKcTVLcTloTzBWcll2QnNNd2I4ZE9QQjFGU1hJVE95VjNRb1VNY1FzTkNJWk5kOVcrUHFFMjRYRTdVV2Vwdzltd0ZUcGVjUkloY2dXR1pOekk4RWhGUms0SWlZWVdyMVJpVytRZFVuajJMTTJkS1VWSmNES3UxRGs0biswUVN0VVpJU0FoVXFsQkV4K2lRMmkrTmN4NkppT2lDZ2lKQWVzVjI2TUQvK0lpSWlJaXVzS3Q2RGlRUkVSRVJ0VDB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R0dBSkNJaUlpSlJRdnhkQUJFUk5jOWtOS0MycGhabWt3a09oeDF1dDl2ZkpiVkxVcWtVY3JrQzRXbzF0RkZhcURVUi9pNkp5SzhZSUltSUFwRE5aa1BwcVJLNFhDNUU2M1NJN2RBQmNvVUNVaWt2SFBtRDIrMkd3MjZIMFdqQW1iSXl5R1MvSXpFcEdVcWwwdCtsRWZrRkF5UVJVWUF4bTB3b0tTNUNYSHc4ZERHeC9pNkhVRDhDcVZTcG9GU3BFQlBiQVZYNlNwd29QSXJrcnQwUXJsYjd1enlpTnNjZlpZbUlBb2pOWmtOSmNSR1N1blpsZUF4Z3VwaFlKSFh0aXBMaUl0aHNObitYUTlUbUdDQ0ppQUpJNmFrU3hNWEhRNjNXK0xzVWFvRmFyVUZjZkR4S1Q1WDR1eFNpTnNjQVNVUVVJRXhHQTF3dUYwY2VyeUs2bUZpNFhDNllqQVovbDBMVXBoZ2dpWWdDUkcxTkxhSjFPbitYUVNKRjYzU29yYW4xZHhsRWJZb0Jrb2dvUUpoTkptallIdWFxbzlGRXdHd3krYnNNb2piRkFFbEVGQ0FjRGp2a0NvVy95eUNSNUFvRkhBNjd2OHNnYWxNTWtFUkVBY0x0ZHJQUDQxVklLcFd5d1R1MU8veE9SVVJFUkVTaU1FQVNVVkNTeWFSd3V6MytMb09JS0NneFFCSlJVSkxKcEhBNmVWbVJpT2hLWUlBa29xQ2tVSVRBN1hLanR0Ymk3MUtJaUlJT0F5UVJCYVd3Y0NVQTRMZWZ5L3hjQ1JGUjhHR0FKS0tnRkJJaWhWSWx4M2Zmbm9DSFV5R0ppQzRyQmtnaUNscFIwZUVvSzYzQno0ZE8rYnVVZ1BEYmI3L2hyYmZlZ3NWeStTL3JsNVdWSVRjM0YyVmxIUEVsYWc4WUlJa29hSVdGS2RDelYwZmtiRG9JbzhIcTczTDg3dWpSbzhqTnpVVmVYbDZybjJPMVd1Rnl1Vm84N3F1dnZzSmJiNzJGVHovOTlGSktoTlZxeGZ6NTgvSEZGMSswNm5pSHd3R24wd25QZWNQTTFkWFZxSzZ1Um0xdGJhTmZsWldWc05sc2wxUW5VWHNYNHU4Q2lJaXVwRC9lZnoxZWZYazcxcjY5QjQ5T3V4bHloY3pmSmZuTmpUZmVpQTBiTmlBL1B4K2pSNDl1MVhQbXo1K1Bpb3FLUnZmLzR4Ly9RRXhNRElENkVKZWZuNC91M2J2ajRNR0RNQnFOMEdnMHJUcS93K0dBdytGQWFHZ29KQklKcEZJcFNrcEtXajFLdW43OWVtemR1dFhudnRHalIrUDA2ZE1vS0NobzlubXpaczFDU2tvS0FFQWlrU0F5TXJKVnIwZEU5UmdnaVNpb1JVU0c0c0hKbVZpOWNoZGVmL1ZMUERqNUQ5QkdoZm03ckN2R2FyWGlvWWNldXVBeHAwK2ZSbFpXVnBPUHhjVEU0Qi8vK0lkd2U4R0NCWkRKWkpESjZvUDM1czJic1czYk5wK0FtSmVYaDdxNk9zeWFOUXV2dnZvcXNyT3pNVzNhdEZiVnUzSGpSbXpac2dWcjFxeUJTcVVTWHNkc051UE1tVFBDY1I2UEIzYTdIWEZ4Y1FnTCsrL25OMjdjT0l3YU5Rb2hJU0dRU0NSWXZIZ3hrcE9Ua1pXVkJaUEpoRWNmZlJULyt0ZS9vTkZva0pXVmhaZGZmaGtWRlJWWXZueTVjSTc0K0hqODdXOS9hMVc5UkZTUEFaS0lnbDduWkIybVB6RVM3NzZWajc4dit3SzMzTm9Yd3pKVEVDSVB2dEZJcGJKKzlYbEdSa2F6SWJFNXMyZlBobHd1OTdsUHA5UDUzSFk0SEpETDVjTHIxTlhWWWRPbVRiamxsbHNRSFIyTkJ4NTRBQXNYTGtSS1NncEdqaHpaNG1zcS9yUDN0L2Q4RW9rRVFIMG8zYnQzcjNDYzIrMkcwK25FN05tejBhOWZQK0YrdVZ5T3ZYdjNZc0NBQVlpUGowZGRYUjIwV3Exd0hnQjQ5TkZIZlY0elBEd2NyNy8rT3FLaW92Q1h2L3dGUFh2MmJMRk9JdkxGQUVsRTdVSkNKeTBlZitvMmJOM3lFN1p1K1JGZjVSNUczN1JFcFBidGhOZ09HbWdpVkZBcTVTMmZLTUI1NXl1R2hvWWlJU0VCMWRYVjhIZzhQa0h3eUpFajJMdDNMNFlPSFlyVTFOUW1uKy9sY0Rpd2QrOWVwS1NrSURFeEVXYXpHVkZSVWNMajc3Ly9QcHhPSis2KysyNEFRTGR1M2ZESFAvNFJhOWV1UlUxTkRlNjk5MTVoVkxFcDNxQjMvdTkzM25tbmNNNExNUmdNeU03T3hyeDU4eEFmSHcrejJReTFXdTF6elBMbHl4RWVIbzZwVTZjQ0FMNzk5bHZzMjdjUDQ4YU5RMUZSVWFPQVNVUXRZNEFrb25ZalhLM0VmVm1Ea1RtOEYvYnNQb3FDbjA3ajIzM0gvVjJXNFA4OTJPdVN6K0YydXpGKy9IZ2tKU1VCQU5hc1dZTmZmLzBWOTl4ekQrNjQ0dzdJWkRKWXJWYms1dVlpTmpiV0owRE9tREZER0JIMHFxdXJ3NXR2dm9scDA2WUpBVEk2T2hvQThNVVhYeUF2THc4VEowNEVBQmlOUmdEQThPSEQ4ZnZ2dnlNbkp3Y0hEaHpBdUhIak1IVG9VSjlSd2N2Rk8xY3lKaVlHRG9jRGRyc2Q0ZUhoUHNmTW1UUEg1L2FmLy94bkpDUWtZTTJhTlVoUFQwZGlZdUpscjRzbzJERkFFbEc3RTUrZ3hYMVpnK0YyZTNENlZCVnFxczA0ZDY0T05xdkR6NVZkK3VzckZBcU1IejlldVAzSUk0OWcvZnIxV0xkdUhmTHo4ekZseWhSaHhYSmNYSnpQYzRjTUdkTG9mRzUzL1hhUUVSRVJBT3JuSnNiRnhXSG56cDE0NzczM2tKYVdocHljSEh6MDBVZU5uanRwMGlSa1oyZmoxMTkveGJCaHd3RFV6Nzg4ZlBndzVISTVaRElaVHA0OENRREl6OC8zZWU3Smt5Y2IzZWZ4ZU9CeXVlQjBPb1hMNDk0QUdSRVJBYlBaREFDTlJpQlhyMTRObDh1RjZkT25ZOU9tVGNqS3lrSnBhU25rY2prT0hUcUVmZnYyQ2ZVUlVlc3dRQkpSdXlXVlNwRGNKUWJKWFdMOFhRb0FvT0RIZzVmdFhQLzg1ei9SdDI5ZlpHWm1ZdkxreVJnMGFCRGVlZWNkcU5WcTZQVjZBQkJHRWkvRTZYUUNxTDhrRHRRSFNKMU9oNXR1dWdsNnZSNTMzbmtuQ2dzTGZSYmF1TjF1Mk8xMlpHUmtJQ1VsUlZpdERRREhqeC9IdSsrK0M2bFVLc3kzVkNxVmVPZWRkNFJqbEVvbENnb0tHcTJpOW5nOGNMdmQ4SGc4UW9Dc3E2c0RBSVNGaGFHOHZCeFNxUlFxbFFybDVlWDQ5ZGRmQVFDTEZpMFNWcEtieldaOC92bm4yTEZqQjU1NDRnbDgvLzMzZU9PTk45Q25UNTlXL1gwUVVUMEdTQ0tpSUdNMEdsRldWb2I4L0h6czJiTUhqenp5Q05MUzB2RHl5eTlESnBNSndVcE1nUFNHUGU4Y1NKbE1KbHk2VGs5UGIvYjVYYnAwOGJrOWJOZ3dEQmt5QkNxVnFzbmpIUTRIdG16WmdwU1VGS1NscFRWNWpIZFUxRnVQU3FXQ1ZDcUYyV3hHV0ZnWUpCSUpqaDQ5aXV6c2JLU25weU05UFIzOSsvZkhVMDg5aGZIanh5TTdPeHQzM25rbkJnMGFoTDU5K3lJbEpZWGhrVWdrTmhJbklnb3lHbzBHenozM0hCNTg4RUVVRmhiaXVlZWVnOHZsRWtZSWEycHFJSlBKZkJiRE5NY2JJS3VxcW5EbXpCbFlMQlo0UEI1VVYxY0RxTitCeG1LeG9LS2lBaSsrK0tJdzB2ZkxMNzlnM2JwMXduRmVDb1dpVVhqY3NtVUxEaHc0SU56ZXVIRWpqaHc1MHFnV3ZWNFB1OTBPcWZTLy8zV1p6V1pZclZaa1pXVmgwYUpGTUpsTXlNcktRdWZPbmJGcTFTck1uVHNYSTBlT1JIeDhQT2JQbncrMzI0MlJJMGRDTHBkaitmTGxNQnFOclZvdFRrUytPQUpKUkJSRUxCWUxGQW9GWkRJWlJvNGNpVDU5K3FDNnV0cG5KZlRaczJjUkd4dmJhSFcwMisyR3crR0FUQ1pEU0VqOWZ3L2VIVnRlZnZsbDRiajMzMzhmSjA2Y3dPVEprekYvL253ODlOQkR5TWpJUUVGQkFVNmRPb1c0dURnVUZCUWdOemUzeFpYVSsvZnZ4OGNmZjR4Ky9mb2hQVDFkZUYzdjcxNE9od092dlBJS25FNG41czJiSjRUZkcyNjR3V2VrMG1nMFl2SGl4VkNwVkRoOStqU3lzN05oTnB0eDd0dzVZUUZSang0OWtKR1JnUnR2dkJFR2d3RWRPM1lVKzlkTTFPNHhRQklSQlpISmt5ZTMrdGptK2tUT21ERkRXRkRUdlh0M2ZQamhoejZQUC83NDQ5Qm9OQWdORFVYLy92MVJVRkNBNGNPSEl6bzZHbVZsWmJqdXV1dFFXRmlJZ1FNSE5udXBHcWpmbTN2VnFsWG8zNzgvWnMrZTdSTm9HNjdZOW5nOFdMVnFGWXFMaTNIYmJiZjVqSnlxMVdxbzFXcDRQQjZjT1hOR3VCU3RWQ3JSczJkUDNIYmJiVkFvRkVoTlRZVldxMFZXVmhZaUl5TngxMTEzSVM4dkQ5bloyWGptbVdlUWtKRFE2cjgzSW1LQUpDSUtLbzg4OG9pd3dybXB0amsvL1BBRDl1M2JoNGtUSnpaYWhlMGRnZXpXclZ1ajV6bWRUcHc5ZXhhaG9hR29xNnNURnRVTUhEZ1FIMzMwRVR3ZUQ1S1RrM0htekJrNG5VNFVGeGZqOXR0dmI3Yk9YMzc1QlgvNzI5L1FvMGNQUFBua2s0MUdITDFjTGhmKytjOS9Zdi8rL2JqNTVwdng1ei8vMmVmeGlvb0tmUDMxMThqUHowZGNYSnp3dUhkWG02cXFLbno3N2JmbzI3Y3Z6cDQ5Q3dBNGVQQWdQdjc0WTN6KytlY1lPWElrNXo4U1hRUUdTQ0tpSURKOCtQQm1IenQ2OUNnT0hEaUE5UFIwakJneEFqazVPUmcxYWhTMFdtMlR4Ly8rKys5WXZYbzFhbXBxVUYxZERiZmJqVm16WnNGcXRRcmJDZmJ2M3g5dnZmVVdpb3FLMExkdlg1dzdkdzZGaFlWd3U5M05Mb0xadjM4L1ZxNWNpWjQ5ZTJMdTNMbU5lazk2MWRiVzRyWFhYc1BodzRjeGR1eFlUSnc0c2RISTVOS2xTMkV5bVhEVFRUZGg1TWlSc0ZxdEFPcEhJTDNiSk02ZVBSdnIxcTNEd1lQMXE5elQwOU9SazVPRC8vbWYvOEhZc1dOYi9Ec2xvc1lZSUltSWdwelZhc1hXclZ2eDZhZWZJakV4RWRPblQ4ZnUzYnZ4MldlZlljZU9IUmc5ZWpUR2pCblQ2SEp6WEZ3Y0pCSUpCZzRjaU42OWU2Tjc5KzdRYXJWd09wM0NzYkd4c2JqNTVwc1JFaEtDTys2NEF3Q3didDA2OU9yVnkyZlA2b1lHREJpQU8rKzhFK1BHaldzMlBCNDZkQWlmZi80NW5FNG5IbnZzTVdSbVpqWTZSaUtSNE9HSEgwYTNidDJFUHBYSGpoMkRUQ2JEMXExYnNXWExGano1NUpNd0dBekl6ODlIVmxZV1B2endRd3dmUGh3ZWp3ZmJ0bTFEcjE2OXVKVWgwVVZnZ0NRaUNrSWVqd2ZIamgzRE45OThnNzE3OThKc05tUG8wS0Y0K09HSEVSb2FpanZ1dUFOcGFXbllzR0VETm0vZWpKMDdkK0t1dSs3Q3JiZmVLc3hGbEVna1dMUm9rYzk1YTJ0ckFkVDNoYlJZTEpESlpIamdnUWNBMUM5MEFlcTNDaHd4WWdUc2RqdnNkbnVqeHQ0cWxRb1RKa3p3dWM5Z01PRFlzV1BZdjM4L2dQb2dPR2pRSUdSbFpTRTJOcmJaOTNsK0M2Rmp4NDRoTkRRVVk4YU1RZi8rL2VGd09MQml4UXJjZXV1dEdETm1ERDc4OEVOSUpCTE1tREVEeTVjdngrTEZpekY4K0hCTW5qejVpdXlVUXhTc0dDQ0ppSUxJaVJNbjhNa25uK0Q0OGVPd1dDeVFTQ1JJUzB2RDJMRmpHKzE3blppWWlDZWVlQUxIang5SGRuWTJzck96c1hQblRpeGR1clRSYU9TK2ZmdnczWGZmQ2ZNSW82S2lzR3paTWhRV0ZqWlp4N3AxNjdCdTNUb0E4Rm1FWXphYnNYbnpabGl0VmhpTlJsUlZWYUd5c2xMWUJqRW1KZ1pqeG96QlRUZmRoUGo0K0ZhLzczMzc5dUdOTjk2QXcrRkF2Mzc5SUpWS2NlellNYXhidHc0WkdSbDQ0SUVIaFA2UkhvOEhvYUdobUQ5L1B0NSsrMjNjY01NTkRJOUVJakZBRWhFRmtlN2R1eU01T1JrQWtKR1JnVUdEQmpVN3g5R3JSNDhlV0x4NE1iWnYzdzYzMjkza3ltbWRUb2VmZnZvSkNRa0pHRDE2TlByMDZZTnAwNmJCNC9GY01IeDU1eVI2aFllSHcyUXk0ZnZ2djRkT3AwT0hEaDJRbXBxS3BLUWtwS1NrTkZyWTAxb0RCdzdFd0lFRDBiTm5Ud3diTmd5VmxaWDQ3TFBQTUdqUUlFeVpNZ1ZTcVZUWXRjWnV0d09vYjQ0K1pjcVVpM285b3ZaTzR2RnVpa3BFRkVSV3Y3WUxBUERZakZ2OFhFbnJGZng0RUduWFpQaTdqQ1o1LzZ1NEhDTjFMWVhPeTZXNnV0cG5oYlhINDhHNWMrY1FGaGJXN056TGl4WElueDNSNVNKcDhBK1hJNUJFUkFGQ0twWEM3WGI3N0xRU0tDNW40R3VyeThYbnQrZVJTQ1F0anNaZWpFRDl6SWl1Skg3RkV4RUZDTGxjQWNkL0xxL1MxY05odDBNdXY3d2pta1NCamdHU2lDaEFoS3ZWTUJvTi9pNkRSRElhRFFnL2I2VTVVYkJqZ0NRaUNoRGFLQzJxcTZyOFhRYUpWSzJ2Z2picThsOGFKd3BrREpCRVJBRkNyWWxMOXlSOUFBQVJQMGxFUVZTbzMzNVBYK252VXFpVnF2U1ZrSVhJb05aRStMc1VvamJGQUVsRUZFQVNrNUpSVVY0T2s4bm83MUtvQlNhakVSWGw1VWhNU3ZaM0tVUnRqZ0dTaUNpQUtKVktKSGZ0aGxQRnhSeUpER0JWK2txY09sbU01Szdkb0ZRcS9WME9VWnRqR3g4aW9nQVRybGFqZTg5ZUtEMVZnaXE5SHRFNkhUU2FDTWdWQ3JhTDhSTzMydzJIM1E2ajBZRHFxaXJJWkRKMDc5bUw0WkhhTFFaSUlxSUFwRlFxMFQybEoweEdBMnByYWxGVnFZZkRZUmUyNDZPMkpaVktJWmNyRUs1V0k2RlRKODU1cEhhUEFaS0lLSUNwTlJFTUswUVVjSGd0aElpSWlJaEVZWUFrSWlJaUlsRVlJSW1JaUloSUZBWklJaUlpSWhLRkFaS0lpSWlJUkdHQUpDSWlJaUpSR0NDSmlJaUlTQlFHU0NJaUlpSVNoUUdTaUlpSWlFUmhnQ1FpSWlJaVVSZ2dpWWlJaUVnVUJrZ2lJaUlpRW9VQmtvaUlpSWhFWVlBa0lpSWlJbEVZSUltSWlJaElGQVpJSWlJaUloS0ZBWktJaUlpSVJHR0FKQ0lpSWlKUkdDQ0ppSWlJU0JRR1NDSWlJaUlTaFFHU2lJaUlpRVJoZ0NRaUlpSWlVUmdnaVlpSWlFZ1VCa2dpSWlJaUVvVUJrb2lJaUloRVlZQWtJaUlpSWxFWUlJbUlpSWhJRkFaSUlpSWlJaEtGQVpLSWlJaUlSQW54ZHdGRVJOUThrOUdBMnBwYW1FMG1PQngydU4xdWY1ZlVMa21sVXNqbENvU3IxZEJHYWFIV1JQaTdKQ0svWW9Ba0lncEFOcHNOcGFkSzRISzVFSzNUSWJaREI4Z1ZDa2lsdkhEa0QyNjNHdzY3SFVhakFXZkt5aUNUL1k3RXBHUW9sVXAvbDBia0Z3eVFSRVFCeG13eW9hUzRDSEh4OGRERnhQcTdIRUw5Q0tSU3BZSlNwVUpNYkFkVTZTdHhvdkFva3J0MlE3aGE3ZS95aU5vY2Y1UWxJZ29nTnBzTkpjVkZTT3JhbGVFeGdPbGlZcEhVdFN0S2lvdGdzOW44WFE1Um0yT0FKQ0lLSUtXblNoQVhIdysxV3VQdlVxZ0ZhclVHY2ZIeEtEMVY0dTlTaU5vY0F5UVJVWUF3R1Exd3VWd2NlYnlLNkdKaTRYSzVZRElhL0YwS1VadGlnQ1FpQ2hDMU5iV0kxdW44WFFhSkZLM1RvYmFtMXQ5bEVMVXBCa2dpb2dCaE5wbWdZWHVZcTQ1R0V3R3p5ZVR2TW9qYUZBTWtFVkdBY0Rqc2tDc1UvaTZEUkpJckZIQTQ3UDR1ZzZoTk1VQVNFUVVJdDl2TlBvOVhJYWxVeWdidjFPN3dPeFVSQlMrUHZ3c2dJZ3BPREpCRUZKVEN3NVdvcStObFJTS2lLNEVCa29pQ1VrUmtLQXlHT24rWFFVUVVsQmdnaVNnb2RZaUxnTmxrUTIydHhkK2xFQkVGSFFaSUlncEtxZjA2QVFCKys3bk16NVVRRVFVZkJrZ2lDa3BhYlJpU3U4VGd1MjlQd01QRk5FUkVseFVESkJFRnJWdHY3NGV5MGhyOGZPaVV2MHRwY3dhREFjZVBINGZOWnZPNTMrRndZTWVPSGZBMFNOWDUrZm5ZdjM4L3JGYnJSYjNXbVRObkxxbld0dUJ3T1B4ZEFsRlFZWUFrb3FEVnMzYzhldmJxaUp4TkIyRTBYRnc0dWxyOTlOTlBXTGh3SVF3RzN6MmFyVllyUHZqZ0F4UVVGQWozYmR5NEVXdlhyb1hGSW42KzZDdXZ2SUk1YytiZzlPblRsMXp6eFRDYnpUaHo1a3lqWHczRGNGbFpHYVpObTRadnZ2bkdMelVTQmFNUWZ4ZEFSSFNsU0NUQUgrKy9IcSsrdkIxcjM5NkRSNmZkRExsQzV1K3kya1JJU1AyM2Q0MUc0M08vUnFQQjlkZGZqME9IRG1IQWdBRTRmUGd3S2lzck1YdjJiRVJIUnpkNUxyZmJEYnU5NlpaSUF3Y094UGZmZjQvdDI3ZmpUMy82azNDL3grT0IwK21FeStXQ1Zxc0ZVQi8yUHZqZ0E4amxjc2hrNGo4SHQ5c05wOU9KUVlNR0lTMHREUUN3Yjk4K3ZQdnV1ejdIeVdReXZQYmFhMUNwVkFDQURSczJ3R2F6UWF2Vk5ob3REUXNMRStvam90WmpnQ1Npb0JZUkdZb0hKMmRpOWNwZGVQM1ZML0hnNUQ5QUd4WG03N0t1T08rT05vb0dXeVBxOVhwWUxCWU1IandZTVRFeE9IUG1ETFp1M1lyazVHUjA3TmhSQ0ZmeDhmR1FTQ1RDODQ0Y09ZS2xTNWRlOFBWeWMzT1JtNXZiNlA3bzZHaXNYTGtTQUdDejJiQm56eDRvRklvbUEyUmRYUjFjTGhmVWFuV1RyK0YydStGd09KQ1ltQ2dFU08vN1c3Tm1EVlFxRlpZc1dlSVRDZ3NLQ3JCLy8zNEF3SklsU3hxZDg1bG5ubUdBSkxvSURKQkVGUFE2Sitzdy9ZbVJlUGV0ZlB4OTJSZTQ1ZGErR0phWmdoQjU4STFHMm13MmhJU0VDQUd3NGRhSU8zYnN3TTZkTzRYUlNiUFpESVZDQWJsY2prV0xGc0hoY01CbXMrR2RkOTZCVXFrVW51Yzkvc2tubjhTQUFRTUFBQmFMQlZhckZWcXQxdWMxYW1wcVlEQVkwS2xUSjdqZGJyaGNMdUd4Nk9ob3ZQZmVlODNXdm1qUkloUVdGdUtOTjk1bzlmdHQrTm9XaXdXRmhZV1lPWE1tZ1BwNW9ONXpqUjQ5R3ZmZmY3OXcvL3o1ODlHdlh6LzA2OWV2MWE5RlJQL0ZBRWxFN1VKQ0p5MGVmK28yYk4zeUU3WnUrUkZmNVI1RzM3UkVwUGJ0aE5nT0dtZ2lWRkFxNWY0dTg1SXRXN1lNaHc4ZkZtNW5aV1VCQVA3NjE3OGlLeXRMdUEwQWp6enlDTzY3N3o2TUdERUNBTEJ6NTA2c1diUEdaOVFTK0c5SUN3a0pnVnhlLzNlMGJkczI1T1RrWU8zYXRjSjlBSkNYbDRlY25CeTgrKzY3Q0EwTnZUSnZzb25hQU9ENzc3OUhhR2dvcnJubUdsZ3NGaXhidGd3QThOaGpqK0dOTjk2QVZDckYyTEZqc1d6Wk1xalZha3lhTk9tSzEwY1VyQmdnaWFqZENGY3JjVi9XWUdRTzc0VTl1NCtpNEtmVCtIYmZjWCtYSmZoL0QvYTY1SE5NbWpRSkhvOEhIMzMwRVg3ODhVY3NXN1lNZHJzZEhUdDJiUFU1R2w2K1B0K0pFeWVnVUNpRVJTcVZsWlUrajN2dlAzdjJMRHdlRHh3T0I3cDE2M1lSNzBTODNidDNZOUNnUWNJSTdPREJnNUdSa1lGT25UcEJKcFBoOWRkZng0NGRPeEFaR1ltRkN4Y0tjeVNKU0R3R1NDSnFkK0lUdExndmF6RGNiZzlPbjZwQ1RiVVo1ODdWd1diMWQ2dVhTMy85eE1SRUFFQjVlYm5QYmFCK0RxVDM4cTdYbWpWcnNHYk5HcC83UEI2UFQ0aDB1OTMxMVRrY1dMUm9FUlFLaFhCcGV0R2lSYjd2NEQvdGNwNTc3am00WEM1NFBKNUc1Mit0OCt1NEVMMWVqNk5IandxanFUS1pER1BIamhWcU9ubnlKRHdlRDJReUdXcHFhckJod3daY2UrMjE2TktsQzZLaW9scjlPa1JVandHU2lOb3RxVlNDNUM0eFNPNFM0KzlTQUFBRlB4NjhMT2NwS3l2RDc3Ly9EcUEraEZrc0ZvU0hoOE5vTkFJQW5uLytlU2lWU2l4Y3VCQ2pSbzNDa0NGRGZKNS9mcGp5QmtpMVdpM01ZZHk4ZVRNKytlU1RSdk1WbTd0ZnJFT0hEdUg5OTkvSEUwODhnVTZkT3JWNGZFeE1ESzY1NWhwczJMQUJBd2NPaEVxbGdzbGt3cDQ5ZTdCdDJ6WllMQlpNbVRJRmd3WU53cnAxNjdCcjF5N3MzcjBiUVAxbDhMLys5YS9vM0xuekpkVk0xSjR3UUJJUkJabjgvSHpoenkrODhBTFVhalVlZi94eEdJMUdTQ1FTZE9uU0JSS0pCRktwRkpHUmtVaElTTGpnK1p4T0p3RDR6SFgwamtDZTN4YkhHMUxkYnJmUC9FU3hhbXRyVVY1ZWpzV0xGMlB1M0xubzBhTkhpOCtaUEhreW5ucnFLYXhmdng0dWx3dTdkdTJDVkNyRkgvN3dCMHlZTUFGV3F4Vno1ODdGdEduVE1HYk1HT3pjdVJNLy9QQURwRklwd3lPUlNBeVFSRVJCeEdheklTOHZEOTI3ZDhlSkV5ZWcxV3F4Yjk4K25EaHhBdFhWMVZBb0ZNTGxiYmZialhQbnpqVUtnVEV4TVQ0TGFieTcyVFJjRk9QdEN6bDc5dXdtNjdEYjdaYzB4L0RHRzIrRVNxWEN5cFVyOGNJTEwyRHUzTG5vM2J2M0JaOFRGUldGRVNOR1lQdjI3WGptbVdlZ1ZDcVJtcHFLMk5oWW1NMW0xTmJXUXEvWG82cXFDaHFOQnBtWm1SZzZkS2lvK2FGRVZJOEJrb2dvaU96Y3VSTjFkWFhJek16RWlSTW5NSEhpUk96ZnZ4K2ZmZllaT25mdURKdk41aFA2Tm03Y2lJMGJOL3FjNDRVWFhrQ1hMbDJFMjJhekdVRDlKZXpxNm1yWWJEYmNldXV0dVAzMjI1dXR3Mkt4UUNhVCtZeGFpalY0OEdESTVYS3NXTEVDTDczMEVwNSsrdWtXUTZST3A0UEQ0VUJFUkFTNmQrOHVyTVJ1eU51WEV2RHRVMGxFcmNjQVNVUVVKQ3dXQ3padjNveGh3NFloTWpJU1FIMmdtanAxS3RMVDA2RlNxWERQUGZmZ20yKyt3UWNmZkFDcjFZcUpFeWNLQzArQStyWS81NGUrbXBvYXlPVnlSRVJFNE0wMzM4VHUzYnVGZVpMZUhwRU5PUndPeE1URVlObXlaWmNVSUFFZ0l5TURNMmZPeElvVks3QnMyVEk4Ly96emlJK1BiM1NjM1c2SFhxL0hOOTk4QTdsY2p0RFFVRVJGUmVGZi8vb1gxR28xSkJJSnFxdXJNWDM2ZE15Wk13ZlhYSE9Oc0ZzT0VZbkh2YkNKaUlKRVdGZ1loZzRkaXJ2dnZ0dm4vdXV2djE2NG5Lelg2L0hPTys5Zy9Qanh6YzVSUEg4UlRVVkZCV0ppWWlDUlNQRHd3dy9qZ3c4K3dKUXBVeUNUeWJCZ3dRS3NYYnRXK0RWbXpCaElwVkk4OXRoamw2MU56clhYWG91SEhub0l0OTEyVzdPWG00MUdJK2JObTRmaTRtSk1talFKWldWbFdMUm9FVTZmUHQzc0NtdnZQTkNHKzJZVFVldHdCSktJS0loTW1qUUpFb2tFSjArZWJQU1l3V0RBU3krOWhNVEVSQXdmUGh6cjFxM3plYnpocmpFTm5UaHhRbGhrNHQyQ01ETXpFei84OEFQKy92ZS9ZOEdDQmVqVXFSUHk4dkt3ZWZObVBQREFBK2pUcDg5bGZWODMzM3p6QlIvWDZYUjQ1cGxua0pTVUJMVmFqUysrK0FJQW10eUNjZm55NVQ2M0l5TWpzWHIxNnN0WExGRTd3QUJKUkJSRW1odHRPM255SkY1OTlWVzQzVzdNbkRuVDV6aVh5NFhQUC84Y3g0NGRBMUEva3VtbDErdHgrdlRwSmdQY1k0ODloaVZMbHVEWlo1L0ZrQ0ZEa0p1Yml3a1RKdUMyMjI2N3pPK3FlZDRXUXdDUW1wb3EvSG5Zc0dIQ3RvdGU1ODZkdzVJbFMvRFFRdzhoTlRVVkhvK24wWGFMUk5RNkRKQkVSRUdzcnE0T24zenlDYjc4OGt0MDdOZ1I4K2JOZzFhckJWRGZJOUxiWE52cGRPTEVpUlBJeXNvU0hnZUFYYnQyUVNLUllPREFnWTNPYmJWYTBiOS9meFFYRjJQWHJsMklqbzVHeDQ0ZFlUQVlFQkVSSWJwV2J4Z1UwMEM4WVlCc0tDSWlvbEVOM2t2cU9wMnV4ZFpGUkhSaERKQkVSRUhJdXpna0pDUUVIbzhIQXdZTXdOU3BVMzFHRjEwdWx6RDZObTdjdUVaekordnE2dkRsbDEraWI5KytpSXFLd29FREIxQmJXNHZUcDAranNMQVFKU1VsQ0E4UHgrMjMzNDdPblR0ajM3NTllUDMxMStGMnU2SFZhaEVYRjRmbzZHam9kRHBNbkRpeHhiNlEzbHFjVG1lckY5K0lXUVRqUFpZTFo0Z3VIUU1rRVZFUVVxbFU2TnExSzF3dUYvNzBwejlCS3BVMkd0VkxURXdVQW1WVDRTNDBOQlIvK2N0ZjRIUTZJWlBKY09qUUlYejk5ZGRJU2twQy8vNzljZi85OTZOMzc5N0N2TWliYnJvSkpwTUpSNDRjd2ZIangzSHExQ2tjUDM0Y1NVbEpyV29xUG16WU1QVHIxMC9VKzB4SVNNQXR0OXdpMUhBaGNya2N0OXh5QzZLam8wVzlCaEUxSnZGNFBCNS9GMEZFUlBWYkdhWmRrK0h2TXBwMXFidkxCTE5BLyt5SUxnZEpnNTlDK1oyQWlDaEFTS1hTWnVmMEJRS0d4Nll4V0ZON3hLOTRJcUlBSVpjcjRQalBGb0YwOVhEWTdaRExGUzBmU0JSRUdDQ0ppQUpFdUZvTm85SGc3ekpJSktQUmdIQzEydDlsRUxVcEJrZ2lvZ0NoamRLaXVxckszMldRU05YNkttaWp0QzBmU0JSRUdDQ0ppQUtFV2hNQm1VeUdLbjJsdjB1aFZxclNWMElXSW9OYUk3N3ZKZEhWakFHU2lDaUFKQ1lsbzZLOEhDYVQwZCtsVUF0TVJpTXF5c3VSbUpUczcxS0kyaHpiK0JBUkJSaXp5WVNTNGlMRXhjZERGeFByNzNLb0NWWDZTbFNVbHlPNWF6Zk9mNlIybzJFYkh3WklJcUlBWkxQWlVIcXFCQzZYQzlFNkhUU2FDTWdWQ3JhTDhSTzMydzJIM1E2ajBZRHFxaXJJWkRJa0ppVkRxVlQ2dXpTaU5zTUFTVVIwbFRBWkRhaXRxWVhaWklMRFlRL29QcEhCVENxVlFpNVhJRnl0aGpaS3l6bVAxQzR4UUJJUkVSR1JLTnlKaG9pSWlJZ3VHZ01rRVJFUkVZbkNBRWxFUkVSRW9qQkFFaEVSRVpFb0RKQkVSRVJFSkFvREpCRVJFUkdKd2dCSlJFUkVSS0l3UUJJUkVSR1JLQXlRUkVSRVJDUUtBeVFSRVJFUmljSUFTVVJFUkVTaU1FQVNFUkVSa1NnTWtFUkVSRVFrQ2dNa0VSRVJFWW5DQUVsRVJFUkVvakJBRWhFUkVaRW9ESkJFUkVSRUpBb0RKQkVSRVJHSndnQkpSRVJFUktJd1FCSVJFUkdSS0F5UVJFUkVSQ1FLQXlRUkVSRVJpY0lBU1VSRVJFU2lNRUFTRVJFUmtTZ01rRVJFUkVRa0NnTWtFUkVSRVluQ0FFbEVSRVJFb2pCQUVoRVJFWkVvREpCRVJFUkVKQW9ESkJFUkVSR0p3Z0JKUkVSRVJLSXdRQklSRVJHUktBeVFSRVJFUkNRS0F5UVJFUkVSaWNJQVNVUkVSRVNpTUVBU0VSRVJrU2dNa0VSRVJFUWtDZ01rRVJFUkVZbkNBRWxFUkVSRW9qQkFFaEVSRVpFb0RKQkVSRVJFSkFvREpCRVJFUkdKd2dCSlJFUkVSRVJFUkVSRVJFUkVSRVFCNHY4REZIaXBvOHBJVmJnQUFBQUFTVVZPUks1Q1lJST0iLAoJIlRoZW1lIiA6ICIiLAoJIlR5cGUiIDogIm1pbmQiLAoJIlZlcnNpb24iIDogIjQiCn0K"/>
    </extobj>
  </extobjs>
</s:customData>
</file>

<file path=customXml/itemProps1.xml><?xml version="1.0" encoding="utf-8"?>
<ds:datastoreItem xmlns:ds="http://schemas.openxmlformats.org/officeDocument/2006/customXml" ds:itemID="{45038814-9D43-4617-AA39-CAA8E9FD91F3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480</Words>
  <Application>Microsoft Office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JetBrains Mono</vt:lpstr>
      <vt:lpstr>方正宋刻本秀楷简体</vt:lpstr>
      <vt:lpstr>微软雅黑</vt:lpstr>
      <vt:lpstr>Arial</vt:lpstr>
      <vt:lpstr>Calibri</vt:lpstr>
      <vt:lpstr>Palatino Linotype</vt:lpstr>
      <vt:lpstr>Times New Roman</vt:lpstr>
      <vt:lpstr>Office Theme</vt:lpstr>
      <vt:lpstr>机器学习实验课5</vt:lpstr>
      <vt:lpstr>随机森林</vt:lpstr>
      <vt:lpstr>PowerPoint 演示文稿</vt:lpstr>
      <vt:lpstr>PowerPoint 演示文稿</vt:lpstr>
      <vt:lpstr>随机森林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实验任务</vt:lpstr>
      <vt:lpstr>随机森林实验任务</vt:lpstr>
      <vt:lpstr>实验步骤</vt:lpstr>
      <vt:lpstr>随机森林实验步骤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万凌鸿</cp:lastModifiedBy>
  <cp:revision>114</cp:revision>
  <dcterms:created xsi:type="dcterms:W3CDTF">2022-02-24T06:40:00Z</dcterms:created>
  <dcterms:modified xsi:type="dcterms:W3CDTF">2024-04-06T04:42:20Z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2017-05-18T08:00:00Z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2022-02-27T08:00:00Z</vt:filetime>
  </property>
  <property fmtid="{D5CDD505-2E9C-101B-9397-08002B2CF9AE}" pid="5" name="KSOProductBuildVer">
    <vt:lpwstr>2052-11.1.0.11220</vt:lpwstr>
  </property>
  <property fmtid="{D5CDD505-2E9C-101B-9397-08002B2CF9AE}" pid="6" name="ICV">
    <vt:lpwstr>3C1754F8844F470880033A6B81DFFA7C</vt:lpwstr>
  </property>
</Properties>
</file>