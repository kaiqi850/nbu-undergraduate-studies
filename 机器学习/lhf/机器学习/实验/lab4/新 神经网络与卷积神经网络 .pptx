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comments/comment1.xml" ContentType="application/vnd.openxmlformats-officedocument.presentationml.comment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312" r:id="rId2"/>
    <p:sldId id="314" r:id="rId3"/>
    <p:sldId id="316" r:id="rId4"/>
    <p:sldId id="272" r:id="rId5"/>
    <p:sldId id="281" r:id="rId6"/>
    <p:sldId id="315" r:id="rId7"/>
    <p:sldId id="313" r:id="rId8"/>
    <p:sldId id="280" r:id="rId9"/>
    <p:sldId id="284" r:id="rId10"/>
    <p:sldId id="282" r:id="rId11"/>
    <p:sldId id="270" r:id="rId12"/>
    <p:sldId id="286" r:id="rId13"/>
    <p:sldId id="321" r:id="rId14"/>
    <p:sldId id="287" r:id="rId15"/>
    <p:sldId id="300" r:id="rId16"/>
    <p:sldId id="311" r:id="rId17"/>
    <p:sldId id="266" r:id="rId18"/>
    <p:sldId id="318" r:id="rId19"/>
    <p:sldId id="277" r:id="rId20"/>
    <p:sldId id="288" r:id="rId21"/>
    <p:sldId id="317" r:id="rId22"/>
    <p:sldId id="319" r:id="rId23"/>
    <p:sldId id="279" r:id="rId24"/>
    <p:sldId id="298" r:id="rId25"/>
    <p:sldId id="301" r:id="rId26"/>
    <p:sldId id="302" r:id="rId27"/>
    <p:sldId id="303" r:id="rId28"/>
    <p:sldId id="305" r:id="rId29"/>
    <p:sldId id="306" r:id="rId30"/>
    <p:sldId id="320" r:id="rId31"/>
    <p:sldId id="304" r:id="rId32"/>
    <p:sldId id="307" r:id="rId33"/>
    <p:sldId id="309" r:id="rId34"/>
    <p:sldId id="310" r:id="rId35"/>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00">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29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17" d="100"/>
          <a:sy n="117" d="100"/>
        </p:scale>
        <p:origin x="1133" y="96"/>
      </p:cViewPr>
      <p:guideLst>
        <p:guide orient="horz" pos="220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2-03-30T23:29:06.949" idx="1">
    <p:pos x="10" y="10"/>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2024/4/18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先不看神经网络的结构与内部组织，把其看成一个函数，函数的输入是一张图像，输出是一个</a:t>
            </a:r>
            <a:r>
              <a:rPr lang="en-US" altLang="zh-CN"/>
              <a:t>one-hot</a:t>
            </a:r>
            <a:r>
              <a:rPr lang="zh-CN" altLang="en-US"/>
              <a:t>向量，每个值，这样子就把一个识别的任务转换成一个分类问题了。</a:t>
            </a:r>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先不看神经网络的结构与内部组织，把其看成一个函数，函数的输入是一张图像，输出是一个</a:t>
            </a:r>
            <a:r>
              <a:rPr lang="en-US" altLang="zh-CN"/>
              <a:t>one-hot</a:t>
            </a:r>
            <a:r>
              <a:rPr lang="zh-CN" altLang="en-US"/>
              <a:t>向量，每个值，这样子就把一个识别的任务转换成一个分类问题了。</a:t>
            </a:r>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代码： https://www.mindspore.cn/tutorials/zh-CN/r1.8/beginner/quick_start.html</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24</a:t>
            </a:fld>
            <a:endParaRPr lang="zh-CN" altLang="en-US"/>
          </a:p>
        </p:txBody>
      </p:sp>
    </p:spTree>
    <p:extLst>
      <p:ext uri="{BB962C8B-B14F-4D97-AF65-F5344CB8AC3E}">
        <p14:creationId xmlns:p14="http://schemas.microsoft.com/office/powerpoint/2010/main" val="530521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8" name="页脚占位符 7"/>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星背景">
    <p:spTree>
      <p:nvGrpSpPr>
        <p:cNvPr id="1" name=""/>
        <p:cNvGrpSpPr/>
        <p:nvPr/>
      </p:nvGrpSpPr>
      <p:grpSpPr>
        <a:xfrm>
          <a:off x="0" y="0"/>
          <a:ext cx="0" cy="0"/>
          <a:chOff x="0" y="0"/>
          <a:chExt cx="0" cy="0"/>
        </a:xfrm>
      </p:grpSpPr>
      <p:pic>
        <p:nvPicPr>
          <p:cNvPr id="3" name="Picture 3"/>
          <p:cNvPicPr>
            <a:picLocks noChangeAspect="1"/>
          </p:cNvPicPr>
          <p:nvPr userDrawn="1"/>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rot="10800000">
            <a:off x="0" y="0"/>
            <a:ext cx="9144000"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a:t>单击此处编辑母版标题样式</a:t>
            </a:r>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fontAlgn="base"/>
            <a:endParaRPr lang="zh-CN" altLang="en-US" strike="noStrike" noProof="1">
              <a:latin typeface="Arial" panose="020B0604020202020204" pitchFamily="34"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fontAlgn="base"/>
            <a:endParaRPr lang="zh-CN" altLang="en-US" strike="noStrike" noProof="1">
              <a:latin typeface="Arial" panose="020B0604020202020204" pitchFamily="34"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7.xml"/><Relationship Id="rId1" Type="http://schemas.openxmlformats.org/officeDocument/2006/relationships/tags" Target="../tags/tag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hyperlink" Target="https://space.bilibili.com/88461692/channel/series" TargetMode="External"/><Relationship Id="rId3" Type="http://schemas.openxmlformats.org/officeDocument/2006/relationships/hyperlink" Target="https://www.bilibili.com/video/BV1bx411M7Zx?spm_id_from=333.999.0.0" TargetMode="External"/><Relationship Id="rId7"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hyperlink" Target="https://talent.huaweiuniversity.com/portal/courses/HuaweiX+EBGTD9063/about" TargetMode="External"/><Relationship Id="rId5" Type="http://schemas.openxmlformats.org/officeDocument/2006/relationships/hyperlink" Target="https://www.bilibili.com/video/BV16x411V7Qg?spm_id_from=333.999.0.0" TargetMode="External"/><Relationship Id="rId4" Type="http://schemas.openxmlformats.org/officeDocument/2006/relationships/hyperlink" Target="https://mindspore.cn/resources/courses/"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7.xml"/><Relationship Id="rId1" Type="http://schemas.openxmlformats.org/officeDocument/2006/relationships/tags" Target="../tags/tag3.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hyperlink" Target="https://www.mindspore.cn/tutorials/zh-CN/r1.8/beginner/quick_start.html" TargetMode="External"/><Relationship Id="rId2" Type="http://schemas.openxmlformats.org/officeDocument/2006/relationships/hyperlink" Target="https://www.mindspore.cn/install/" TargetMode="External"/><Relationship Id="rId1" Type="http://schemas.openxmlformats.org/officeDocument/2006/relationships/slideLayout" Target="../slideLayouts/slideLayout7.xml"/><Relationship Id="rId5" Type="http://schemas.openxmlformats.org/officeDocument/2006/relationships/hyperlink" Target="https://talent.huaweiuniversity.com/portal/courses/HuaweiX+EBGTD9063/about" TargetMode="External"/><Relationship Id="rId4" Type="http://schemas.openxmlformats.org/officeDocument/2006/relationships/hyperlink" Target="https://www.mindspore.cn/tutorials/zh-CN/r2.3/index.html" TargetMode="External"/></Relationships>
</file>

<file path=ppt/slides/_rels/slide18.xml.rels><?xml version="1.0" encoding="UTF-8" standalone="yes"?>
<Relationships xmlns="http://schemas.openxmlformats.org/package/2006/relationships"><Relationship Id="rId2" Type="http://schemas.openxmlformats.org/officeDocument/2006/relationships/hyperlink" Target="https://www.mindspore.cn/install/"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comments" Target="../comments/comment1.xml"/><Relationship Id="rId2" Type="http://schemas.openxmlformats.org/officeDocument/2006/relationships/slideLayout" Target="../slideLayouts/slideLayout7.xml"/><Relationship Id="rId1" Type="http://schemas.openxmlformats.org/officeDocument/2006/relationships/tags" Target="../tags/tag4.xml"/><Relationship Id="rId6" Type="http://schemas.openxmlformats.org/officeDocument/2006/relationships/hyperlink" Target="https://www.cnblogs.com/lwp-nicol/p/14654970.html" TargetMode="External"/><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hyperlink" Target="https://www.mindspore.cn/install/" TargetMode="External"/><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hyperlink" Target="https://www.mindspore.cn/tutorials/zh-CN/r1.8/beginner/quick_start.html"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www.mindspore.cn/tutorials/zh-CN/r1.8/beginner/quick_start.html" TargetMode="External"/><Relationship Id="rId5" Type="http://schemas.openxmlformats.org/officeDocument/2006/relationships/hyperlink" Target="https://mindspore.cn/tutorials/zh-CN/r1.6/quick_start.html#%E5%88%9B%E5%BB%BA%E6%A8%A1%E5%9E%8B" TargetMode="Externa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www.mindspore.cn/tutorials/zh-CN/r1.6/optimization.html#%E6%8D%9F%E5%A4%B1%E5%87%BD%E6%95%B0" TargetMode="External"/><Relationship Id="rId1" Type="http://schemas.openxmlformats.org/officeDocument/2006/relationships/slideLayout" Target="../slideLayouts/slideLayout2.xml"/><Relationship Id="rId4" Type="http://schemas.openxmlformats.org/officeDocument/2006/relationships/hyperlink" Target="https://www.mindspore.cn/tutorials/zh-CN/r1.8/beginner/quick_start.html"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www.mindspore.cn/docs/api/zh-CN/r1.6/api_python/mindspore.nn.html?highlight=nn#optimizer-functions" TargetMode="External"/><Relationship Id="rId1" Type="http://schemas.openxmlformats.org/officeDocument/2006/relationships/slideLayout" Target="../slideLayouts/slideLayout2.xml"/><Relationship Id="rId4" Type="http://schemas.openxmlformats.org/officeDocument/2006/relationships/hyperlink" Target="https://www.mindspore.cn/tutorials/zh-CN/r1.8/beginner/quick_start.html"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www.mindspore.cn/tutorials/zh-CN/r1.8/beginner/quick_start.html" TargetMode="External"/><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www.mindspore.cn/docs/api/zh-CN/r1.6/api_python/mindspore/mindspore.Model.html?highlight=model#mindspore.Model.train&#xA;" TargetMode="External"/><Relationship Id="rId1" Type="http://schemas.openxmlformats.org/officeDocument/2006/relationships/slideLayout" Target="../slideLayouts/slideLayout2.xml"/><Relationship Id="rId5" Type="http://schemas.openxmlformats.org/officeDocument/2006/relationships/hyperlink" Target="https://www.mindspore.cn/tutorials/zh-CN/r1.8/beginner/quick_start.html" TargetMode="External"/><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www.mindspore.cn/docs/api/zh-CN/r1.6/api_python/mindspore/mindspore.Model.html?highlight=model#mindspore.Model.train"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https://www.mindspore.cn/tutorials/zh-CN/r1.8/beginner/quick_start.html" TargetMode="External"/><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mindspore.cn/docs/api/zh-CN/r1.6/api_python/mindspore.common.initializer.html?highlight=initializer#mindspore.common.initializer.Unifor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a:extLst>
              <a:ext uri="{FF2B5EF4-FFF2-40B4-BE49-F238E27FC236}">
                <a16:creationId xmlns:a16="http://schemas.microsoft.com/office/drawing/2014/main" id="{3310871E-CD0A-C512-C34D-32AA37DB1011}"/>
              </a:ext>
            </a:extLst>
          </p:cNvPr>
          <p:cNvSpPr txBox="1">
            <a:spLocks noGrp="1"/>
          </p:cNvSpPr>
          <p:nvPr/>
        </p:nvSpPr>
        <p:spPr>
          <a:xfrm>
            <a:off x="1763688" y="2983967"/>
            <a:ext cx="6222995" cy="688168"/>
          </a:xfrm>
          <a:prstGeom prst="rect">
            <a:avLst/>
          </a:prstGeom>
        </p:spPr>
        <p:txBody>
          <a:bodyPr vert="horz" wrap="square" lIns="0" tIns="10953" rIns="0" bIns="0" rtlCol="0">
            <a:spAutoFit/>
          </a:bodyPr>
          <a:lstStyle>
            <a:lvl1pPr>
              <a:defRPr sz="5300" b="0" i="0">
                <a:solidFill>
                  <a:schemeClr val="tx1"/>
                </a:solidFill>
                <a:latin typeface="微软雅黑" panose="020B0503020204020204" charset="-122"/>
                <a:ea typeface="+mj-ea"/>
                <a:cs typeface="微软雅黑" panose="020B0503020204020204" charset="-122"/>
              </a:defRPr>
            </a:lvl1pPr>
          </a:lstStyle>
          <a:p>
            <a:pPr marL="12700">
              <a:lnSpc>
                <a:spcPct val="100000"/>
              </a:lnSpc>
              <a:spcBef>
                <a:spcPts val="115"/>
              </a:spcBef>
            </a:pPr>
            <a:r>
              <a:rPr lang="zh-CN" sz="4400" b="1" spc="15" dirty="0">
                <a:ea typeface="微软雅黑" panose="020B0503020204020204" charset="-122"/>
              </a:rPr>
              <a:t>神经网络与卷积神经网络</a:t>
            </a:r>
            <a:endParaRPr lang="zh-CN" altLang="zh-CN" sz="4400" b="1" spc="15" dirty="0">
              <a:ea typeface="微软雅黑" panose="020B0503020204020204" charset="-122"/>
            </a:endParaRPr>
          </a:p>
        </p:txBody>
      </p:sp>
      <p:sp>
        <p:nvSpPr>
          <p:cNvPr id="5" name="object 4">
            <a:extLst>
              <a:ext uri="{FF2B5EF4-FFF2-40B4-BE49-F238E27FC236}">
                <a16:creationId xmlns:a16="http://schemas.microsoft.com/office/drawing/2014/main" id="{14D79522-1479-171A-A5DE-EBF3B6C4B972}"/>
              </a:ext>
            </a:extLst>
          </p:cNvPr>
          <p:cNvSpPr txBox="1"/>
          <p:nvPr/>
        </p:nvSpPr>
        <p:spPr>
          <a:xfrm>
            <a:off x="5220072" y="4005064"/>
            <a:ext cx="3377565" cy="855522"/>
          </a:xfrm>
          <a:prstGeom prst="rect">
            <a:avLst/>
          </a:prstGeom>
        </p:spPr>
        <p:txBody>
          <a:bodyPr vert="horz" wrap="square" lIns="0" tIns="12858" rIns="0" bIns="0" rtlCol="0">
            <a:spAutoFit/>
          </a:bodyPr>
          <a:lstStyle/>
          <a:p>
            <a:pPr>
              <a:lnSpc>
                <a:spcPct val="100000"/>
              </a:lnSpc>
            </a:pPr>
            <a:endParaRPr sz="1575" dirty="0">
              <a:latin typeface="Times New Roman" panose="02020603050405020304"/>
              <a:cs typeface="Times New Roman" panose="02020603050405020304"/>
            </a:endParaRPr>
          </a:p>
          <a:p>
            <a:pPr>
              <a:lnSpc>
                <a:spcPct val="100000"/>
              </a:lnSpc>
              <a:spcBef>
                <a:spcPts val="40"/>
              </a:spcBef>
            </a:pPr>
            <a:endParaRPr sz="2100" dirty="0">
              <a:latin typeface="Times New Roman" panose="02020603050405020304"/>
              <a:cs typeface="Times New Roman" panose="02020603050405020304"/>
            </a:endParaRPr>
          </a:p>
          <a:p>
            <a:pPr marR="1304290" algn="ctr">
              <a:lnSpc>
                <a:spcPct val="100000"/>
              </a:lnSpc>
            </a:pPr>
            <a:r>
              <a:rPr lang="en-US" altLang="zh-CN" sz="1800" dirty="0">
                <a:latin typeface="微软雅黑" panose="020B0503020204020204" charset="-122"/>
                <a:cs typeface="微软雅黑" panose="020B0503020204020204" charset="-122"/>
              </a:rPr>
              <a:t>    </a:t>
            </a:r>
            <a:r>
              <a:rPr sz="1800" b="1" dirty="0" err="1">
                <a:latin typeface="微软雅黑" panose="020B0503020204020204" charset="-122"/>
                <a:ea typeface="微软雅黑" panose="020B0503020204020204" charset="-122"/>
                <a:cs typeface="微软雅黑" panose="020B0503020204020204" charset="-122"/>
              </a:rPr>
              <a:t>助教</a:t>
            </a:r>
            <a:r>
              <a:rPr sz="1800" b="1" dirty="0">
                <a:latin typeface="微软雅黑" panose="020B0503020204020204" charset="-122"/>
                <a:ea typeface="微软雅黑" panose="020B0503020204020204" charset="-122"/>
                <a:cs typeface="微软雅黑" panose="020B0503020204020204" charset="-122"/>
              </a:rPr>
              <a:t>：</a:t>
            </a:r>
            <a:r>
              <a:rPr lang="zh-CN" altLang="en-US" sz="1800" b="1" dirty="0">
                <a:latin typeface="微软雅黑" panose="020B0503020204020204" charset="-122"/>
                <a:ea typeface="微软雅黑" panose="020B0503020204020204" charset="-122"/>
                <a:cs typeface="微软雅黑" panose="020B0503020204020204" charset="-122"/>
              </a:rPr>
              <a:t>万凌鸿</a:t>
            </a:r>
            <a:endParaRPr sz="1800" b="1" dirty="0">
              <a:latin typeface="微软雅黑" panose="020B0503020204020204" charset="-122"/>
              <a:cs typeface="微软雅黑" panose="020B0503020204020204" charset="-122"/>
            </a:endParaRPr>
          </a:p>
        </p:txBody>
      </p:sp>
    </p:spTree>
    <p:extLst>
      <p:ext uri="{BB962C8B-B14F-4D97-AF65-F5344CB8AC3E}">
        <p14:creationId xmlns:p14="http://schemas.microsoft.com/office/powerpoint/2010/main" val="82159796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0E6DAF40-D41B-0C35-3D94-8019166D4A4B}"/>
              </a:ext>
            </a:extLst>
          </p:cNvPr>
          <p:cNvSpPr txBox="1"/>
          <p:nvPr/>
        </p:nvSpPr>
        <p:spPr>
          <a:xfrm>
            <a:off x="1281311" y="3138557"/>
            <a:ext cx="6853158" cy="707886"/>
          </a:xfrm>
          <a:prstGeom prst="rect">
            <a:avLst/>
          </a:prstGeom>
          <a:noFill/>
        </p:spPr>
        <p:txBody>
          <a:bodyPr wrap="none" rtlCol="0" anchor="t">
            <a:spAutoFit/>
          </a:bodyPr>
          <a:lstStyle/>
          <a:p>
            <a:pPr algn="l">
              <a:buClr>
                <a:srgbClr val="C35954"/>
              </a:buClr>
              <a:buSzPct val="120000"/>
              <a:buFont typeface="Arial" panose="020B0604020202020204" pitchFamily="34" charset="0"/>
            </a:pPr>
            <a:r>
              <a:rPr lang="zh-CN" altLang="en-US" sz="4000" b="1" dirty="0">
                <a:latin typeface="微软雅黑" panose="020B0503020204020204" charset="-122"/>
                <a:ea typeface="微软雅黑" panose="020B0503020204020204" charset="-122"/>
                <a:sym typeface="+mn-ea"/>
              </a:rPr>
              <a:t>如何让神经网络识别出数字？</a:t>
            </a:r>
          </a:p>
        </p:txBody>
      </p:sp>
      <p:sp>
        <p:nvSpPr>
          <p:cNvPr id="4" name="文本框 3">
            <a:extLst>
              <a:ext uri="{FF2B5EF4-FFF2-40B4-BE49-F238E27FC236}">
                <a16:creationId xmlns:a16="http://schemas.microsoft.com/office/drawing/2014/main" id="{E5E979D9-53C9-8C97-A788-8839882D1D88}"/>
              </a:ext>
            </a:extLst>
          </p:cNvPr>
          <p:cNvSpPr txBox="1"/>
          <p:nvPr/>
        </p:nvSpPr>
        <p:spPr>
          <a:xfrm>
            <a:off x="1691680" y="4581128"/>
            <a:ext cx="6032421" cy="461665"/>
          </a:xfrm>
          <a:prstGeom prst="rect">
            <a:avLst/>
          </a:prstGeom>
          <a:noFill/>
        </p:spPr>
        <p:txBody>
          <a:bodyPr wrap="none" rtlCol="0" anchor="t">
            <a:spAutoFit/>
          </a:bodyPr>
          <a:lstStyle/>
          <a:p>
            <a:pPr algn="l">
              <a:buClr>
                <a:srgbClr val="C35954"/>
              </a:buClr>
              <a:buSzPct val="120000"/>
              <a:buFont typeface="Arial" panose="020B0604020202020204" pitchFamily="34" charset="0"/>
            </a:pPr>
            <a:r>
              <a:rPr lang="zh-CN" altLang="en-US" sz="2400" b="1" dirty="0">
                <a:solidFill>
                  <a:srgbClr val="C35954"/>
                </a:solidFill>
                <a:latin typeface="微软雅黑" panose="020B0503020204020204" charset="-122"/>
                <a:ea typeface="微软雅黑" panose="020B0503020204020204" charset="-122"/>
                <a:sym typeface="+mn-ea"/>
              </a:rPr>
              <a:t>回答：把一个识别任务转换为一个分类任务</a:t>
            </a:r>
          </a:p>
        </p:txBody>
      </p:sp>
      <p:grpSp>
        <p:nvGrpSpPr>
          <p:cNvPr id="9" name="组合 8">
            <a:extLst>
              <a:ext uri="{FF2B5EF4-FFF2-40B4-BE49-F238E27FC236}">
                <a16:creationId xmlns:a16="http://schemas.microsoft.com/office/drawing/2014/main" id="{F5F9F665-584B-8B60-D3C7-3D3BF64D1B86}"/>
              </a:ext>
            </a:extLst>
          </p:cNvPr>
          <p:cNvGrpSpPr/>
          <p:nvPr/>
        </p:nvGrpSpPr>
        <p:grpSpPr>
          <a:xfrm>
            <a:off x="971600" y="275323"/>
            <a:ext cx="6120680" cy="2361589"/>
            <a:chOff x="971600" y="275323"/>
            <a:chExt cx="6120680" cy="2361589"/>
          </a:xfrm>
        </p:grpSpPr>
        <p:pic>
          <p:nvPicPr>
            <p:cNvPr id="6" name="图片 5">
              <a:extLst>
                <a:ext uri="{FF2B5EF4-FFF2-40B4-BE49-F238E27FC236}">
                  <a16:creationId xmlns:a16="http://schemas.microsoft.com/office/drawing/2014/main" id="{085DB819-232C-6687-D92B-0821F7CB0E97}"/>
                </a:ext>
              </a:extLst>
            </p:cNvPr>
            <p:cNvPicPr>
              <a:picLocks noChangeAspect="1"/>
            </p:cNvPicPr>
            <p:nvPr/>
          </p:nvPicPr>
          <p:blipFill>
            <a:blip r:embed="rId2"/>
            <a:stretch>
              <a:fillRect/>
            </a:stretch>
          </p:blipFill>
          <p:spPr>
            <a:xfrm>
              <a:off x="971600" y="275323"/>
              <a:ext cx="2672889" cy="2361589"/>
            </a:xfrm>
            <a:prstGeom prst="rect">
              <a:avLst/>
            </a:prstGeom>
          </p:spPr>
        </p:pic>
        <p:sp>
          <p:nvSpPr>
            <p:cNvPr id="7" name="箭头: 右 6">
              <a:extLst>
                <a:ext uri="{FF2B5EF4-FFF2-40B4-BE49-F238E27FC236}">
                  <a16:creationId xmlns:a16="http://schemas.microsoft.com/office/drawing/2014/main" id="{A2CFA811-6FB9-08EF-FD1D-E3BB205D2684}"/>
                </a:ext>
              </a:extLst>
            </p:cNvPr>
            <p:cNvSpPr/>
            <p:nvPr/>
          </p:nvSpPr>
          <p:spPr>
            <a:xfrm>
              <a:off x="3843794" y="1268760"/>
              <a:ext cx="1728192" cy="57606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0AF18637-1DE1-41F2-0440-AA27F2AD8331}"/>
                </a:ext>
              </a:extLst>
            </p:cNvPr>
            <p:cNvSpPr txBox="1"/>
            <p:nvPr/>
          </p:nvSpPr>
          <p:spPr>
            <a:xfrm>
              <a:off x="6012160" y="696759"/>
              <a:ext cx="1080120" cy="1862048"/>
            </a:xfrm>
            <a:prstGeom prst="rect">
              <a:avLst/>
            </a:prstGeom>
            <a:noFill/>
          </p:spPr>
          <p:txBody>
            <a:bodyPr wrap="square" rtlCol="0">
              <a:spAutoFit/>
            </a:bodyPr>
            <a:lstStyle/>
            <a:p>
              <a:r>
                <a:rPr lang="en-US" altLang="zh-CN" sz="11500" b="1" dirty="0"/>
                <a:t>3</a:t>
              </a:r>
              <a:endParaRPr lang="zh-CN" altLang="en-US" sz="11500" b="1" dirty="0"/>
            </a:p>
          </p:txBody>
        </p:sp>
      </p:grpSp>
    </p:spTree>
    <p:extLst>
      <p:ext uri="{BB962C8B-B14F-4D97-AF65-F5344CB8AC3E}">
        <p14:creationId xmlns:p14="http://schemas.microsoft.com/office/powerpoint/2010/main" val="26809895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图片包含 图形用户界面&#10;&#10;描述已自动生成">
            <a:extLst>
              <a:ext uri="{FF2B5EF4-FFF2-40B4-BE49-F238E27FC236}">
                <a16:creationId xmlns:a16="http://schemas.microsoft.com/office/drawing/2014/main" id="{23E697BD-C8E6-0CF3-77B0-1E6E3B16C8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048" y="979872"/>
            <a:ext cx="8679904" cy="4898255"/>
          </a:xfrm>
          <a:prstGeom prst="rect">
            <a:avLst/>
          </a:prstGeom>
        </p:spPr>
      </p:pic>
      <p:sp>
        <p:nvSpPr>
          <p:cNvPr id="4" name="文本框 3">
            <a:extLst>
              <a:ext uri="{FF2B5EF4-FFF2-40B4-BE49-F238E27FC236}">
                <a16:creationId xmlns:a16="http://schemas.microsoft.com/office/drawing/2014/main" id="{613E5336-4850-C60B-D030-92D01ED4D80E}"/>
              </a:ext>
            </a:extLst>
          </p:cNvPr>
          <p:cNvSpPr txBox="1"/>
          <p:nvPr/>
        </p:nvSpPr>
        <p:spPr>
          <a:xfrm>
            <a:off x="3131840" y="116632"/>
            <a:ext cx="3168352" cy="707886"/>
          </a:xfrm>
          <a:prstGeom prst="rect">
            <a:avLst/>
          </a:prstGeom>
          <a:noFill/>
        </p:spPr>
        <p:txBody>
          <a:bodyPr wrap="square" rtlCol="0">
            <a:spAutoFit/>
          </a:bodyPr>
          <a:lstStyle/>
          <a:p>
            <a:r>
              <a:rPr lang="zh-CN" altLang="en-US" sz="4000" b="1" dirty="0">
                <a:latin typeface="微软雅黑" panose="020B0503020204020204" charset="-122"/>
                <a:ea typeface="微软雅黑" panose="020B0503020204020204" charset="-122"/>
              </a:rPr>
              <a:t>认识</a:t>
            </a:r>
            <a:r>
              <a:rPr lang="zh-CN" altLang="en-US" sz="4000" b="1" dirty="0">
                <a:solidFill>
                  <a:srgbClr val="FFC000"/>
                </a:solidFill>
                <a:latin typeface="微软雅黑" panose="020B0503020204020204" charset="-122"/>
                <a:ea typeface="微软雅黑" panose="020B0503020204020204" charset="-122"/>
              </a:rPr>
              <a:t>神经元</a:t>
            </a:r>
          </a:p>
        </p:txBody>
      </p:sp>
    </p:spTree>
    <p:extLst>
      <p:ext uri="{BB962C8B-B14F-4D97-AF65-F5344CB8AC3E}">
        <p14:creationId xmlns:p14="http://schemas.microsoft.com/office/powerpoint/2010/main" val="2240802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descr="电脑萤幕画面&#10;&#10;中度可信度描述已自动生成">
            <a:extLst>
              <a:ext uri="{FF2B5EF4-FFF2-40B4-BE49-F238E27FC236}">
                <a16:creationId xmlns:a16="http://schemas.microsoft.com/office/drawing/2014/main" id="{A6A08F8A-EC71-C68E-C355-8880BD6C05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5800" y="1268760"/>
            <a:ext cx="8172400" cy="4629702"/>
          </a:xfrm>
          <a:prstGeom prst="rect">
            <a:avLst/>
          </a:prstGeom>
        </p:spPr>
      </p:pic>
      <p:sp>
        <p:nvSpPr>
          <p:cNvPr id="38" name="文本框 37">
            <a:extLst>
              <a:ext uri="{FF2B5EF4-FFF2-40B4-BE49-F238E27FC236}">
                <a16:creationId xmlns:a16="http://schemas.microsoft.com/office/drawing/2014/main" id="{4BDF4C15-64B9-8956-7014-741C285C44A6}"/>
              </a:ext>
            </a:extLst>
          </p:cNvPr>
          <p:cNvSpPr txBox="1"/>
          <p:nvPr/>
        </p:nvSpPr>
        <p:spPr>
          <a:xfrm>
            <a:off x="3131840" y="116632"/>
            <a:ext cx="3168352" cy="707886"/>
          </a:xfrm>
          <a:prstGeom prst="rect">
            <a:avLst/>
          </a:prstGeom>
          <a:noFill/>
        </p:spPr>
        <p:txBody>
          <a:bodyPr wrap="square" rtlCol="0">
            <a:spAutoFit/>
          </a:bodyPr>
          <a:lstStyle/>
          <a:p>
            <a:r>
              <a:rPr lang="zh-CN" altLang="en-US" sz="4000" b="1" dirty="0">
                <a:latin typeface="微软雅黑" panose="020B0503020204020204" charset="-122"/>
                <a:ea typeface="微软雅黑" panose="020B0503020204020204" charset="-122"/>
              </a:rPr>
              <a:t>认识</a:t>
            </a:r>
            <a:r>
              <a:rPr lang="zh-CN" altLang="en-US" sz="4000" b="1" dirty="0">
                <a:solidFill>
                  <a:srgbClr val="FFC000"/>
                </a:solidFill>
                <a:latin typeface="微软雅黑" panose="020B0503020204020204" charset="-122"/>
                <a:ea typeface="微软雅黑" panose="020B0503020204020204" charset="-122"/>
              </a:rPr>
              <a:t>神经元</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6A845E1E-B91C-EC00-583F-3F147AB150B5}"/>
              </a:ext>
            </a:extLst>
          </p:cNvPr>
          <p:cNvGrpSpPr/>
          <p:nvPr/>
        </p:nvGrpSpPr>
        <p:grpSpPr>
          <a:xfrm>
            <a:off x="1475656" y="2348880"/>
            <a:ext cx="7236296" cy="4380300"/>
            <a:chOff x="1" y="2038401"/>
            <a:chExt cx="7236296" cy="4380300"/>
          </a:xfrm>
        </p:grpSpPr>
        <p:pic>
          <p:nvPicPr>
            <p:cNvPr id="2" name="图片 1"/>
            <p:cNvPicPr>
              <a:picLocks noChangeAspect="1"/>
            </p:cNvPicPr>
            <p:nvPr/>
          </p:nvPicPr>
          <p:blipFill rotWithShape="1">
            <a:blip r:embed="rId3"/>
            <a:srcRect t="11742"/>
            <a:stretch/>
          </p:blipFill>
          <p:spPr>
            <a:xfrm>
              <a:off x="1" y="2038401"/>
              <a:ext cx="7236296" cy="4380300"/>
            </a:xfrm>
            <a:prstGeom prst="rect">
              <a:avLst/>
            </a:prstGeom>
          </p:spPr>
        </p:pic>
        <p:pic>
          <p:nvPicPr>
            <p:cNvPr id="3" name="图片 2"/>
            <p:cNvPicPr>
              <a:picLocks noChangeAspect="1"/>
            </p:cNvPicPr>
            <p:nvPr/>
          </p:nvPicPr>
          <p:blipFill>
            <a:blip r:embed="rId4"/>
            <a:stretch>
              <a:fillRect/>
            </a:stretch>
          </p:blipFill>
          <p:spPr>
            <a:xfrm>
              <a:off x="1851026" y="3282896"/>
              <a:ext cx="2619375" cy="307975"/>
            </a:xfrm>
            <a:prstGeom prst="rect">
              <a:avLst/>
            </a:prstGeom>
          </p:spPr>
        </p:pic>
        <p:cxnSp>
          <p:nvCxnSpPr>
            <p:cNvPr id="4" name="直接箭头连接符 3"/>
            <p:cNvCxnSpPr/>
            <p:nvPr/>
          </p:nvCxnSpPr>
          <p:spPr>
            <a:xfrm flipV="1">
              <a:off x="2651484" y="3717032"/>
              <a:ext cx="318770" cy="732155"/>
            </a:xfrm>
            <a:prstGeom prst="straightConnector1">
              <a:avLst/>
            </a:prstGeom>
            <a:ln w="25400">
              <a:solidFill>
                <a:srgbClr val="DB2931"/>
              </a:solidFill>
              <a:tailEnd type="arrow"/>
            </a:ln>
          </p:spPr>
          <p:style>
            <a:lnRef idx="1">
              <a:schemeClr val="accent1"/>
            </a:lnRef>
            <a:fillRef idx="0">
              <a:schemeClr val="accent1"/>
            </a:fillRef>
            <a:effectRef idx="0">
              <a:schemeClr val="accent1"/>
            </a:effectRef>
            <a:fontRef idx="minor">
              <a:schemeClr val="tx1"/>
            </a:fontRef>
          </p:style>
        </p:cxnSp>
      </p:grpSp>
      <p:pic>
        <p:nvPicPr>
          <p:cNvPr id="7" name="图片 6">
            <a:extLst>
              <a:ext uri="{FF2B5EF4-FFF2-40B4-BE49-F238E27FC236}">
                <a16:creationId xmlns:a16="http://schemas.microsoft.com/office/drawing/2014/main" id="{505CCE0D-2268-1BD3-74C5-AEBB1DDBCE91}"/>
              </a:ext>
            </a:extLst>
          </p:cNvPr>
          <p:cNvPicPr>
            <a:picLocks noChangeAspect="1"/>
          </p:cNvPicPr>
          <p:nvPr>
            <p:custDataLst>
              <p:tags r:id="rId1"/>
            </p:custDataLst>
          </p:nvPr>
        </p:nvPicPr>
        <p:blipFill>
          <a:blip r:embed="rId5"/>
          <a:stretch>
            <a:fillRect/>
          </a:stretch>
        </p:blipFill>
        <p:spPr>
          <a:xfrm>
            <a:off x="1979712" y="796505"/>
            <a:ext cx="4110360" cy="2670709"/>
          </a:xfrm>
          <a:prstGeom prst="rect">
            <a:avLst/>
          </a:prstGeom>
        </p:spPr>
      </p:pic>
      <p:sp>
        <p:nvSpPr>
          <p:cNvPr id="8" name="文本框 7">
            <a:extLst>
              <a:ext uri="{FF2B5EF4-FFF2-40B4-BE49-F238E27FC236}">
                <a16:creationId xmlns:a16="http://schemas.microsoft.com/office/drawing/2014/main" id="{0DED0392-8C3B-11C4-9FD1-709FA7C262CB}"/>
              </a:ext>
            </a:extLst>
          </p:cNvPr>
          <p:cNvSpPr txBox="1"/>
          <p:nvPr/>
        </p:nvSpPr>
        <p:spPr>
          <a:xfrm>
            <a:off x="3131840" y="116632"/>
            <a:ext cx="3168352" cy="707886"/>
          </a:xfrm>
          <a:prstGeom prst="rect">
            <a:avLst/>
          </a:prstGeom>
          <a:noFill/>
        </p:spPr>
        <p:txBody>
          <a:bodyPr wrap="square" rtlCol="0">
            <a:spAutoFit/>
          </a:bodyPr>
          <a:lstStyle/>
          <a:p>
            <a:r>
              <a:rPr lang="zh-CN" altLang="en-US" sz="4000" b="1" dirty="0">
                <a:latin typeface="微软雅黑" panose="020B0503020204020204" charset="-122"/>
                <a:ea typeface="微软雅黑" panose="020B0503020204020204" charset="-122"/>
              </a:rPr>
              <a:t>认识</a:t>
            </a:r>
            <a:r>
              <a:rPr lang="zh-CN" altLang="en-US" sz="4000" b="1" dirty="0">
                <a:solidFill>
                  <a:srgbClr val="FFC000"/>
                </a:solidFill>
                <a:latin typeface="微软雅黑" panose="020B0503020204020204" charset="-122"/>
                <a:ea typeface="微软雅黑" panose="020B0503020204020204" charset="-122"/>
              </a:rPr>
              <a:t>神经元</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手机屏幕截图&#10;&#10;中度可信度描述已自动生成">
            <a:extLst>
              <a:ext uri="{FF2B5EF4-FFF2-40B4-BE49-F238E27FC236}">
                <a16:creationId xmlns:a16="http://schemas.microsoft.com/office/drawing/2014/main" id="{A0885E70-874C-683D-F5EA-3CEB3EB015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048" y="1196752"/>
            <a:ext cx="8279904" cy="4797270"/>
          </a:xfrm>
          <a:prstGeom prst="rect">
            <a:avLst/>
          </a:prstGeom>
        </p:spPr>
      </p:pic>
      <p:sp>
        <p:nvSpPr>
          <p:cNvPr id="4" name="文本框 3">
            <a:extLst>
              <a:ext uri="{FF2B5EF4-FFF2-40B4-BE49-F238E27FC236}">
                <a16:creationId xmlns:a16="http://schemas.microsoft.com/office/drawing/2014/main" id="{F95B7703-3435-8DB6-305A-DA18C3991168}"/>
              </a:ext>
            </a:extLst>
          </p:cNvPr>
          <p:cNvSpPr txBox="1"/>
          <p:nvPr/>
        </p:nvSpPr>
        <p:spPr>
          <a:xfrm>
            <a:off x="1043608" y="116632"/>
            <a:ext cx="6853158" cy="707886"/>
          </a:xfrm>
          <a:prstGeom prst="rect">
            <a:avLst/>
          </a:prstGeom>
          <a:noFill/>
        </p:spPr>
        <p:txBody>
          <a:bodyPr wrap="none" rtlCol="0" anchor="t">
            <a:spAutoFit/>
          </a:bodyPr>
          <a:lstStyle/>
          <a:p>
            <a:pPr algn="l">
              <a:buClr>
                <a:srgbClr val="C35954"/>
              </a:buClr>
              <a:buSzPct val="120000"/>
              <a:buFont typeface="Arial" panose="020B0604020202020204" pitchFamily="34" charset="0"/>
            </a:pPr>
            <a:r>
              <a:rPr lang="zh-CN" altLang="en-US" sz="4000" b="1" dirty="0">
                <a:latin typeface="微软雅黑" panose="020B0503020204020204" charset="-122"/>
                <a:ea typeface="微软雅黑" panose="020B0503020204020204" charset="-122"/>
                <a:sym typeface="+mn-ea"/>
              </a:rPr>
              <a:t>如何让</a:t>
            </a:r>
            <a:r>
              <a:rPr lang="zh-CN" altLang="en-US" sz="4000" b="1" dirty="0">
                <a:solidFill>
                  <a:srgbClr val="FFC000"/>
                </a:solidFill>
                <a:latin typeface="微软雅黑" panose="020B0503020204020204" charset="-122"/>
                <a:ea typeface="微软雅黑" panose="020B0503020204020204" charset="-122"/>
                <a:sym typeface="+mn-ea"/>
              </a:rPr>
              <a:t>神经网络</a:t>
            </a:r>
            <a:r>
              <a:rPr lang="zh-CN" altLang="en-US" sz="4000" b="1" dirty="0">
                <a:latin typeface="微软雅黑" panose="020B0503020204020204" charset="-122"/>
                <a:ea typeface="微软雅黑" panose="020B0503020204020204" charset="-122"/>
                <a:sym typeface="+mn-ea"/>
              </a:rPr>
              <a:t>识别出数字？</a:t>
            </a:r>
          </a:p>
        </p:txBody>
      </p:sp>
    </p:spTree>
    <p:extLst>
      <p:ext uri="{BB962C8B-B14F-4D97-AF65-F5344CB8AC3E}">
        <p14:creationId xmlns:p14="http://schemas.microsoft.com/office/powerpoint/2010/main" val="30803001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C7EAA96A-7774-11FC-6272-34F9DCFECBB3}"/>
              </a:ext>
            </a:extLst>
          </p:cNvPr>
          <p:cNvSpPr txBox="1"/>
          <p:nvPr/>
        </p:nvSpPr>
        <p:spPr>
          <a:xfrm>
            <a:off x="574675" y="828736"/>
            <a:ext cx="7938135" cy="794898"/>
          </a:xfrm>
          <a:prstGeom prst="rect">
            <a:avLst/>
          </a:prstGeom>
        </p:spPr>
        <p:txBody>
          <a:bodyPr vert="horz" wrap="square" lIns="0" tIns="12700" rIns="0" bIns="0" rtlCol="0">
            <a:spAutoFit/>
          </a:bodyPr>
          <a:lstStyle/>
          <a:p>
            <a:pPr marL="12700" marR="5080" indent="342900">
              <a:lnSpc>
                <a:spcPct val="150000"/>
              </a:lnSpc>
              <a:spcBef>
                <a:spcPts val="100"/>
              </a:spcBef>
            </a:pPr>
            <a:r>
              <a:rPr sz="1800" dirty="0">
                <a:latin typeface="微软雅黑" panose="020B0503020204020204" charset="-122"/>
                <a:ea typeface="微软雅黑" panose="020B0503020204020204" charset="-122"/>
                <a:cs typeface="微软雅黑" panose="020B0503020204020204" charset="-122"/>
              </a:rPr>
              <a:t>手写数字识别是一个</a:t>
            </a:r>
            <a:r>
              <a:rPr sz="1800" b="1" dirty="0">
                <a:solidFill>
                  <a:srgbClr val="C00000"/>
                </a:solidFill>
                <a:latin typeface="微软雅黑" panose="020B0503020204020204" charset="-122"/>
                <a:ea typeface="微软雅黑" panose="020B0503020204020204" charset="-122"/>
                <a:cs typeface="微软雅黑" panose="020B0503020204020204" charset="-122"/>
              </a:rPr>
              <a:t>多分类</a:t>
            </a:r>
            <a:r>
              <a:rPr sz="1800" dirty="0">
                <a:latin typeface="微软雅黑" panose="020B0503020204020204" charset="-122"/>
                <a:ea typeface="微软雅黑" panose="020B0503020204020204" charset="-122"/>
                <a:cs typeface="微软雅黑" panose="020B0503020204020204" charset="-122"/>
              </a:rPr>
              <a:t>问题，共</a:t>
            </a:r>
            <a:r>
              <a:rPr sz="1800" spc="5" dirty="0">
                <a:latin typeface="微软雅黑" panose="020B0503020204020204" charset="-122"/>
                <a:ea typeface="微软雅黑" panose="020B0503020204020204" charset="-122"/>
                <a:cs typeface="微软雅黑" panose="020B0503020204020204" charset="-122"/>
              </a:rPr>
              <a:t>有</a:t>
            </a:r>
            <a:r>
              <a:rPr b="1" dirty="0">
                <a:solidFill>
                  <a:srgbClr val="C00000"/>
                </a:solidFill>
                <a:latin typeface="微软雅黑" panose="020B0503020204020204" charset="-122"/>
                <a:ea typeface="微软雅黑" panose="020B0503020204020204" charset="-122"/>
              </a:rPr>
              <a:t>10</a:t>
            </a:r>
            <a:r>
              <a:rPr sz="1800" dirty="0">
                <a:latin typeface="微软雅黑" panose="020B0503020204020204" charset="-122"/>
                <a:ea typeface="微软雅黑" panose="020B0503020204020204" charset="-122"/>
                <a:cs typeface="微软雅黑" panose="020B0503020204020204" charset="-122"/>
              </a:rPr>
              <a:t>个分类，每个手写数字图像的类别标签是</a:t>
            </a:r>
            <a:r>
              <a:rPr sz="1800" spc="-5" dirty="0">
                <a:latin typeface="微软雅黑" panose="020B0503020204020204" charset="-122"/>
                <a:ea typeface="微软雅黑" panose="020B0503020204020204" charset="-122"/>
                <a:cs typeface="微软雅黑" panose="020B0503020204020204" charset="-122"/>
              </a:rPr>
              <a:t>0~9</a:t>
            </a:r>
            <a:r>
              <a:rPr sz="1800" dirty="0">
                <a:latin typeface="微软雅黑" panose="020B0503020204020204" charset="-122"/>
                <a:ea typeface="微软雅黑" panose="020B0503020204020204" charset="-122"/>
                <a:cs typeface="微软雅黑" panose="020B0503020204020204" charset="-122"/>
              </a:rPr>
              <a:t>中的其中一个数。</a:t>
            </a:r>
          </a:p>
        </p:txBody>
      </p:sp>
      <p:grpSp>
        <p:nvGrpSpPr>
          <p:cNvPr id="30" name="组合 29">
            <a:extLst>
              <a:ext uri="{FF2B5EF4-FFF2-40B4-BE49-F238E27FC236}">
                <a16:creationId xmlns:a16="http://schemas.microsoft.com/office/drawing/2014/main" id="{CC7664A7-6036-7C89-7B21-8A6020139C33}"/>
              </a:ext>
            </a:extLst>
          </p:cNvPr>
          <p:cNvGrpSpPr/>
          <p:nvPr/>
        </p:nvGrpSpPr>
        <p:grpSpPr>
          <a:xfrm>
            <a:off x="5465445" y="1623634"/>
            <a:ext cx="1706880" cy="4970408"/>
            <a:chOff x="5469705" y="2204659"/>
            <a:chExt cx="1706880" cy="4970408"/>
          </a:xfrm>
        </p:grpSpPr>
        <p:sp>
          <p:nvSpPr>
            <p:cNvPr id="10" name="文本框 9">
              <a:extLst>
                <a:ext uri="{FF2B5EF4-FFF2-40B4-BE49-F238E27FC236}">
                  <a16:creationId xmlns:a16="http://schemas.microsoft.com/office/drawing/2014/main" id="{6158C419-13FC-65D5-1167-1E7F1793565D}"/>
                </a:ext>
              </a:extLst>
            </p:cNvPr>
            <p:cNvSpPr txBox="1"/>
            <p:nvPr/>
          </p:nvSpPr>
          <p:spPr>
            <a:xfrm>
              <a:off x="5469705" y="6479875"/>
              <a:ext cx="1706880" cy="337185"/>
            </a:xfrm>
            <a:prstGeom prst="rect">
              <a:avLst/>
            </a:prstGeom>
            <a:noFill/>
          </p:spPr>
          <p:txBody>
            <a:bodyPr wrap="none" rtlCol="0" anchor="t">
              <a:spAutoFit/>
            </a:bodyPr>
            <a:lstStyle/>
            <a:p>
              <a:pPr algn="l">
                <a:buClr>
                  <a:srgbClr val="C35954"/>
                </a:buClr>
                <a:buSzPct val="120000"/>
                <a:buFont typeface="Arial" panose="020B0604020202020204" pitchFamily="34" charset="0"/>
              </a:pPr>
              <a:r>
                <a:rPr lang="zh-CN" altLang="en-US" sz="1600" b="1" dirty="0">
                  <a:ea typeface="微软雅黑" panose="020B0503020204020204" charset="-122"/>
                  <a:cs typeface="Arial" panose="020B0604020202020204" pitchFamily="34" charset="0"/>
                  <a:sym typeface="+mn-ea"/>
                </a:rPr>
                <a:t>one-hot vectors</a:t>
              </a:r>
              <a:endParaRPr lang="zh-CN" altLang="en-US" sz="1600" b="1" dirty="0">
                <a:ea typeface="微软雅黑" panose="020B0503020204020204" charset="-122"/>
                <a:cs typeface="Arial" panose="020B0604020202020204" pitchFamily="34" charset="0"/>
              </a:endParaRPr>
            </a:p>
          </p:txBody>
        </p:sp>
        <p:sp>
          <p:nvSpPr>
            <p:cNvPr id="11" name="文本框 10">
              <a:extLst>
                <a:ext uri="{FF2B5EF4-FFF2-40B4-BE49-F238E27FC236}">
                  <a16:creationId xmlns:a16="http://schemas.microsoft.com/office/drawing/2014/main" id="{9FB26FD6-4311-3E7D-C614-90E44C1EA48D}"/>
                </a:ext>
              </a:extLst>
            </p:cNvPr>
            <p:cNvSpPr txBox="1"/>
            <p:nvPr/>
          </p:nvSpPr>
          <p:spPr>
            <a:xfrm>
              <a:off x="6004193" y="2204659"/>
              <a:ext cx="664210" cy="4247317"/>
            </a:xfrm>
            <a:prstGeom prst="rect">
              <a:avLst/>
            </a:prstGeom>
            <a:noFill/>
          </p:spPr>
          <p:txBody>
            <a:bodyPr wrap="square" rtlCol="0" anchor="t">
              <a:spAutoFit/>
            </a:bodyPr>
            <a:lstStyle/>
            <a:p>
              <a:r>
                <a:rPr dirty="0">
                  <a:latin typeface="微软雅黑" panose="020B0503020204020204" charset="-122"/>
                  <a:ea typeface="微软雅黑" panose="020B0503020204020204" charset="-122"/>
                  <a:cs typeface="微软雅黑" panose="020B0503020204020204" charset="-122"/>
                  <a:sym typeface="+mn-ea"/>
                </a:rPr>
                <a:t>[</a:t>
              </a:r>
            </a:p>
            <a:p>
              <a:r>
                <a:rPr lang="en-US" dirty="0">
                  <a:latin typeface="微软雅黑" panose="020B0503020204020204" charset="-122"/>
                  <a:ea typeface="微软雅黑" panose="020B0503020204020204" charset="-122"/>
                  <a:cs typeface="微软雅黑" panose="020B0503020204020204" charset="-122"/>
                  <a:sym typeface="+mn-ea"/>
                </a:rPr>
                <a:t>0.1</a:t>
              </a:r>
              <a:r>
                <a:rPr dirty="0">
                  <a:latin typeface="微软雅黑" panose="020B0503020204020204" charset="-122"/>
                  <a:ea typeface="微软雅黑" panose="020B0503020204020204" charset="-122"/>
                  <a:cs typeface="微软雅黑" panose="020B0503020204020204" charset="-122"/>
                  <a:sym typeface="+mn-ea"/>
                </a:rPr>
                <a:t>,</a:t>
              </a:r>
            </a:p>
            <a:p>
              <a:r>
                <a:rPr dirty="0">
                  <a:latin typeface="微软雅黑" panose="020B0503020204020204" charset="-122"/>
                  <a:ea typeface="微软雅黑" panose="020B0503020204020204" charset="-122"/>
                  <a:cs typeface="微软雅黑" panose="020B0503020204020204" charset="-122"/>
                  <a:sym typeface="+mn-ea"/>
                </a:rPr>
                <a:t>0</a:t>
              </a:r>
              <a:r>
                <a:rPr lang="en-US" dirty="0">
                  <a:latin typeface="微软雅黑" panose="020B0503020204020204" charset="-122"/>
                  <a:ea typeface="微软雅黑" panose="020B0503020204020204" charset="-122"/>
                  <a:cs typeface="微软雅黑" panose="020B0503020204020204" charset="-122"/>
                  <a:sym typeface="+mn-ea"/>
                </a:rPr>
                <a:t>.1</a:t>
              </a:r>
              <a:r>
                <a:rPr dirty="0">
                  <a:latin typeface="微软雅黑" panose="020B0503020204020204" charset="-122"/>
                  <a:ea typeface="微软雅黑" panose="020B0503020204020204" charset="-122"/>
                  <a:cs typeface="微软雅黑" panose="020B0503020204020204" charset="-122"/>
                  <a:sym typeface="+mn-ea"/>
                </a:rPr>
                <a:t>,</a:t>
              </a:r>
            </a:p>
            <a:p>
              <a:r>
                <a:rPr dirty="0">
                  <a:latin typeface="微软雅黑" panose="020B0503020204020204" charset="-122"/>
                  <a:ea typeface="微软雅黑" panose="020B0503020204020204" charset="-122"/>
                  <a:cs typeface="微软雅黑" panose="020B0503020204020204" charset="-122"/>
                  <a:sym typeface="+mn-ea"/>
                </a:rPr>
                <a:t>0</a:t>
              </a:r>
              <a:r>
                <a:rPr lang="en-US" dirty="0">
                  <a:latin typeface="微软雅黑" panose="020B0503020204020204" charset="-122"/>
                  <a:ea typeface="微软雅黑" panose="020B0503020204020204" charset="-122"/>
                  <a:cs typeface="微软雅黑" panose="020B0503020204020204" charset="-122"/>
                  <a:sym typeface="+mn-ea"/>
                </a:rPr>
                <a:t>.05</a:t>
              </a:r>
              <a:r>
                <a:rPr dirty="0">
                  <a:latin typeface="微软雅黑" panose="020B0503020204020204" charset="-122"/>
                  <a:ea typeface="微软雅黑" panose="020B0503020204020204" charset="-122"/>
                  <a:cs typeface="微软雅黑" panose="020B0503020204020204" charset="-122"/>
                  <a:sym typeface="+mn-ea"/>
                </a:rPr>
                <a:t>,0</a:t>
              </a:r>
              <a:r>
                <a:rPr lang="en-US" dirty="0">
                  <a:latin typeface="微软雅黑" panose="020B0503020204020204" charset="-122"/>
                  <a:ea typeface="微软雅黑" panose="020B0503020204020204" charset="-122"/>
                  <a:cs typeface="微软雅黑" panose="020B0503020204020204" charset="-122"/>
                  <a:sym typeface="+mn-ea"/>
                </a:rPr>
                <a:t>.02</a:t>
              </a:r>
              <a:r>
                <a:rPr dirty="0">
                  <a:latin typeface="微软雅黑" panose="020B0503020204020204" charset="-122"/>
                  <a:ea typeface="微软雅黑" panose="020B0503020204020204" charset="-122"/>
                  <a:cs typeface="微软雅黑" panose="020B0503020204020204" charset="-122"/>
                  <a:sym typeface="+mn-ea"/>
                </a:rPr>
                <a:t>,</a:t>
              </a:r>
            </a:p>
            <a:p>
              <a:r>
                <a:rPr dirty="0">
                  <a:latin typeface="微软雅黑" panose="020B0503020204020204" charset="-122"/>
                  <a:ea typeface="微软雅黑" panose="020B0503020204020204" charset="-122"/>
                  <a:cs typeface="微软雅黑" panose="020B0503020204020204" charset="-122"/>
                  <a:sym typeface="+mn-ea"/>
                </a:rPr>
                <a:t>0</a:t>
              </a:r>
              <a:r>
                <a:rPr lang="en-US" dirty="0">
                  <a:latin typeface="微软雅黑" panose="020B0503020204020204" charset="-122"/>
                  <a:ea typeface="微软雅黑" panose="020B0503020204020204" charset="-122"/>
                  <a:cs typeface="微软雅黑" panose="020B0503020204020204" charset="-122"/>
                  <a:sym typeface="+mn-ea"/>
                </a:rPr>
                <a:t>.05</a:t>
              </a:r>
              <a:r>
                <a:rPr dirty="0">
                  <a:latin typeface="微软雅黑" panose="020B0503020204020204" charset="-122"/>
                  <a:ea typeface="微软雅黑" panose="020B0503020204020204" charset="-122"/>
                  <a:cs typeface="微软雅黑" panose="020B0503020204020204" charset="-122"/>
                  <a:sym typeface="+mn-ea"/>
                </a:rPr>
                <a:t>,0</a:t>
              </a:r>
              <a:r>
                <a:rPr lang="en-US" dirty="0">
                  <a:latin typeface="微软雅黑" panose="020B0503020204020204" charset="-122"/>
                  <a:ea typeface="微软雅黑" panose="020B0503020204020204" charset="-122"/>
                  <a:cs typeface="微软雅黑" panose="020B0503020204020204" charset="-122"/>
                  <a:sym typeface="+mn-ea"/>
                </a:rPr>
                <a:t>.08</a:t>
              </a:r>
              <a:r>
                <a:rPr dirty="0">
                  <a:latin typeface="微软雅黑" panose="020B0503020204020204" charset="-122"/>
                  <a:ea typeface="微软雅黑" panose="020B0503020204020204" charset="-122"/>
                  <a:cs typeface="微软雅黑" panose="020B0503020204020204" charset="-122"/>
                  <a:sym typeface="+mn-ea"/>
                </a:rPr>
                <a:t>,0</a:t>
              </a:r>
              <a:r>
                <a:rPr lang="en-US" dirty="0">
                  <a:latin typeface="微软雅黑" panose="020B0503020204020204" charset="-122"/>
                  <a:ea typeface="微软雅黑" panose="020B0503020204020204" charset="-122"/>
                  <a:cs typeface="微软雅黑" panose="020B0503020204020204" charset="-122"/>
                  <a:sym typeface="+mn-ea"/>
                </a:rPr>
                <a:t>.05</a:t>
              </a:r>
              <a:r>
                <a:rPr dirty="0">
                  <a:latin typeface="微软雅黑" panose="020B0503020204020204" charset="-122"/>
                  <a:ea typeface="微软雅黑" panose="020B0503020204020204" charset="-122"/>
                  <a:cs typeface="微软雅黑" panose="020B0503020204020204" charset="-122"/>
                  <a:sym typeface="+mn-ea"/>
                </a:rPr>
                <a:t>,</a:t>
              </a:r>
            </a:p>
            <a:p>
              <a:r>
                <a:rPr lang="en-US" dirty="0">
                  <a:solidFill>
                    <a:srgbClr val="C00000"/>
                  </a:solidFill>
                  <a:latin typeface="微软雅黑" panose="020B0503020204020204" charset="-122"/>
                  <a:ea typeface="微软雅黑" panose="020B0503020204020204" charset="-122"/>
                  <a:cs typeface="微软雅黑" panose="020B0503020204020204" charset="-122"/>
                  <a:sym typeface="+mn-ea"/>
                </a:rPr>
                <a:t>0.5</a:t>
              </a:r>
              <a:r>
                <a:rPr dirty="0">
                  <a:solidFill>
                    <a:srgbClr val="C00000"/>
                  </a:solidFill>
                  <a:latin typeface="微软雅黑" panose="020B0503020204020204" charset="-122"/>
                  <a:ea typeface="微软雅黑" panose="020B0503020204020204" charset="-122"/>
                  <a:cs typeface="微软雅黑" panose="020B0503020204020204" charset="-122"/>
                  <a:sym typeface="+mn-ea"/>
                </a:rPr>
                <a:t>,</a:t>
              </a:r>
            </a:p>
            <a:p>
              <a:r>
                <a:rPr dirty="0">
                  <a:latin typeface="微软雅黑" panose="020B0503020204020204" charset="-122"/>
                  <a:ea typeface="微软雅黑" panose="020B0503020204020204" charset="-122"/>
                  <a:cs typeface="微软雅黑" panose="020B0503020204020204" charset="-122"/>
                  <a:sym typeface="+mn-ea"/>
                </a:rPr>
                <a:t>0</a:t>
              </a:r>
              <a:r>
                <a:rPr lang="en-US" dirty="0">
                  <a:latin typeface="微软雅黑" panose="020B0503020204020204" charset="-122"/>
                  <a:ea typeface="微软雅黑" panose="020B0503020204020204" charset="-122"/>
                  <a:cs typeface="微软雅黑" panose="020B0503020204020204" charset="-122"/>
                  <a:sym typeface="+mn-ea"/>
                </a:rPr>
                <a:t>.03</a:t>
              </a:r>
              <a:r>
                <a:rPr dirty="0">
                  <a:latin typeface="微软雅黑" panose="020B0503020204020204" charset="-122"/>
                  <a:ea typeface="微软雅黑" panose="020B0503020204020204" charset="-122"/>
                  <a:cs typeface="微软雅黑" panose="020B0503020204020204" charset="-122"/>
                  <a:sym typeface="+mn-ea"/>
                </a:rPr>
                <a:t>,0</a:t>
              </a:r>
              <a:r>
                <a:rPr lang="en-US" dirty="0">
                  <a:latin typeface="微软雅黑" panose="020B0503020204020204" charset="-122"/>
                  <a:ea typeface="微软雅黑" panose="020B0503020204020204" charset="-122"/>
                  <a:cs typeface="微软雅黑" panose="020B0503020204020204" charset="-122"/>
                  <a:sym typeface="+mn-ea"/>
                </a:rPr>
                <a:t>.07</a:t>
              </a:r>
              <a:r>
                <a:rPr dirty="0">
                  <a:latin typeface="微软雅黑" panose="020B0503020204020204" charset="-122"/>
                  <a:ea typeface="微软雅黑" panose="020B0503020204020204" charset="-122"/>
                  <a:cs typeface="微软雅黑" panose="020B0503020204020204" charset="-122"/>
                  <a:sym typeface="+mn-ea"/>
                </a:rPr>
                <a:t>,</a:t>
              </a:r>
            </a:p>
            <a:p>
              <a:r>
                <a:rPr dirty="0">
                  <a:latin typeface="微软雅黑" panose="020B0503020204020204" charset="-122"/>
                  <a:ea typeface="微软雅黑" panose="020B0503020204020204" charset="-122"/>
                  <a:cs typeface="微软雅黑" panose="020B0503020204020204" charset="-122"/>
                  <a:sym typeface="+mn-ea"/>
                </a:rPr>
                <a:t>]</a:t>
              </a:r>
            </a:p>
          </p:txBody>
        </p:sp>
        <p:sp>
          <p:nvSpPr>
            <p:cNvPr id="13" name="TextBox 14">
              <a:extLst>
                <a:ext uri="{FF2B5EF4-FFF2-40B4-BE49-F238E27FC236}">
                  <a16:creationId xmlns:a16="http://schemas.microsoft.com/office/drawing/2014/main" id="{274749F7-7C13-549B-278F-2011DEC7FCF3}"/>
                </a:ext>
              </a:extLst>
            </p:cNvPr>
            <p:cNvSpPr txBox="1"/>
            <p:nvPr/>
          </p:nvSpPr>
          <p:spPr>
            <a:xfrm>
              <a:off x="5647384" y="6837882"/>
              <a:ext cx="1510665" cy="337185"/>
            </a:xfrm>
            <a:prstGeom prst="rect">
              <a:avLst/>
            </a:prstGeom>
          </p:spPr>
          <p:txBody>
            <a:bodyPr wrap="square" rtlCol="0" anchor="t">
              <a:spAutoFit/>
            </a:bodyPr>
            <a:lstStyle/>
            <a:p>
              <a:pPr>
                <a:buClr>
                  <a:srgbClr val="C35954"/>
                </a:buClr>
                <a:buSzPct val="120000"/>
                <a:buFont typeface="Arial" panose="020B0604020202020204" pitchFamily="34" charset="0"/>
              </a:pPr>
              <a:r>
                <a:rPr lang="zh-CN" altLang="en-US" sz="1600" b="1" dirty="0">
                  <a:latin typeface="微软雅黑" panose="020B0503020204020204" charset="-122"/>
                  <a:ea typeface="微软雅黑" panose="020B0503020204020204" charset="-122"/>
                </a:rPr>
                <a:t>神经网络输出</a:t>
              </a:r>
              <a:endParaRPr lang="en-US" altLang="zh-CN" sz="1600" b="1" dirty="0">
                <a:latin typeface="微软雅黑" panose="020B0503020204020204" charset="-122"/>
                <a:ea typeface="微软雅黑" panose="020B0503020204020204" charset="-122"/>
              </a:endParaRPr>
            </a:p>
          </p:txBody>
        </p:sp>
      </p:grpSp>
      <p:cxnSp>
        <p:nvCxnSpPr>
          <p:cNvPr id="15" name="Google Shape;3241;p51">
            <a:extLst>
              <a:ext uri="{FF2B5EF4-FFF2-40B4-BE49-F238E27FC236}">
                <a16:creationId xmlns:a16="http://schemas.microsoft.com/office/drawing/2014/main" id="{944DEEEF-34B8-C923-5FCC-21372885BA35}"/>
              </a:ext>
            </a:extLst>
          </p:cNvPr>
          <p:cNvCxnSpPr/>
          <p:nvPr/>
        </p:nvCxnSpPr>
        <p:spPr>
          <a:xfrm>
            <a:off x="5147945" y="4542790"/>
            <a:ext cx="647700" cy="0"/>
          </a:xfrm>
          <a:prstGeom prst="straightConnector1">
            <a:avLst/>
          </a:prstGeom>
          <a:noFill/>
          <a:ln w="31750" cap="flat" cmpd="sng">
            <a:solidFill>
              <a:schemeClr val="bg1"/>
            </a:solidFill>
            <a:prstDash val="solid"/>
            <a:round/>
            <a:headEnd type="none" w="med" len="med"/>
            <a:tailEnd type="triangle" w="med" len="med"/>
          </a:ln>
        </p:spPr>
      </p:cxnSp>
      <p:grpSp>
        <p:nvGrpSpPr>
          <p:cNvPr id="32" name="组合 31">
            <a:extLst>
              <a:ext uri="{FF2B5EF4-FFF2-40B4-BE49-F238E27FC236}">
                <a16:creationId xmlns:a16="http://schemas.microsoft.com/office/drawing/2014/main" id="{4D8FD1F0-4C78-451E-A47B-AE994344ABAF}"/>
              </a:ext>
            </a:extLst>
          </p:cNvPr>
          <p:cNvGrpSpPr/>
          <p:nvPr/>
        </p:nvGrpSpPr>
        <p:grpSpPr>
          <a:xfrm>
            <a:off x="-47559" y="2514072"/>
            <a:ext cx="5974966" cy="3239601"/>
            <a:chOff x="19389" y="3057452"/>
            <a:chExt cx="5974966" cy="3239601"/>
          </a:xfrm>
        </p:grpSpPr>
        <p:grpSp>
          <p:nvGrpSpPr>
            <p:cNvPr id="26" name="组合 25">
              <a:extLst>
                <a:ext uri="{FF2B5EF4-FFF2-40B4-BE49-F238E27FC236}">
                  <a16:creationId xmlns:a16="http://schemas.microsoft.com/office/drawing/2014/main" id="{037B027D-D89C-0E03-C5CC-92E05821B01D}"/>
                </a:ext>
              </a:extLst>
            </p:cNvPr>
            <p:cNvGrpSpPr/>
            <p:nvPr/>
          </p:nvGrpSpPr>
          <p:grpSpPr>
            <a:xfrm>
              <a:off x="1664925" y="3057452"/>
              <a:ext cx="4329430" cy="3239601"/>
              <a:chOff x="1664925" y="3057452"/>
              <a:chExt cx="4329430" cy="3239601"/>
            </a:xfrm>
          </p:grpSpPr>
          <p:sp>
            <p:nvSpPr>
              <p:cNvPr id="12" name="TextBox 14">
                <a:extLst>
                  <a:ext uri="{FF2B5EF4-FFF2-40B4-BE49-F238E27FC236}">
                    <a16:creationId xmlns:a16="http://schemas.microsoft.com/office/drawing/2014/main" id="{FA4AC5E9-5618-E349-6862-E1DFB11CFF59}"/>
                  </a:ext>
                </a:extLst>
              </p:cNvPr>
              <p:cNvSpPr txBox="1"/>
              <p:nvPr/>
            </p:nvSpPr>
            <p:spPr>
              <a:xfrm>
                <a:off x="3141663" y="5959868"/>
                <a:ext cx="1510665" cy="337185"/>
              </a:xfrm>
              <a:prstGeom prst="rect">
                <a:avLst/>
              </a:prstGeom>
            </p:spPr>
            <p:txBody>
              <a:bodyPr wrap="square" rtlCol="0" anchor="t">
                <a:spAutoFit/>
              </a:bodyPr>
              <a:lstStyle/>
              <a:p>
                <a:pPr>
                  <a:buClr>
                    <a:srgbClr val="C35954"/>
                  </a:buClr>
                  <a:buSzPct val="120000"/>
                  <a:buFont typeface="Arial" panose="020B0604020202020204" pitchFamily="34" charset="0"/>
                </a:pPr>
                <a:r>
                  <a:rPr lang="zh-CN" altLang="en-US" sz="1600" b="1" dirty="0">
                    <a:solidFill>
                      <a:schemeClr val="tx1">
                        <a:lumMod val="50000"/>
                        <a:lumOff val="50000"/>
                      </a:schemeClr>
                    </a:solidFill>
                    <a:latin typeface="微软雅黑" panose="020B0503020204020204" charset="-122"/>
                    <a:ea typeface="微软雅黑" panose="020B0503020204020204" charset="-122"/>
                  </a:rPr>
                  <a:t>神经网络模型</a:t>
                </a:r>
                <a:endParaRPr lang="en-US" altLang="zh-CN" sz="1600" b="1" dirty="0">
                  <a:solidFill>
                    <a:schemeClr val="tx1">
                      <a:lumMod val="50000"/>
                      <a:lumOff val="50000"/>
                    </a:schemeClr>
                  </a:solidFill>
                  <a:latin typeface="微软雅黑" panose="020B0503020204020204" charset="-122"/>
                  <a:ea typeface="微软雅黑" panose="020B0503020204020204" charset="-122"/>
                </a:endParaRPr>
              </a:p>
            </p:txBody>
          </p:sp>
          <p:pic>
            <p:nvPicPr>
              <p:cNvPr id="16" name="图片 15">
                <a:extLst>
                  <a:ext uri="{FF2B5EF4-FFF2-40B4-BE49-F238E27FC236}">
                    <a16:creationId xmlns:a16="http://schemas.microsoft.com/office/drawing/2014/main" id="{AA0EDF01-1373-55A6-8014-B62D91F31F10}"/>
                  </a:ext>
                </a:extLst>
              </p:cNvPr>
              <p:cNvPicPr>
                <a:picLocks noChangeAspect="1"/>
              </p:cNvPicPr>
              <p:nvPr>
                <p:custDataLst>
                  <p:tags r:id="rId1"/>
                </p:custDataLst>
              </p:nvPr>
            </p:nvPicPr>
            <p:blipFill>
              <a:blip r:embed="rId3"/>
              <a:stretch>
                <a:fillRect/>
              </a:stretch>
            </p:blipFill>
            <p:spPr>
              <a:xfrm>
                <a:off x="1664925" y="3057452"/>
                <a:ext cx="4329430" cy="2813050"/>
              </a:xfrm>
              <a:prstGeom prst="rect">
                <a:avLst/>
              </a:prstGeom>
            </p:spPr>
          </p:pic>
        </p:grpSp>
        <p:sp>
          <p:nvSpPr>
            <p:cNvPr id="17" name="TextBox 14">
              <a:extLst>
                <a:ext uri="{FF2B5EF4-FFF2-40B4-BE49-F238E27FC236}">
                  <a16:creationId xmlns:a16="http://schemas.microsoft.com/office/drawing/2014/main" id="{F4DCA5C7-9642-579F-2CF4-08AE8D0F5FD2}"/>
                </a:ext>
              </a:extLst>
            </p:cNvPr>
            <p:cNvSpPr txBox="1"/>
            <p:nvPr/>
          </p:nvSpPr>
          <p:spPr>
            <a:xfrm>
              <a:off x="19389" y="4046445"/>
              <a:ext cx="1619250" cy="829945"/>
            </a:xfrm>
            <a:prstGeom prst="rect">
              <a:avLst/>
            </a:prstGeom>
          </p:spPr>
          <p:txBody>
            <a:bodyPr wrap="square" rtlCol="0" anchor="t">
              <a:spAutoFit/>
            </a:bodyPr>
            <a:lstStyle/>
            <a:p>
              <a:pPr>
                <a:buClr>
                  <a:srgbClr val="C35954"/>
                </a:buClr>
                <a:buSzPct val="120000"/>
                <a:buFont typeface="Arial" panose="020B0604020202020204" pitchFamily="34" charset="0"/>
              </a:pPr>
              <a:r>
                <a:rPr lang="zh-CN" altLang="en-US" sz="1600" b="1" dirty="0">
                  <a:latin typeface="微软雅黑" panose="020B0503020204020204" charset="-122"/>
                  <a:ea typeface="微软雅黑" panose="020B0503020204020204" charset="-122"/>
                </a:rPr>
                <a:t>神经网络的输入</a:t>
              </a:r>
              <a:r>
                <a:rPr lang="en-US" altLang="zh-CN" sz="1600" b="1" dirty="0">
                  <a:latin typeface="微软雅黑" panose="020B0503020204020204" charset="-122"/>
                  <a:ea typeface="微软雅黑" panose="020B0503020204020204" charset="-122"/>
                </a:rPr>
                <a:t>:</a:t>
              </a:r>
            </a:p>
            <a:p>
              <a:pPr>
                <a:buClr>
                  <a:srgbClr val="C35954"/>
                </a:buClr>
                <a:buSzPct val="120000"/>
                <a:buFont typeface="Arial" panose="020B0604020202020204" pitchFamily="34" charset="0"/>
              </a:pPr>
              <a:endParaRPr lang="en-US" altLang="zh-CN" sz="1600" b="1" dirty="0">
                <a:latin typeface="微软雅黑" panose="020B0503020204020204" charset="-122"/>
                <a:ea typeface="微软雅黑" panose="020B0503020204020204" charset="-122"/>
              </a:endParaRPr>
            </a:p>
            <a:p>
              <a:pPr>
                <a:buClr>
                  <a:srgbClr val="C35954"/>
                </a:buClr>
                <a:buSzPct val="120000"/>
                <a:buFont typeface="Arial" panose="020B0604020202020204" pitchFamily="34" charset="0"/>
              </a:pPr>
              <a:r>
                <a:rPr lang="en-US" altLang="zh-CN" sz="1600" b="1" dirty="0">
                  <a:latin typeface="微软雅黑" panose="020B0503020204020204" charset="-122"/>
                  <a:ea typeface="微软雅黑" panose="020B0503020204020204" charset="-122"/>
                </a:rPr>
                <a:t>28x28</a:t>
              </a:r>
              <a:r>
                <a:rPr lang="zh-CN" altLang="en-US" sz="1600" b="1" dirty="0">
                  <a:latin typeface="微软雅黑" panose="020B0503020204020204" charset="-122"/>
                  <a:ea typeface="微软雅黑" panose="020B0503020204020204" charset="-122"/>
                </a:rPr>
                <a:t>的图像</a:t>
              </a:r>
            </a:p>
          </p:txBody>
        </p:sp>
      </p:grpSp>
      <p:cxnSp>
        <p:nvCxnSpPr>
          <p:cNvPr id="18" name="Google Shape;3241;p51">
            <a:extLst>
              <a:ext uri="{FF2B5EF4-FFF2-40B4-BE49-F238E27FC236}">
                <a16:creationId xmlns:a16="http://schemas.microsoft.com/office/drawing/2014/main" id="{BB894287-80EC-234C-C34A-6A34FAE6B081}"/>
              </a:ext>
            </a:extLst>
          </p:cNvPr>
          <p:cNvCxnSpPr/>
          <p:nvPr/>
        </p:nvCxnSpPr>
        <p:spPr>
          <a:xfrm flipV="1">
            <a:off x="6819900" y="4509135"/>
            <a:ext cx="704850" cy="6985"/>
          </a:xfrm>
          <a:prstGeom prst="straightConnector1">
            <a:avLst/>
          </a:prstGeom>
          <a:noFill/>
          <a:ln w="31750" cap="flat" cmpd="sng">
            <a:solidFill>
              <a:schemeClr val="bg1"/>
            </a:solidFill>
            <a:prstDash val="solid"/>
            <a:round/>
            <a:headEnd type="none" w="med" len="med"/>
            <a:tailEnd type="triangle" w="med" len="med"/>
          </a:ln>
        </p:spPr>
      </p:cxnSp>
      <p:grpSp>
        <p:nvGrpSpPr>
          <p:cNvPr id="31" name="组合 30">
            <a:extLst>
              <a:ext uri="{FF2B5EF4-FFF2-40B4-BE49-F238E27FC236}">
                <a16:creationId xmlns:a16="http://schemas.microsoft.com/office/drawing/2014/main" id="{0A4EBA6C-7AAB-B0E6-467F-72561AA83C6C}"/>
              </a:ext>
            </a:extLst>
          </p:cNvPr>
          <p:cNvGrpSpPr/>
          <p:nvPr/>
        </p:nvGrpSpPr>
        <p:grpSpPr>
          <a:xfrm>
            <a:off x="6809558" y="2424836"/>
            <a:ext cx="2230120" cy="3533775"/>
            <a:chOff x="6788150" y="3019425"/>
            <a:chExt cx="2230120" cy="3533775"/>
          </a:xfrm>
        </p:grpSpPr>
        <p:sp>
          <p:nvSpPr>
            <p:cNvPr id="14" name="文本框 13">
              <a:extLst>
                <a:ext uri="{FF2B5EF4-FFF2-40B4-BE49-F238E27FC236}">
                  <a16:creationId xmlns:a16="http://schemas.microsoft.com/office/drawing/2014/main" id="{1675BDCC-7C0E-34CE-C1F9-229D497CBD8D}"/>
                </a:ext>
              </a:extLst>
            </p:cNvPr>
            <p:cNvSpPr txBox="1"/>
            <p:nvPr/>
          </p:nvSpPr>
          <p:spPr>
            <a:xfrm>
              <a:off x="7659099" y="4895266"/>
              <a:ext cx="433705" cy="583565"/>
            </a:xfrm>
            <a:prstGeom prst="rect">
              <a:avLst/>
            </a:prstGeom>
            <a:noFill/>
          </p:spPr>
          <p:txBody>
            <a:bodyPr wrap="none" rtlCol="0">
              <a:spAutoFit/>
            </a:bodyPr>
            <a:lstStyle/>
            <a:p>
              <a:r>
                <a:rPr lang="en-US" altLang="zh-CN" sz="3200" b="1" dirty="0">
                  <a:solidFill>
                    <a:srgbClr val="C00000"/>
                  </a:solidFill>
                  <a:latin typeface="微软雅黑" panose="020B0503020204020204" charset="-122"/>
                  <a:ea typeface="微软雅黑" panose="020B0503020204020204" charset="-122"/>
                </a:rPr>
                <a:t>7</a:t>
              </a:r>
            </a:p>
          </p:txBody>
        </p:sp>
        <p:sp>
          <p:nvSpPr>
            <p:cNvPr id="19" name="文本框 18">
              <a:extLst>
                <a:ext uri="{FF2B5EF4-FFF2-40B4-BE49-F238E27FC236}">
                  <a16:creationId xmlns:a16="http://schemas.microsoft.com/office/drawing/2014/main" id="{8129A7C6-D90D-6189-9847-DCD7738111B5}"/>
                </a:ext>
              </a:extLst>
            </p:cNvPr>
            <p:cNvSpPr txBox="1"/>
            <p:nvPr/>
          </p:nvSpPr>
          <p:spPr>
            <a:xfrm>
              <a:off x="8512810" y="3019425"/>
              <a:ext cx="393700" cy="3046095"/>
            </a:xfrm>
            <a:prstGeom prst="rect">
              <a:avLst/>
            </a:prstGeom>
            <a:noFill/>
          </p:spPr>
          <p:txBody>
            <a:bodyPr wrap="square" rtlCol="0" anchor="t">
              <a:spAutoFit/>
            </a:bodyPr>
            <a:lstStyle/>
            <a:p>
              <a:r>
                <a:rPr sz="1600" spc="-5" dirty="0">
                  <a:latin typeface="微软雅黑" panose="020B0503020204020204" charset="-122"/>
                  <a:cs typeface="微软雅黑" panose="020B0503020204020204" charset="-122"/>
                  <a:sym typeface="+mn-ea"/>
                </a:rPr>
                <a:t>[</a:t>
              </a:r>
            </a:p>
            <a:p>
              <a:r>
                <a:rPr lang="en-US" sz="1600" spc="-5" dirty="0">
                  <a:latin typeface="微软雅黑" panose="020B0503020204020204" charset="-122"/>
                  <a:cs typeface="微软雅黑" panose="020B0503020204020204" charset="-122"/>
                  <a:sym typeface="+mn-ea"/>
                </a:rPr>
                <a:t>0</a:t>
              </a:r>
              <a:r>
                <a:rPr sz="1600" spc="-5" dirty="0">
                  <a:latin typeface="微软雅黑" panose="020B0503020204020204" charset="-122"/>
                  <a:cs typeface="微软雅黑" panose="020B0503020204020204" charset="-122"/>
                  <a:sym typeface="+mn-ea"/>
                </a:rPr>
                <a:t>,0,0,0,0,0,0,</a:t>
              </a:r>
              <a:r>
                <a:rPr lang="en-US" sz="1600" spc="-5" dirty="0">
                  <a:solidFill>
                    <a:srgbClr val="C00000"/>
                  </a:solidFill>
                  <a:latin typeface="微软雅黑" panose="020B0503020204020204" charset="-122"/>
                  <a:cs typeface="微软雅黑" panose="020B0503020204020204" charset="-122"/>
                  <a:sym typeface="+mn-ea"/>
                </a:rPr>
                <a:t>1</a:t>
              </a:r>
              <a:r>
                <a:rPr sz="1600" spc="-5" dirty="0">
                  <a:solidFill>
                    <a:srgbClr val="C00000"/>
                  </a:solidFill>
                  <a:latin typeface="微软雅黑" panose="020B0503020204020204" charset="-122"/>
                  <a:cs typeface="微软雅黑" panose="020B0503020204020204" charset="-122"/>
                  <a:sym typeface="+mn-ea"/>
                </a:rPr>
                <a:t>,</a:t>
              </a:r>
              <a:r>
                <a:rPr sz="1600" spc="-5" dirty="0">
                  <a:latin typeface="微软雅黑" panose="020B0503020204020204" charset="-122"/>
                  <a:cs typeface="微软雅黑" panose="020B0503020204020204" charset="-122"/>
                  <a:sym typeface="+mn-ea"/>
                </a:rPr>
                <a:t>0,0,</a:t>
              </a:r>
            </a:p>
            <a:p>
              <a:r>
                <a:rPr sz="1600" spc="-5" dirty="0">
                  <a:latin typeface="微软雅黑" panose="020B0503020204020204" charset="-122"/>
                  <a:cs typeface="微软雅黑" panose="020B0503020204020204" charset="-122"/>
                  <a:sym typeface="+mn-ea"/>
                </a:rPr>
                <a:t>]</a:t>
              </a:r>
              <a:endParaRPr lang="zh-CN" altLang="en-US" sz="1600" spc="-5" dirty="0">
                <a:latin typeface="微软雅黑" panose="020B0503020204020204" charset="-122"/>
                <a:cs typeface="微软雅黑" panose="020B0503020204020204" charset="-122"/>
                <a:sym typeface="+mn-ea"/>
              </a:endParaRPr>
            </a:p>
          </p:txBody>
        </p:sp>
        <p:sp>
          <p:nvSpPr>
            <p:cNvPr id="20" name="TextBox 14">
              <a:extLst>
                <a:ext uri="{FF2B5EF4-FFF2-40B4-BE49-F238E27FC236}">
                  <a16:creationId xmlns:a16="http://schemas.microsoft.com/office/drawing/2014/main" id="{8A72A8C8-D0E1-77D4-4B4F-0943362DEF26}"/>
                </a:ext>
              </a:extLst>
            </p:cNvPr>
            <p:cNvSpPr txBox="1"/>
            <p:nvPr/>
          </p:nvSpPr>
          <p:spPr>
            <a:xfrm>
              <a:off x="8315960" y="6216015"/>
              <a:ext cx="702310" cy="337185"/>
            </a:xfrm>
            <a:prstGeom prst="rect">
              <a:avLst/>
            </a:prstGeom>
          </p:spPr>
          <p:txBody>
            <a:bodyPr wrap="square" rtlCol="0" anchor="t">
              <a:spAutoFit/>
            </a:bodyPr>
            <a:lstStyle/>
            <a:p>
              <a:pPr algn="l">
                <a:buClr>
                  <a:srgbClr val="C35954"/>
                </a:buClr>
                <a:buSzPct val="120000"/>
                <a:buFont typeface="Arial" panose="020B0604020202020204" pitchFamily="34" charset="0"/>
              </a:pPr>
              <a:r>
                <a:rPr lang="zh-CN" altLang="en-US" sz="1600" b="1">
                  <a:ea typeface="微软雅黑" panose="020B0503020204020204" charset="-122"/>
                  <a:cs typeface="Arial" panose="020B0604020202020204" pitchFamily="34" charset="0"/>
                </a:rPr>
                <a:t>label</a:t>
              </a:r>
            </a:p>
          </p:txBody>
        </p:sp>
        <p:cxnSp>
          <p:nvCxnSpPr>
            <p:cNvPr id="27" name="Google Shape;3241;p51">
              <a:extLst>
                <a:ext uri="{FF2B5EF4-FFF2-40B4-BE49-F238E27FC236}">
                  <a16:creationId xmlns:a16="http://schemas.microsoft.com/office/drawing/2014/main" id="{E801AF8C-1BF6-19BD-CF37-B655805A2A44}"/>
                </a:ext>
              </a:extLst>
            </p:cNvPr>
            <p:cNvCxnSpPr/>
            <p:nvPr/>
          </p:nvCxnSpPr>
          <p:spPr>
            <a:xfrm flipV="1">
              <a:off x="6788150" y="5136789"/>
              <a:ext cx="704850" cy="6985"/>
            </a:xfrm>
            <a:prstGeom prst="straightConnector1">
              <a:avLst/>
            </a:prstGeom>
            <a:noFill/>
            <a:ln w="31750" cap="flat" cmpd="sng">
              <a:solidFill>
                <a:schemeClr val="tx1"/>
              </a:solidFill>
              <a:prstDash val="solid"/>
              <a:round/>
              <a:headEnd type="none" w="med" len="med"/>
              <a:tailEnd type="triangle" w="med" len="med"/>
            </a:ln>
          </p:spPr>
        </p:cxnSp>
      </p:grpSp>
      <p:sp>
        <p:nvSpPr>
          <p:cNvPr id="28" name="Rectangle 1">
            <a:extLst>
              <a:ext uri="{FF2B5EF4-FFF2-40B4-BE49-F238E27FC236}">
                <a16:creationId xmlns:a16="http://schemas.microsoft.com/office/drawing/2014/main" id="{D0B87399-5E05-6F49-F86E-A863BA2B4B04}"/>
              </a:ext>
            </a:extLst>
          </p:cNvPr>
          <p:cNvSpPr/>
          <p:nvPr/>
        </p:nvSpPr>
        <p:spPr>
          <a:xfrm>
            <a:off x="2169542" y="55104"/>
            <a:ext cx="4498340"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object 3">
            <a:extLst>
              <a:ext uri="{FF2B5EF4-FFF2-40B4-BE49-F238E27FC236}">
                <a16:creationId xmlns:a16="http://schemas.microsoft.com/office/drawing/2014/main" id="{46982305-6160-FF75-3393-B4C0768561D2}"/>
              </a:ext>
            </a:extLst>
          </p:cNvPr>
          <p:cNvSpPr txBox="1">
            <a:spLocks noGrp="1"/>
          </p:cNvSpPr>
          <p:nvPr/>
        </p:nvSpPr>
        <p:spPr>
          <a:xfrm>
            <a:off x="2278762" y="135749"/>
            <a:ext cx="4279900" cy="318135"/>
          </a:xfrm>
          <a:prstGeom prst="rect">
            <a:avLst/>
          </a:prstGeom>
          <a:noFill/>
          <a:ln w="9525">
            <a:noFill/>
          </a:ln>
        </p:spPr>
        <p:txBody>
          <a:bodyPr vert="horz" wrap="square" lIns="0" tIns="10953" rIns="0" bIns="0" rtlCol="0" anchor="ctr" anchorCtr="0">
            <a:spAutoFit/>
          </a:bodyP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神经网络学习</a:t>
            </a:r>
            <a:r>
              <a:rPr lang="en-US" altLang="zh-CN" sz="2000" spc="15" dirty="0">
                <a:solidFill>
                  <a:schemeClr val="bg1"/>
                </a:solidFill>
                <a:latin typeface="微软雅黑" panose="020B0503020204020204" charset="-122"/>
                <a:ea typeface="微软雅黑" panose="020B0503020204020204" charset="-122"/>
                <a:cs typeface="微软雅黑" panose="020B0503020204020204" charset="-122"/>
              </a:rPr>
              <a:t>——</a:t>
            </a: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以手写数字为例</a:t>
            </a:r>
          </a:p>
        </p:txBody>
      </p:sp>
    </p:spTree>
    <p:extLst>
      <p:ext uri="{BB962C8B-B14F-4D97-AF65-F5344CB8AC3E}">
        <p14:creationId xmlns:p14="http://schemas.microsoft.com/office/powerpoint/2010/main" val="14032817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par>
                                <p:cTn id="8" presetID="3" presetClass="entr" presetSubtype="1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blinds(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500"/>
                                        <p:tgtEl>
                                          <p:spTgt spid="3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500"/>
                                        <p:tgtEl>
                                          <p:spTgt spid="3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1"/>
      <p:bldP spid="11" grpId="1"/>
      <p:bldP spid="13" grpId="1"/>
      <p:bldP spid="12" grpId="1"/>
      <p:bldP spid="17" grpId="1"/>
      <p:bldP spid="14" grpId="1"/>
      <p:bldP spid="19" grpId="1"/>
      <p:bldP spid="20"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
          <p:cNvSpPr/>
          <p:nvPr/>
        </p:nvSpPr>
        <p:spPr>
          <a:xfrm>
            <a:off x="0" y="188595"/>
            <a:ext cx="4498340"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nSpc>
                <a:spcPct val="100000"/>
              </a:lnSpc>
              <a:spcBef>
                <a:spcPts val="115"/>
              </a:spcBef>
            </a:pPr>
            <a:r>
              <a:rPr spc="15" dirty="0">
                <a:solidFill>
                  <a:schemeClr val="bg1"/>
                </a:solidFill>
                <a:latin typeface="微软雅黑" panose="020B0503020204020204" charset="-122"/>
                <a:ea typeface="微软雅黑" panose="020B0503020204020204" charset="-122"/>
                <a:cs typeface="微软雅黑" panose="020B0503020204020204" charset="-122"/>
                <a:sym typeface="+mn-ea"/>
              </a:rPr>
              <a:t>Softmax</a:t>
            </a:r>
            <a:r>
              <a:rPr dirty="0">
                <a:solidFill>
                  <a:schemeClr val="bg1"/>
                </a:solidFill>
                <a:latin typeface="微软雅黑" panose="020B0503020204020204" charset="-122"/>
                <a:ea typeface="微软雅黑" panose="020B0503020204020204" charset="-122"/>
                <a:cs typeface="微软雅黑" panose="020B0503020204020204" charset="-122"/>
                <a:sym typeface="+mn-ea"/>
              </a:rPr>
              <a:t>函数</a:t>
            </a:r>
            <a:endParaRPr lang="en-US" spc="15"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2" name="文本框 1"/>
          <p:cNvSpPr txBox="1"/>
          <p:nvPr/>
        </p:nvSpPr>
        <p:spPr>
          <a:xfrm>
            <a:off x="611560" y="980728"/>
            <a:ext cx="8172772" cy="1477328"/>
          </a:xfrm>
          <a:prstGeom prst="rect">
            <a:avLst/>
          </a:prstGeom>
          <a:noFill/>
        </p:spPr>
        <p:txBody>
          <a:bodyPr wrap="square" rtlCol="0" anchor="t">
            <a:spAutoFit/>
          </a:bodyPr>
          <a:lstStyle/>
          <a:p>
            <a:r>
              <a:rPr sz="1800" dirty="0" err="1">
                <a:solidFill>
                  <a:schemeClr val="tx1"/>
                </a:solidFill>
                <a:latin typeface="微软雅黑" panose="020B0503020204020204" charset="-122"/>
                <a:ea typeface="微软雅黑" panose="020B0503020204020204" charset="-122"/>
                <a:cs typeface="微软雅黑" panose="020B0503020204020204" charset="-122"/>
              </a:rPr>
              <a:t>Softmax函数是深度学习的基础，它是神经网络进行多分类时，默认放在</a:t>
            </a:r>
            <a:r>
              <a:rPr lang="zh-CN" altLang="en-US" sz="1800" b="1" dirty="0">
                <a:solidFill>
                  <a:srgbClr val="C35954"/>
                </a:solidFill>
                <a:latin typeface="微软雅黑" panose="020B0503020204020204" charset="-122"/>
                <a:ea typeface="微软雅黑" panose="020B0503020204020204" charset="-122"/>
              </a:rPr>
              <a:t>输出层</a:t>
            </a:r>
            <a:r>
              <a:rPr sz="1800" dirty="0" err="1">
                <a:solidFill>
                  <a:schemeClr val="tx1"/>
                </a:solidFill>
                <a:latin typeface="微软雅黑" panose="020B0503020204020204" charset="-122"/>
                <a:ea typeface="微软雅黑" panose="020B0503020204020204" charset="-122"/>
                <a:cs typeface="微软雅黑" panose="020B0503020204020204" charset="-122"/>
              </a:rPr>
              <a:t>中处理数据的函数</a:t>
            </a:r>
            <a:r>
              <a:rPr sz="1800" dirty="0">
                <a:solidFill>
                  <a:schemeClr val="tx1"/>
                </a:solidFill>
                <a:latin typeface="微软雅黑" panose="020B0503020204020204" charset="-122"/>
                <a:ea typeface="微软雅黑" panose="020B0503020204020204" charset="-122"/>
                <a:cs typeface="微软雅黑" panose="020B0503020204020204" charset="-122"/>
              </a:rPr>
              <a:t>。</a:t>
            </a:r>
            <a:endParaRPr lang="en-US" sz="1800" dirty="0">
              <a:solidFill>
                <a:schemeClr val="tx1"/>
              </a:solidFill>
              <a:latin typeface="微软雅黑" panose="020B0503020204020204" charset="-122"/>
              <a:ea typeface="微软雅黑" panose="020B0503020204020204" charset="-122"/>
              <a:cs typeface="微软雅黑" panose="020B0503020204020204" charset="-122"/>
            </a:endParaRPr>
          </a:p>
          <a:p>
            <a:endParaRPr lang="en-US" dirty="0">
              <a:latin typeface="微软雅黑" panose="020B0503020204020204" charset="-122"/>
              <a:ea typeface="微软雅黑" panose="020B0503020204020204" charset="-122"/>
              <a:cs typeface="微软雅黑" panose="020B0503020204020204" charset="-122"/>
            </a:endParaRPr>
          </a:p>
          <a:p>
            <a:r>
              <a:rPr sz="1800" dirty="0">
                <a:solidFill>
                  <a:schemeClr val="tx1"/>
                </a:solidFill>
                <a:latin typeface="微软雅黑" panose="020B0503020204020204" charset="-122"/>
                <a:ea typeface="微软雅黑" panose="020B0503020204020204" charset="-122"/>
                <a:cs typeface="微软雅黑" panose="020B0503020204020204" charset="-122"/>
              </a:rPr>
              <a:t>假设现在神经网络是用于三分类数据，序号则分别是分类1、分类2和分类3。则使用softmax函数的神经网络的模型会如下所示：</a:t>
            </a:r>
          </a:p>
        </p:txBody>
      </p:sp>
      <p:pic>
        <p:nvPicPr>
          <p:cNvPr id="4" name="图片 3"/>
          <p:cNvPicPr>
            <a:picLocks noChangeAspect="1"/>
          </p:cNvPicPr>
          <p:nvPr/>
        </p:nvPicPr>
        <p:blipFill>
          <a:blip r:embed="rId2"/>
          <a:stretch>
            <a:fillRect/>
          </a:stretch>
        </p:blipFill>
        <p:spPr>
          <a:xfrm>
            <a:off x="1043608" y="2852936"/>
            <a:ext cx="7512741" cy="293066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
          <p:cNvSpPr/>
          <p:nvPr/>
        </p:nvSpPr>
        <p:spPr>
          <a:xfrm>
            <a:off x="0" y="188595"/>
            <a:ext cx="4498340"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object 3"/>
          <p:cNvSpPr txBox="1">
            <a:spLocks noGrp="1"/>
          </p:cNvSpPr>
          <p:nvPr/>
        </p:nvSpPr>
        <p:spPr>
          <a:xfrm>
            <a:off x="109220" y="269240"/>
            <a:ext cx="4279900" cy="318135"/>
          </a:xfrm>
          <a:prstGeom prst="rect">
            <a:avLst/>
          </a:prstGeom>
          <a:noFill/>
          <a:ln w="9525">
            <a:noFill/>
          </a:ln>
        </p:spPr>
        <p:txBody>
          <a:bodyPr vert="horz" wrap="square" lIns="0" tIns="10953" rIns="0" bIns="0" rtlCol="0" anchor="ctr" anchorCtr="0">
            <a:spAutoFit/>
          </a:bodyP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神经网络学习</a:t>
            </a:r>
            <a:r>
              <a:rPr lang="en-US" altLang="zh-CN" sz="2000" spc="15" dirty="0">
                <a:solidFill>
                  <a:schemeClr val="bg1"/>
                </a:solidFill>
                <a:latin typeface="微软雅黑" panose="020B0503020204020204" charset="-122"/>
                <a:ea typeface="微软雅黑" panose="020B0503020204020204" charset="-122"/>
                <a:cs typeface="微软雅黑" panose="020B0503020204020204" charset="-122"/>
              </a:rPr>
              <a:t>——</a:t>
            </a: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以手写数字为例</a:t>
            </a:r>
          </a:p>
        </p:txBody>
      </p:sp>
      <p:sp>
        <p:nvSpPr>
          <p:cNvPr id="45" name="文本框 44"/>
          <p:cNvSpPr txBox="1"/>
          <p:nvPr/>
        </p:nvSpPr>
        <p:spPr>
          <a:xfrm>
            <a:off x="4932045" y="264795"/>
            <a:ext cx="2568332" cy="338554"/>
          </a:xfrm>
          <a:prstGeom prst="rect">
            <a:avLst/>
          </a:prstGeom>
          <a:noFill/>
        </p:spPr>
        <p:txBody>
          <a:bodyPr wrap="none" rtlCol="0" anchor="t">
            <a:spAutoFit/>
          </a:bodyPr>
          <a:lstStyle/>
          <a:p>
            <a:pPr algn="l">
              <a:buClr>
                <a:srgbClr val="C35954"/>
              </a:buClr>
              <a:buSzPct val="120000"/>
              <a:buFont typeface="Arial" panose="020B0604020202020204" pitchFamily="34" charset="0"/>
            </a:pPr>
            <a:r>
              <a:rPr lang="zh-CN" altLang="en-US" sz="1600" b="1" dirty="0">
                <a:solidFill>
                  <a:srgbClr val="C35954"/>
                </a:solidFill>
                <a:latin typeface="微软雅黑" panose="020B0503020204020204" charset="-122"/>
                <a:ea typeface="微软雅黑" panose="020B0503020204020204" charset="-122"/>
                <a:sym typeface="+mn-ea"/>
              </a:rPr>
              <a:t>提问</a:t>
            </a:r>
            <a:r>
              <a:rPr lang="en-US" altLang="zh-CN" sz="1600" b="1" dirty="0">
                <a:solidFill>
                  <a:srgbClr val="C35954"/>
                </a:solidFill>
                <a:latin typeface="微软雅黑" panose="020B0503020204020204" charset="-122"/>
                <a:ea typeface="微软雅黑" panose="020B0503020204020204" charset="-122"/>
                <a:sym typeface="+mn-ea"/>
              </a:rPr>
              <a:t>2</a:t>
            </a:r>
            <a:r>
              <a:rPr lang="zh-CN" altLang="en-US" sz="1600" b="1" dirty="0">
                <a:solidFill>
                  <a:srgbClr val="C35954"/>
                </a:solidFill>
                <a:latin typeface="微软雅黑" panose="020B0503020204020204" charset="-122"/>
                <a:ea typeface="微软雅黑" panose="020B0503020204020204" charset="-122"/>
                <a:sym typeface="+mn-ea"/>
              </a:rPr>
              <a:t>：隐藏层有什么用？</a:t>
            </a:r>
          </a:p>
        </p:txBody>
      </p:sp>
      <p:pic>
        <p:nvPicPr>
          <p:cNvPr id="3" name="图片 2" descr="图示&#10;&#10;描述已自动生成">
            <a:extLst>
              <a:ext uri="{FF2B5EF4-FFF2-40B4-BE49-F238E27FC236}">
                <a16:creationId xmlns:a16="http://schemas.microsoft.com/office/drawing/2014/main" id="{3259A68D-2EEA-000B-DD55-6EEFFC467C1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1488" y="1158676"/>
            <a:ext cx="7668344" cy="485187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
          <p:cNvSpPr>
            <a:spLocks/>
          </p:cNvSpPr>
          <p:nvPr/>
        </p:nvSpPr>
        <p:spPr>
          <a:xfrm>
            <a:off x="3128645" y="222347"/>
            <a:ext cx="241998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23" name="Picture 22"/>
          <p:cNvPicPr>
            <a:picLocks noChangeAspect="1"/>
          </p:cNvPicPr>
          <p:nvPr/>
        </p:nvPicPr>
        <p:blipFill rotWithShape="1">
          <a:blip r:embed="rId2">
            <a:extLst>
              <a:ext uri="{28A0092B-C50C-407E-A947-70E740481C1C}">
                <a14:useLocalDpi xmlns:a14="http://schemas.microsoft.com/office/drawing/2010/main" val="0"/>
              </a:ext>
            </a:extLst>
          </a:blip>
          <a:srcRect t="-9357" r="1755" b="21301"/>
          <a:stretch>
            <a:fillRect/>
          </a:stretch>
        </p:blipFill>
        <p:spPr>
          <a:xfrm flipH="1">
            <a:off x="107950" y="2301875"/>
            <a:ext cx="9037320" cy="4556125"/>
          </a:xfrm>
          <a:prstGeom prst="rect">
            <a:avLst/>
          </a:prstGeom>
        </p:spPr>
      </p:pic>
      <p:sp>
        <p:nvSpPr>
          <p:cNvPr id="7" name="灯片编号占位符 6"/>
          <p:cNvSpPr>
            <a:spLocks noGrp="1"/>
          </p:cNvSpPr>
          <p:nvPr>
            <p:ph type="sldNum" sz="quarter" idx="12"/>
          </p:nvPr>
        </p:nvSpPr>
        <p:spPr/>
        <p:txBody>
          <a:bodyPr/>
          <a:lstStyle/>
          <a:p>
            <a:fld id="{B6F15528-21DE-4FAA-801E-634DDDAF4B2B}" type="slidenum">
              <a:rPr sz="1050"/>
              <a:t>10</a:t>
            </a:fld>
            <a:endParaRPr sz="1050"/>
          </a:p>
        </p:txBody>
      </p:sp>
      <p:sp>
        <p:nvSpPr>
          <p:cNvPr id="9" name="object 3"/>
          <p:cNvSpPr txBox="1">
            <a:spLocks noGrp="1"/>
          </p:cNvSpPr>
          <p:nvPr>
            <p:ph type="title" idx="4294967295"/>
          </p:nvPr>
        </p:nvSpPr>
        <p:spPr>
          <a:xfrm>
            <a:off x="3223734" y="303309"/>
            <a:ext cx="2116138" cy="317500"/>
          </a:xfrm>
          <a:prstGeom prst="rect">
            <a:avLst/>
          </a:prstGeom>
        </p:spPr>
        <p:txBody>
          <a:bodyPr vert="horz" wrap="square" lIns="0" tIns="10953" rIns="0" bIns="0" rtlCol="0">
            <a:spAutoFit/>
          </a:bodyPr>
          <a:lstStyle/>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神经网络基础巩固</a:t>
            </a:r>
          </a:p>
        </p:txBody>
      </p:sp>
      <p:sp>
        <p:nvSpPr>
          <p:cNvPr id="6" name="文本框 1"/>
          <p:cNvSpPr txBox="1"/>
          <p:nvPr/>
        </p:nvSpPr>
        <p:spPr>
          <a:xfrm>
            <a:off x="1115695" y="980440"/>
            <a:ext cx="7926070" cy="1476375"/>
          </a:xfrm>
          <a:prstGeom prst="rect">
            <a:avLst/>
          </a:prstGeom>
          <a:noFill/>
          <a:ln w="9525">
            <a:noFill/>
          </a:ln>
        </p:spPr>
        <p:txBody>
          <a:bodyPr wrap="square" anchor="t" anchorCtr="0">
            <a:spAutoFit/>
          </a:bodyPr>
          <a:lstStyle/>
          <a:p>
            <a:pPr marL="285750" indent="-285750">
              <a:buFont typeface="Arial" panose="020B0604020202020204" pitchFamily="34" charset="0"/>
              <a:buChar char="•"/>
            </a:pPr>
            <a:r>
              <a:rPr>
                <a:latin typeface="微软雅黑" panose="020B0503020204020204" charset="-122"/>
                <a:ea typeface="微软雅黑" panose="020B0503020204020204" charset="-122"/>
                <a:cs typeface="微软雅黑" panose="020B0503020204020204" charset="-122"/>
              </a:rPr>
              <a:t>【官方双语】深度学习之神经网络的结构 Part 1 </a:t>
            </a:r>
            <a:r>
              <a:rPr lang="en-US" altLang="zh-CN">
                <a:latin typeface="微软雅黑" panose="020B0503020204020204" charset="-122"/>
                <a:ea typeface="微软雅黑" panose="020B0503020204020204" charset="-122"/>
                <a:cs typeface="微软雅黑" panose="020B0503020204020204" charset="-122"/>
              </a:rPr>
              <a:t>   </a:t>
            </a:r>
            <a:r>
              <a:rPr lang="zh-CN" altLang="en-US">
                <a:latin typeface="微软雅黑" panose="020B0503020204020204" charset="-122"/>
                <a:ea typeface="微软雅黑" panose="020B0503020204020204" charset="-122"/>
                <a:sym typeface="+mn-ea"/>
              </a:rPr>
              <a:t>👍</a:t>
            </a:r>
            <a:r>
              <a:rPr lang="en-US" altLang="zh-CN">
                <a:latin typeface="微软雅黑" panose="020B0503020204020204" charset="-122"/>
                <a:ea typeface="微软雅黑" panose="020B0503020204020204" charset="-122"/>
                <a:sym typeface="+mn-ea"/>
              </a:rPr>
              <a:t> </a:t>
            </a:r>
            <a:r>
              <a:rPr lang="en-US" altLang="zh-CN">
                <a:latin typeface="微软雅黑" panose="020B0503020204020204" charset="-122"/>
                <a:ea typeface="微软雅黑" panose="020B0503020204020204" charset="-122"/>
                <a:cs typeface="微软雅黑" panose="020B0503020204020204" charset="-122"/>
                <a:hlinkClick r:id="rId3" action="ppaction://hlinkfile">
                  <a:extLst>
                    <a:ext uri="{A12FA001-AC4F-418D-AE19-62706E023703}">
                      <ahyp:hlinkClr xmlns:ahyp="http://schemas.microsoft.com/office/drawing/2018/hyperlinkcolor" val="tx"/>
                    </a:ext>
                  </a:extLst>
                </a:hlinkClick>
              </a:rPr>
              <a:t>传送门</a:t>
            </a:r>
            <a:endParaRPr lang="en-US" altLang="zh-CN">
              <a:latin typeface="微软雅黑" panose="020B0503020204020204" charset="-122"/>
              <a:ea typeface="微软雅黑" panose="020B0503020204020204" charset="-122"/>
              <a:cs typeface="微软雅黑" panose="020B0503020204020204" charset="-122"/>
              <a:hlinkClick r:id="rId4" action="ppaction://hlinkfile">
                <a:extLst>
                  <a:ext uri="{A12FA001-AC4F-418D-AE19-62706E023703}">
                    <ahyp:hlinkClr xmlns:ahyp="http://schemas.microsoft.com/office/drawing/2018/hyperlinkcolor" val="tx"/>
                  </a:ext>
                </a:extLst>
              </a:hlinkClick>
            </a:endParaRPr>
          </a:p>
          <a:p>
            <a:pPr marL="285750" indent="-285750">
              <a:buFont typeface="Arial" panose="020B0604020202020204" pitchFamily="34" charset="0"/>
              <a:buChar char="•"/>
            </a:pPr>
            <a:endParaRPr lang="zh-CN" altLang="en-US">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r>
              <a:rPr>
                <a:latin typeface="微软雅黑" panose="020B0503020204020204" charset="-122"/>
                <a:ea typeface="微软雅黑" panose="020B0503020204020204" charset="-122"/>
                <a:cs typeface="微软雅黑" panose="020B0503020204020204" charset="-122"/>
                <a:sym typeface="+mn-ea"/>
              </a:rPr>
              <a:t>【官方双语】深度学习之梯度下降法 Part 2 </a:t>
            </a:r>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sym typeface="+mn-ea"/>
              </a:rPr>
              <a:t>👍</a:t>
            </a:r>
            <a:r>
              <a:rPr lang="en-US" altLang="zh-CN">
                <a:latin typeface="微软雅黑" panose="020B0503020204020204" charset="-122"/>
                <a:ea typeface="微软雅黑" panose="020B0503020204020204" charset="-122"/>
                <a:sym typeface="+mn-ea"/>
              </a:rPr>
              <a:t> </a:t>
            </a:r>
            <a:r>
              <a:rPr lang="en-US" altLang="zh-CN">
                <a:latin typeface="微软雅黑" panose="020B0503020204020204" charset="-122"/>
                <a:ea typeface="微软雅黑" panose="020B0503020204020204" charset="-122"/>
                <a:cs typeface="微软雅黑" panose="020B0503020204020204" charset="-122"/>
                <a:sym typeface="+mn-ea"/>
                <a:hlinkClick r:id="rId3" action="ppaction://hlinkfile">
                  <a:extLst>
                    <a:ext uri="{A12FA001-AC4F-418D-AE19-62706E023703}">
                      <ahyp:hlinkClr xmlns:ahyp="http://schemas.microsoft.com/office/drawing/2018/hyperlinkcolor" val="tx"/>
                    </a:ext>
                  </a:extLst>
                </a:hlinkClick>
              </a:rPr>
              <a:t>传送门</a:t>
            </a:r>
            <a:endParaRPr lang="en-US" altLang="zh-CN">
              <a:latin typeface="微软雅黑" panose="020B0503020204020204" charset="-122"/>
              <a:ea typeface="微软雅黑" panose="020B0503020204020204" charset="-122"/>
              <a:cs typeface="微软雅黑" panose="020B0503020204020204" charset="-122"/>
              <a:hlinkClick r:id="rId4" action="ppaction://hlinkfile">
                <a:extLst>
                  <a:ext uri="{A12FA001-AC4F-418D-AE19-62706E023703}">
                    <ahyp:hlinkClr xmlns:ahyp="http://schemas.microsoft.com/office/drawing/2018/hyperlinkcolor" val="tx"/>
                  </a:ext>
                </a:extLst>
              </a:hlinkClick>
            </a:endParaRPr>
          </a:p>
          <a:p>
            <a:pPr marL="285750" indent="-285750">
              <a:buFont typeface="Arial" panose="020B0604020202020204" pitchFamily="34" charset="0"/>
              <a:buChar char="•"/>
            </a:pPr>
            <a:endParaRPr lang="en-US" altLang="zh-CN">
              <a:latin typeface="微软雅黑" panose="020B0503020204020204" charset="-122"/>
              <a:ea typeface="微软雅黑" panose="020B0503020204020204" charset="-122"/>
              <a:cs typeface="微软雅黑" panose="020B0503020204020204" charset="-122"/>
              <a:sym typeface="+mn-ea"/>
            </a:endParaRPr>
          </a:p>
          <a:p>
            <a:pPr marL="285750" indent="-285750">
              <a:buFont typeface="Arial" panose="020B0604020202020204" pitchFamily="34" charset="0"/>
              <a:buChar char="•"/>
            </a:pPr>
            <a:r>
              <a:rPr>
                <a:latin typeface="微软雅黑" panose="020B0503020204020204" charset="-122"/>
                <a:ea typeface="微软雅黑" panose="020B0503020204020204" charset="-122"/>
                <a:cs typeface="微软雅黑" panose="020B0503020204020204" charset="-122"/>
                <a:sym typeface="+mn-ea"/>
              </a:rPr>
              <a:t>【官方双语】深度学习之反向传播算法 上/下 Part 3 </a:t>
            </a:r>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sym typeface="+mn-ea"/>
              </a:rPr>
              <a:t>👍</a:t>
            </a:r>
            <a:r>
              <a:rPr lang="en-US" altLang="zh-CN">
                <a:latin typeface="微软雅黑" panose="020B0503020204020204" charset="-122"/>
                <a:ea typeface="微软雅黑" panose="020B0503020204020204" charset="-122"/>
                <a:sym typeface="+mn-ea"/>
              </a:rPr>
              <a:t> </a:t>
            </a:r>
            <a:r>
              <a:rPr lang="en-US" altLang="zh-CN">
                <a:latin typeface="微软雅黑" panose="020B0503020204020204" charset="-122"/>
                <a:ea typeface="微软雅黑" panose="020B0503020204020204" charset="-122"/>
                <a:cs typeface="微软雅黑" panose="020B0503020204020204" charset="-122"/>
                <a:sym typeface="+mn-ea"/>
                <a:hlinkClick r:id="rId5" action="ppaction://hlinkfile">
                  <a:extLst>
                    <a:ext uri="{A12FA001-AC4F-418D-AE19-62706E023703}">
                      <ahyp:hlinkClr xmlns:ahyp="http://schemas.microsoft.com/office/drawing/2018/hyperlinkcolor" val="tx"/>
                    </a:ext>
                  </a:extLst>
                </a:hlinkClick>
              </a:rPr>
              <a:t>传送门</a:t>
            </a:r>
            <a:endParaRPr lang="en-US" altLang="zh-CN">
              <a:latin typeface="微软雅黑" panose="020B0503020204020204" charset="-122"/>
              <a:ea typeface="微软雅黑" panose="020B0503020204020204" charset="-122"/>
              <a:cs typeface="微软雅黑" panose="020B0503020204020204" charset="-122"/>
              <a:sym typeface="+mn-ea"/>
              <a:hlinkClick r:id="rId6" action="ppaction://hlinkfile">
                <a:extLst>
                  <a:ext uri="{A12FA001-AC4F-418D-AE19-62706E023703}">
                    <ahyp:hlinkClr xmlns:ahyp="http://schemas.microsoft.com/office/drawing/2018/hyperlinkcolor" val="tx"/>
                  </a:ext>
                </a:extLst>
              </a:hlinkClick>
            </a:endParaRPr>
          </a:p>
        </p:txBody>
      </p:sp>
      <p:pic>
        <p:nvPicPr>
          <p:cNvPr id="2" name="图片 1"/>
          <p:cNvPicPr>
            <a:picLocks noChangeAspect="1"/>
          </p:cNvPicPr>
          <p:nvPr/>
        </p:nvPicPr>
        <p:blipFill>
          <a:blip r:embed="rId7"/>
          <a:stretch>
            <a:fillRect/>
          </a:stretch>
        </p:blipFill>
        <p:spPr>
          <a:xfrm>
            <a:off x="1619885" y="2708910"/>
            <a:ext cx="5519420" cy="2620010"/>
          </a:xfrm>
          <a:prstGeom prst="rect">
            <a:avLst/>
          </a:prstGeom>
        </p:spPr>
      </p:pic>
      <p:sp>
        <p:nvSpPr>
          <p:cNvPr id="3" name="文本框 2"/>
          <p:cNvSpPr txBox="1"/>
          <p:nvPr/>
        </p:nvSpPr>
        <p:spPr>
          <a:xfrm>
            <a:off x="7139305" y="2708910"/>
            <a:ext cx="1231427" cy="369332"/>
          </a:xfrm>
          <a:prstGeom prst="rect">
            <a:avLst/>
          </a:prstGeom>
          <a:noFill/>
        </p:spPr>
        <p:txBody>
          <a:bodyPr wrap="none" rtlCol="0">
            <a:spAutoFit/>
          </a:bodyPr>
          <a:lstStyle/>
          <a:p>
            <a:pPr algn="l"/>
            <a:r>
              <a:rPr lang="zh-CN" altLang="en-US">
                <a:latin typeface="微软雅黑" panose="020B0503020204020204" charset="-122"/>
                <a:ea typeface="微软雅黑" panose="020B0503020204020204" charset="-122"/>
                <a:sym typeface="+mn-ea"/>
              </a:rPr>
              <a:t>👍</a:t>
            </a:r>
            <a:r>
              <a:rPr lang="en-US" altLang="zh-CN">
                <a:latin typeface="微软雅黑" panose="020B0503020204020204" charset="-122"/>
                <a:ea typeface="微软雅黑" panose="020B0503020204020204" charset="-122"/>
                <a:sym typeface="+mn-ea"/>
              </a:rPr>
              <a:t> </a:t>
            </a:r>
            <a:r>
              <a:rPr lang="en-US" altLang="zh-CN">
                <a:latin typeface="微软雅黑" panose="020B0503020204020204" charset="-122"/>
                <a:ea typeface="微软雅黑" panose="020B0503020204020204" charset="-122"/>
                <a:cs typeface="微软雅黑" panose="020B0503020204020204" charset="-122"/>
                <a:sym typeface="+mn-ea"/>
                <a:hlinkClick r:id="rId8" action="ppaction://hlinkfile">
                  <a:extLst>
                    <a:ext uri="{A12FA001-AC4F-418D-AE19-62706E023703}">
                      <ahyp:hlinkClr xmlns:ahyp="http://schemas.microsoft.com/office/drawing/2018/hyperlinkcolor" val="tx"/>
                    </a:ext>
                  </a:extLst>
                </a:hlinkClick>
              </a:rPr>
              <a:t>传送门</a:t>
            </a:r>
            <a:endParaRPr lang="zh-CN" alt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
          <p:cNvSpPr/>
          <p:nvPr/>
        </p:nvSpPr>
        <p:spPr>
          <a:xfrm>
            <a:off x="3275856" y="191679"/>
            <a:ext cx="276034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 name="灯片编号占位符 6"/>
          <p:cNvSpPr>
            <a:spLocks noGrp="1"/>
          </p:cNvSpPr>
          <p:nvPr>
            <p:ph type="sldNum" sz="quarter" idx="12"/>
          </p:nvPr>
        </p:nvSpPr>
        <p:spPr/>
        <p:txBody>
          <a:bodyPr/>
          <a:lstStyle/>
          <a:p>
            <a:fld id="{B6F15528-21DE-4FAA-801E-634DDDAF4B2B}" type="slidenum">
              <a:rPr sz="1050"/>
              <a:t>11</a:t>
            </a:fld>
            <a:endParaRPr sz="1050"/>
          </a:p>
        </p:txBody>
      </p:sp>
      <p:sp>
        <p:nvSpPr>
          <p:cNvPr id="9" name="object 3"/>
          <p:cNvSpPr txBox="1">
            <a:spLocks noGrp="1"/>
          </p:cNvSpPr>
          <p:nvPr>
            <p:ph type="title" idx="4294967295"/>
          </p:nvPr>
        </p:nvSpPr>
        <p:spPr>
          <a:xfrm>
            <a:off x="3472546" y="272641"/>
            <a:ext cx="2366963" cy="317500"/>
          </a:xfrm>
          <a:prstGeom prst="rect">
            <a:avLst/>
          </a:prstGeom>
        </p:spPr>
        <p:txBody>
          <a:bodyPr vert="horz" wrap="square" lIns="0" tIns="10953" rIns="0" bIns="0" rtlCol="0">
            <a:spAutoFit/>
          </a:bodyPr>
          <a:lstStyle/>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全连接网络的局限性</a:t>
            </a:r>
          </a:p>
        </p:txBody>
      </p:sp>
      <p:sp>
        <p:nvSpPr>
          <p:cNvPr id="4" name="文本框 3"/>
          <p:cNvSpPr txBox="1"/>
          <p:nvPr/>
        </p:nvSpPr>
        <p:spPr>
          <a:xfrm>
            <a:off x="395605" y="1124585"/>
            <a:ext cx="6428105" cy="645160"/>
          </a:xfrm>
          <a:prstGeom prst="rect">
            <a:avLst/>
          </a:prstGeom>
          <a:noFill/>
        </p:spPr>
        <p:txBody>
          <a:bodyPr wrap="square" rtlCol="0" anchor="t">
            <a:spAutoFit/>
          </a:bodyPr>
          <a:lstStyle/>
          <a:p>
            <a:r>
              <a:rPr lang="zh-CN" altLang="en-US">
                <a:latin typeface="微软雅黑" panose="020B0503020204020204" charset="-122"/>
                <a:ea typeface="微软雅黑" panose="020B0503020204020204" charset="-122"/>
                <a:cs typeface="微软雅黑" panose="020B0503020204020204" charset="-122"/>
              </a:rPr>
              <a:t>对于MNIST 手写数字识别，假如第一个隐层的节</a:t>
            </a:r>
          </a:p>
          <a:p>
            <a:r>
              <a:rPr lang="zh-CN" altLang="en-US">
                <a:latin typeface="微软雅黑" panose="020B0503020204020204" charset="-122"/>
                <a:ea typeface="微软雅黑" panose="020B0503020204020204" charset="-122"/>
                <a:cs typeface="微软雅黑" panose="020B0503020204020204" charset="-122"/>
              </a:rPr>
              <a:t>点数为500，那么一个全连接层的参数个数为：</a:t>
            </a:r>
          </a:p>
        </p:txBody>
      </p:sp>
      <p:sp>
        <p:nvSpPr>
          <p:cNvPr id="5" name="文本框 4"/>
          <p:cNvSpPr txBox="1"/>
          <p:nvPr/>
        </p:nvSpPr>
        <p:spPr>
          <a:xfrm>
            <a:off x="1043940" y="1916430"/>
            <a:ext cx="3488055" cy="368300"/>
          </a:xfrm>
          <a:prstGeom prst="rect">
            <a:avLst/>
          </a:prstGeom>
          <a:noFill/>
        </p:spPr>
        <p:txBody>
          <a:bodyPr wrap="square" rtlCol="0" anchor="t">
            <a:spAutoFit/>
          </a:bodyPr>
          <a:lstStyle/>
          <a:p>
            <a:r>
              <a:rPr lang="zh-CN" altLang="en-US" sz="1800">
                <a:latin typeface="微软雅黑" panose="020B0503020204020204" charset="-122"/>
                <a:ea typeface="微软雅黑" panose="020B0503020204020204" charset="-122"/>
                <a:cs typeface="微软雅黑" panose="020B0503020204020204" charset="-122"/>
              </a:rPr>
              <a:t>28×28×1×500+500 ≈ 40万；</a:t>
            </a:r>
          </a:p>
        </p:txBody>
      </p:sp>
      <p:sp>
        <p:nvSpPr>
          <p:cNvPr id="8" name="文本框 7"/>
          <p:cNvSpPr txBox="1"/>
          <p:nvPr/>
        </p:nvSpPr>
        <p:spPr>
          <a:xfrm>
            <a:off x="539750" y="2853055"/>
            <a:ext cx="4904740" cy="922020"/>
          </a:xfrm>
          <a:prstGeom prst="rect">
            <a:avLst/>
          </a:prstGeom>
          <a:noFill/>
        </p:spPr>
        <p:txBody>
          <a:bodyPr wrap="square" rtlCol="0" anchor="t">
            <a:spAutoFit/>
          </a:bodyPr>
          <a:lstStyle/>
          <a:p>
            <a:r>
              <a:rPr lang="zh-CN" altLang="en-US" sz="1800" dirty="0">
                <a:latin typeface="微软雅黑" panose="020B0503020204020204" charset="-122"/>
                <a:ea typeface="微软雅黑" panose="020B0503020204020204" charset="-122"/>
                <a:cs typeface="微软雅黑" panose="020B0503020204020204" charset="-122"/>
              </a:rPr>
              <a:t>当图片更大时，比如CIFAR数据集中，图片大小为</a:t>
            </a:r>
            <a:r>
              <a:rPr lang="en-US" altLang="zh-CN" sz="1800" dirty="0">
                <a:latin typeface="微软雅黑" panose="020B0503020204020204" charset="-122"/>
                <a:ea typeface="微软雅黑" panose="020B0503020204020204" charset="-122"/>
                <a:cs typeface="微软雅黑" panose="020B0503020204020204" charset="-122"/>
              </a:rPr>
              <a:t> </a:t>
            </a:r>
            <a:r>
              <a:rPr lang="zh-CN" altLang="en-US" sz="1800" dirty="0">
                <a:latin typeface="微软雅黑" panose="020B0503020204020204" charset="-122"/>
                <a:ea typeface="微软雅黑" panose="020B0503020204020204" charset="-122"/>
                <a:cs typeface="微软雅黑" panose="020B0503020204020204" charset="-122"/>
              </a:rPr>
              <a:t>32×32×3，此时全连接层的参数有：</a:t>
            </a:r>
          </a:p>
          <a:p>
            <a:endParaRPr lang="zh-CN" altLang="en-US" sz="1800" dirty="0">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1115695" y="3613150"/>
            <a:ext cx="4079240" cy="368300"/>
          </a:xfrm>
          <a:prstGeom prst="rect">
            <a:avLst/>
          </a:prstGeom>
          <a:noFill/>
        </p:spPr>
        <p:txBody>
          <a:bodyPr wrap="square" rtlCol="0" anchor="t">
            <a:spAutoFit/>
          </a:bodyPr>
          <a:lstStyle/>
          <a:p>
            <a:r>
              <a:rPr lang="zh-CN" altLang="en-US" sz="1800">
                <a:latin typeface="微软雅黑" panose="020B0503020204020204" charset="-122"/>
                <a:ea typeface="微软雅黑" panose="020B0503020204020204" charset="-122"/>
                <a:cs typeface="微软雅黑" panose="020B0503020204020204" charset="-122"/>
              </a:rPr>
              <a:t>32×32×3×500+500 ≈ 150万</a:t>
            </a:r>
          </a:p>
        </p:txBody>
      </p:sp>
      <p:pic>
        <p:nvPicPr>
          <p:cNvPr id="14" name="图片 13"/>
          <p:cNvPicPr>
            <a:picLocks noChangeAspect="1"/>
          </p:cNvPicPr>
          <p:nvPr/>
        </p:nvPicPr>
        <p:blipFill>
          <a:blip r:embed="rId2"/>
          <a:stretch>
            <a:fillRect/>
          </a:stretch>
        </p:blipFill>
        <p:spPr>
          <a:xfrm>
            <a:off x="5579745" y="1268730"/>
            <a:ext cx="3397250" cy="2712720"/>
          </a:xfrm>
          <a:prstGeom prst="rect">
            <a:avLst/>
          </a:prstGeom>
        </p:spPr>
      </p:pic>
      <p:pic>
        <p:nvPicPr>
          <p:cNvPr id="2" name="Picture 22">
            <a:extLst>
              <a:ext uri="{FF2B5EF4-FFF2-40B4-BE49-F238E27FC236}">
                <a16:creationId xmlns:a16="http://schemas.microsoft.com/office/drawing/2014/main" id="{FB912DA0-CD78-60A1-B918-C05B761464F1}"/>
              </a:ext>
            </a:extLst>
          </p:cNvPr>
          <p:cNvPicPr>
            <a:picLocks noChangeAspect="1"/>
          </p:cNvPicPr>
          <p:nvPr/>
        </p:nvPicPr>
        <p:blipFill rotWithShape="1">
          <a:blip r:embed="rId3">
            <a:extLst>
              <a:ext uri="{28A0092B-C50C-407E-A947-70E740481C1C}">
                <a14:useLocalDpi xmlns:a14="http://schemas.microsoft.com/office/drawing/2010/main" val="0"/>
              </a:ext>
            </a:extLst>
          </a:blip>
          <a:srcRect t="-9357" r="1755" b="21301"/>
          <a:stretch>
            <a:fillRect/>
          </a:stretch>
        </p:blipFill>
        <p:spPr>
          <a:xfrm flipH="1">
            <a:off x="107950" y="2301875"/>
            <a:ext cx="9037320" cy="4556125"/>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6"/>
          <p:cNvSpPr>
            <a:spLocks noGrp="1"/>
          </p:cNvSpPr>
          <p:nvPr>
            <p:ph type="sldNum" sz="quarter" idx="12"/>
          </p:nvPr>
        </p:nvSpPr>
        <p:spPr/>
        <p:txBody>
          <a:bodyPr/>
          <a:lstStyle/>
          <a:p>
            <a:fld id="{B6F15528-21DE-4FAA-801E-634DDDAF4B2B}" type="slidenum">
              <a:rPr sz="1050"/>
              <a:t>12</a:t>
            </a:fld>
            <a:endParaRPr sz="1050"/>
          </a:p>
        </p:txBody>
      </p:sp>
      <p:sp>
        <p:nvSpPr>
          <p:cNvPr id="4" name="文本框 3"/>
          <p:cNvSpPr txBox="1"/>
          <p:nvPr/>
        </p:nvSpPr>
        <p:spPr>
          <a:xfrm>
            <a:off x="683568" y="1211580"/>
            <a:ext cx="8291830" cy="646331"/>
          </a:xfrm>
          <a:prstGeom prst="rect">
            <a:avLst/>
          </a:prstGeom>
          <a:noFill/>
        </p:spPr>
        <p:txBody>
          <a:bodyPr wrap="square" rtlCol="0" anchor="t">
            <a:spAutoFit/>
          </a:bodyPr>
          <a:lstStyle/>
          <a:p>
            <a:r>
              <a:rPr lang="zh-CN" altLang="en-US" dirty="0">
                <a:latin typeface="微软雅黑" panose="020B0503020204020204" charset="-122"/>
                <a:ea typeface="微软雅黑" panose="020B0503020204020204" charset="-122"/>
                <a:cs typeface="微软雅黑" panose="020B0503020204020204" charset="-122"/>
              </a:rPr>
              <a:t>当图片分辨率进一步提高时，当隐层数量增加时，例如：600 x 600 图像，各隐层节点数分别为300,200和100，则参数个数为：</a:t>
            </a:r>
          </a:p>
        </p:txBody>
      </p:sp>
      <p:sp>
        <p:nvSpPr>
          <p:cNvPr id="5" name="文本框 4"/>
          <p:cNvSpPr txBox="1"/>
          <p:nvPr/>
        </p:nvSpPr>
        <p:spPr>
          <a:xfrm>
            <a:off x="1475656" y="2147590"/>
            <a:ext cx="6449604" cy="369332"/>
          </a:xfrm>
          <a:prstGeom prst="rect">
            <a:avLst/>
          </a:prstGeom>
          <a:noFill/>
        </p:spPr>
        <p:txBody>
          <a:bodyPr wrap="square" rtlCol="0" anchor="t">
            <a:spAutoFit/>
          </a:bodyPr>
          <a:lstStyle/>
          <a:p>
            <a:r>
              <a:rPr lang="zh-CN" altLang="en-US" sz="1800" dirty="0">
                <a:latin typeface="微软雅黑" panose="020B0503020204020204" charset="-122"/>
                <a:ea typeface="微软雅黑" panose="020B0503020204020204" charset="-122"/>
                <a:cs typeface="微软雅黑" panose="020B0503020204020204" charset="-122"/>
              </a:rPr>
              <a:t>600 x 600 x 300 + 300 x 200 + 200 x100 ≈ </a:t>
            </a:r>
            <a:r>
              <a:rPr lang="zh-CN" altLang="en-US" sz="1800" b="1" dirty="0">
                <a:latin typeface="微软雅黑" panose="020B0503020204020204" charset="-122"/>
                <a:ea typeface="微软雅黑" panose="020B0503020204020204" charset="-122"/>
                <a:cs typeface="微软雅黑" panose="020B0503020204020204" charset="-122"/>
              </a:rPr>
              <a:t>1.08亿</a:t>
            </a:r>
          </a:p>
        </p:txBody>
      </p:sp>
      <p:sp>
        <p:nvSpPr>
          <p:cNvPr id="8" name="文本框 7"/>
          <p:cNvSpPr txBox="1"/>
          <p:nvPr/>
        </p:nvSpPr>
        <p:spPr>
          <a:xfrm>
            <a:off x="736282" y="3311401"/>
            <a:ext cx="4904740" cy="675640"/>
          </a:xfrm>
          <a:prstGeom prst="rect">
            <a:avLst/>
          </a:prstGeom>
          <a:noFill/>
        </p:spPr>
        <p:txBody>
          <a:bodyPr wrap="square" rtlCol="0" anchor="t">
            <a:spAutoFit/>
          </a:bodyPr>
          <a:lstStyle/>
          <a:p>
            <a:r>
              <a:rPr lang="zh-CN" altLang="en-US" sz="2000" b="1">
                <a:latin typeface="微软雅黑" panose="020B0503020204020204" charset="-122"/>
                <a:ea typeface="微软雅黑" panose="020B0503020204020204" charset="-122"/>
              </a:rPr>
              <a:t>当参数增多会导致：</a:t>
            </a:r>
            <a:endParaRPr sz="1800">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718600" y="3822515"/>
            <a:ext cx="4079240" cy="646331"/>
          </a:xfrm>
          <a:prstGeom prst="rect">
            <a:avLst/>
          </a:prstGeom>
          <a:noFill/>
        </p:spPr>
        <p:txBody>
          <a:bodyPr wrap="square" rtlCol="0" anchor="t">
            <a:spAutoFit/>
          </a:bodyPr>
          <a:lstStyle/>
          <a:p>
            <a:pPr marL="342900" indent="-342900">
              <a:buAutoNum type="arabicPeriod"/>
            </a:pPr>
            <a:r>
              <a:rPr lang="zh-CN" altLang="en-US" sz="1800" dirty="0">
                <a:latin typeface="微软雅黑" panose="020B0503020204020204" charset="-122"/>
                <a:ea typeface="微软雅黑" panose="020B0503020204020204" charset="-122"/>
                <a:cs typeface="微软雅黑" panose="020B0503020204020204" charset="-122"/>
              </a:rPr>
              <a:t>计算速度减慢</a:t>
            </a:r>
            <a:endParaRPr lang="en-US" altLang="zh-CN" sz="1800" dirty="0">
              <a:latin typeface="微软雅黑" panose="020B0503020204020204" charset="-122"/>
              <a:ea typeface="微软雅黑" panose="020B0503020204020204" charset="-122"/>
              <a:cs typeface="微软雅黑" panose="020B0503020204020204" charset="-122"/>
            </a:endParaRPr>
          </a:p>
          <a:p>
            <a:pPr marL="342900" indent="-342900">
              <a:buAutoNum type="arabicPeriod"/>
            </a:pPr>
            <a:r>
              <a:rPr lang="zh-CN" altLang="en-US" sz="1800" dirty="0">
                <a:latin typeface="微软雅黑" panose="020B0503020204020204" charset="-122"/>
                <a:ea typeface="微软雅黑" panose="020B0503020204020204" charset="-122"/>
                <a:cs typeface="微软雅黑" panose="020B0503020204020204" charset="-122"/>
              </a:rPr>
              <a:t>过拟合</a:t>
            </a:r>
          </a:p>
        </p:txBody>
      </p:sp>
      <p:pic>
        <p:nvPicPr>
          <p:cNvPr id="3" name="图片 2"/>
          <p:cNvPicPr>
            <a:picLocks noChangeAspect="1"/>
          </p:cNvPicPr>
          <p:nvPr/>
        </p:nvPicPr>
        <p:blipFill>
          <a:blip r:embed="rId2"/>
          <a:stretch>
            <a:fillRect/>
          </a:stretch>
        </p:blipFill>
        <p:spPr>
          <a:xfrm>
            <a:off x="3816349" y="2998727"/>
            <a:ext cx="4660265" cy="2545080"/>
          </a:xfrm>
          <a:prstGeom prst="rect">
            <a:avLst/>
          </a:prstGeom>
        </p:spPr>
      </p:pic>
      <p:sp>
        <p:nvSpPr>
          <p:cNvPr id="6" name="Rectangle 1">
            <a:extLst>
              <a:ext uri="{FF2B5EF4-FFF2-40B4-BE49-F238E27FC236}">
                <a16:creationId xmlns:a16="http://schemas.microsoft.com/office/drawing/2014/main" id="{CEFCE7A7-C1AE-6C2B-1E19-093C8D467681}"/>
              </a:ext>
            </a:extLst>
          </p:cNvPr>
          <p:cNvSpPr/>
          <p:nvPr/>
        </p:nvSpPr>
        <p:spPr>
          <a:xfrm>
            <a:off x="3275856" y="191679"/>
            <a:ext cx="276034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3" name="object 3">
            <a:extLst>
              <a:ext uri="{FF2B5EF4-FFF2-40B4-BE49-F238E27FC236}">
                <a16:creationId xmlns:a16="http://schemas.microsoft.com/office/drawing/2014/main" id="{355F8E89-D7AE-6CA9-DDB7-1E7E1C2ED940}"/>
              </a:ext>
            </a:extLst>
          </p:cNvPr>
          <p:cNvSpPr txBox="1">
            <a:spLocks/>
          </p:cNvSpPr>
          <p:nvPr/>
        </p:nvSpPr>
        <p:spPr>
          <a:xfrm>
            <a:off x="3472546" y="272641"/>
            <a:ext cx="2366963" cy="317500"/>
          </a:xfrm>
          <a:prstGeom prst="rect">
            <a:avLst/>
          </a:prstGeom>
          <a:noFill/>
          <a:ln w="9525">
            <a:noFill/>
          </a:ln>
        </p:spPr>
        <p:txBody>
          <a:bodyPr vert="horz" wrap="square" lIns="0" tIns="10953" rIns="0" bIns="0" rtlCol="0" anchor="ctr" anchorCtr="0">
            <a:spAutoFit/>
          </a:bodyP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marL="12700">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全连接网络的局限性</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D30778-DEA8-6A6A-189F-0ACC68DA4180}"/>
              </a:ext>
            </a:extLst>
          </p:cNvPr>
          <p:cNvSpPr/>
          <p:nvPr/>
        </p:nvSpPr>
        <p:spPr>
          <a:xfrm>
            <a:off x="1669838" y="2988443"/>
            <a:ext cx="5804324" cy="1008114"/>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 name="object 3">
            <a:extLst>
              <a:ext uri="{FF2B5EF4-FFF2-40B4-BE49-F238E27FC236}">
                <a16:creationId xmlns:a16="http://schemas.microsoft.com/office/drawing/2014/main" id="{4335CEEC-B99A-0A6A-1ED8-6094A8CFFD25}"/>
              </a:ext>
            </a:extLst>
          </p:cNvPr>
          <p:cNvSpPr txBox="1">
            <a:spLocks/>
          </p:cNvSpPr>
          <p:nvPr/>
        </p:nvSpPr>
        <p:spPr>
          <a:xfrm>
            <a:off x="2083429" y="3166495"/>
            <a:ext cx="4977140" cy="626613"/>
          </a:xfrm>
          <a:prstGeom prst="rect">
            <a:avLst/>
          </a:prstGeom>
          <a:noFill/>
          <a:ln w="9525">
            <a:noFill/>
          </a:ln>
        </p:spPr>
        <p:txBody>
          <a:bodyPr vert="horz" wrap="square" lIns="0" tIns="10953" rIns="0" bIns="0" rtlCol="0" anchor="ctr" anchorCtr="0">
            <a:spAutoFit/>
          </a:bodyP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marL="12700">
              <a:spcBef>
                <a:spcPts val="115"/>
              </a:spcBef>
            </a:pPr>
            <a:r>
              <a:rPr lang="zh-CN" altLang="en-US" sz="4000" b="1" spc="15" dirty="0">
                <a:solidFill>
                  <a:schemeClr val="bg1"/>
                </a:solidFill>
                <a:latin typeface="微软雅黑" panose="020B0503020204020204" charset="-122"/>
                <a:ea typeface="微软雅黑" panose="020B0503020204020204" charset="-122"/>
                <a:cs typeface="微软雅黑" panose="020B0503020204020204" charset="-122"/>
              </a:rPr>
              <a:t>卷积神经网络</a:t>
            </a:r>
          </a:p>
        </p:txBody>
      </p:sp>
    </p:spTree>
    <p:extLst>
      <p:ext uri="{BB962C8B-B14F-4D97-AF65-F5344CB8AC3E}">
        <p14:creationId xmlns:p14="http://schemas.microsoft.com/office/powerpoint/2010/main" val="637413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
          <p:cNvSpPr/>
          <p:nvPr/>
        </p:nvSpPr>
        <p:spPr>
          <a:xfrm>
            <a:off x="2987824" y="260973"/>
            <a:ext cx="276034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 name="灯片编号占位符 6"/>
          <p:cNvSpPr>
            <a:spLocks noGrp="1"/>
          </p:cNvSpPr>
          <p:nvPr>
            <p:ph type="sldNum" sz="quarter" idx="12"/>
          </p:nvPr>
        </p:nvSpPr>
        <p:spPr/>
        <p:txBody>
          <a:bodyPr/>
          <a:lstStyle/>
          <a:p>
            <a:fld id="{B6F15528-21DE-4FAA-801E-634DDDAF4B2B}" type="slidenum">
              <a:rPr sz="1050"/>
              <a:t>14</a:t>
            </a:fld>
            <a:endParaRPr sz="1050"/>
          </a:p>
        </p:txBody>
      </p:sp>
      <p:sp>
        <p:nvSpPr>
          <p:cNvPr id="9" name="object 3"/>
          <p:cNvSpPr txBox="1">
            <a:spLocks noGrp="1"/>
          </p:cNvSpPr>
          <p:nvPr>
            <p:ph type="title" idx="4294967295"/>
          </p:nvPr>
        </p:nvSpPr>
        <p:spPr>
          <a:xfrm>
            <a:off x="3184514" y="329236"/>
            <a:ext cx="2366963" cy="317500"/>
          </a:xfrm>
          <a:prstGeom prst="rect">
            <a:avLst/>
          </a:prstGeom>
        </p:spPr>
        <p:txBody>
          <a:bodyPr vert="horz" wrap="square" lIns="0" tIns="10953" rIns="0" bIns="0" rtlCol="0">
            <a:spAutoFit/>
          </a:bodyPr>
          <a:lstStyle/>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卷积神经网络结构</a:t>
            </a:r>
          </a:p>
        </p:txBody>
      </p:sp>
      <p:sp>
        <p:nvSpPr>
          <p:cNvPr id="4" name="文本框 3"/>
          <p:cNvSpPr txBox="1"/>
          <p:nvPr/>
        </p:nvSpPr>
        <p:spPr>
          <a:xfrm>
            <a:off x="394970" y="1124585"/>
            <a:ext cx="8099425" cy="2030095"/>
          </a:xfrm>
          <a:prstGeom prst="rect">
            <a:avLst/>
          </a:prstGeom>
          <a:noFill/>
        </p:spPr>
        <p:txBody>
          <a:bodyPr wrap="square" rtlCol="0" anchor="t">
            <a:spAutoFit/>
          </a:bodyPr>
          <a:lstStyle/>
          <a:p>
            <a:r>
              <a:rPr lang="en-US" altLang="zh-CN" dirty="0">
                <a:latin typeface="微软雅黑" panose="020B0503020204020204" charset="-122"/>
                <a:ea typeface="微软雅黑" panose="020B0503020204020204" charset="-122"/>
                <a:cs typeface="微软雅黑" panose="020B0503020204020204" charset="-122"/>
              </a:rPr>
              <a:t>     </a:t>
            </a:r>
            <a:r>
              <a:rPr lang="zh-CN" altLang="en-US" b="1" dirty="0">
                <a:latin typeface="微软雅黑" panose="020B0503020204020204" charset="-122"/>
                <a:ea typeface="微软雅黑" panose="020B0503020204020204" charset="-122"/>
                <a:cs typeface="微软雅黑" panose="020B0503020204020204" charset="-122"/>
              </a:rPr>
              <a:t>输入层</a:t>
            </a:r>
            <a:r>
              <a:rPr lang="zh-CN" altLang="en-US" dirty="0">
                <a:latin typeface="微软雅黑" panose="020B0503020204020204" charset="-122"/>
                <a:ea typeface="微软雅黑" panose="020B0503020204020204" charset="-122"/>
                <a:cs typeface="微软雅黑" panose="020B0503020204020204" charset="-122"/>
              </a:rPr>
              <a:t>：将每个像素代表一个特征节点输入到网络中。</a:t>
            </a:r>
          </a:p>
          <a:p>
            <a:endParaRPr lang="zh-CN" altLang="en-US" dirty="0">
              <a:latin typeface="微软雅黑" panose="020B0503020204020204" charset="-122"/>
              <a:ea typeface="微软雅黑" panose="020B0503020204020204" charset="-122"/>
              <a:cs typeface="微软雅黑" panose="020B0503020204020204" charset="-122"/>
            </a:endParaRPr>
          </a:p>
          <a:p>
            <a:r>
              <a:rPr lang="en-US" altLang="zh-CN" dirty="0">
                <a:latin typeface="微软雅黑" panose="020B0503020204020204" charset="-122"/>
                <a:ea typeface="微软雅黑" panose="020B0503020204020204" charset="-122"/>
                <a:cs typeface="微软雅黑" panose="020B0503020204020204" charset="-122"/>
                <a:sym typeface="+mn-ea"/>
              </a:rPr>
              <a:t>     </a:t>
            </a:r>
            <a:r>
              <a:rPr lang="zh-CN" altLang="en-US" b="1" dirty="0">
                <a:latin typeface="微软雅黑" panose="020B0503020204020204" charset="-122"/>
                <a:ea typeface="微软雅黑" panose="020B0503020204020204" charset="-122"/>
                <a:cs typeface="微软雅黑" panose="020B0503020204020204" charset="-122"/>
                <a:sym typeface="+mn-ea"/>
              </a:rPr>
              <a:t>卷积层</a:t>
            </a:r>
            <a:r>
              <a:rPr lang="zh-CN" altLang="en-US" dirty="0">
                <a:latin typeface="微软雅黑" panose="020B0503020204020204" charset="-122"/>
                <a:ea typeface="微软雅黑" panose="020B0503020204020204" charset="-122"/>
                <a:cs typeface="微软雅黑" panose="020B0503020204020204" charset="-122"/>
                <a:sym typeface="+mn-ea"/>
              </a:rPr>
              <a:t>：卷积运算的主要目的是使</a:t>
            </a:r>
            <a:r>
              <a:rPr lang="zh-CN" altLang="en-US" b="1" dirty="0">
                <a:solidFill>
                  <a:srgbClr val="C00000"/>
                </a:solidFill>
                <a:latin typeface="微软雅黑" panose="020B0503020204020204" charset="-122"/>
                <a:ea typeface="微软雅黑" panose="020B0503020204020204" charset="-122"/>
                <a:cs typeface="微软雅黑" panose="020B0503020204020204" charset="-122"/>
                <a:sym typeface="+mn-ea"/>
              </a:rPr>
              <a:t>原信号特征增强，并降低噪音</a:t>
            </a:r>
            <a:r>
              <a:rPr lang="zh-CN" altLang="en-US" dirty="0">
                <a:latin typeface="微软雅黑" panose="020B0503020204020204" charset="-122"/>
                <a:ea typeface="微软雅黑" panose="020B0503020204020204" charset="-122"/>
                <a:cs typeface="微软雅黑" panose="020B0503020204020204" charset="-122"/>
                <a:sym typeface="+mn-ea"/>
              </a:rPr>
              <a:t>。</a:t>
            </a:r>
          </a:p>
          <a:p>
            <a:endParaRPr lang="zh-CN" altLang="en-US" dirty="0">
              <a:latin typeface="微软雅黑" panose="020B0503020204020204" charset="-122"/>
              <a:ea typeface="微软雅黑" panose="020B0503020204020204" charset="-122"/>
              <a:cs typeface="微软雅黑" panose="020B0503020204020204" charset="-122"/>
              <a:sym typeface="+mn-ea"/>
            </a:endParaRPr>
          </a:p>
          <a:p>
            <a:r>
              <a:rPr lang="en-US" altLang="zh-CN" dirty="0">
                <a:latin typeface="微软雅黑" panose="020B0503020204020204" charset="-122"/>
                <a:ea typeface="微软雅黑" panose="020B0503020204020204" charset="-122"/>
                <a:cs typeface="微软雅黑" panose="020B0503020204020204" charset="-122"/>
              </a:rPr>
              <a:t>     </a:t>
            </a:r>
            <a:r>
              <a:rPr lang="zh-CN" altLang="en-US" b="1" dirty="0">
                <a:latin typeface="微软雅黑" panose="020B0503020204020204" charset="-122"/>
                <a:ea typeface="微软雅黑" panose="020B0503020204020204" charset="-122"/>
                <a:cs typeface="微软雅黑" panose="020B0503020204020204" charset="-122"/>
              </a:rPr>
              <a:t>降采样层</a:t>
            </a:r>
            <a:r>
              <a:rPr lang="zh-CN" altLang="en-US" dirty="0">
                <a:latin typeface="微软雅黑" panose="020B0503020204020204" charset="-122"/>
                <a:ea typeface="微软雅黑" panose="020B0503020204020204" charset="-122"/>
                <a:cs typeface="微软雅黑" panose="020B0503020204020204" charset="-122"/>
              </a:rPr>
              <a:t>：降低网络训练参数及模型的过拟合程度。</a:t>
            </a:r>
          </a:p>
          <a:p>
            <a:endParaRPr lang="zh-CN" altLang="en-US" dirty="0">
              <a:latin typeface="微软雅黑" panose="020B0503020204020204" charset="-122"/>
              <a:ea typeface="微软雅黑" panose="020B0503020204020204" charset="-122"/>
              <a:cs typeface="微软雅黑" panose="020B0503020204020204" charset="-122"/>
            </a:endParaRPr>
          </a:p>
          <a:p>
            <a:r>
              <a:rPr lang="en-US" altLang="zh-CN" dirty="0">
                <a:latin typeface="微软雅黑" panose="020B0503020204020204" charset="-122"/>
                <a:ea typeface="微软雅黑" panose="020B0503020204020204" charset="-122"/>
                <a:cs typeface="微软雅黑" panose="020B0503020204020204" charset="-122"/>
              </a:rPr>
              <a:t>     </a:t>
            </a:r>
            <a:r>
              <a:rPr lang="zh-CN" altLang="en-US" b="1" dirty="0">
                <a:latin typeface="微软雅黑" panose="020B0503020204020204" charset="-122"/>
                <a:ea typeface="微软雅黑" panose="020B0503020204020204" charset="-122"/>
                <a:cs typeface="微软雅黑" panose="020B0503020204020204" charset="-122"/>
              </a:rPr>
              <a:t>全连接层</a:t>
            </a:r>
            <a:r>
              <a:rPr lang="zh-CN" altLang="en-US" dirty="0">
                <a:latin typeface="微软雅黑" panose="020B0503020204020204" charset="-122"/>
                <a:ea typeface="微软雅黑" panose="020B0503020204020204" charset="-122"/>
                <a:cs typeface="微软雅黑" panose="020B0503020204020204" charset="-122"/>
              </a:rPr>
              <a:t>：对生成的</a:t>
            </a:r>
            <a:r>
              <a:rPr lang="zh-CN" altLang="en-US" b="1" dirty="0">
                <a:solidFill>
                  <a:srgbClr val="C00000"/>
                </a:solidFill>
                <a:latin typeface="微软雅黑" panose="020B0503020204020204" charset="-122"/>
                <a:ea typeface="微软雅黑" panose="020B0503020204020204" charset="-122"/>
                <a:cs typeface="微软雅黑" panose="020B0503020204020204" charset="-122"/>
              </a:rPr>
              <a:t>特征进行加权</a:t>
            </a:r>
            <a:r>
              <a:rPr lang="zh-CN" altLang="en-US" dirty="0">
                <a:latin typeface="微软雅黑" panose="020B0503020204020204" charset="-122"/>
                <a:ea typeface="微软雅黑" panose="020B0503020204020204" charset="-122"/>
                <a:cs typeface="微软雅黑" panose="020B0503020204020204" charset="-122"/>
              </a:rPr>
              <a:t>。</a:t>
            </a:r>
          </a:p>
        </p:txBody>
      </p:sp>
      <p:pic>
        <p:nvPicPr>
          <p:cNvPr id="14" name="图片 13"/>
          <p:cNvPicPr>
            <a:picLocks noChangeAspect="1"/>
          </p:cNvPicPr>
          <p:nvPr/>
        </p:nvPicPr>
        <p:blipFill>
          <a:blip r:embed="rId2"/>
          <a:stretch>
            <a:fillRect/>
          </a:stretch>
        </p:blipFill>
        <p:spPr>
          <a:xfrm>
            <a:off x="683568" y="3190745"/>
            <a:ext cx="7533498" cy="341654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
          <p:cNvSpPr/>
          <p:nvPr/>
        </p:nvSpPr>
        <p:spPr>
          <a:xfrm>
            <a:off x="0" y="188595"/>
            <a:ext cx="241998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9" name="object 3"/>
          <p:cNvSpPr txBox="1">
            <a:spLocks noGrp="1"/>
          </p:cNvSpPr>
          <p:nvPr>
            <p:ph type="title" idx="4294967295"/>
          </p:nvPr>
        </p:nvSpPr>
        <p:spPr>
          <a:xfrm>
            <a:off x="0" y="269875"/>
            <a:ext cx="2116138" cy="317500"/>
          </a:xfrm>
          <a:prstGeom prst="rect">
            <a:avLst/>
          </a:prstGeom>
        </p:spPr>
        <p:txBody>
          <a:bodyPr vert="horz" wrap="square" lIns="0" tIns="10953" rIns="0" bIns="0" rtlCol="0">
            <a:spAutoFit/>
          </a:bodyPr>
          <a:lstStyle/>
          <a:p>
            <a:pPr marL="12700">
              <a:lnSpc>
                <a:spcPct val="100000"/>
              </a:lnSpc>
              <a:spcBef>
                <a:spcPts val="115"/>
              </a:spcBef>
            </a:pPr>
            <a:r>
              <a:rPr lang="en-US" sz="2000" spc="15" dirty="0">
                <a:solidFill>
                  <a:schemeClr val="bg1"/>
                </a:solidFill>
                <a:latin typeface="微软雅黑" panose="020B0503020204020204" charset="-122"/>
                <a:ea typeface="微软雅黑" panose="020B0503020204020204" charset="-122"/>
                <a:cs typeface="微软雅黑" panose="020B0503020204020204" charset="-122"/>
              </a:rPr>
              <a:t>LeNet</a:t>
            </a: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介绍</a:t>
            </a:r>
            <a:r>
              <a:rPr lang="en-US" sz="2000" spc="15" dirty="0">
                <a:solidFill>
                  <a:schemeClr val="bg1"/>
                </a:solidFill>
                <a:latin typeface="微软雅黑" panose="020B0503020204020204" charset="-122"/>
                <a:ea typeface="微软雅黑" panose="020B0503020204020204" charset="-122"/>
                <a:cs typeface="微软雅黑" panose="020B0503020204020204" charset="-122"/>
              </a:rPr>
              <a:t> </a:t>
            </a:r>
          </a:p>
        </p:txBody>
      </p:sp>
      <p:pic>
        <p:nvPicPr>
          <p:cNvPr id="5" name="图片 4" descr="lenet"/>
          <p:cNvPicPr>
            <a:picLocks noChangeAspect="1"/>
          </p:cNvPicPr>
          <p:nvPr>
            <p:custDataLst>
              <p:tags r:id="rId1"/>
            </p:custDataLst>
          </p:nvPr>
        </p:nvPicPr>
        <p:blipFill>
          <a:blip r:embed="rId3"/>
          <a:srcRect r="13667"/>
          <a:stretch>
            <a:fillRect/>
          </a:stretch>
        </p:blipFill>
        <p:spPr>
          <a:xfrm>
            <a:off x="5939790" y="44450"/>
            <a:ext cx="2771140" cy="938530"/>
          </a:xfrm>
          <a:prstGeom prst="rect">
            <a:avLst/>
          </a:prstGeom>
        </p:spPr>
      </p:pic>
      <p:sp>
        <p:nvSpPr>
          <p:cNvPr id="6" name="文本框 5"/>
          <p:cNvSpPr txBox="1"/>
          <p:nvPr/>
        </p:nvSpPr>
        <p:spPr>
          <a:xfrm>
            <a:off x="251460" y="980440"/>
            <a:ext cx="8605520" cy="1014730"/>
          </a:xfrm>
          <a:prstGeom prst="rect">
            <a:avLst/>
          </a:prstGeom>
          <a:noFill/>
        </p:spPr>
        <p:txBody>
          <a:bodyPr wrap="square" rtlCol="0" anchor="t">
            <a:spAutoFit/>
          </a:bodyPr>
          <a:lstStyle/>
          <a:p>
            <a:r>
              <a:rPr lang="zh-CN" altLang="en-US" dirty="0">
                <a:latin typeface="微软雅黑" panose="020B0503020204020204" charset="-122"/>
                <a:ea typeface="微软雅黑" panose="020B0503020204020204" charset="-122"/>
                <a:cs typeface="微软雅黑" panose="020B0503020204020204" charset="-122"/>
              </a:rPr>
              <a:t>LeNet是最早的</a:t>
            </a:r>
            <a:r>
              <a:rPr lang="zh-CN" altLang="en-US" sz="2000" b="1" dirty="0">
                <a:latin typeface="微软雅黑" panose="020B0503020204020204" charset="-122"/>
                <a:ea typeface="微软雅黑" panose="020B0503020204020204" charset="-122"/>
                <a:cs typeface="微软雅黑" panose="020B0503020204020204" charset="-122"/>
              </a:rPr>
              <a:t>卷积神经网络</a:t>
            </a:r>
            <a:r>
              <a:rPr lang="zh-CN" altLang="en-US" dirty="0">
                <a:latin typeface="微软雅黑" panose="020B0503020204020204" charset="-122"/>
                <a:ea typeface="微软雅黑" panose="020B0503020204020204" charset="-122"/>
                <a:cs typeface="微软雅黑" panose="020B0503020204020204" charset="-122"/>
              </a:rPr>
              <a:t>之一。1998年，Yan LeCun第一次将LeNet卷积神经网络应用到图像分类上，在手写数字识别任务中取得了巨大成功。LeNet通过</a:t>
            </a:r>
            <a:r>
              <a:rPr lang="zh-CN" altLang="en-US" sz="2000" b="1" dirty="0">
                <a:latin typeface="微软雅黑" panose="020B0503020204020204" charset="-122"/>
                <a:ea typeface="微软雅黑" panose="020B0503020204020204" charset="-122"/>
                <a:cs typeface="微软雅黑" panose="020B0503020204020204" charset="-122"/>
              </a:rPr>
              <a:t>连续使用卷积和池化层的组合</a:t>
            </a:r>
            <a:r>
              <a:rPr lang="zh-CN" altLang="en-US" dirty="0">
                <a:latin typeface="微软雅黑" panose="020B0503020204020204" charset="-122"/>
                <a:ea typeface="微软雅黑" panose="020B0503020204020204" charset="-122"/>
                <a:cs typeface="微软雅黑" panose="020B0503020204020204" charset="-122"/>
              </a:rPr>
              <a:t>提取图像特征。</a:t>
            </a:r>
            <a:endParaRPr lang="en-US" altLang="zh-CN" dirty="0">
              <a:latin typeface="微软雅黑" panose="020B0503020204020204" charset="-122"/>
              <a:ea typeface="微软雅黑" panose="020B0503020204020204" charset="-122"/>
              <a:cs typeface="微软雅黑" panose="020B0503020204020204" charset="-122"/>
            </a:endParaRPr>
          </a:p>
        </p:txBody>
      </p:sp>
      <p:pic>
        <p:nvPicPr>
          <p:cNvPr id="7" name="图片 6"/>
          <p:cNvPicPr>
            <a:picLocks noChangeAspect="1"/>
          </p:cNvPicPr>
          <p:nvPr/>
        </p:nvPicPr>
        <p:blipFill>
          <a:blip r:embed="rId4"/>
          <a:stretch>
            <a:fillRect/>
          </a:stretch>
        </p:blipFill>
        <p:spPr>
          <a:xfrm>
            <a:off x="395605" y="2060575"/>
            <a:ext cx="7886700" cy="1807845"/>
          </a:xfrm>
          <a:prstGeom prst="rect">
            <a:avLst/>
          </a:prstGeom>
        </p:spPr>
      </p:pic>
      <p:sp>
        <p:nvSpPr>
          <p:cNvPr id="8" name="文本框 7"/>
          <p:cNvSpPr txBox="1"/>
          <p:nvPr/>
        </p:nvSpPr>
        <p:spPr>
          <a:xfrm>
            <a:off x="323850" y="3914140"/>
            <a:ext cx="8796020" cy="2953385"/>
          </a:xfrm>
          <a:prstGeom prst="rect">
            <a:avLst/>
          </a:prstGeom>
          <a:noFill/>
        </p:spPr>
        <p:txBody>
          <a:bodyPr wrap="square" rtlCol="0" anchor="t">
            <a:spAutoFit/>
          </a:bodyPr>
          <a:lstStyle/>
          <a:p>
            <a:pPr marL="342900" indent="-342900">
              <a:buFont typeface="Arial" panose="020B0604020202020204" pitchFamily="34" charset="0"/>
              <a:buChar char="•"/>
            </a:pPr>
            <a:r>
              <a:rPr lang="zh-CN" altLang="en-US" sz="2000" b="1">
                <a:latin typeface="微软雅黑" panose="020B0503020204020204" charset="-122"/>
                <a:ea typeface="微软雅黑" panose="020B0503020204020204" charset="-122"/>
                <a:cs typeface="微软雅黑" panose="020B0503020204020204" charset="-122"/>
              </a:rPr>
              <a:t>第一轮卷积和池化</a:t>
            </a:r>
            <a:r>
              <a:rPr lang="zh-CN" altLang="en-US" sz="1800">
                <a:latin typeface="微软雅黑" panose="020B0503020204020204" charset="-122"/>
                <a:ea typeface="微软雅黑" panose="020B0503020204020204" charset="-122"/>
                <a:cs typeface="微软雅黑" panose="020B0503020204020204" charset="-122"/>
              </a:rPr>
              <a:t>：卷积提取图像中包含的特征模式（激活函数使用sigmoid），图像尺寸从32减小到28。经过池化层可以降低输出特征图对空间位置的敏感性，图像尺寸减到14。</a:t>
            </a:r>
          </a:p>
          <a:p>
            <a:pPr marL="342900" indent="-342900">
              <a:buFont typeface="Arial" panose="020B0604020202020204" pitchFamily="34" charset="0"/>
              <a:buChar char="•"/>
            </a:pPr>
            <a:endParaRPr lang="zh-CN" altLang="en-US" sz="1800">
              <a:latin typeface="微软雅黑" panose="020B0503020204020204" charset="-122"/>
              <a:ea typeface="微软雅黑" panose="020B0503020204020204" charset="-122"/>
              <a:cs typeface="微软雅黑" panose="020B0503020204020204" charset="-122"/>
            </a:endParaRPr>
          </a:p>
          <a:p>
            <a:pPr marL="342900" indent="-342900">
              <a:buFont typeface="Arial" panose="020B0604020202020204" pitchFamily="34" charset="0"/>
              <a:buChar char="•"/>
            </a:pPr>
            <a:r>
              <a:rPr lang="zh-CN" altLang="en-US" sz="2000" b="1">
                <a:latin typeface="微软雅黑" panose="020B0503020204020204" charset="-122"/>
                <a:ea typeface="微软雅黑" panose="020B0503020204020204" charset="-122"/>
                <a:cs typeface="微软雅黑" panose="020B0503020204020204" charset="-122"/>
              </a:rPr>
              <a:t>第二轮卷积和池化</a:t>
            </a:r>
            <a:r>
              <a:rPr lang="zh-CN" altLang="en-US" sz="1800">
                <a:latin typeface="微软雅黑" panose="020B0503020204020204" charset="-122"/>
                <a:ea typeface="微软雅黑" panose="020B0503020204020204" charset="-122"/>
                <a:cs typeface="微软雅黑" panose="020B0503020204020204" charset="-122"/>
              </a:rPr>
              <a:t>：卷积操作使图像尺寸减小到10，经过池化后变成5。</a:t>
            </a:r>
          </a:p>
          <a:p>
            <a:pPr marL="342900" indent="-342900">
              <a:buFont typeface="Arial" panose="020B0604020202020204" pitchFamily="34" charset="0"/>
              <a:buChar char="•"/>
            </a:pPr>
            <a:endParaRPr lang="zh-CN" altLang="en-US" sz="1800">
              <a:latin typeface="微软雅黑" panose="020B0503020204020204" charset="-122"/>
              <a:ea typeface="微软雅黑" panose="020B0503020204020204" charset="-122"/>
              <a:cs typeface="微软雅黑" panose="020B0503020204020204" charset="-122"/>
            </a:endParaRPr>
          </a:p>
          <a:p>
            <a:pPr marL="342900" indent="-342900">
              <a:buFont typeface="Arial" panose="020B0604020202020204" pitchFamily="34" charset="0"/>
              <a:buChar char="•"/>
            </a:pPr>
            <a:r>
              <a:rPr lang="zh-CN" altLang="en-US" sz="2000" b="1">
                <a:latin typeface="微软雅黑" panose="020B0503020204020204" charset="-122"/>
                <a:ea typeface="微软雅黑" panose="020B0503020204020204" charset="-122"/>
                <a:cs typeface="微软雅黑" panose="020B0503020204020204" charset="-122"/>
              </a:rPr>
              <a:t>第三轮卷积</a:t>
            </a:r>
            <a:r>
              <a:rPr lang="zh-CN" altLang="en-US" sz="2000">
                <a:latin typeface="微软雅黑" panose="020B0503020204020204" charset="-122"/>
                <a:ea typeface="微软雅黑" panose="020B0503020204020204" charset="-122"/>
                <a:cs typeface="微软雅黑" panose="020B0503020204020204" charset="-122"/>
                <a:sym typeface="+mn-ea"/>
              </a:rPr>
              <a:t>：</a:t>
            </a:r>
            <a:r>
              <a:rPr lang="zh-CN" altLang="en-US" sz="1800">
                <a:latin typeface="微软雅黑" panose="020B0503020204020204" charset="-122"/>
                <a:ea typeface="微软雅黑" panose="020B0503020204020204" charset="-122"/>
                <a:cs typeface="微软雅黑" panose="020B0503020204020204" charset="-122"/>
              </a:rPr>
              <a:t>将经过第3次卷积提取到的特征图输入到全连接层。第一个全连接层的输出神经元的个数是64，第二个全连接层的输出神经元个数是分类标签的类别数，对于手写数字识别其大小是10。然后使用Softmax激活函数即可计算出每个类别的预测概率。</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
          <p:cNvSpPr/>
          <p:nvPr/>
        </p:nvSpPr>
        <p:spPr>
          <a:xfrm>
            <a:off x="0" y="188595"/>
            <a:ext cx="241998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9" name="object 3"/>
          <p:cNvSpPr txBox="1">
            <a:spLocks noGrp="1"/>
          </p:cNvSpPr>
          <p:nvPr>
            <p:ph type="title" idx="4294967295"/>
          </p:nvPr>
        </p:nvSpPr>
        <p:spPr>
          <a:xfrm>
            <a:off x="0" y="269875"/>
            <a:ext cx="2116138" cy="317500"/>
          </a:xfrm>
          <a:prstGeom prst="rect">
            <a:avLst/>
          </a:prstGeom>
        </p:spPr>
        <p:txBody>
          <a:bodyPr vert="horz" wrap="square" lIns="0" tIns="10953" rIns="0" bIns="0" rtlCol="0">
            <a:spAutoFit/>
          </a:bodyPr>
          <a:lstStyle/>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卷积和池化</a:t>
            </a:r>
            <a:r>
              <a:rPr lang="en-US" sz="2000" spc="15" dirty="0">
                <a:solidFill>
                  <a:schemeClr val="bg1"/>
                </a:solidFill>
                <a:latin typeface="微软雅黑" panose="020B0503020204020204" charset="-122"/>
                <a:ea typeface="微软雅黑" panose="020B0503020204020204" charset="-122"/>
                <a:cs typeface="微软雅黑" panose="020B0503020204020204" charset="-122"/>
              </a:rPr>
              <a:t> </a:t>
            </a:r>
          </a:p>
        </p:txBody>
      </p:sp>
      <p:sp>
        <p:nvSpPr>
          <p:cNvPr id="2" name="文本框 1"/>
          <p:cNvSpPr txBox="1"/>
          <p:nvPr/>
        </p:nvSpPr>
        <p:spPr>
          <a:xfrm>
            <a:off x="323850" y="3860800"/>
            <a:ext cx="8314055" cy="645160"/>
          </a:xfrm>
          <a:prstGeom prst="rect">
            <a:avLst/>
          </a:prstGeom>
          <a:noFill/>
        </p:spPr>
        <p:txBody>
          <a:bodyPr wrap="square" rtlCol="0" anchor="t">
            <a:spAutoFit/>
          </a:bodyPr>
          <a:lstStyle/>
          <a:p>
            <a:pPr algn="l">
              <a:buClrTx/>
              <a:buSzTx/>
              <a:buFontTx/>
            </a:pPr>
            <a:r>
              <a:rPr lang="zh-CN" altLang="en-US" sz="1800">
                <a:latin typeface="微软雅黑" panose="020B0503020204020204" charset="-122"/>
                <a:ea typeface="微软雅黑" panose="020B0503020204020204" charset="-122"/>
                <a:cs typeface="微软雅黑" panose="020B0503020204020204" charset="-122"/>
              </a:rPr>
              <a:t>池化是一种down-sampling技术，本质是基于滑动窗口的思想，可以去除特征图中的</a:t>
            </a:r>
            <a:r>
              <a:rPr lang="zh-CN" altLang="en-US" sz="1800" b="1">
                <a:latin typeface="微软雅黑" panose="020B0503020204020204" charset="-122"/>
                <a:ea typeface="微软雅黑" panose="020B0503020204020204" charset="-122"/>
                <a:cs typeface="微软雅黑" panose="020B0503020204020204" charset="-122"/>
              </a:rPr>
              <a:t>冗余信息</a:t>
            </a:r>
            <a:r>
              <a:rPr lang="zh-CN" altLang="en-US" sz="1800">
                <a:latin typeface="微软雅黑" panose="020B0503020204020204" charset="-122"/>
                <a:ea typeface="微软雅黑" panose="020B0503020204020204" charset="-122"/>
                <a:cs typeface="微软雅黑" panose="020B0503020204020204" charset="-122"/>
              </a:rPr>
              <a:t>，降低特征图的维度。</a:t>
            </a:r>
          </a:p>
        </p:txBody>
      </p:sp>
      <p:pic>
        <p:nvPicPr>
          <p:cNvPr id="3" name="图片 2"/>
          <p:cNvPicPr>
            <a:picLocks noChangeAspect="1"/>
          </p:cNvPicPr>
          <p:nvPr/>
        </p:nvPicPr>
        <p:blipFill>
          <a:blip r:embed="rId2"/>
          <a:stretch>
            <a:fillRect/>
          </a:stretch>
        </p:blipFill>
        <p:spPr>
          <a:xfrm>
            <a:off x="467995" y="4653280"/>
            <a:ext cx="6278880" cy="1859280"/>
          </a:xfrm>
          <a:prstGeom prst="rect">
            <a:avLst/>
          </a:prstGeom>
        </p:spPr>
      </p:pic>
      <p:pic>
        <p:nvPicPr>
          <p:cNvPr id="4" name="图片 3"/>
          <p:cNvPicPr>
            <a:picLocks noChangeAspect="1"/>
          </p:cNvPicPr>
          <p:nvPr/>
        </p:nvPicPr>
        <p:blipFill>
          <a:blip r:embed="rId3"/>
          <a:stretch>
            <a:fillRect/>
          </a:stretch>
        </p:blipFill>
        <p:spPr>
          <a:xfrm>
            <a:off x="323850" y="1273810"/>
            <a:ext cx="5935980" cy="2042160"/>
          </a:xfrm>
          <a:prstGeom prst="rect">
            <a:avLst/>
          </a:prstGeom>
        </p:spPr>
      </p:pic>
      <p:pic>
        <p:nvPicPr>
          <p:cNvPr id="10" name="图片 9"/>
          <p:cNvPicPr>
            <a:picLocks noChangeAspect="1"/>
          </p:cNvPicPr>
          <p:nvPr/>
        </p:nvPicPr>
        <p:blipFill>
          <a:blip r:embed="rId4"/>
          <a:stretch>
            <a:fillRect/>
          </a:stretch>
        </p:blipFill>
        <p:spPr>
          <a:xfrm>
            <a:off x="6444615" y="260350"/>
            <a:ext cx="2933700" cy="3055620"/>
          </a:xfrm>
          <a:prstGeom prst="rect">
            <a:avLst/>
          </a:prstGeom>
        </p:spPr>
      </p:pic>
      <p:sp>
        <p:nvSpPr>
          <p:cNvPr id="12" name="文本框 11"/>
          <p:cNvSpPr txBox="1"/>
          <p:nvPr/>
        </p:nvSpPr>
        <p:spPr>
          <a:xfrm>
            <a:off x="323850" y="786765"/>
            <a:ext cx="2239652" cy="369332"/>
          </a:xfrm>
          <a:prstGeom prst="rect">
            <a:avLst/>
          </a:prstGeom>
          <a:noFill/>
        </p:spPr>
        <p:txBody>
          <a:bodyPr wrap="none" rtlCol="0" anchor="t">
            <a:spAutoFit/>
          </a:bodyPr>
          <a:lstStyle/>
          <a:p>
            <a:r>
              <a:rPr lang="zh-CN" altLang="en-US">
                <a:latin typeface="微软雅黑" panose="020B0503020204020204" charset="-122"/>
                <a:ea typeface="微软雅黑" panose="020B0503020204020204" charset="-122"/>
                <a:cs typeface="微软雅黑" panose="020B0503020204020204" charset="-122"/>
                <a:sym typeface="+mn-ea"/>
              </a:rPr>
              <a:t>卷积：</a:t>
            </a:r>
            <a:r>
              <a:rPr lang="en-US" altLang="zh-CN">
                <a:latin typeface="微软雅黑" panose="020B0503020204020204" charset="-122"/>
                <a:ea typeface="微软雅黑" panose="020B0503020204020204" charset="-122"/>
                <a:cs typeface="微软雅黑" panose="020B0503020204020204" charset="-122"/>
                <a:sym typeface="+mn-ea"/>
              </a:rPr>
              <a:t>padding = 0</a:t>
            </a:r>
          </a:p>
        </p:txBody>
      </p:sp>
      <p:sp>
        <p:nvSpPr>
          <p:cNvPr id="13" name="文本框 12"/>
          <p:cNvSpPr txBox="1"/>
          <p:nvPr/>
        </p:nvSpPr>
        <p:spPr>
          <a:xfrm>
            <a:off x="6516216" y="3929"/>
            <a:ext cx="2239652" cy="369332"/>
          </a:xfrm>
          <a:prstGeom prst="rect">
            <a:avLst/>
          </a:prstGeom>
          <a:noFill/>
        </p:spPr>
        <p:txBody>
          <a:bodyPr wrap="none" rtlCol="0" anchor="t">
            <a:spAutoFit/>
          </a:bodyPr>
          <a:lstStyle/>
          <a:p>
            <a:pPr algn="l"/>
            <a:r>
              <a:rPr lang="zh-CN" altLang="en-US" dirty="0">
                <a:latin typeface="微软雅黑" panose="020B0503020204020204" charset="-122"/>
                <a:ea typeface="微软雅黑" panose="020B0503020204020204" charset="-122"/>
                <a:cs typeface="微软雅黑" panose="020B0503020204020204" charset="-122"/>
                <a:sym typeface="+mn-ea"/>
              </a:rPr>
              <a:t>卷积：</a:t>
            </a:r>
            <a:r>
              <a:rPr lang="en-US" altLang="zh-CN" dirty="0">
                <a:latin typeface="微软雅黑" panose="020B0503020204020204" charset="-122"/>
                <a:ea typeface="微软雅黑" panose="020B0503020204020204" charset="-122"/>
                <a:cs typeface="微软雅黑" panose="020B0503020204020204" charset="-122"/>
                <a:sym typeface="+mn-ea"/>
              </a:rPr>
              <a:t>padding = 1</a:t>
            </a:r>
            <a:endParaRPr lang="zh-CN" altLang="en-US"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
          <p:cNvSpPr/>
          <p:nvPr/>
        </p:nvSpPr>
        <p:spPr>
          <a:xfrm>
            <a:off x="3099788" y="260648"/>
            <a:ext cx="2772118" cy="57606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灯片编号占位符 6"/>
          <p:cNvSpPr>
            <a:spLocks noGrp="1"/>
          </p:cNvSpPr>
          <p:nvPr>
            <p:ph type="sldNum" sz="quarter" idx="12"/>
          </p:nvPr>
        </p:nvSpPr>
        <p:spPr/>
        <p:txBody>
          <a:bodyPr/>
          <a:lstStyle/>
          <a:p>
            <a:fld id="{B6F15528-21DE-4FAA-801E-634DDDAF4B2B}" type="slidenum">
              <a:rPr sz="1050">
                <a:solidFill>
                  <a:schemeClr val="bg1"/>
                </a:solidFill>
              </a:rPr>
              <a:t>17</a:t>
            </a:fld>
            <a:endParaRPr sz="1050">
              <a:solidFill>
                <a:schemeClr val="bg1"/>
              </a:solidFill>
            </a:endParaRPr>
          </a:p>
        </p:txBody>
      </p:sp>
      <p:sp>
        <p:nvSpPr>
          <p:cNvPr id="9" name="object 3"/>
          <p:cNvSpPr txBox="1">
            <a:spLocks noGrp="1"/>
          </p:cNvSpPr>
          <p:nvPr>
            <p:ph type="title" idx="4294967295"/>
          </p:nvPr>
        </p:nvSpPr>
        <p:spPr>
          <a:xfrm>
            <a:off x="3099789" y="323092"/>
            <a:ext cx="2772117" cy="441947"/>
          </a:xfrm>
          <a:prstGeom prst="rect">
            <a:avLst/>
          </a:prstGeom>
        </p:spPr>
        <p:txBody>
          <a:bodyPr vert="horz" wrap="square" lIns="0" tIns="10953" rIns="0" bIns="0" rtlCol="0">
            <a:spAutoFit/>
          </a:bodyPr>
          <a:lstStyle/>
          <a:p>
            <a:pPr marL="12700">
              <a:lnSpc>
                <a:spcPct val="100000"/>
              </a:lnSpc>
              <a:spcBef>
                <a:spcPts val="115"/>
              </a:spcBef>
            </a:pPr>
            <a:r>
              <a:rPr lang="en-US" altLang="zh-CN" sz="2800" spc="15" dirty="0">
                <a:solidFill>
                  <a:schemeClr val="bg1"/>
                </a:solidFill>
                <a:latin typeface="微软雅黑" panose="020B0503020204020204" charset="-122"/>
                <a:ea typeface="微软雅黑" panose="020B0503020204020204" charset="-122"/>
                <a:cs typeface="微软雅黑" panose="020B0503020204020204" charset="-122"/>
              </a:rPr>
              <a:t>MindSpore</a:t>
            </a:r>
            <a:r>
              <a:rPr lang="zh-CN" altLang="en-US" sz="2800" spc="15" dirty="0">
                <a:solidFill>
                  <a:schemeClr val="bg1"/>
                </a:solidFill>
                <a:latin typeface="微软雅黑" panose="020B0503020204020204" charset="-122"/>
                <a:ea typeface="微软雅黑" panose="020B0503020204020204" charset="-122"/>
                <a:cs typeface="微软雅黑" panose="020B0503020204020204" charset="-122"/>
              </a:rPr>
              <a:t>介绍</a:t>
            </a:r>
          </a:p>
        </p:txBody>
      </p:sp>
      <p:sp>
        <p:nvSpPr>
          <p:cNvPr id="6" name="文本框 1"/>
          <p:cNvSpPr txBox="1"/>
          <p:nvPr/>
        </p:nvSpPr>
        <p:spPr>
          <a:xfrm>
            <a:off x="953294" y="1556792"/>
            <a:ext cx="7237412" cy="4001095"/>
          </a:xfrm>
          <a:prstGeom prst="rect">
            <a:avLst/>
          </a:prstGeom>
          <a:noFill/>
          <a:ln w="9525">
            <a:noFill/>
          </a:ln>
        </p:spPr>
        <p:txBody>
          <a:bodyPr wrap="square" anchor="t" anchorCtr="0">
            <a:spAutoFit/>
          </a:bodyPr>
          <a:lstStyle/>
          <a:p>
            <a:pPr marL="285750" indent="-285750">
              <a:buFont typeface="Arial" panose="020B0604020202020204" pitchFamily="34" charset="0"/>
              <a:buChar char="•"/>
            </a:pPr>
            <a:r>
              <a:rPr lang="zh-CN" altLang="en-US" sz="2400" b="1" dirty="0">
                <a:latin typeface="微软雅黑" panose="020B0503020204020204" charset="-122"/>
                <a:ea typeface="微软雅黑" panose="020B0503020204020204" charset="-122"/>
                <a:cs typeface="微软雅黑" panose="020B0503020204020204" charset="-122"/>
                <a:sym typeface="+mn-ea"/>
              </a:rPr>
              <a:t>实验相关</a:t>
            </a:r>
            <a:endParaRPr lang="en-US" altLang="zh-CN" sz="2400" b="1" dirty="0">
              <a:latin typeface="微软雅黑" panose="020B0503020204020204" charset="-122"/>
              <a:ea typeface="微软雅黑" panose="020B0503020204020204" charset="-122"/>
              <a:cs typeface="微软雅黑" panose="020B0503020204020204" charset="-122"/>
              <a:sym typeface="+mn-ea"/>
            </a:endParaRPr>
          </a:p>
          <a:p>
            <a:pPr marL="285750" indent="-285750">
              <a:buFont typeface="Arial" panose="020B0604020202020204" pitchFamily="34" charset="0"/>
              <a:buChar char="•"/>
            </a:pPr>
            <a:endParaRPr lang="en-US" altLang="zh-CN" sz="2000" b="1" dirty="0">
              <a:latin typeface="微软雅黑" panose="020B0503020204020204" charset="-122"/>
              <a:ea typeface="微软雅黑" panose="020B0503020204020204" charset="-122"/>
              <a:cs typeface="微软雅黑" panose="020B0503020204020204" charset="-122"/>
              <a:sym typeface="+mn-ea"/>
            </a:endParaRPr>
          </a:p>
          <a:p>
            <a:pPr marL="742950" lvl="1" indent="-285750">
              <a:buFont typeface="Arial" panose="020B0604020202020204" pitchFamily="34" charset="0"/>
              <a:buChar char="•"/>
            </a:pPr>
            <a:r>
              <a:rPr lang="en-US" altLang="zh-CN" sz="2400" b="1" dirty="0">
                <a:latin typeface="微软雅黑" panose="020B0503020204020204" charset="-122"/>
                <a:ea typeface="微软雅黑" panose="020B0503020204020204" charset="-122"/>
                <a:cs typeface="微软雅黑" panose="020B0503020204020204" charset="-122"/>
                <a:sym typeface="+mn-ea"/>
              </a:rPr>
              <a:t>MindSpore</a:t>
            </a:r>
            <a:r>
              <a:rPr lang="zh-CN" altLang="en-US" sz="2400" b="1" dirty="0">
                <a:latin typeface="微软雅黑" panose="020B0503020204020204" charset="-122"/>
                <a:ea typeface="微软雅黑" panose="020B0503020204020204" charset="-122"/>
                <a:cs typeface="微软雅黑" panose="020B0503020204020204" charset="-122"/>
                <a:sym typeface="+mn-ea"/>
              </a:rPr>
              <a:t>安装：</a:t>
            </a:r>
            <a:r>
              <a:rPr lang="en-US" altLang="zh-CN" sz="2400" b="1" dirty="0">
                <a:latin typeface="微软雅黑" panose="020B0503020204020204" charset="-122"/>
                <a:ea typeface="微软雅黑" panose="020B0503020204020204" charset="-122"/>
                <a:cs typeface="微软雅黑" panose="020B0503020204020204" charset="-122"/>
                <a:sym typeface="+mn-ea"/>
              </a:rPr>
              <a:t> 👉</a:t>
            </a:r>
            <a:r>
              <a:rPr lang="en-US" altLang="zh-CN" sz="2400" b="1" dirty="0" err="1">
                <a:latin typeface="微软雅黑" panose="020B0503020204020204" charset="-122"/>
                <a:ea typeface="微软雅黑" panose="020B0503020204020204" charset="-122"/>
                <a:cs typeface="微软雅黑" panose="020B0503020204020204" charset="-122"/>
                <a:sym typeface="+mn-ea"/>
                <a:hlinkClick r:id="rId2">
                  <a:extLst>
                    <a:ext uri="{A12FA001-AC4F-418D-AE19-62706E023703}">
                      <ahyp:hlinkClr xmlns:ahyp="http://schemas.microsoft.com/office/drawing/2018/hyperlinkcolor" val="tx"/>
                    </a:ext>
                  </a:extLst>
                </a:hlinkClick>
              </a:rPr>
              <a:t>链接</a:t>
            </a:r>
            <a:endParaRPr lang="en-US" altLang="zh-CN" sz="2400" b="1" dirty="0">
              <a:latin typeface="微软雅黑" panose="020B0503020204020204" charset="-122"/>
              <a:ea typeface="微软雅黑" panose="020B0503020204020204" charset="-122"/>
              <a:cs typeface="微软雅黑" panose="020B0503020204020204" charset="-122"/>
              <a:sym typeface="+mn-ea"/>
            </a:endParaRPr>
          </a:p>
          <a:p>
            <a:pPr marL="742950" lvl="1" indent="-285750">
              <a:buFont typeface="Arial" panose="020B0604020202020204" pitchFamily="34" charset="0"/>
              <a:buChar char="•"/>
            </a:pPr>
            <a:endParaRPr lang="en-US" altLang="zh-CN" sz="2400" b="1" dirty="0">
              <a:latin typeface="微软雅黑" panose="020B0503020204020204" charset="-122"/>
              <a:ea typeface="微软雅黑" panose="020B0503020204020204" charset="-122"/>
              <a:cs typeface="微软雅黑" panose="020B0503020204020204" charset="-122"/>
              <a:sym typeface="+mn-ea"/>
            </a:endParaRPr>
          </a:p>
          <a:p>
            <a:pPr marL="742950" lvl="1" indent="-285750">
              <a:buFont typeface="Arial" panose="020B0604020202020204" pitchFamily="34" charset="0"/>
              <a:buChar char="•"/>
            </a:pPr>
            <a:r>
              <a:rPr lang="en-US" altLang="zh-CN" sz="2400" b="1" dirty="0" err="1">
                <a:latin typeface="微软雅黑" panose="020B0503020204020204" charset="-122"/>
                <a:ea typeface="微软雅黑" panose="020B0503020204020204" charset="-122"/>
                <a:cs typeface="微软雅黑" panose="020B0503020204020204" charset="-122"/>
                <a:sym typeface="+mn-ea"/>
              </a:rPr>
              <a:t>MindSpore手写数字识别</a:t>
            </a:r>
            <a:r>
              <a:rPr lang="zh-CN" altLang="en-US" sz="2400" b="1" dirty="0">
                <a:latin typeface="微软雅黑" panose="020B0503020204020204" charset="-122"/>
                <a:ea typeface="微软雅黑" panose="020B0503020204020204" charset="-122"/>
                <a:cs typeface="微软雅黑" panose="020B0503020204020204" charset="-122"/>
                <a:sym typeface="+mn-ea"/>
              </a:rPr>
              <a:t>例子</a:t>
            </a:r>
            <a:r>
              <a:rPr lang="en-US" altLang="zh-CN" sz="2400" b="1" dirty="0">
                <a:latin typeface="微软雅黑" panose="020B0503020204020204" charset="-122"/>
                <a:ea typeface="微软雅黑" panose="020B0503020204020204" charset="-122"/>
                <a:cs typeface="微软雅黑" panose="020B0503020204020204" charset="-122"/>
                <a:sym typeface="+mn-ea"/>
              </a:rPr>
              <a:t> </a:t>
            </a:r>
            <a:r>
              <a:rPr lang="en-US" altLang="zh-CN" sz="2400" b="1" dirty="0">
                <a:latin typeface="微软雅黑" panose="020B0503020204020204" charset="-122"/>
                <a:ea typeface="微软雅黑" panose="020B0503020204020204" charset="-122"/>
                <a:sym typeface="+mn-ea"/>
                <a:hlinkClick r:id="rId3">
                  <a:extLst>
                    <a:ext uri="{A12FA001-AC4F-418D-AE19-62706E023703}">
                      <ahyp:hlinkClr xmlns:ahyp="http://schemas.microsoft.com/office/drawing/2018/hyperlinkcolor" val="tx"/>
                    </a:ext>
                  </a:extLst>
                </a:hlinkClick>
              </a:rPr>
              <a:t>👉</a:t>
            </a:r>
            <a:r>
              <a:rPr lang="en-US" altLang="zh-CN" sz="2400" b="1" dirty="0" err="1">
                <a:latin typeface="微软雅黑" panose="020B0503020204020204" charset="-122"/>
                <a:ea typeface="微软雅黑" panose="020B0503020204020204" charset="-122"/>
                <a:sym typeface="+mn-ea"/>
                <a:hlinkClick r:id="rId3">
                  <a:extLst>
                    <a:ext uri="{A12FA001-AC4F-418D-AE19-62706E023703}">
                      <ahyp:hlinkClr xmlns:ahyp="http://schemas.microsoft.com/office/drawing/2018/hyperlinkcolor" val="tx"/>
                    </a:ext>
                  </a:extLst>
                </a:hlinkClick>
              </a:rPr>
              <a:t>链接</a:t>
            </a:r>
            <a:endParaRPr lang="en-US" altLang="zh-CN" sz="2400" b="1" dirty="0">
              <a:latin typeface="微软雅黑" panose="020B0503020204020204" charset="-122"/>
              <a:ea typeface="微软雅黑" panose="020B0503020204020204" charset="-122"/>
              <a:sym typeface="+mn-ea"/>
            </a:endParaRPr>
          </a:p>
          <a:p>
            <a:pPr marL="285750" indent="-285750">
              <a:buFont typeface="Arial" panose="020B0604020202020204" pitchFamily="34" charset="0"/>
              <a:buChar char="•"/>
            </a:pPr>
            <a:endParaRPr lang="en-US" altLang="zh-CN" sz="2000" b="1" dirty="0">
              <a:latin typeface="微软雅黑" panose="020B0503020204020204" charset="-122"/>
              <a:ea typeface="微软雅黑" panose="020B0503020204020204" charset="-122"/>
              <a:cs typeface="微软雅黑" panose="020B0503020204020204" charset="-122"/>
              <a:sym typeface="+mn-ea"/>
            </a:endParaRPr>
          </a:p>
          <a:p>
            <a:pPr marL="285750" indent="-285750">
              <a:buFont typeface="Arial" panose="020B0604020202020204" pitchFamily="34" charset="0"/>
              <a:buChar char="•"/>
            </a:pPr>
            <a:endParaRPr lang="en-US" altLang="zh-CN" sz="2000" b="1" dirty="0">
              <a:latin typeface="微软雅黑" panose="020B0503020204020204" charset="-122"/>
              <a:ea typeface="微软雅黑" panose="020B0503020204020204" charset="-122"/>
              <a:cs typeface="微软雅黑" panose="020B0503020204020204" charset="-122"/>
              <a:sym typeface="+mn-ea"/>
            </a:endParaRPr>
          </a:p>
          <a:p>
            <a:pPr marL="285750" indent="-285750">
              <a:buFont typeface="Arial" panose="020B0604020202020204" pitchFamily="34" charset="0"/>
              <a:buChar char="•"/>
            </a:pPr>
            <a:r>
              <a:rPr lang="zh-CN" altLang="en-US" sz="2000" b="1" dirty="0">
                <a:latin typeface="微软雅黑" panose="020B0503020204020204" charset="-122"/>
                <a:ea typeface="微软雅黑" panose="020B0503020204020204" charset="-122"/>
                <a:cs typeface="微软雅黑" panose="020B0503020204020204" charset="-122"/>
                <a:sym typeface="+mn-ea"/>
              </a:rPr>
              <a:t>附录</a:t>
            </a:r>
            <a:endParaRPr lang="en-US" altLang="zh-CN" sz="2000" b="1" dirty="0">
              <a:latin typeface="微软雅黑" panose="020B0503020204020204" charset="-122"/>
              <a:ea typeface="微软雅黑" panose="020B0503020204020204" charset="-122"/>
              <a:cs typeface="微软雅黑" panose="020B0503020204020204" charset="-122"/>
              <a:sym typeface="+mn-ea"/>
            </a:endParaRPr>
          </a:p>
          <a:p>
            <a:pPr marL="285750" indent="-285750">
              <a:buFont typeface="Arial" panose="020B0604020202020204" pitchFamily="34" charset="0"/>
              <a:buChar char="•"/>
            </a:pPr>
            <a:endParaRPr lang="en-US" altLang="zh-CN" sz="2000" b="1" dirty="0">
              <a:latin typeface="微软雅黑" panose="020B0503020204020204" charset="-122"/>
              <a:ea typeface="微软雅黑" panose="020B0503020204020204" charset="-122"/>
              <a:cs typeface="微软雅黑" panose="020B0503020204020204" charset="-122"/>
              <a:sym typeface="+mn-ea"/>
            </a:endParaRPr>
          </a:p>
          <a:p>
            <a:pPr marL="742950" lvl="1" indent="-285750">
              <a:buFont typeface="Arial" panose="020B0604020202020204" pitchFamily="34" charset="0"/>
              <a:buChar char="•"/>
            </a:pPr>
            <a:r>
              <a:rPr lang="en-US" altLang="zh-CN" sz="2000" dirty="0">
                <a:latin typeface="微软雅黑" panose="020B0503020204020204" charset="-122"/>
                <a:ea typeface="微软雅黑" panose="020B0503020204020204" charset="-122"/>
                <a:cs typeface="微软雅黑" panose="020B0503020204020204" charset="-122"/>
                <a:sym typeface="+mn-ea"/>
              </a:rPr>
              <a:t>MindSpore</a:t>
            </a:r>
            <a:r>
              <a:rPr lang="zh-CN" altLang="en-US" sz="2000" dirty="0">
                <a:latin typeface="微软雅黑" panose="020B0503020204020204" charset="-122"/>
                <a:ea typeface="微软雅黑" panose="020B0503020204020204" charset="-122"/>
                <a:cs typeface="微软雅黑" panose="020B0503020204020204" charset="-122"/>
                <a:sym typeface="+mn-ea"/>
              </a:rPr>
              <a:t>教程文档</a:t>
            </a:r>
            <a:r>
              <a:rPr lang="en-US" altLang="zh-CN" sz="2000" dirty="0">
                <a:latin typeface="微软雅黑" panose="020B0503020204020204" charset="-122"/>
                <a:ea typeface="微软雅黑" panose="020B0503020204020204" charset="-122"/>
                <a:cs typeface="微软雅黑" panose="020B0503020204020204" charset="-122"/>
                <a:sym typeface="+mn-ea"/>
              </a:rPr>
              <a:t>  👉</a:t>
            </a:r>
            <a:r>
              <a:rPr lang="en-US" altLang="zh-CN" sz="2000" dirty="0" err="1">
                <a:latin typeface="微软雅黑" panose="020B0503020204020204" charset="-122"/>
                <a:ea typeface="微软雅黑" panose="020B0503020204020204" charset="-122"/>
                <a:cs typeface="微软雅黑" panose="020B0503020204020204" charset="-122"/>
                <a:sym typeface="+mn-ea"/>
                <a:hlinkClick r:id="rId4">
                  <a:extLst>
                    <a:ext uri="{A12FA001-AC4F-418D-AE19-62706E023703}">
                      <ahyp:hlinkClr xmlns:ahyp="http://schemas.microsoft.com/office/drawing/2018/hyperlinkcolor" val="tx"/>
                    </a:ext>
                  </a:extLst>
                </a:hlinkClick>
              </a:rPr>
              <a:t>链接</a:t>
            </a:r>
            <a:endParaRPr lang="en-US" altLang="zh-CN" sz="2000" b="1" dirty="0">
              <a:latin typeface="微软雅黑" panose="020B0503020204020204" charset="-122"/>
              <a:ea typeface="微软雅黑" panose="020B0503020204020204" charset="-122"/>
              <a:cs typeface="微软雅黑" panose="020B0503020204020204" charset="-122"/>
              <a:sym typeface="+mn-ea"/>
            </a:endParaRPr>
          </a:p>
          <a:p>
            <a:pPr marL="742950" lvl="1" indent="-285750">
              <a:buFont typeface="Arial" panose="020B0604020202020204" pitchFamily="34" charset="0"/>
              <a:buChar char="•"/>
            </a:pPr>
            <a:endParaRPr lang="en-US" altLang="zh-CN" sz="2000" b="1" dirty="0">
              <a:latin typeface="微软雅黑" panose="020B0503020204020204" charset="-122"/>
              <a:ea typeface="微软雅黑" panose="020B0503020204020204" charset="-122"/>
              <a:cs typeface="微软雅黑" panose="020B0503020204020204" charset="-122"/>
              <a:sym typeface="+mn-ea"/>
            </a:endParaRPr>
          </a:p>
          <a:p>
            <a:pPr marL="742950" lvl="1" indent="-285750">
              <a:buFont typeface="Arial" panose="020B0604020202020204" pitchFamily="34" charset="0"/>
              <a:buChar char="•"/>
            </a:pPr>
            <a:r>
              <a:rPr lang="en-US" altLang="zh-CN" dirty="0" err="1">
                <a:latin typeface="微软雅黑" panose="020B0503020204020204" charset="-122"/>
                <a:ea typeface="微软雅黑" panose="020B0503020204020204" charset="-122"/>
                <a:cs typeface="微软雅黑" panose="020B0503020204020204" charset="-122"/>
                <a:sym typeface="+mn-ea"/>
              </a:rPr>
              <a:t>华为认证MindSpore高级工程师在线课程</a:t>
            </a:r>
            <a:r>
              <a:rPr lang="en-US" altLang="zh-CN" dirty="0">
                <a:latin typeface="微软雅黑" panose="020B0503020204020204" charset="-122"/>
                <a:ea typeface="微软雅黑" panose="020B0503020204020204" charset="-122"/>
                <a:cs typeface="微软雅黑" panose="020B0503020204020204" charset="-122"/>
                <a:sym typeface="+mn-ea"/>
              </a:rPr>
              <a:t> 👉</a:t>
            </a:r>
            <a:r>
              <a:rPr lang="en-US" altLang="zh-CN" dirty="0" err="1">
                <a:latin typeface="微软雅黑" panose="020B0503020204020204" charset="-122"/>
                <a:ea typeface="微软雅黑" panose="020B0503020204020204" charset="-122"/>
                <a:cs typeface="微软雅黑" panose="020B0503020204020204" charset="-122"/>
                <a:sym typeface="+mn-ea"/>
                <a:hlinkClick r:id="rId5" action="ppaction://hlinkfile">
                  <a:extLst>
                    <a:ext uri="{A12FA001-AC4F-418D-AE19-62706E023703}">
                      <ahyp:hlinkClr xmlns:ahyp="http://schemas.microsoft.com/office/drawing/2018/hyperlinkcolor" val="tx"/>
                    </a:ext>
                  </a:extLst>
                </a:hlinkClick>
              </a:rPr>
              <a:t>链接</a:t>
            </a:r>
            <a:endParaRPr lang="en-US" altLang="zh-CN" dirty="0">
              <a:latin typeface="微软雅黑" panose="020B0503020204020204" charset="-122"/>
              <a:ea typeface="微软雅黑" panose="020B0503020204020204" charset="-122"/>
              <a:cs typeface="微软雅黑" panose="020B0503020204020204" charset="-122"/>
              <a:sym typeface="+mn-ea"/>
              <a:hlinkClick r:id="rId5" action="ppaction://hlinkfile">
                <a:extLst>
                  <a:ext uri="{A12FA001-AC4F-418D-AE19-62706E023703}">
                    <ahyp:hlinkClr xmlns:ahyp="http://schemas.microsoft.com/office/drawing/2018/hyperlinkcolor" val="tx"/>
                  </a:ext>
                </a:extLst>
              </a:hlinkClick>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F94085F-350C-72CE-B6F3-8AB9FA5FB460}"/>
              </a:ext>
            </a:extLst>
          </p:cNvPr>
          <p:cNvSpPr/>
          <p:nvPr/>
        </p:nvSpPr>
        <p:spPr>
          <a:xfrm>
            <a:off x="1619672" y="2964755"/>
            <a:ext cx="6192688" cy="1055489"/>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文本框 2">
            <a:extLst>
              <a:ext uri="{FF2B5EF4-FFF2-40B4-BE49-F238E27FC236}">
                <a16:creationId xmlns:a16="http://schemas.microsoft.com/office/drawing/2014/main" id="{C06EB164-E0D4-12BB-693A-EDB5369F5DBD}"/>
              </a:ext>
            </a:extLst>
          </p:cNvPr>
          <p:cNvSpPr txBox="1"/>
          <p:nvPr/>
        </p:nvSpPr>
        <p:spPr>
          <a:xfrm>
            <a:off x="1547664" y="3075058"/>
            <a:ext cx="6336704" cy="707886"/>
          </a:xfrm>
          <a:prstGeom prst="rect">
            <a:avLst/>
          </a:prstGeom>
          <a:noFill/>
        </p:spPr>
        <p:txBody>
          <a:bodyPr wrap="square">
            <a:spAutoFit/>
          </a:bodyPr>
          <a:lstStyle/>
          <a:p>
            <a:pPr lvl="1"/>
            <a:r>
              <a:rPr lang="en-US" altLang="zh-CN" sz="4000" b="1" dirty="0">
                <a:solidFill>
                  <a:schemeClr val="bg1"/>
                </a:solidFill>
                <a:latin typeface="微软雅黑" panose="020B0503020204020204" charset="-122"/>
                <a:ea typeface="微软雅黑" panose="020B0503020204020204" charset="-122"/>
                <a:cs typeface="微软雅黑" panose="020B0503020204020204" charset="-122"/>
                <a:sym typeface="+mn-ea"/>
              </a:rPr>
              <a:t>MindSpore</a:t>
            </a:r>
            <a:r>
              <a:rPr lang="zh-CN" altLang="en-US" sz="4000" b="1" dirty="0">
                <a:solidFill>
                  <a:schemeClr val="bg1"/>
                </a:solidFill>
                <a:latin typeface="微软雅黑" panose="020B0503020204020204" charset="-122"/>
                <a:ea typeface="微软雅黑" panose="020B0503020204020204" charset="-122"/>
                <a:cs typeface="微软雅黑" panose="020B0503020204020204" charset="-122"/>
                <a:sym typeface="+mn-ea"/>
              </a:rPr>
              <a:t>安装</a:t>
            </a:r>
            <a:r>
              <a:rPr lang="en-US" altLang="zh-CN" sz="4000" b="1"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sz="4000" b="1"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en-US" altLang="zh-CN" sz="3600" b="1" dirty="0" err="1">
                <a:solidFill>
                  <a:srgbClr val="FFC000"/>
                </a:solidFill>
                <a:latin typeface="微软雅黑" panose="020B0503020204020204" charset="-122"/>
                <a:ea typeface="微软雅黑" panose="020B0503020204020204" charset="-122"/>
                <a:sym typeface="+mn-ea"/>
                <a:hlinkClick r:id="rId2">
                  <a:extLst>
                    <a:ext uri="{A12FA001-AC4F-418D-AE19-62706E023703}">
                      <ahyp:hlinkClr xmlns:ahyp="http://schemas.microsoft.com/office/drawing/2018/hyperlinkcolor" val="tx"/>
                    </a:ext>
                  </a:extLst>
                </a:hlinkClick>
              </a:rPr>
              <a:t>链接</a:t>
            </a:r>
            <a:endParaRPr lang="en-US" altLang="zh-CN" sz="3600" b="1" dirty="0">
              <a:solidFill>
                <a:srgbClr val="FFC000"/>
              </a:solidFill>
              <a:latin typeface="微软雅黑" panose="020B0503020204020204" charset="-122"/>
              <a:ea typeface="微软雅黑" panose="020B0503020204020204" charset="-122"/>
              <a:sym typeface="+mn-ea"/>
            </a:endParaRPr>
          </a:p>
        </p:txBody>
      </p:sp>
    </p:spTree>
    <p:extLst>
      <p:ext uri="{BB962C8B-B14F-4D97-AF65-F5344CB8AC3E}">
        <p14:creationId xmlns:p14="http://schemas.microsoft.com/office/powerpoint/2010/main" val="24972295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
          <p:cNvSpPr/>
          <p:nvPr/>
        </p:nvSpPr>
        <p:spPr>
          <a:xfrm>
            <a:off x="0" y="188595"/>
            <a:ext cx="241998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4" name="图片 3"/>
          <p:cNvPicPr>
            <a:picLocks noChangeAspect="1"/>
          </p:cNvPicPr>
          <p:nvPr/>
        </p:nvPicPr>
        <p:blipFill>
          <a:blip r:embed="rId3"/>
          <a:stretch>
            <a:fillRect/>
          </a:stretch>
        </p:blipFill>
        <p:spPr>
          <a:xfrm>
            <a:off x="467360" y="836295"/>
            <a:ext cx="3882390" cy="3022600"/>
          </a:xfrm>
          <a:prstGeom prst="rect">
            <a:avLst/>
          </a:prstGeom>
        </p:spPr>
      </p:pic>
      <p:pic>
        <p:nvPicPr>
          <p:cNvPr id="2" name="内容占位符 1"/>
          <p:cNvPicPr>
            <a:picLocks noGrp="1" noChangeAspect="1"/>
          </p:cNvPicPr>
          <p:nvPr>
            <p:ph idx="4294967295"/>
            <p:custDataLst>
              <p:tags r:id="rId1"/>
            </p:custDataLst>
          </p:nvPr>
        </p:nvPicPr>
        <p:blipFill>
          <a:blip r:embed="rId4"/>
          <a:stretch>
            <a:fillRect/>
          </a:stretch>
        </p:blipFill>
        <p:spPr>
          <a:xfrm>
            <a:off x="5295900" y="863600"/>
            <a:ext cx="3848100" cy="2995613"/>
          </a:xfrm>
          <a:prstGeom prst="rect">
            <a:avLst/>
          </a:prstGeom>
        </p:spPr>
      </p:pic>
      <p:sp>
        <p:nvSpPr>
          <p:cNvPr id="9" name="object 3"/>
          <p:cNvSpPr txBox="1">
            <a:spLocks noGrp="1"/>
          </p:cNvSpPr>
          <p:nvPr>
            <p:ph type="title" idx="4294967295"/>
          </p:nvPr>
        </p:nvSpPr>
        <p:spPr>
          <a:xfrm>
            <a:off x="0" y="269875"/>
            <a:ext cx="2116138" cy="317500"/>
          </a:xfrm>
          <a:prstGeom prst="rect">
            <a:avLst/>
          </a:prstGeom>
        </p:spPr>
        <p:txBody>
          <a:bodyPr vert="horz" wrap="square" lIns="0" tIns="10953" rIns="0" bIns="0" rtlCol="0">
            <a:spAutoFit/>
          </a:bodyPr>
          <a:lstStyle/>
          <a:p>
            <a:pPr marL="12700">
              <a:lnSpc>
                <a:spcPct val="100000"/>
              </a:lnSpc>
              <a:spcBef>
                <a:spcPts val="115"/>
              </a:spcBef>
            </a:pPr>
            <a:r>
              <a:rPr lang="en-US" altLang="zh-CN" sz="2000" spc="15" dirty="0">
                <a:solidFill>
                  <a:schemeClr val="bg1"/>
                </a:solidFill>
                <a:latin typeface="微软雅黑" panose="020B0503020204020204" charset="-122"/>
                <a:ea typeface="微软雅黑" panose="020B0503020204020204" charset="-122"/>
                <a:cs typeface="微软雅黑" panose="020B0503020204020204" charset="-122"/>
              </a:rPr>
              <a:t>Anaconda</a:t>
            </a: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安装</a:t>
            </a:r>
          </a:p>
        </p:txBody>
      </p:sp>
      <p:pic>
        <p:nvPicPr>
          <p:cNvPr id="3" name="内容占位符 3"/>
          <p:cNvPicPr>
            <a:picLocks noChangeAspect="1"/>
          </p:cNvPicPr>
          <p:nvPr/>
        </p:nvPicPr>
        <p:blipFill>
          <a:blip r:embed="rId5"/>
          <a:srcRect b="12591"/>
          <a:stretch>
            <a:fillRect/>
          </a:stretch>
        </p:blipFill>
        <p:spPr>
          <a:xfrm>
            <a:off x="899592" y="4075109"/>
            <a:ext cx="7144778" cy="2654657"/>
          </a:xfrm>
          <a:prstGeom prst="rect">
            <a:avLst/>
          </a:prstGeom>
        </p:spPr>
      </p:pic>
      <p:sp>
        <p:nvSpPr>
          <p:cNvPr id="8" name="文本框 7"/>
          <p:cNvSpPr txBox="1"/>
          <p:nvPr/>
        </p:nvSpPr>
        <p:spPr>
          <a:xfrm>
            <a:off x="2555875" y="269875"/>
            <a:ext cx="1554480" cy="368300"/>
          </a:xfrm>
          <a:prstGeom prst="rect">
            <a:avLst/>
          </a:prstGeom>
          <a:noFill/>
        </p:spPr>
        <p:txBody>
          <a:bodyPr wrap="none" rtlCol="0">
            <a:spAutoFit/>
          </a:bodyPr>
          <a:lstStyle/>
          <a:p>
            <a:pPr algn="l"/>
            <a:r>
              <a:rPr lang="en-US" altLang="zh-CN" sz="1800">
                <a:latin typeface="微软雅黑" panose="020B0503020204020204" charset="-122"/>
                <a:ea typeface="微软雅黑" panose="020B0503020204020204" charset="-122"/>
                <a:cs typeface="微软雅黑" panose="020B0503020204020204" charset="-122"/>
                <a:hlinkClick r:id="rId6" action="ppaction://hlinkfile">
                  <a:extLst>
                    <a:ext uri="{A12FA001-AC4F-418D-AE19-62706E023703}">
                      <ahyp:hlinkClr xmlns:ahyp="http://schemas.microsoft.com/office/drawing/2018/hyperlinkcolor" val="tx"/>
                    </a:ext>
                  </a:extLst>
                </a:hlinkClick>
              </a:rPr>
              <a:t>参考配置链接</a:t>
            </a:r>
            <a:endParaRPr lang="en-US" altLang="zh-CN" sz="1800">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7632" y="980728"/>
            <a:ext cx="7992943" cy="5355312"/>
          </a:xfrm>
          <a:prstGeom prst="rect">
            <a:avLst/>
          </a:prstGeom>
          <a:noFill/>
        </p:spPr>
        <p:txBody>
          <a:bodyPr wrap="square" rtlCol="0" anchor="t">
            <a:spAutoFit/>
          </a:bodyPr>
          <a:lstStyle/>
          <a:p>
            <a:pPr marL="342900" indent="-342900">
              <a:buFont typeface="Arial" panose="020B0604020202020204" pitchFamily="34" charset="0"/>
              <a:buAutoNum type="arabicPeriod"/>
            </a:pPr>
            <a:r>
              <a:rPr lang="en-US" altLang="zh-CN" dirty="0" err="1">
                <a:ea typeface="微软雅黑" panose="020B0503020204020204" charset="-122"/>
                <a:cs typeface="Arial" panose="020B0604020202020204" pitchFamily="34" charset="0"/>
                <a:sym typeface="+mn-ea"/>
              </a:rPr>
              <a:t>conda</a:t>
            </a:r>
            <a:r>
              <a:rPr lang="zh-CN" altLang="en-US" dirty="0">
                <a:ea typeface="微软雅黑" panose="020B0503020204020204" charset="-122"/>
                <a:cs typeface="Arial" panose="020B0604020202020204" pitchFamily="34" charset="0"/>
                <a:sym typeface="+mn-ea"/>
              </a:rPr>
              <a:t>添加源（上一页</a:t>
            </a:r>
            <a:r>
              <a:rPr lang="en-US" altLang="zh-CN" dirty="0">
                <a:ea typeface="微软雅黑" panose="020B0503020204020204" charset="-122"/>
                <a:cs typeface="Arial" panose="020B0604020202020204" pitchFamily="34" charset="0"/>
                <a:sym typeface="+mn-ea"/>
              </a:rPr>
              <a:t>ppt</a:t>
            </a:r>
            <a:r>
              <a:rPr lang="zh-CN" altLang="en-US" dirty="0">
                <a:ea typeface="微软雅黑" panose="020B0503020204020204" charset="-122"/>
                <a:cs typeface="Arial" panose="020B0604020202020204" pitchFamily="34" charset="0"/>
                <a:sym typeface="+mn-ea"/>
              </a:rPr>
              <a:t>）</a:t>
            </a:r>
            <a:endParaRPr lang="en-US" altLang="zh-CN" dirty="0">
              <a:ea typeface="微软雅黑" panose="020B0503020204020204" charset="-122"/>
              <a:cs typeface="Arial" panose="020B0604020202020204" pitchFamily="34" charset="0"/>
              <a:sym typeface="+mn-ea"/>
            </a:endParaRPr>
          </a:p>
          <a:p>
            <a:pPr marL="342900" indent="-342900">
              <a:buFont typeface="Arial" panose="020B0604020202020204" pitchFamily="34" charset="0"/>
              <a:buAutoNum type="arabicPeriod"/>
            </a:pPr>
            <a:endParaRPr lang="en-US" altLang="zh-CN" dirty="0">
              <a:ea typeface="微软雅黑" panose="020B0503020204020204" charset="-122"/>
              <a:cs typeface="Arial" panose="020B0604020202020204" pitchFamily="34" charset="0"/>
              <a:sym typeface="+mn-ea"/>
            </a:endParaRPr>
          </a:p>
          <a:p>
            <a:pPr marL="342900" indent="-342900">
              <a:buFont typeface="Arial" panose="020B0604020202020204" pitchFamily="34" charset="0"/>
              <a:buAutoNum type="arabicPeriod"/>
            </a:pPr>
            <a:r>
              <a:rPr lang="en-US" altLang="zh-CN" dirty="0">
                <a:ea typeface="微软雅黑" panose="020B0503020204020204" charset="-122"/>
                <a:cs typeface="Arial" panose="020B0604020202020204" pitchFamily="34" charset="0"/>
                <a:sym typeface="+mn-ea"/>
              </a:rPr>
              <a:t>&gt; </a:t>
            </a:r>
            <a:r>
              <a:rPr lang="zh-CN" altLang="en-US" dirty="0">
                <a:ea typeface="微软雅黑" panose="020B0503020204020204" charset="-122"/>
                <a:cs typeface="Arial" panose="020B0604020202020204" pitchFamily="34" charset="0"/>
                <a:sym typeface="+mn-ea"/>
              </a:rPr>
              <a:t>conda create --name </a:t>
            </a:r>
            <a:r>
              <a:rPr lang="en-US" altLang="zh-CN" dirty="0" err="1">
                <a:ea typeface="微软雅黑" panose="020B0503020204020204" charset="-122"/>
                <a:cs typeface="Arial" panose="020B0604020202020204" pitchFamily="34" charset="0"/>
                <a:sym typeface="+mn-ea"/>
              </a:rPr>
              <a:t>mindspore</a:t>
            </a:r>
            <a:r>
              <a:rPr lang="en-US" altLang="zh-CN" dirty="0">
                <a:ea typeface="微软雅黑" panose="020B0503020204020204" charset="-122"/>
                <a:cs typeface="Arial" panose="020B0604020202020204" pitchFamily="34" charset="0"/>
                <a:sym typeface="+mn-ea"/>
              </a:rPr>
              <a:t> </a:t>
            </a:r>
            <a:r>
              <a:rPr lang="zh-CN" altLang="en-US" dirty="0">
                <a:ea typeface="微软雅黑" panose="020B0503020204020204" charset="-122"/>
                <a:cs typeface="Arial" panose="020B0604020202020204" pitchFamily="34" charset="0"/>
                <a:sym typeface="+mn-ea"/>
              </a:rPr>
              <a:t>python</a:t>
            </a:r>
            <a:r>
              <a:rPr lang="en-US" altLang="zh-CN" dirty="0">
                <a:ea typeface="微软雅黑" panose="020B0503020204020204" charset="-122"/>
                <a:cs typeface="Arial" panose="020B0604020202020204" pitchFamily="34" charset="0"/>
                <a:sym typeface="+mn-ea"/>
              </a:rPr>
              <a:t>=</a:t>
            </a:r>
            <a:r>
              <a:rPr lang="zh-CN" altLang="en-US" dirty="0">
                <a:ea typeface="微软雅黑" panose="020B0503020204020204" charset="-122"/>
                <a:cs typeface="Arial" panose="020B0604020202020204" pitchFamily="34" charset="0"/>
                <a:sym typeface="+mn-ea"/>
              </a:rPr>
              <a:t>3.</a:t>
            </a:r>
            <a:r>
              <a:rPr lang="en-US" altLang="zh-CN" dirty="0">
                <a:ea typeface="微软雅黑" panose="020B0503020204020204" charset="-122"/>
                <a:cs typeface="Arial" panose="020B0604020202020204" pitchFamily="34" charset="0"/>
                <a:sym typeface="+mn-ea"/>
              </a:rPr>
              <a:t>7.5  </a:t>
            </a:r>
          </a:p>
          <a:p>
            <a:pPr marL="342900" indent="-342900">
              <a:buFont typeface="Arial" panose="020B0604020202020204" pitchFamily="34" charset="0"/>
              <a:buAutoNum type="arabicPeriod"/>
            </a:pPr>
            <a:endParaRPr lang="en-US" altLang="zh-CN" dirty="0">
              <a:ea typeface="微软雅黑" panose="020B0503020204020204" charset="-122"/>
              <a:cs typeface="Arial" panose="020B0604020202020204" pitchFamily="34" charset="0"/>
              <a:sym typeface="+mn-ea"/>
            </a:endParaRPr>
          </a:p>
          <a:p>
            <a:pPr marL="342900" indent="-342900">
              <a:buFont typeface="Arial" panose="020B0604020202020204" pitchFamily="34" charset="0"/>
              <a:buAutoNum type="arabicPeriod"/>
            </a:pPr>
            <a:r>
              <a:rPr lang="en-US" altLang="zh-CN" dirty="0">
                <a:ea typeface="微软雅黑" panose="020B0503020204020204" charset="-122"/>
                <a:cs typeface="Arial" panose="020B0604020202020204" pitchFamily="34" charset="0"/>
                <a:sym typeface="+mn-ea"/>
              </a:rPr>
              <a:t>&gt; </a:t>
            </a:r>
            <a:r>
              <a:rPr lang="en-US" altLang="zh-CN" dirty="0" err="1">
                <a:ea typeface="微软雅黑" panose="020B0503020204020204" charset="-122"/>
                <a:cs typeface="Arial" panose="020B0604020202020204" pitchFamily="34" charset="0"/>
                <a:sym typeface="+mn-ea"/>
              </a:rPr>
              <a:t>conda</a:t>
            </a:r>
            <a:r>
              <a:rPr lang="en-US" altLang="zh-CN" dirty="0">
                <a:ea typeface="微软雅黑" panose="020B0503020204020204" charset="-122"/>
                <a:cs typeface="Arial" panose="020B0604020202020204" pitchFamily="34" charset="0"/>
                <a:sym typeface="+mn-ea"/>
              </a:rPr>
              <a:t> activate </a:t>
            </a:r>
            <a:r>
              <a:rPr lang="en-US" altLang="zh-CN" dirty="0" err="1">
                <a:ea typeface="微软雅黑" panose="020B0503020204020204" charset="-122"/>
                <a:cs typeface="Arial" panose="020B0604020202020204" pitchFamily="34" charset="0"/>
                <a:sym typeface="+mn-ea"/>
              </a:rPr>
              <a:t>mindspore</a:t>
            </a:r>
            <a:endParaRPr lang="zh-CN" altLang="en-US" dirty="0">
              <a:ea typeface="微软雅黑" panose="020B0503020204020204" charset="-122"/>
              <a:cs typeface="Arial" panose="020B0604020202020204" pitchFamily="34" charset="0"/>
              <a:sym typeface="+mn-ea"/>
            </a:endParaRPr>
          </a:p>
          <a:p>
            <a:pPr marL="342900" indent="-342900">
              <a:buFont typeface="Arial" panose="020B0604020202020204" pitchFamily="34" charset="0"/>
              <a:buAutoNum type="arabicPeriod"/>
            </a:pPr>
            <a:endParaRPr lang="zh-CN" altLang="en-US" dirty="0">
              <a:ea typeface="微软雅黑" panose="020B0503020204020204" charset="-122"/>
              <a:cs typeface="Arial" panose="020B0604020202020204" pitchFamily="34" charset="0"/>
            </a:endParaRPr>
          </a:p>
          <a:p>
            <a:pPr marL="342900" indent="-342900">
              <a:buFont typeface="Arial" panose="020B0604020202020204" pitchFamily="34" charset="0"/>
              <a:buAutoNum type="arabicPeriod"/>
            </a:pPr>
            <a:r>
              <a:rPr lang="en-US" altLang="zh-CN" dirty="0">
                <a:ea typeface="微软雅黑" panose="020B0503020204020204" charset="-122"/>
                <a:cs typeface="Arial" panose="020B0604020202020204" pitchFamily="34" charset="0"/>
                <a:sym typeface="+mn-ea"/>
              </a:rPr>
              <a:t>&gt; </a:t>
            </a:r>
            <a:r>
              <a:rPr lang="en-US" altLang="zh-CN" dirty="0">
                <a:ea typeface="微软雅黑" panose="020B0503020204020204" charset="-122"/>
                <a:cs typeface="Arial" panose="020B0604020202020204" pitchFamily="34" charset="0"/>
              </a:rPr>
              <a:t>pip install </a:t>
            </a:r>
            <a:r>
              <a:rPr lang="en-US" altLang="zh-CN" dirty="0" err="1">
                <a:ea typeface="微软雅黑" panose="020B0503020204020204" charset="-122"/>
                <a:cs typeface="Arial" panose="020B0604020202020204" pitchFamily="34" charset="0"/>
              </a:rPr>
              <a:t>tqdm</a:t>
            </a:r>
            <a:endParaRPr lang="en-US" altLang="zh-CN" dirty="0">
              <a:ea typeface="微软雅黑" panose="020B0503020204020204" charset="-122"/>
              <a:cs typeface="Arial" panose="020B0604020202020204" pitchFamily="34" charset="0"/>
            </a:endParaRPr>
          </a:p>
          <a:p>
            <a:pPr marL="342900" indent="-342900">
              <a:buFont typeface="Arial" panose="020B0604020202020204" pitchFamily="34" charset="0"/>
              <a:buAutoNum type="arabicPeriod"/>
            </a:pPr>
            <a:endParaRPr lang="zh-CN" altLang="en-US" dirty="0">
              <a:ea typeface="微软雅黑" panose="020B0503020204020204" charset="-122"/>
              <a:cs typeface="Arial" panose="020B0604020202020204" pitchFamily="34" charset="0"/>
            </a:endParaRPr>
          </a:p>
          <a:p>
            <a:pPr marL="342900" indent="-342900">
              <a:buFont typeface="Arial" panose="020B0604020202020204" pitchFamily="34" charset="0"/>
              <a:buAutoNum type="arabicPeriod"/>
            </a:pPr>
            <a:r>
              <a:rPr lang="en-US" altLang="zh-CN" dirty="0">
                <a:ea typeface="微软雅黑" panose="020B0503020204020204" charset="-122"/>
                <a:cs typeface="Arial" panose="020B0604020202020204" pitchFamily="34" charset="0"/>
                <a:sym typeface="+mn-ea"/>
              </a:rPr>
              <a:t>&gt; </a:t>
            </a:r>
            <a:r>
              <a:rPr lang="zh-CN" altLang="en-US" dirty="0">
                <a:ea typeface="微软雅黑" panose="020B0503020204020204" charset="-122"/>
                <a:cs typeface="Arial" panose="020B0604020202020204" pitchFamily="34" charset="0"/>
              </a:rPr>
              <a:t>pip install opencv-python</a:t>
            </a:r>
          </a:p>
          <a:p>
            <a:pPr marL="342900" indent="-342900">
              <a:buFont typeface="Arial" panose="020B0604020202020204" pitchFamily="34" charset="0"/>
              <a:buAutoNum type="arabicPeriod"/>
            </a:pPr>
            <a:endParaRPr lang="zh-CN" altLang="en-US" dirty="0">
              <a:ea typeface="微软雅黑" panose="020B0503020204020204" charset="-122"/>
              <a:cs typeface="Arial" panose="020B0604020202020204" pitchFamily="34" charset="0"/>
            </a:endParaRPr>
          </a:p>
          <a:p>
            <a:pPr marL="342900" indent="-342900">
              <a:buFont typeface="Arial" panose="020B0604020202020204" pitchFamily="34" charset="0"/>
              <a:buAutoNum type="arabicPeriod"/>
            </a:pPr>
            <a:r>
              <a:rPr lang="en-US" altLang="zh-CN" dirty="0">
                <a:ea typeface="微软雅黑" panose="020B0503020204020204" charset="-122"/>
                <a:cs typeface="Arial" panose="020B0604020202020204" pitchFamily="34" charset="0"/>
                <a:sym typeface="+mn-ea"/>
              </a:rPr>
              <a:t>&gt; </a:t>
            </a:r>
            <a:r>
              <a:rPr lang="zh-CN" altLang="en-US" dirty="0">
                <a:ea typeface="微软雅黑" panose="020B0503020204020204" charset="-122"/>
                <a:cs typeface="Arial" panose="020B0604020202020204" pitchFamily="34" charset="0"/>
              </a:rPr>
              <a:t>pip install pyyaml</a:t>
            </a:r>
          </a:p>
          <a:p>
            <a:pPr marL="342900" indent="-342900">
              <a:buFont typeface="Arial" panose="020B0604020202020204" pitchFamily="34" charset="0"/>
              <a:buAutoNum type="arabicPeriod"/>
            </a:pPr>
            <a:endParaRPr lang="zh-CN" altLang="en-US" dirty="0">
              <a:ea typeface="微软雅黑" panose="020B0503020204020204" charset="-122"/>
              <a:cs typeface="Arial" panose="020B0604020202020204" pitchFamily="34" charset="0"/>
            </a:endParaRPr>
          </a:p>
          <a:p>
            <a:pPr marL="342900" indent="-342900">
              <a:buFont typeface="Arial" panose="020B0604020202020204" pitchFamily="34" charset="0"/>
              <a:buAutoNum type="arabicPeriod"/>
            </a:pPr>
            <a:r>
              <a:rPr lang="en-US" altLang="zh-CN" dirty="0">
                <a:ea typeface="微软雅黑" panose="020B0503020204020204" charset="-122"/>
                <a:cs typeface="Arial" panose="020B0604020202020204" pitchFamily="34" charset="0"/>
                <a:sym typeface="+mn-ea"/>
              </a:rPr>
              <a:t>&gt; </a:t>
            </a:r>
            <a:r>
              <a:rPr lang="zh-CN" altLang="en-US" dirty="0">
                <a:ea typeface="微软雅黑" panose="020B0503020204020204" charset="-122"/>
                <a:cs typeface="Arial" panose="020B0604020202020204" pitchFamily="34" charset="0"/>
              </a:rPr>
              <a:t>pip install ml_collections</a:t>
            </a:r>
          </a:p>
          <a:p>
            <a:pPr marL="342900" indent="-342900">
              <a:buFont typeface="Arial" panose="020B0604020202020204" pitchFamily="34" charset="0"/>
              <a:buAutoNum type="arabicPeriod"/>
            </a:pPr>
            <a:endParaRPr lang="zh-CN" altLang="en-US" dirty="0">
              <a:ea typeface="微软雅黑" panose="020B0503020204020204" charset="-122"/>
              <a:cs typeface="Arial" panose="020B0604020202020204" pitchFamily="34" charset="0"/>
            </a:endParaRPr>
          </a:p>
          <a:p>
            <a:pPr marL="342900" indent="-342900">
              <a:buFont typeface="Arial" panose="020B0604020202020204" pitchFamily="34" charset="0"/>
              <a:buAutoNum type="arabicPeriod"/>
            </a:pPr>
            <a:endParaRPr lang="zh-CN" altLang="en-US" dirty="0">
              <a:ea typeface="微软雅黑" panose="020B0503020204020204" charset="-122"/>
              <a:cs typeface="Arial" panose="020B0604020202020204" pitchFamily="34" charset="0"/>
            </a:endParaRPr>
          </a:p>
          <a:p>
            <a:pPr marL="342900" indent="-342900">
              <a:buFont typeface="Arial" panose="020B0604020202020204" pitchFamily="34" charset="0"/>
              <a:buAutoNum type="arabicPeriod"/>
            </a:pPr>
            <a:r>
              <a:rPr lang="en-US" altLang="zh-CN" dirty="0">
                <a:ea typeface="微软雅黑" panose="020B0503020204020204" charset="-122"/>
                <a:cs typeface="Arial" panose="020B0604020202020204" pitchFamily="34" charset="0"/>
                <a:sym typeface="+mn-ea"/>
              </a:rPr>
              <a:t>&gt; </a:t>
            </a:r>
            <a:r>
              <a:rPr lang="en-US" altLang="zh-CN" dirty="0"/>
              <a:t>pip install https://ms-release.obs.cn-north-4.myhuaweicloud.com/2.2.13/MindSpore/unified/x86_64/mindspore-2.2.13-cp38-cp38-linux_x86_64.whl --trusted-host ms-release.obs.cn-north-4.myhuaweicloud.com -</a:t>
            </a:r>
            <a:r>
              <a:rPr lang="en-US" altLang="zh-CN" dirty="0" err="1"/>
              <a:t>i</a:t>
            </a:r>
            <a:r>
              <a:rPr lang="en-US" altLang="zh-CN" dirty="0"/>
              <a:t> https://pypi.tuna.tsinghua.edu.cn/simple</a:t>
            </a:r>
            <a:endParaRPr lang="zh-CN" altLang="en-US" dirty="0"/>
          </a:p>
        </p:txBody>
      </p:sp>
      <p:sp>
        <p:nvSpPr>
          <p:cNvPr id="11" name="Rectangle 1"/>
          <p:cNvSpPr/>
          <p:nvPr/>
        </p:nvSpPr>
        <p:spPr>
          <a:xfrm>
            <a:off x="0" y="188595"/>
            <a:ext cx="2989580"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9" name="object 3"/>
          <p:cNvSpPr txBox="1">
            <a:spLocks noGrp="1"/>
          </p:cNvSpPr>
          <p:nvPr>
            <p:ph type="title" idx="4294967295"/>
          </p:nvPr>
        </p:nvSpPr>
        <p:spPr>
          <a:xfrm>
            <a:off x="0" y="269875"/>
            <a:ext cx="2659063" cy="317500"/>
          </a:xfrm>
          <a:prstGeom prst="rect">
            <a:avLst/>
          </a:prstGeom>
        </p:spPr>
        <p:txBody>
          <a:bodyPr vert="horz" wrap="square" lIns="0" tIns="10953" rIns="0" bIns="0" rtlCol="0">
            <a:spAutoFit/>
          </a:bodyPr>
          <a:lstStyle/>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创建</a:t>
            </a:r>
            <a:r>
              <a:rPr lang="en-US" altLang="zh-CN" sz="2000" spc="15" dirty="0">
                <a:solidFill>
                  <a:schemeClr val="bg1"/>
                </a:solidFill>
                <a:latin typeface="微软雅黑" panose="020B0503020204020204" charset="-122"/>
                <a:ea typeface="微软雅黑" panose="020B0503020204020204" charset="-122"/>
                <a:cs typeface="微软雅黑" panose="020B0503020204020204" charset="-122"/>
              </a:rPr>
              <a:t>Python</a:t>
            </a: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环境参考</a:t>
            </a:r>
          </a:p>
        </p:txBody>
      </p:sp>
      <p:grpSp>
        <p:nvGrpSpPr>
          <p:cNvPr id="10" name="组合 9">
            <a:extLst>
              <a:ext uri="{FF2B5EF4-FFF2-40B4-BE49-F238E27FC236}">
                <a16:creationId xmlns:a16="http://schemas.microsoft.com/office/drawing/2014/main" id="{01BEC263-694F-9904-A436-38283EC76841}"/>
              </a:ext>
            </a:extLst>
          </p:cNvPr>
          <p:cNvGrpSpPr/>
          <p:nvPr/>
        </p:nvGrpSpPr>
        <p:grpSpPr>
          <a:xfrm>
            <a:off x="3927069" y="1947538"/>
            <a:ext cx="5113356" cy="3089924"/>
            <a:chOff x="3923928" y="1916832"/>
            <a:chExt cx="5113356" cy="3089924"/>
          </a:xfrm>
        </p:grpSpPr>
        <p:pic>
          <p:nvPicPr>
            <p:cNvPr id="6" name="图片 5">
              <a:extLst>
                <a:ext uri="{FF2B5EF4-FFF2-40B4-BE49-F238E27FC236}">
                  <a16:creationId xmlns:a16="http://schemas.microsoft.com/office/drawing/2014/main" id="{597236B9-207E-CE84-19D7-D84A0BF2307A}"/>
                </a:ext>
              </a:extLst>
            </p:cNvPr>
            <p:cNvPicPr>
              <a:picLocks noChangeAspect="1"/>
            </p:cNvPicPr>
            <p:nvPr/>
          </p:nvPicPr>
          <p:blipFill>
            <a:blip r:embed="rId2"/>
            <a:stretch>
              <a:fillRect/>
            </a:stretch>
          </p:blipFill>
          <p:spPr>
            <a:xfrm>
              <a:off x="3923928" y="1916832"/>
              <a:ext cx="5113356" cy="2720592"/>
            </a:xfrm>
            <a:prstGeom prst="rect">
              <a:avLst/>
            </a:prstGeom>
          </p:spPr>
        </p:pic>
        <p:sp>
          <p:nvSpPr>
            <p:cNvPr id="8" name="文本框 7">
              <a:extLst>
                <a:ext uri="{FF2B5EF4-FFF2-40B4-BE49-F238E27FC236}">
                  <a16:creationId xmlns:a16="http://schemas.microsoft.com/office/drawing/2014/main" id="{0E3CF7BE-3726-66AB-88BD-0AEF9A969857}"/>
                </a:ext>
              </a:extLst>
            </p:cNvPr>
            <p:cNvSpPr txBox="1"/>
            <p:nvPr/>
          </p:nvSpPr>
          <p:spPr>
            <a:xfrm>
              <a:off x="4932040" y="4637424"/>
              <a:ext cx="3277308" cy="369332"/>
            </a:xfrm>
            <a:prstGeom prst="rect">
              <a:avLst/>
            </a:prstGeom>
            <a:noFill/>
          </p:spPr>
          <p:txBody>
            <a:bodyPr wrap="square">
              <a:spAutoFit/>
            </a:bodyPr>
            <a:lstStyle/>
            <a:p>
              <a:pPr lvl="1"/>
              <a:r>
                <a:rPr lang="en-US" altLang="zh-CN" sz="1800" b="1" dirty="0">
                  <a:latin typeface="微软雅黑" panose="020B0503020204020204" charset="-122"/>
                  <a:ea typeface="微软雅黑" panose="020B0503020204020204" charset="-122"/>
                  <a:cs typeface="微软雅黑" panose="020B0503020204020204" charset="-122"/>
                  <a:sym typeface="+mn-ea"/>
                </a:rPr>
                <a:t>MindSpore</a:t>
              </a:r>
              <a:r>
                <a:rPr lang="zh-CN" altLang="en-US" sz="1800" b="1" dirty="0">
                  <a:latin typeface="微软雅黑" panose="020B0503020204020204" charset="-122"/>
                  <a:ea typeface="微软雅黑" panose="020B0503020204020204" charset="-122"/>
                  <a:cs typeface="微软雅黑" panose="020B0503020204020204" charset="-122"/>
                  <a:sym typeface="+mn-ea"/>
                </a:rPr>
                <a:t>安装</a:t>
              </a:r>
              <a:r>
                <a:rPr lang="en-US" altLang="zh-CN" sz="1800" b="1" dirty="0" err="1">
                  <a:solidFill>
                    <a:srgbClr val="C00000"/>
                  </a:solidFill>
                  <a:latin typeface="微软雅黑" panose="020B0503020204020204" charset="-122"/>
                  <a:ea typeface="微软雅黑" panose="020B0503020204020204" charset="-122"/>
                  <a:cs typeface="微软雅黑" panose="020B0503020204020204" charset="-122"/>
                  <a:sym typeface="+mn-ea"/>
                  <a:hlinkClick r:id="rId3">
                    <a:extLst>
                      <a:ext uri="{A12FA001-AC4F-418D-AE19-62706E023703}">
                        <ahyp:hlinkClr xmlns:ahyp="http://schemas.microsoft.com/office/drawing/2018/hyperlinkcolor" val="tx"/>
                      </a:ext>
                    </a:extLst>
                  </a:hlinkClick>
                </a:rPr>
                <a:t>链接</a:t>
              </a:r>
              <a:endParaRPr lang="en-US" altLang="zh-CN" sz="1800" b="1" dirty="0">
                <a:solidFill>
                  <a:srgbClr val="C00000"/>
                </a:solidFill>
                <a:latin typeface="微软雅黑" panose="020B0503020204020204" charset="-122"/>
                <a:ea typeface="微软雅黑" panose="020B0503020204020204" charset="-122"/>
                <a:cs typeface="微软雅黑" panose="020B0503020204020204" charset="-122"/>
                <a:sym typeface="+mn-ea"/>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animEffect transition="in" filter="blinds(horizontal)">
                                      <p:cBhvr>
                                        <p:cTn id="7" dur="500"/>
                                        <p:tgtEl>
                                          <p:spTgt spid="2">
                                            <p:txEl>
                                              <p:pRg st="6" end="6"/>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
                                            <p:txEl>
                                              <p:pRg st="8" end="8"/>
                                            </p:txEl>
                                          </p:spTgt>
                                        </p:tgtEl>
                                        <p:attrNameLst>
                                          <p:attrName>style.visibility</p:attrName>
                                        </p:attrNameLst>
                                      </p:cBhvr>
                                      <p:to>
                                        <p:strVal val="visible"/>
                                      </p:to>
                                    </p:set>
                                    <p:animEffect transition="in" filter="blinds(horizontal)">
                                      <p:cBhvr>
                                        <p:cTn id="10" dur="500"/>
                                        <p:tgtEl>
                                          <p:spTgt spid="2">
                                            <p:txEl>
                                              <p:pRg st="8" end="8"/>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
                                            <p:txEl>
                                              <p:pRg st="10" end="10"/>
                                            </p:txEl>
                                          </p:spTgt>
                                        </p:tgtEl>
                                        <p:attrNameLst>
                                          <p:attrName>style.visibility</p:attrName>
                                        </p:attrNameLst>
                                      </p:cBhvr>
                                      <p:to>
                                        <p:strVal val="visible"/>
                                      </p:to>
                                    </p:set>
                                    <p:animEffect transition="in" filter="blinds(horizontal)">
                                      <p:cBhvr>
                                        <p:cTn id="13" dur="500"/>
                                        <p:tgtEl>
                                          <p:spTgt spid="2">
                                            <p:txEl>
                                              <p:pRg st="10" end="10"/>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
                                            <p:txEl>
                                              <p:pRg st="12" end="12"/>
                                            </p:txEl>
                                          </p:spTgt>
                                        </p:tgtEl>
                                        <p:attrNameLst>
                                          <p:attrName>style.visibility</p:attrName>
                                        </p:attrNameLst>
                                      </p:cBhvr>
                                      <p:to>
                                        <p:strVal val="visible"/>
                                      </p:to>
                                    </p:set>
                                    <p:animEffect transition="in" filter="blinds(horizontal)">
                                      <p:cBhvr>
                                        <p:cTn id="16" dur="500"/>
                                        <p:tgtEl>
                                          <p:spTgt spid="2">
                                            <p:txEl>
                                              <p:pRg st="12" end="1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
                                            <p:txEl>
                                              <p:pRg st="15" end="15"/>
                                            </p:txEl>
                                          </p:spTgt>
                                        </p:tgtEl>
                                        <p:attrNameLst>
                                          <p:attrName>style.visibility</p:attrName>
                                        </p:attrNameLst>
                                      </p:cBhvr>
                                      <p:to>
                                        <p:strVal val="visible"/>
                                      </p:to>
                                    </p:set>
                                    <p:animEffect transition="in" filter="blinds(horizontal)">
                                      <p:cBhvr>
                                        <p:cTn id="21" dur="500"/>
                                        <p:tgtEl>
                                          <p:spTgt spid="2">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6BF4BFD6-B416-941D-7071-675EC2A59922}"/>
              </a:ext>
            </a:extLst>
          </p:cNvPr>
          <p:cNvGrpSpPr/>
          <p:nvPr/>
        </p:nvGrpSpPr>
        <p:grpSpPr>
          <a:xfrm>
            <a:off x="323528" y="2964754"/>
            <a:ext cx="8352928" cy="1055489"/>
            <a:chOff x="323528" y="2964754"/>
            <a:chExt cx="8352928" cy="1055489"/>
          </a:xfrm>
        </p:grpSpPr>
        <p:sp>
          <p:nvSpPr>
            <p:cNvPr id="4" name="Rectangle 1">
              <a:extLst>
                <a:ext uri="{FF2B5EF4-FFF2-40B4-BE49-F238E27FC236}">
                  <a16:creationId xmlns:a16="http://schemas.microsoft.com/office/drawing/2014/main" id="{B12FD44D-C68E-0D68-E28A-53F1D56F210E}"/>
                </a:ext>
              </a:extLst>
            </p:cNvPr>
            <p:cNvSpPr/>
            <p:nvPr/>
          </p:nvSpPr>
          <p:spPr>
            <a:xfrm>
              <a:off x="755576" y="2964754"/>
              <a:ext cx="7920880" cy="1055489"/>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文本框 2">
              <a:extLst>
                <a:ext uri="{FF2B5EF4-FFF2-40B4-BE49-F238E27FC236}">
                  <a16:creationId xmlns:a16="http://schemas.microsoft.com/office/drawing/2014/main" id="{B44621B4-78A3-A93C-3A83-F09853D8DC40}"/>
                </a:ext>
              </a:extLst>
            </p:cNvPr>
            <p:cNvSpPr txBox="1"/>
            <p:nvPr/>
          </p:nvSpPr>
          <p:spPr>
            <a:xfrm>
              <a:off x="323528" y="3169334"/>
              <a:ext cx="8136396" cy="646331"/>
            </a:xfrm>
            <a:prstGeom prst="rect">
              <a:avLst/>
            </a:prstGeom>
            <a:noFill/>
          </p:spPr>
          <p:txBody>
            <a:bodyPr wrap="square">
              <a:spAutoFit/>
            </a:bodyPr>
            <a:lstStyle/>
            <a:p>
              <a:pPr lvl="1"/>
              <a:r>
                <a:rPr lang="en-US" altLang="zh-CN" sz="3600" b="1" dirty="0" err="1">
                  <a:solidFill>
                    <a:schemeClr val="bg1"/>
                  </a:solidFill>
                  <a:latin typeface="微软雅黑" panose="020B0503020204020204" charset="-122"/>
                  <a:ea typeface="微软雅黑" panose="020B0503020204020204" charset="-122"/>
                  <a:cs typeface="微软雅黑" panose="020B0503020204020204" charset="-122"/>
                  <a:sym typeface="+mn-ea"/>
                </a:rPr>
                <a:t>MindSpore手写数字识别</a:t>
              </a:r>
              <a:r>
                <a:rPr lang="zh-CN" altLang="en-US" sz="3600" b="1" dirty="0">
                  <a:solidFill>
                    <a:schemeClr val="bg1"/>
                  </a:solidFill>
                  <a:latin typeface="微软雅黑" panose="020B0503020204020204" charset="-122"/>
                  <a:ea typeface="微软雅黑" panose="020B0503020204020204" charset="-122"/>
                  <a:cs typeface="微软雅黑" panose="020B0503020204020204" charset="-122"/>
                  <a:sym typeface="+mn-ea"/>
                </a:rPr>
                <a:t>例子</a:t>
              </a:r>
              <a:r>
                <a:rPr lang="en-US" altLang="zh-CN" sz="3600" b="1"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en-US" altLang="zh-CN" sz="3600" b="1" dirty="0" err="1">
                  <a:solidFill>
                    <a:srgbClr val="FFC000"/>
                  </a:solidFill>
                  <a:latin typeface="微软雅黑" panose="020B0503020204020204" charset="-122"/>
                  <a:ea typeface="微软雅黑" panose="020B0503020204020204" charset="-122"/>
                  <a:sym typeface="+mn-ea"/>
                  <a:hlinkClick r:id="rId2">
                    <a:extLst>
                      <a:ext uri="{A12FA001-AC4F-418D-AE19-62706E023703}">
                        <ahyp:hlinkClr xmlns:ahyp="http://schemas.microsoft.com/office/drawing/2018/hyperlinkcolor" val="tx"/>
                      </a:ext>
                    </a:extLst>
                  </a:hlinkClick>
                </a:rPr>
                <a:t>链接</a:t>
              </a:r>
              <a:endParaRPr lang="en-US" altLang="zh-CN" sz="3600" b="1" dirty="0">
                <a:solidFill>
                  <a:srgbClr val="FFC000"/>
                </a:solidFill>
                <a:latin typeface="微软雅黑" panose="020B0503020204020204" charset="-122"/>
                <a:ea typeface="微软雅黑" panose="020B0503020204020204" charset="-122"/>
                <a:sym typeface="+mn-ea"/>
              </a:endParaRPr>
            </a:p>
          </p:txBody>
        </p:sp>
      </p:grpSp>
    </p:spTree>
    <p:extLst>
      <p:ext uri="{BB962C8B-B14F-4D97-AF65-F5344CB8AC3E}">
        <p14:creationId xmlns:p14="http://schemas.microsoft.com/office/powerpoint/2010/main" val="3900867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E33C62AB-F41B-F9AC-8D2A-23C9CDBB45A2}"/>
              </a:ext>
            </a:extLst>
          </p:cNvPr>
          <p:cNvSpPr/>
          <p:nvPr/>
        </p:nvSpPr>
        <p:spPr>
          <a:xfrm>
            <a:off x="2267744" y="2964755"/>
            <a:ext cx="4740565" cy="1055489"/>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文本框 2">
            <a:extLst>
              <a:ext uri="{FF2B5EF4-FFF2-40B4-BE49-F238E27FC236}">
                <a16:creationId xmlns:a16="http://schemas.microsoft.com/office/drawing/2014/main" id="{24176006-6655-FBDB-2572-49C746EB5351}"/>
              </a:ext>
            </a:extLst>
          </p:cNvPr>
          <p:cNvSpPr txBox="1"/>
          <p:nvPr/>
        </p:nvSpPr>
        <p:spPr>
          <a:xfrm>
            <a:off x="2987824" y="3138557"/>
            <a:ext cx="3960440" cy="707886"/>
          </a:xfrm>
          <a:prstGeom prst="rect">
            <a:avLst/>
          </a:prstGeom>
          <a:noFill/>
        </p:spPr>
        <p:txBody>
          <a:bodyPr wrap="square" rtlCol="0">
            <a:spAutoFit/>
          </a:bodyPr>
          <a:lstStyle/>
          <a:p>
            <a:r>
              <a:rPr lang="zh-CN" altLang="en-US" sz="4000" b="1" dirty="0">
                <a:solidFill>
                  <a:schemeClr val="bg1"/>
                </a:solidFill>
                <a:latin typeface="微软雅黑" panose="020B0503020204020204" pitchFamily="34" charset="-122"/>
                <a:ea typeface="微软雅黑" panose="020B0503020204020204" pitchFamily="34" charset="-122"/>
              </a:rPr>
              <a:t>生成一个模型</a:t>
            </a:r>
          </a:p>
        </p:txBody>
      </p:sp>
    </p:spTree>
    <p:extLst>
      <p:ext uri="{BB962C8B-B14F-4D97-AF65-F5344CB8AC3E}">
        <p14:creationId xmlns:p14="http://schemas.microsoft.com/office/powerpoint/2010/main" val="6677530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
          <p:cNvSpPr/>
          <p:nvPr/>
        </p:nvSpPr>
        <p:spPr>
          <a:xfrm>
            <a:off x="0" y="188595"/>
            <a:ext cx="241998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object 3"/>
          <p:cNvSpPr txBox="1">
            <a:spLocks noGrp="1"/>
          </p:cNvSpPr>
          <p:nvPr>
            <p:ph type="title"/>
          </p:nvPr>
        </p:nvSpPr>
        <p:spPr>
          <a:xfrm>
            <a:off x="179705" y="269240"/>
            <a:ext cx="2115979" cy="318135"/>
          </a:xfrm>
          <a:prstGeom prst="rect">
            <a:avLst/>
          </a:prstGeom>
        </p:spPr>
        <p:txBody>
          <a:bodyPr vert="horz" wrap="square" lIns="0" tIns="10953" rIns="0" bIns="0" rtlCol="0">
            <a:spAutoFit/>
          </a:bodyPr>
          <a:lstStyle/>
          <a:p>
            <a:pPr marL="12700">
              <a:lnSpc>
                <a:spcPct val="100000"/>
              </a:lnSpc>
              <a:spcBef>
                <a:spcPts val="115"/>
              </a:spcBef>
            </a:pPr>
            <a:r>
              <a:rPr lang="en-US" altLang="zh-CN" sz="2000" spc="15" dirty="0">
                <a:solidFill>
                  <a:schemeClr val="bg1"/>
                </a:solidFill>
                <a:latin typeface="微软雅黑" panose="020B0503020204020204" charset="-122"/>
                <a:ea typeface="微软雅黑" panose="020B0503020204020204" charset="-122"/>
                <a:cs typeface="微软雅黑" panose="020B0503020204020204" charset="-122"/>
              </a:rPr>
              <a:t>MindSpore</a:t>
            </a: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安装</a:t>
            </a:r>
          </a:p>
        </p:txBody>
      </p:sp>
      <p:pic>
        <p:nvPicPr>
          <p:cNvPr id="5" name="内容占位符 4"/>
          <p:cNvPicPr>
            <a:picLocks noGrp="1" noChangeAspect="1"/>
          </p:cNvPicPr>
          <p:nvPr>
            <p:ph idx="1"/>
          </p:nvPr>
        </p:nvPicPr>
        <p:blipFill>
          <a:blip r:embed="rId2"/>
          <a:srcRect b="74503"/>
          <a:stretch>
            <a:fillRect/>
          </a:stretch>
        </p:blipFill>
        <p:spPr>
          <a:xfrm>
            <a:off x="323850" y="1340485"/>
            <a:ext cx="8349615" cy="1112520"/>
          </a:xfrm>
          <a:prstGeom prst="rect">
            <a:avLst/>
          </a:prstGeom>
        </p:spPr>
      </p:pic>
      <p:pic>
        <p:nvPicPr>
          <p:cNvPr id="6" name="图片 5"/>
          <p:cNvPicPr>
            <a:picLocks noChangeAspect="1"/>
          </p:cNvPicPr>
          <p:nvPr/>
        </p:nvPicPr>
        <p:blipFill>
          <a:blip r:embed="rId3"/>
          <a:stretch>
            <a:fillRect/>
          </a:stretch>
        </p:blipFill>
        <p:spPr>
          <a:xfrm>
            <a:off x="323850" y="2637155"/>
            <a:ext cx="7166610" cy="3873500"/>
          </a:xfrm>
          <a:prstGeom prst="rect">
            <a:avLst/>
          </a:prstGeom>
        </p:spPr>
      </p:pic>
      <p:pic>
        <p:nvPicPr>
          <p:cNvPr id="7" name="图片 6"/>
          <p:cNvPicPr>
            <a:picLocks noChangeAspect="1"/>
          </p:cNvPicPr>
          <p:nvPr/>
        </p:nvPicPr>
        <p:blipFill>
          <a:blip r:embed="rId4"/>
          <a:stretch>
            <a:fillRect/>
          </a:stretch>
        </p:blipFill>
        <p:spPr>
          <a:xfrm>
            <a:off x="-523875" y="-47625"/>
            <a:ext cx="10191750" cy="6953250"/>
          </a:xfrm>
          <a:prstGeom prst="rect">
            <a:avLst/>
          </a:prstGeom>
        </p:spPr>
      </p:pic>
      <p:sp>
        <p:nvSpPr>
          <p:cNvPr id="8" name="Rectangle 1"/>
          <p:cNvSpPr/>
          <p:nvPr/>
        </p:nvSpPr>
        <p:spPr>
          <a:xfrm>
            <a:off x="-252730" y="36830"/>
            <a:ext cx="4655820" cy="622300"/>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object 3"/>
          <p:cNvSpPr txBox="1">
            <a:spLocks noGrp="1"/>
          </p:cNvSpPr>
          <p:nvPr/>
        </p:nvSpPr>
        <p:spPr>
          <a:xfrm>
            <a:off x="0" y="158115"/>
            <a:ext cx="3218815" cy="379730"/>
          </a:xfrm>
          <a:prstGeom prst="rect">
            <a:avLst/>
          </a:prstGeom>
          <a:noFill/>
          <a:ln w="9525">
            <a:noFill/>
          </a:ln>
        </p:spPr>
        <p:txBody>
          <a:bodyPr vert="horz" wrap="square" lIns="0" tIns="10953" rIns="0" bIns="0" rtlCol="0" anchor="ctr" anchorCtr="0">
            <a:spAutoFit/>
          </a:bodyP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marL="12700">
              <a:lnSpc>
                <a:spcPct val="100000"/>
              </a:lnSpc>
              <a:spcBef>
                <a:spcPts val="115"/>
              </a:spcBef>
            </a:pPr>
            <a:r>
              <a:rPr lang="zh-CN" sz="2400" spc="15" dirty="0">
                <a:solidFill>
                  <a:schemeClr val="bg1"/>
                </a:solidFill>
                <a:latin typeface="微软雅黑" panose="020B0503020204020204" charset="-122"/>
                <a:ea typeface="微软雅黑" panose="020B0503020204020204" charset="-122"/>
                <a:cs typeface="微软雅黑" panose="020B0503020204020204" charset="-122"/>
              </a:rPr>
              <a:t>深度学习的三个步骤</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a:extLst>
              <a:ext uri="{FF2B5EF4-FFF2-40B4-BE49-F238E27FC236}">
                <a16:creationId xmlns:a16="http://schemas.microsoft.com/office/drawing/2014/main" id="{C4414F8B-8065-0B8B-6677-6BBBD450A6D4}"/>
              </a:ext>
            </a:extLst>
          </p:cNvPr>
          <p:cNvPicPr>
            <a:picLocks noChangeAspect="1"/>
          </p:cNvPicPr>
          <p:nvPr/>
        </p:nvPicPr>
        <p:blipFill>
          <a:blip r:embed="rId3"/>
          <a:stretch>
            <a:fillRect/>
          </a:stretch>
        </p:blipFill>
        <p:spPr>
          <a:xfrm>
            <a:off x="5515405" y="2544810"/>
            <a:ext cx="3467400" cy="3741744"/>
          </a:xfrm>
          <a:prstGeom prst="rect">
            <a:avLst/>
          </a:prstGeom>
        </p:spPr>
      </p:pic>
      <p:pic>
        <p:nvPicPr>
          <p:cNvPr id="15" name="图片 14">
            <a:extLst>
              <a:ext uri="{FF2B5EF4-FFF2-40B4-BE49-F238E27FC236}">
                <a16:creationId xmlns:a16="http://schemas.microsoft.com/office/drawing/2014/main" id="{AE179AF4-E07F-C597-884A-5ACC3D9E186A}"/>
              </a:ext>
            </a:extLst>
          </p:cNvPr>
          <p:cNvPicPr>
            <a:picLocks noChangeAspect="1"/>
          </p:cNvPicPr>
          <p:nvPr/>
        </p:nvPicPr>
        <p:blipFill>
          <a:blip r:embed="rId4"/>
          <a:stretch>
            <a:fillRect/>
          </a:stretch>
        </p:blipFill>
        <p:spPr>
          <a:xfrm>
            <a:off x="539552" y="2249105"/>
            <a:ext cx="4623291" cy="4333154"/>
          </a:xfrm>
          <a:prstGeom prst="rect">
            <a:avLst/>
          </a:prstGeom>
        </p:spPr>
      </p:pic>
      <p:sp>
        <p:nvSpPr>
          <p:cNvPr id="6" name="文本框 5"/>
          <p:cNvSpPr txBox="1"/>
          <p:nvPr/>
        </p:nvSpPr>
        <p:spPr>
          <a:xfrm>
            <a:off x="683260" y="836295"/>
            <a:ext cx="8209220" cy="1231106"/>
          </a:xfrm>
          <a:prstGeom prst="rect">
            <a:avLst/>
          </a:prstGeom>
          <a:noFill/>
        </p:spPr>
        <p:txBody>
          <a:bodyPr wrap="square" rtlCol="0" anchor="t">
            <a:spAutoFit/>
          </a:bodyPr>
          <a:lstStyle/>
          <a:p>
            <a:r>
              <a:rPr lang="zh-CN" altLang="en-US" dirty="0">
                <a:solidFill>
                  <a:schemeClr val="tx1"/>
                </a:solidFill>
                <a:latin typeface="微软雅黑" panose="020B0503020204020204" charset="-122"/>
                <a:ea typeface="微软雅黑" panose="020B0503020204020204" charset="-122"/>
                <a:cs typeface="微软雅黑" panose="020B0503020204020204" charset="-122"/>
              </a:rPr>
              <a:t>神经网络的各层需要预先在</a:t>
            </a:r>
            <a:r>
              <a:rPr lang="zh-CN" altLang="en-US" sz="2000" b="1" dirty="0">
                <a:solidFill>
                  <a:srgbClr val="C35954"/>
                </a:solidFill>
                <a:latin typeface="微软雅黑" panose="020B0503020204020204" charset="-122"/>
                <a:ea typeface="微软雅黑" panose="020B0503020204020204" charset="-122"/>
              </a:rPr>
              <a:t>__init__</a:t>
            </a:r>
            <a:r>
              <a:rPr lang="zh-CN" altLang="en-US" dirty="0">
                <a:solidFill>
                  <a:schemeClr val="tx1"/>
                </a:solidFill>
                <a:latin typeface="微软雅黑" panose="020B0503020204020204" charset="-122"/>
                <a:ea typeface="微软雅黑" panose="020B0503020204020204" charset="-122"/>
                <a:cs typeface="微软雅黑" panose="020B0503020204020204" charset="-122"/>
              </a:rPr>
              <a:t>方法中定义，然后通过定义</a:t>
            </a:r>
            <a:r>
              <a:rPr lang="zh-CN" altLang="en-US" sz="2000" b="1" dirty="0">
                <a:solidFill>
                  <a:srgbClr val="C35954"/>
                </a:solidFill>
                <a:latin typeface="微软雅黑" panose="020B0503020204020204" charset="-122"/>
                <a:ea typeface="微软雅黑" panose="020B0503020204020204" charset="-122"/>
              </a:rPr>
              <a:t>construct</a:t>
            </a:r>
            <a:r>
              <a:rPr lang="zh-CN" altLang="en-US" dirty="0">
                <a:solidFill>
                  <a:schemeClr val="tx1"/>
                </a:solidFill>
                <a:latin typeface="微软雅黑" panose="020B0503020204020204" charset="-122"/>
                <a:ea typeface="微软雅黑" panose="020B0503020204020204" charset="-122"/>
                <a:cs typeface="微软雅黑" panose="020B0503020204020204" charset="-122"/>
              </a:rPr>
              <a:t>方法来完成神经网络的前向构造。</a:t>
            </a:r>
          </a:p>
          <a:p>
            <a:endParaRPr lang="zh-CN" altLang="en-US" dirty="0">
              <a:solidFill>
                <a:schemeClr val="tx1"/>
              </a:solidFill>
              <a:latin typeface="微软雅黑" panose="020B0503020204020204" charset="-122"/>
              <a:ea typeface="微软雅黑" panose="020B0503020204020204" charset="-122"/>
              <a:cs typeface="微软雅黑" panose="020B0503020204020204" charset="-122"/>
            </a:endParaRPr>
          </a:p>
          <a:p>
            <a:r>
              <a:rPr lang="zh-CN" altLang="en-US" dirty="0">
                <a:solidFill>
                  <a:schemeClr val="tx1"/>
                </a:solidFill>
                <a:latin typeface="微软雅黑" panose="020B0503020204020204" charset="-122"/>
                <a:ea typeface="微软雅黑" panose="020B0503020204020204" charset="-122"/>
                <a:cs typeface="微软雅黑" panose="020B0503020204020204" charset="-122"/>
              </a:rPr>
              <a:t>按照</a:t>
            </a:r>
            <a:r>
              <a:rPr lang="zh-CN" altLang="en-US" dirty="0">
                <a:solidFill>
                  <a:schemeClr val="tx1"/>
                </a:solidFill>
                <a:latin typeface="微软雅黑" panose="020B0503020204020204" charset="-122"/>
                <a:ea typeface="微软雅黑" panose="020B0503020204020204" charset="-122"/>
                <a:cs typeface="微软雅黑" panose="020B0503020204020204" charset="-122"/>
                <a:hlinkClick r:id="rId5" action="ppaction://hlinkfile"/>
              </a:rPr>
              <a:t>LeNet</a:t>
            </a:r>
            <a:r>
              <a:rPr lang="zh-CN" altLang="en-US" dirty="0">
                <a:solidFill>
                  <a:schemeClr val="tx1"/>
                </a:solidFill>
                <a:latin typeface="微软雅黑" panose="020B0503020204020204" charset="-122"/>
                <a:ea typeface="微软雅黑" panose="020B0503020204020204" charset="-122"/>
                <a:cs typeface="微软雅黑" panose="020B0503020204020204" charset="-122"/>
              </a:rPr>
              <a:t>的网络结构，定义网络各层如下：</a:t>
            </a:r>
          </a:p>
        </p:txBody>
      </p:sp>
      <p:sp>
        <p:nvSpPr>
          <p:cNvPr id="9" name="object 3"/>
          <p:cNvSpPr txBox="1">
            <a:spLocks noGrp="1"/>
          </p:cNvSpPr>
          <p:nvPr>
            <p:ph type="title"/>
          </p:nvPr>
        </p:nvSpPr>
        <p:spPr>
          <a:xfrm>
            <a:off x="3419872" y="116632"/>
            <a:ext cx="2115979" cy="565058"/>
          </a:xfrm>
          <a:prstGeom prst="rect">
            <a:avLst/>
          </a:prstGeom>
        </p:spPr>
        <p:txBody>
          <a:bodyPr vert="horz" wrap="square" lIns="0" tIns="10953" rIns="0" bIns="0" rtlCol="0">
            <a:spAutoFit/>
          </a:bodyPr>
          <a:lstStyle/>
          <a:p>
            <a:pPr marL="12700">
              <a:lnSpc>
                <a:spcPct val="100000"/>
              </a:lnSpc>
              <a:spcBef>
                <a:spcPts val="115"/>
              </a:spcBef>
            </a:pPr>
            <a:r>
              <a:rPr lang="zh-CN" altLang="en-US" sz="3600" b="1" spc="15" dirty="0">
                <a:solidFill>
                  <a:schemeClr val="tx1"/>
                </a:solidFill>
                <a:latin typeface="微软雅黑" panose="020B0503020204020204" charset="-122"/>
                <a:ea typeface="微软雅黑" panose="020B0503020204020204" charset="-122"/>
                <a:cs typeface="微软雅黑" panose="020B0503020204020204" charset="-122"/>
              </a:rPr>
              <a:t>定义网络</a:t>
            </a:r>
          </a:p>
        </p:txBody>
      </p:sp>
      <p:sp>
        <p:nvSpPr>
          <p:cNvPr id="12" name="文本框 11">
            <a:extLst>
              <a:ext uri="{FF2B5EF4-FFF2-40B4-BE49-F238E27FC236}">
                <a16:creationId xmlns:a16="http://schemas.microsoft.com/office/drawing/2014/main" id="{F9CB3DA8-371B-1084-D649-4AF0AB05DA8A}"/>
              </a:ext>
            </a:extLst>
          </p:cNvPr>
          <p:cNvSpPr txBox="1"/>
          <p:nvPr/>
        </p:nvSpPr>
        <p:spPr>
          <a:xfrm>
            <a:off x="3563888" y="4415682"/>
            <a:ext cx="2259995" cy="1323439"/>
          </a:xfrm>
          <a:prstGeom prst="rect">
            <a:avLst/>
          </a:prstGeom>
          <a:noFill/>
        </p:spPr>
        <p:txBody>
          <a:bodyPr wrap="square">
            <a:spAutoFit/>
          </a:bodyPr>
          <a:lstStyle/>
          <a:p>
            <a:r>
              <a:rPr lang="zh-CN" altLang="en-US" sz="1600" dirty="0">
                <a:latin typeface="微软雅黑" panose="020B0503020204020204" charset="-122"/>
                <a:ea typeface="微软雅黑" panose="020B0503020204020204" charset="-122"/>
              </a:rPr>
              <a:t>代码</a:t>
            </a:r>
            <a:r>
              <a:rPr lang="zh-CN" altLang="en-US" sz="1600" dirty="0"/>
              <a:t>：</a:t>
            </a:r>
            <a:r>
              <a:rPr lang="zh-CN" altLang="en-US" sz="1600" dirty="0">
                <a:solidFill>
                  <a:srgbClr val="009999"/>
                </a:solidFill>
                <a:hlinkClick r:id="rId6">
                  <a:extLst>
                    <a:ext uri="{A12FA001-AC4F-418D-AE19-62706E023703}">
                      <ahyp:hlinkClr xmlns:ahyp="http://schemas.microsoft.com/office/drawing/2018/hyperlinkcolor" val="tx"/>
                    </a:ext>
                  </a:extLst>
                </a:hlinkClick>
              </a:rPr>
              <a:t>https</a:t>
            </a:r>
            <a:r>
              <a:rPr lang="zh-CN" altLang="en-US" sz="1600" dirty="0">
                <a:solidFill>
                  <a:srgbClr val="C00000"/>
                </a:solidFill>
                <a:hlinkClick r:id="rId6">
                  <a:extLst>
                    <a:ext uri="{A12FA001-AC4F-418D-AE19-62706E023703}">
                      <ahyp:hlinkClr xmlns:ahyp="http://schemas.microsoft.com/office/drawing/2018/hyperlinkcolor" val="tx"/>
                    </a:ext>
                  </a:extLst>
                </a:hlinkClick>
              </a:rPr>
              <a:t>://www.mindspore.cn/tutorials/zh-CN/r1.8/beginner/quick_start.html</a:t>
            </a:r>
            <a:endParaRPr lang="zh-CN" altLang="en-US" sz="1600" dirty="0">
              <a:solidFill>
                <a:srgbClr val="C00000"/>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51520" y="980728"/>
            <a:ext cx="8892480" cy="1754326"/>
          </a:xfrm>
          <a:prstGeom prst="rect">
            <a:avLst/>
          </a:prstGeom>
          <a:noFill/>
        </p:spPr>
        <p:txBody>
          <a:bodyPr wrap="square" rtlCol="0" anchor="t">
            <a:spAutoFit/>
          </a:bodyPr>
          <a:lstStyle/>
          <a:p>
            <a:r>
              <a:rPr lang="zh-CN" altLang="en-US" sz="1800" dirty="0">
                <a:latin typeface="微软雅黑" panose="020B0503020204020204" charset="-122"/>
                <a:ea typeface="微软雅黑" panose="020B0503020204020204" charset="-122"/>
                <a:cs typeface="微软雅黑" panose="020B0503020204020204" charset="-122"/>
              </a:rPr>
              <a:t>损失函数用来评价模型的预测值和真实值不一样的程度。</a:t>
            </a:r>
          </a:p>
          <a:p>
            <a:endParaRPr lang="zh-CN" altLang="en-US" sz="1800" dirty="0">
              <a:latin typeface="微软雅黑" panose="020B0503020204020204" charset="-122"/>
              <a:ea typeface="微软雅黑" panose="020B0503020204020204" charset="-122"/>
              <a:cs typeface="微软雅黑" panose="020B0503020204020204" charset="-122"/>
            </a:endParaRPr>
          </a:p>
          <a:p>
            <a:r>
              <a:rPr lang="zh-CN" altLang="en-US" sz="1800" dirty="0">
                <a:latin typeface="微软雅黑" panose="020B0503020204020204" charset="-122"/>
                <a:ea typeface="微软雅黑" panose="020B0503020204020204" charset="-122"/>
                <a:cs typeface="微软雅黑" panose="020B0503020204020204" charset="-122"/>
                <a:hlinkClick r:id="rId2" action="ppaction://hlinkfile"/>
              </a:rPr>
              <a:t>mindspore</a:t>
            </a:r>
            <a:r>
              <a:rPr lang="zh-CN" altLang="en-US" sz="1800" dirty="0">
                <a:latin typeface="微软雅黑" panose="020B0503020204020204" charset="-122"/>
                <a:ea typeface="微软雅黑" panose="020B0503020204020204" charset="-122"/>
                <a:cs typeface="微软雅黑" panose="020B0503020204020204" charset="-122"/>
              </a:rPr>
              <a:t>也提供了许多其他常用的损失函数如</a:t>
            </a:r>
            <a:r>
              <a:rPr lang="zh-CN" altLang="en-US" b="1" dirty="0">
                <a:solidFill>
                  <a:srgbClr val="C35954"/>
                </a:solidFill>
                <a:latin typeface="微软雅黑" panose="020B0503020204020204" charset="-122"/>
                <a:ea typeface="微软雅黑" panose="020B0503020204020204" charset="-122"/>
              </a:rPr>
              <a:t>SoftmaxCrossEntropyWithLogits</a:t>
            </a:r>
            <a:r>
              <a:rPr lang="zh-CN" altLang="en-US" sz="1600" dirty="0">
                <a:latin typeface="微软雅黑" panose="020B0503020204020204" charset="-122"/>
                <a:ea typeface="微软雅黑" panose="020B0503020204020204" charset="-122"/>
                <a:cs typeface="微软雅黑" panose="020B0503020204020204" charset="-122"/>
              </a:rPr>
              <a:t>、</a:t>
            </a:r>
            <a:r>
              <a:rPr lang="zh-CN" altLang="en-US" b="1" dirty="0">
                <a:solidFill>
                  <a:srgbClr val="C35954"/>
                </a:solidFill>
                <a:latin typeface="微软雅黑" panose="020B0503020204020204" charset="-122"/>
                <a:ea typeface="微软雅黑" panose="020B0503020204020204" charset="-122"/>
              </a:rPr>
              <a:t>MSELoss</a:t>
            </a:r>
            <a:r>
              <a:rPr lang="zh-CN" altLang="en-US" sz="1800" dirty="0">
                <a:latin typeface="微软雅黑" panose="020B0503020204020204" charset="-122"/>
                <a:ea typeface="微软雅黑" panose="020B0503020204020204" charset="-122"/>
                <a:cs typeface="微软雅黑" panose="020B0503020204020204" charset="-122"/>
              </a:rPr>
              <a:t>等。</a:t>
            </a:r>
          </a:p>
          <a:p>
            <a:endParaRPr lang="zh-CN" altLang="en-US" sz="1800" dirty="0">
              <a:latin typeface="微软雅黑" panose="020B0503020204020204" charset="-122"/>
              <a:ea typeface="微软雅黑" panose="020B0503020204020204" charset="-122"/>
              <a:cs typeface="微软雅黑" panose="020B0503020204020204" charset="-122"/>
            </a:endParaRPr>
          </a:p>
          <a:p>
            <a:r>
              <a:rPr lang="zh-CN" altLang="en-US" sz="1800" dirty="0">
                <a:solidFill>
                  <a:schemeClr val="tx1"/>
                </a:solidFill>
                <a:latin typeface="微软雅黑" panose="020B0503020204020204" charset="-122"/>
                <a:ea typeface="微软雅黑" panose="020B0503020204020204" charset="-122"/>
                <a:cs typeface="微软雅黑" panose="020B0503020204020204" charset="-122"/>
              </a:rPr>
              <a:t>损失函数这里使用</a:t>
            </a:r>
            <a:r>
              <a:rPr lang="zh-CN" altLang="en-US" sz="1800" b="1" dirty="0">
                <a:solidFill>
                  <a:schemeClr val="tx1"/>
                </a:solidFill>
                <a:latin typeface="微软雅黑" panose="020B0503020204020204" charset="-122"/>
                <a:ea typeface="微软雅黑" panose="020B0503020204020204" charset="-122"/>
                <a:cs typeface="微软雅黑" panose="020B0503020204020204" charset="-122"/>
              </a:rPr>
              <a:t>交叉熵损失函数</a:t>
            </a:r>
            <a:r>
              <a:rPr lang="en-US" altLang="zh-CN" sz="1800" dirty="0" err="1">
                <a:solidFill>
                  <a:schemeClr val="tx1"/>
                </a:solidFill>
                <a:latin typeface="微软雅黑" panose="020B0503020204020204" charset="-122"/>
                <a:ea typeface="微软雅黑" panose="020B0503020204020204" charset="-122"/>
                <a:cs typeface="微软雅黑" panose="020B0503020204020204" charset="-122"/>
              </a:rPr>
              <a:t>SoftmaxCrossEntropyWithLogits</a:t>
            </a:r>
            <a:endParaRPr lang="zh-CN" altLang="en-US" sz="1800"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9" name="object 3"/>
          <p:cNvSpPr txBox="1">
            <a:spLocks noGrp="1"/>
          </p:cNvSpPr>
          <p:nvPr>
            <p:ph type="title"/>
          </p:nvPr>
        </p:nvSpPr>
        <p:spPr>
          <a:xfrm>
            <a:off x="2663884" y="188640"/>
            <a:ext cx="3816231" cy="565058"/>
          </a:xfrm>
          <a:prstGeom prst="rect">
            <a:avLst/>
          </a:prstGeom>
        </p:spPr>
        <p:txBody>
          <a:bodyPr vert="horz" wrap="square" lIns="0" tIns="10953" rIns="0" bIns="0" rtlCol="0">
            <a:spAutoFit/>
          </a:bodyPr>
          <a:lstStyle/>
          <a:p>
            <a:pPr marL="12700">
              <a:spcBef>
                <a:spcPts val="115"/>
              </a:spcBef>
            </a:pPr>
            <a:r>
              <a:rPr lang="zh-CN" altLang="en-US" sz="3600" b="1" spc="15" dirty="0">
                <a:solidFill>
                  <a:schemeClr val="tx1"/>
                </a:solidFill>
                <a:latin typeface="微软雅黑" panose="020B0503020204020204" charset="-122"/>
                <a:ea typeface="微软雅黑" panose="020B0503020204020204" charset="-122"/>
              </a:rPr>
              <a:t>定义损失函数</a:t>
            </a:r>
          </a:p>
        </p:txBody>
      </p:sp>
      <p:pic>
        <p:nvPicPr>
          <p:cNvPr id="4" name="图片 3">
            <a:extLst>
              <a:ext uri="{FF2B5EF4-FFF2-40B4-BE49-F238E27FC236}">
                <a16:creationId xmlns:a16="http://schemas.microsoft.com/office/drawing/2014/main" id="{6FDE37EB-97E5-CD16-3427-9E1410875232}"/>
              </a:ext>
            </a:extLst>
          </p:cNvPr>
          <p:cNvPicPr>
            <a:picLocks noChangeAspect="1"/>
          </p:cNvPicPr>
          <p:nvPr/>
        </p:nvPicPr>
        <p:blipFill>
          <a:blip r:embed="rId3"/>
          <a:stretch>
            <a:fillRect/>
          </a:stretch>
        </p:blipFill>
        <p:spPr>
          <a:xfrm>
            <a:off x="-17742" y="3450542"/>
            <a:ext cx="9179483" cy="1368152"/>
          </a:xfrm>
          <a:prstGeom prst="rect">
            <a:avLst/>
          </a:prstGeom>
        </p:spPr>
      </p:pic>
      <p:sp>
        <p:nvSpPr>
          <p:cNvPr id="7" name="文本框 6">
            <a:extLst>
              <a:ext uri="{FF2B5EF4-FFF2-40B4-BE49-F238E27FC236}">
                <a16:creationId xmlns:a16="http://schemas.microsoft.com/office/drawing/2014/main" id="{7428A750-AC06-1245-AB89-BA7773E0C870}"/>
              </a:ext>
            </a:extLst>
          </p:cNvPr>
          <p:cNvSpPr txBox="1"/>
          <p:nvPr/>
        </p:nvSpPr>
        <p:spPr>
          <a:xfrm>
            <a:off x="2555775" y="5373216"/>
            <a:ext cx="4032448" cy="923330"/>
          </a:xfrm>
          <a:prstGeom prst="rect">
            <a:avLst/>
          </a:prstGeom>
          <a:noFill/>
        </p:spPr>
        <p:txBody>
          <a:bodyPr wrap="square">
            <a:spAutoFit/>
          </a:bodyPr>
          <a:lstStyle/>
          <a:p>
            <a:r>
              <a:rPr lang="zh-CN" altLang="en-US" dirty="0">
                <a:latin typeface="微软雅黑" panose="020B0503020204020204" charset="-122"/>
                <a:ea typeface="微软雅黑" panose="020B0503020204020204" charset="-122"/>
              </a:rPr>
              <a:t>代码</a:t>
            </a:r>
            <a:r>
              <a:rPr lang="zh-CN" altLang="en-US" dirty="0"/>
              <a:t>：</a:t>
            </a:r>
            <a:r>
              <a:rPr lang="zh-CN" altLang="en-US" dirty="0">
                <a:solidFill>
                  <a:srgbClr val="009999"/>
                </a:solidFill>
                <a:hlinkClick r:id="rId4">
                  <a:extLst>
                    <a:ext uri="{A12FA001-AC4F-418D-AE19-62706E023703}">
                      <ahyp:hlinkClr xmlns:ahyp="http://schemas.microsoft.com/office/drawing/2018/hyperlinkcolor" val="tx"/>
                    </a:ext>
                  </a:extLst>
                </a:hlinkClick>
              </a:rPr>
              <a:t>https</a:t>
            </a:r>
            <a:r>
              <a:rPr lang="zh-CN" altLang="en-US" dirty="0">
                <a:solidFill>
                  <a:srgbClr val="C00000"/>
                </a:solidFill>
                <a:hlinkClick r:id="rId4">
                  <a:extLst>
                    <a:ext uri="{A12FA001-AC4F-418D-AE19-62706E023703}">
                      <ahyp:hlinkClr xmlns:ahyp="http://schemas.microsoft.com/office/drawing/2018/hyperlinkcolor" val="tx"/>
                    </a:ext>
                  </a:extLst>
                </a:hlinkClick>
              </a:rPr>
              <a:t>://www.mindspore.cn/tutorials/zh-CN/r1.8/beginner/quick_start.html</a:t>
            </a:r>
            <a:endParaRPr lang="zh-CN" altLang="en-US" dirty="0">
              <a:solidFill>
                <a:srgbClr val="C00000"/>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83895" y="764540"/>
            <a:ext cx="8006080" cy="3753485"/>
          </a:xfrm>
          <a:prstGeom prst="rect">
            <a:avLst/>
          </a:prstGeom>
          <a:noFill/>
        </p:spPr>
        <p:txBody>
          <a:bodyPr wrap="square" rtlCol="0" anchor="t">
            <a:spAutoFit/>
          </a:bodyPr>
          <a:lstStyle/>
          <a:p>
            <a:r>
              <a:rPr lang="zh-CN" altLang="en-US" sz="2000" b="1" dirty="0">
                <a:solidFill>
                  <a:srgbClr val="C35954"/>
                </a:solidFill>
                <a:latin typeface="微软雅黑" panose="020B0503020204020204" charset="-122"/>
                <a:ea typeface="微软雅黑" panose="020B0503020204020204" charset="-122"/>
              </a:rPr>
              <a:t>优化器用于计算和更新梯度</a:t>
            </a:r>
            <a:r>
              <a:rPr lang="zh-CN" altLang="en-US" sz="1800" dirty="0">
                <a:latin typeface="微软雅黑" panose="020B0503020204020204" charset="-122"/>
                <a:ea typeface="微软雅黑" panose="020B0503020204020204" charset="-122"/>
                <a:cs typeface="微软雅黑" panose="020B0503020204020204" charset="-122"/>
              </a:rPr>
              <a:t>，模型优化算法的选择直接关系到最终模型的性能，如果有时候效果不好，未必是特征或者模型设计的问题，很有可能是优化算法的问题。</a:t>
            </a:r>
          </a:p>
          <a:p>
            <a:endParaRPr lang="zh-CN" altLang="en-US" sz="1800" dirty="0">
              <a:latin typeface="微软雅黑" panose="020B0503020204020204" charset="-122"/>
              <a:ea typeface="微软雅黑" panose="020B0503020204020204" charset="-122"/>
              <a:cs typeface="微软雅黑" panose="020B0503020204020204" charset="-122"/>
            </a:endParaRPr>
          </a:p>
          <a:p>
            <a:r>
              <a:rPr lang="zh-CN" altLang="en-US" sz="1800" dirty="0">
                <a:latin typeface="微软雅黑" panose="020B0503020204020204" charset="-122"/>
                <a:ea typeface="微软雅黑" panose="020B0503020204020204" charset="-122"/>
                <a:cs typeface="微软雅黑" panose="020B0503020204020204" charset="-122"/>
              </a:rPr>
              <a:t>MindSpore所有优化逻辑都封装在</a:t>
            </a:r>
            <a:r>
              <a:rPr lang="zh-CN" altLang="en-US" sz="2000" b="1" dirty="0">
                <a:solidFill>
                  <a:srgbClr val="C35954"/>
                </a:solidFill>
                <a:latin typeface="微软雅黑" panose="020B0503020204020204" charset="-122"/>
                <a:ea typeface="微软雅黑" panose="020B0503020204020204" charset="-122"/>
              </a:rPr>
              <a:t>Optimizer</a:t>
            </a:r>
            <a:r>
              <a:rPr lang="zh-CN" altLang="en-US" sz="1800" dirty="0">
                <a:latin typeface="微软雅黑" panose="020B0503020204020204" charset="-122"/>
                <a:ea typeface="微软雅黑" panose="020B0503020204020204" charset="-122"/>
                <a:cs typeface="微软雅黑" panose="020B0503020204020204" charset="-122"/>
              </a:rPr>
              <a:t>对象中。</a:t>
            </a:r>
            <a:r>
              <a:rPr lang="en-US" altLang="zh-CN" sz="1800" dirty="0">
                <a:latin typeface="微软雅黑" panose="020B0503020204020204" charset="-122"/>
                <a:ea typeface="微软雅黑" panose="020B0503020204020204" charset="-122"/>
                <a:cs typeface="微软雅黑" panose="020B0503020204020204" charset="-122"/>
                <a:hlinkClick r:id="rId2" action="ppaction://hlinkfile"/>
              </a:rPr>
              <a:t>API</a:t>
            </a:r>
            <a:r>
              <a:rPr lang="zh-CN" altLang="en-US" sz="1800" dirty="0">
                <a:latin typeface="微软雅黑" panose="020B0503020204020204" charset="-122"/>
                <a:ea typeface="微软雅黑" panose="020B0503020204020204" charset="-122"/>
                <a:cs typeface="微软雅黑" panose="020B0503020204020204" charset="-122"/>
                <a:hlinkClick r:id="rId2" action="ppaction://hlinkfile"/>
              </a:rPr>
              <a:t>文档</a:t>
            </a:r>
            <a:endParaRPr lang="zh-CN" altLang="en-US" sz="1800" dirty="0">
              <a:latin typeface="微软雅黑" panose="020B0503020204020204" charset="-122"/>
              <a:ea typeface="微软雅黑" panose="020B0503020204020204" charset="-122"/>
              <a:cs typeface="微软雅黑" panose="020B0503020204020204" charset="-122"/>
            </a:endParaRPr>
          </a:p>
          <a:p>
            <a:endParaRPr lang="zh-CN" altLang="en-US" sz="1800" dirty="0">
              <a:latin typeface="微软雅黑" panose="020B0503020204020204" charset="-122"/>
              <a:ea typeface="微软雅黑" panose="020B0503020204020204" charset="-122"/>
              <a:cs typeface="微软雅黑" panose="020B0503020204020204" charset="-122"/>
            </a:endParaRPr>
          </a:p>
          <a:p>
            <a:r>
              <a:rPr lang="zh-CN" altLang="en-US" sz="1800" dirty="0">
                <a:solidFill>
                  <a:schemeClr val="tx1"/>
                </a:solidFill>
                <a:latin typeface="微软雅黑" panose="020B0503020204020204" charset="-122"/>
                <a:ea typeface="微软雅黑" panose="020B0503020204020204" charset="-122"/>
                <a:cs typeface="微软雅黑" panose="020B0503020204020204" charset="-122"/>
              </a:rPr>
              <a:t>需要构建一个Optimizer对象，这个对象能够保持当前参数状态并基于计算得到的梯度进行参数更新。</a:t>
            </a:r>
          </a:p>
          <a:p>
            <a:endParaRPr lang="zh-CN" altLang="en-US" sz="1800" dirty="0">
              <a:solidFill>
                <a:schemeClr val="tx1"/>
              </a:solidFill>
              <a:latin typeface="微软雅黑" panose="020B0503020204020204" charset="-122"/>
              <a:ea typeface="微软雅黑" panose="020B0503020204020204" charset="-122"/>
              <a:cs typeface="微软雅黑" panose="020B0503020204020204" charset="-122"/>
            </a:endParaRPr>
          </a:p>
          <a:p>
            <a:r>
              <a:rPr lang="zh-CN" altLang="en-US" sz="1800" dirty="0">
                <a:solidFill>
                  <a:schemeClr val="tx1"/>
                </a:solidFill>
                <a:latin typeface="微软雅黑" panose="020B0503020204020204" charset="-122"/>
                <a:ea typeface="微软雅黑" panose="020B0503020204020204" charset="-122"/>
                <a:cs typeface="微软雅黑" panose="020B0503020204020204" charset="-122"/>
              </a:rPr>
              <a:t>为了构建一个Optimizer，我们需要给它一个包含可优化的参数（必须是Variable对象）的迭代器，如网络中所有可以训练的parameter，将params设置为net.trainable_params()即可。然后，你可以设置Optimizer的参数选项，比如学习率、权重衰减等等。</a:t>
            </a:r>
          </a:p>
        </p:txBody>
      </p:sp>
      <p:sp>
        <p:nvSpPr>
          <p:cNvPr id="9" name="object 3"/>
          <p:cNvSpPr txBox="1">
            <a:spLocks noGrp="1"/>
          </p:cNvSpPr>
          <p:nvPr>
            <p:ph type="title"/>
          </p:nvPr>
        </p:nvSpPr>
        <p:spPr>
          <a:xfrm>
            <a:off x="3239948" y="198548"/>
            <a:ext cx="2664103" cy="565058"/>
          </a:xfrm>
          <a:prstGeom prst="rect">
            <a:avLst/>
          </a:prstGeom>
        </p:spPr>
        <p:txBody>
          <a:bodyPr vert="horz" wrap="square" lIns="0" tIns="10953" rIns="0" bIns="0" rtlCol="0">
            <a:spAutoFit/>
          </a:bodyPr>
          <a:lstStyle/>
          <a:p>
            <a:pPr marL="12700">
              <a:spcBef>
                <a:spcPts val="115"/>
              </a:spcBef>
            </a:pPr>
            <a:r>
              <a:rPr lang="zh-CN" altLang="en-US" sz="3600" b="1" spc="15" dirty="0">
                <a:solidFill>
                  <a:schemeClr val="tx1"/>
                </a:solidFill>
                <a:latin typeface="微软雅黑" panose="020B0503020204020204" charset="-122"/>
                <a:ea typeface="微软雅黑" panose="020B0503020204020204" charset="-122"/>
              </a:rPr>
              <a:t>定义优化器</a:t>
            </a:r>
          </a:p>
        </p:txBody>
      </p:sp>
      <p:pic>
        <p:nvPicPr>
          <p:cNvPr id="7" name="图片 6">
            <a:extLst>
              <a:ext uri="{FF2B5EF4-FFF2-40B4-BE49-F238E27FC236}">
                <a16:creationId xmlns:a16="http://schemas.microsoft.com/office/drawing/2014/main" id="{2316BEB6-89FB-7A9E-2C4F-F7395BB0B3F1}"/>
              </a:ext>
            </a:extLst>
          </p:cNvPr>
          <p:cNvPicPr>
            <a:picLocks noChangeAspect="1"/>
          </p:cNvPicPr>
          <p:nvPr/>
        </p:nvPicPr>
        <p:blipFill>
          <a:blip r:embed="rId3"/>
          <a:stretch>
            <a:fillRect/>
          </a:stretch>
        </p:blipFill>
        <p:spPr>
          <a:xfrm>
            <a:off x="1184615" y="4653136"/>
            <a:ext cx="6774767" cy="1714649"/>
          </a:xfrm>
          <a:prstGeom prst="rect">
            <a:avLst/>
          </a:prstGeom>
        </p:spPr>
      </p:pic>
      <p:sp>
        <p:nvSpPr>
          <p:cNvPr id="8" name="文本框 7">
            <a:extLst>
              <a:ext uri="{FF2B5EF4-FFF2-40B4-BE49-F238E27FC236}">
                <a16:creationId xmlns:a16="http://schemas.microsoft.com/office/drawing/2014/main" id="{189B1124-C656-F614-EEF1-7FB2BFE3DAF1}"/>
              </a:ext>
            </a:extLst>
          </p:cNvPr>
          <p:cNvSpPr txBox="1"/>
          <p:nvPr/>
        </p:nvSpPr>
        <p:spPr>
          <a:xfrm>
            <a:off x="4571998" y="4797152"/>
            <a:ext cx="4032448" cy="523220"/>
          </a:xfrm>
          <a:prstGeom prst="rect">
            <a:avLst/>
          </a:prstGeom>
          <a:noFill/>
        </p:spPr>
        <p:txBody>
          <a:bodyPr wrap="square">
            <a:spAutoFit/>
          </a:bodyPr>
          <a:lstStyle/>
          <a:p>
            <a:r>
              <a:rPr lang="zh-CN" altLang="en-US" sz="1400" dirty="0">
                <a:latin typeface="微软雅黑" panose="020B0503020204020204" charset="-122"/>
                <a:ea typeface="微软雅黑" panose="020B0503020204020204" charset="-122"/>
              </a:rPr>
              <a:t>代码</a:t>
            </a:r>
            <a:r>
              <a:rPr lang="zh-CN" altLang="en-US" sz="1400" dirty="0"/>
              <a:t>：</a:t>
            </a:r>
            <a:r>
              <a:rPr lang="zh-CN" altLang="en-US" sz="1400" dirty="0">
                <a:solidFill>
                  <a:srgbClr val="009999"/>
                </a:solidFill>
                <a:hlinkClick r:id="rId4">
                  <a:extLst>
                    <a:ext uri="{A12FA001-AC4F-418D-AE19-62706E023703}">
                      <ahyp:hlinkClr xmlns:ahyp="http://schemas.microsoft.com/office/drawing/2018/hyperlinkcolor" val="tx"/>
                    </a:ext>
                  </a:extLst>
                </a:hlinkClick>
              </a:rPr>
              <a:t>https</a:t>
            </a:r>
            <a:r>
              <a:rPr lang="zh-CN" altLang="en-US" sz="1400" dirty="0">
                <a:solidFill>
                  <a:srgbClr val="C00000"/>
                </a:solidFill>
                <a:hlinkClick r:id="rId4">
                  <a:extLst>
                    <a:ext uri="{A12FA001-AC4F-418D-AE19-62706E023703}">
                      <ahyp:hlinkClr xmlns:ahyp="http://schemas.microsoft.com/office/drawing/2018/hyperlinkcolor" val="tx"/>
                    </a:ext>
                  </a:extLst>
                </a:hlinkClick>
              </a:rPr>
              <a:t>://www.mindspore.cn/tutorials/zh-CN/r1.8/beginner/quick_start.html</a:t>
            </a:r>
            <a:endParaRPr lang="zh-CN" altLang="en-US" sz="1400" dirty="0">
              <a:solidFill>
                <a:srgbClr val="C00000"/>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7360" y="908685"/>
            <a:ext cx="5948680" cy="2031325"/>
          </a:xfrm>
          <a:prstGeom prst="rect">
            <a:avLst/>
          </a:prstGeom>
          <a:noFill/>
        </p:spPr>
        <p:txBody>
          <a:bodyPr wrap="square" rtlCol="0" anchor="t">
            <a:spAutoFit/>
          </a:bodyPr>
          <a:lstStyle/>
          <a:p>
            <a:r>
              <a:rPr lang="en-US" altLang="zh-CN" sz="18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1. </a:t>
            </a:r>
            <a:r>
              <a:rPr lang="zh-CN" altLang="en-US" sz="18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定义神经网络</a:t>
            </a:r>
          </a:p>
          <a:p>
            <a:endParaRPr lang="zh-CN" altLang="en-US" sz="18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a:p>
            <a:r>
              <a:rPr lang="en-US" altLang="zh-CN" sz="18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2. </a:t>
            </a:r>
            <a:r>
              <a:rPr lang="zh-CN" altLang="en-US" sz="18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sym typeface="+mn-ea"/>
              </a:rPr>
              <a:t>定义超参、损失函数及优化器</a:t>
            </a:r>
            <a:endParaRPr lang="zh-CN" altLang="en-US" sz="18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a:p>
            <a:endParaRPr lang="zh-CN" altLang="en-US" sz="1800" dirty="0">
              <a:latin typeface="微软雅黑" panose="020B0503020204020204" charset="-122"/>
              <a:ea typeface="微软雅黑" panose="020B0503020204020204" charset="-122"/>
              <a:cs typeface="微软雅黑" panose="020B0503020204020204" charset="-122"/>
            </a:endParaRPr>
          </a:p>
          <a:p>
            <a:r>
              <a:rPr lang="en-US" altLang="zh-CN" sz="1800" b="1" dirty="0">
                <a:latin typeface="微软雅黑" panose="020B0503020204020204" charset="-122"/>
                <a:ea typeface="微软雅黑" panose="020B0503020204020204" charset="-122"/>
                <a:cs typeface="微软雅黑" panose="020B0503020204020204" charset="-122"/>
              </a:rPr>
              <a:t>3. </a:t>
            </a:r>
            <a:r>
              <a:rPr lang="zh-CN" altLang="en-US" sz="1800" b="1" dirty="0">
                <a:latin typeface="微软雅黑" panose="020B0503020204020204" charset="-122"/>
                <a:ea typeface="微软雅黑" panose="020B0503020204020204" charset="-122"/>
                <a:cs typeface="微软雅黑" panose="020B0503020204020204" charset="-122"/>
              </a:rPr>
              <a:t>读入数据集</a:t>
            </a:r>
          </a:p>
          <a:p>
            <a:endParaRPr lang="zh-CN" altLang="en-US" sz="1800" dirty="0">
              <a:latin typeface="微软雅黑" panose="020B0503020204020204" charset="-122"/>
              <a:ea typeface="微软雅黑" panose="020B0503020204020204" charset="-122"/>
              <a:cs typeface="微软雅黑" panose="020B0503020204020204" charset="-122"/>
            </a:endParaRPr>
          </a:p>
          <a:p>
            <a:r>
              <a:rPr lang="en-US" altLang="zh-CN" sz="18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4. </a:t>
            </a:r>
            <a:r>
              <a:rPr lang="zh-CN" altLang="en-US" sz="18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输入训练轮次和数据集进行训练</a:t>
            </a:r>
          </a:p>
        </p:txBody>
      </p:sp>
      <p:sp>
        <p:nvSpPr>
          <p:cNvPr id="9" name="object 3"/>
          <p:cNvSpPr txBox="1">
            <a:spLocks noGrp="1"/>
          </p:cNvSpPr>
          <p:nvPr>
            <p:ph type="title"/>
          </p:nvPr>
        </p:nvSpPr>
        <p:spPr>
          <a:xfrm>
            <a:off x="2771800" y="188640"/>
            <a:ext cx="3528199" cy="565058"/>
          </a:xfrm>
          <a:prstGeom prst="rect">
            <a:avLst/>
          </a:prstGeom>
        </p:spPr>
        <p:txBody>
          <a:bodyPr vert="horz" wrap="square" lIns="0" tIns="10953" rIns="0" bIns="0" rtlCol="0">
            <a:spAutoFit/>
          </a:bodyPr>
          <a:lstStyle/>
          <a:p>
            <a:pPr marL="12700">
              <a:spcBef>
                <a:spcPts val="115"/>
              </a:spcBef>
            </a:pPr>
            <a:r>
              <a:rPr lang="zh-CN" altLang="en-US" sz="3600" b="1" spc="15" dirty="0">
                <a:solidFill>
                  <a:schemeClr val="tx1"/>
                </a:solidFill>
                <a:latin typeface="微软雅黑" panose="020B0503020204020204" charset="-122"/>
                <a:ea typeface="微软雅黑" panose="020B0503020204020204" charset="-122"/>
              </a:rPr>
              <a:t>准备数据集</a:t>
            </a:r>
          </a:p>
        </p:txBody>
      </p:sp>
      <p:pic>
        <p:nvPicPr>
          <p:cNvPr id="3" name="图片 2">
            <a:extLst>
              <a:ext uri="{FF2B5EF4-FFF2-40B4-BE49-F238E27FC236}">
                <a16:creationId xmlns:a16="http://schemas.microsoft.com/office/drawing/2014/main" id="{F689CECA-E58D-351B-D7AA-872F9653D729}"/>
              </a:ext>
            </a:extLst>
          </p:cNvPr>
          <p:cNvPicPr>
            <a:picLocks noChangeAspect="1"/>
          </p:cNvPicPr>
          <p:nvPr/>
        </p:nvPicPr>
        <p:blipFill>
          <a:blip r:embed="rId2"/>
          <a:stretch>
            <a:fillRect/>
          </a:stretch>
        </p:blipFill>
        <p:spPr>
          <a:xfrm>
            <a:off x="3083" y="3717032"/>
            <a:ext cx="9144000" cy="2057217"/>
          </a:xfrm>
          <a:prstGeom prst="rect">
            <a:avLst/>
          </a:prstGeom>
        </p:spPr>
      </p:pic>
      <p:sp>
        <p:nvSpPr>
          <p:cNvPr id="5" name="文本框 4">
            <a:extLst>
              <a:ext uri="{FF2B5EF4-FFF2-40B4-BE49-F238E27FC236}">
                <a16:creationId xmlns:a16="http://schemas.microsoft.com/office/drawing/2014/main" id="{5789F661-0A9B-A2DF-CE14-03142DA03C29}"/>
              </a:ext>
            </a:extLst>
          </p:cNvPr>
          <p:cNvSpPr txBox="1"/>
          <p:nvPr/>
        </p:nvSpPr>
        <p:spPr>
          <a:xfrm>
            <a:off x="2754478" y="6005009"/>
            <a:ext cx="4032448" cy="523220"/>
          </a:xfrm>
          <a:prstGeom prst="rect">
            <a:avLst/>
          </a:prstGeom>
          <a:noFill/>
        </p:spPr>
        <p:txBody>
          <a:bodyPr wrap="square">
            <a:spAutoFit/>
          </a:bodyPr>
          <a:lstStyle/>
          <a:p>
            <a:r>
              <a:rPr lang="zh-CN" altLang="en-US" sz="1400" dirty="0">
                <a:latin typeface="微软雅黑" panose="020B0503020204020204" charset="-122"/>
                <a:ea typeface="微软雅黑" panose="020B0503020204020204" charset="-122"/>
              </a:rPr>
              <a:t>代码</a:t>
            </a:r>
            <a:r>
              <a:rPr lang="zh-CN" altLang="en-US" sz="1400" dirty="0"/>
              <a:t>：</a:t>
            </a:r>
            <a:r>
              <a:rPr lang="zh-CN" altLang="en-US" sz="1400" dirty="0">
                <a:solidFill>
                  <a:srgbClr val="009999"/>
                </a:solidFill>
                <a:hlinkClick r:id="rId3">
                  <a:extLst>
                    <a:ext uri="{A12FA001-AC4F-418D-AE19-62706E023703}">
                      <ahyp:hlinkClr xmlns:ahyp="http://schemas.microsoft.com/office/drawing/2018/hyperlinkcolor" val="tx"/>
                    </a:ext>
                  </a:extLst>
                </a:hlinkClick>
              </a:rPr>
              <a:t>https</a:t>
            </a:r>
            <a:r>
              <a:rPr lang="zh-CN" altLang="en-US" sz="1400" dirty="0">
                <a:solidFill>
                  <a:srgbClr val="C00000"/>
                </a:solidFill>
                <a:hlinkClick r:id="rId3">
                  <a:extLst>
                    <a:ext uri="{A12FA001-AC4F-418D-AE19-62706E023703}">
                      <ahyp:hlinkClr xmlns:ahyp="http://schemas.microsoft.com/office/drawing/2018/hyperlinkcolor" val="tx"/>
                    </a:ext>
                  </a:extLst>
                </a:hlinkClick>
              </a:rPr>
              <a:t>://www.mindspore.cn/tutorials/zh-CN/r1.8/beginner/quick_start.html</a:t>
            </a:r>
            <a:endParaRPr lang="zh-CN" altLang="en-US" sz="1400" dirty="0">
              <a:solidFill>
                <a:srgbClr val="C00000"/>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3"/>
          <p:cNvSpPr txBox="1">
            <a:spLocks noGrp="1"/>
          </p:cNvSpPr>
          <p:nvPr>
            <p:ph type="title"/>
          </p:nvPr>
        </p:nvSpPr>
        <p:spPr>
          <a:xfrm>
            <a:off x="3762692" y="168123"/>
            <a:ext cx="1618615" cy="626613"/>
          </a:xfrm>
          <a:prstGeom prst="rect">
            <a:avLst/>
          </a:prstGeom>
        </p:spPr>
        <p:txBody>
          <a:bodyPr vert="horz" wrap="square" lIns="0" tIns="10953" rIns="0" bIns="0" rtlCol="0">
            <a:spAutoFit/>
          </a:bodyPr>
          <a:lstStyle/>
          <a:p>
            <a:pPr marL="12700">
              <a:lnSpc>
                <a:spcPct val="100000"/>
              </a:lnSpc>
              <a:spcBef>
                <a:spcPts val="115"/>
              </a:spcBef>
            </a:pPr>
            <a:r>
              <a:rPr lang="zh-CN" altLang="en-US" sz="4000" b="1" spc="15" dirty="0">
                <a:solidFill>
                  <a:schemeClr val="tx1"/>
                </a:solidFill>
                <a:latin typeface="微软雅黑" panose="020B0503020204020204" charset="-122"/>
                <a:ea typeface="微软雅黑" panose="020B0503020204020204" charset="-122"/>
                <a:cs typeface="微软雅黑" panose="020B0503020204020204" charset="-122"/>
              </a:rPr>
              <a:t>训练</a:t>
            </a:r>
          </a:p>
        </p:txBody>
      </p:sp>
      <p:sp>
        <p:nvSpPr>
          <p:cNvPr id="5" name="文本框 4"/>
          <p:cNvSpPr txBox="1"/>
          <p:nvPr/>
        </p:nvSpPr>
        <p:spPr>
          <a:xfrm>
            <a:off x="5532755" y="1268760"/>
            <a:ext cx="3143885" cy="1506855"/>
          </a:xfrm>
          <a:prstGeom prst="rect">
            <a:avLst/>
          </a:prstGeom>
          <a:noFill/>
        </p:spPr>
        <p:txBody>
          <a:bodyPr wrap="square" rtlCol="0" anchor="t">
            <a:spAutoFit/>
          </a:bodyPr>
          <a:lstStyle/>
          <a:p>
            <a:r>
              <a:rPr lang="zh-CN" altLang="en-US" sz="1600" dirty="0">
                <a:latin typeface="微软雅黑" panose="020B0503020204020204" charset="-122"/>
                <a:ea typeface="微软雅黑" panose="020B0503020204020204" charset="-122"/>
                <a:cs typeface="微软雅黑" panose="020B0503020204020204" charset="-122"/>
              </a:rPr>
              <a:t>训练过程中会打印loss值，loss值会</a:t>
            </a:r>
            <a:r>
              <a:rPr lang="zh-CN" altLang="en-US" sz="2000" b="1" dirty="0">
                <a:solidFill>
                  <a:srgbClr val="C35954"/>
                </a:solidFill>
                <a:latin typeface="微软雅黑" panose="020B0503020204020204" charset="-122"/>
                <a:ea typeface="微软雅黑" panose="020B0503020204020204" charset="-122"/>
              </a:rPr>
              <a:t>波动</a:t>
            </a:r>
            <a:r>
              <a:rPr lang="zh-CN" altLang="en-US" sz="1600" dirty="0">
                <a:latin typeface="微软雅黑" panose="020B0503020204020204" charset="-122"/>
                <a:ea typeface="微软雅黑" panose="020B0503020204020204" charset="-122"/>
                <a:cs typeface="微软雅黑" panose="020B0503020204020204" charset="-122"/>
              </a:rPr>
              <a:t>，但总体来说loss值会逐步</a:t>
            </a:r>
            <a:r>
              <a:rPr lang="zh-CN" altLang="en-US" sz="2000" b="1" dirty="0">
                <a:solidFill>
                  <a:srgbClr val="C35954"/>
                </a:solidFill>
                <a:latin typeface="微软雅黑" panose="020B0503020204020204" charset="-122"/>
                <a:ea typeface="微软雅黑" panose="020B0503020204020204" charset="-122"/>
              </a:rPr>
              <a:t>减小</a:t>
            </a:r>
            <a:r>
              <a:rPr lang="zh-CN" altLang="en-US" sz="1600" dirty="0">
                <a:latin typeface="微软雅黑" panose="020B0503020204020204" charset="-122"/>
                <a:ea typeface="微软雅黑" panose="020B0503020204020204" charset="-122"/>
                <a:cs typeface="微软雅黑" panose="020B0503020204020204" charset="-122"/>
              </a:rPr>
              <a:t>，精度逐步</a:t>
            </a:r>
            <a:r>
              <a:rPr lang="zh-CN" altLang="en-US" sz="2000" b="1" dirty="0">
                <a:solidFill>
                  <a:srgbClr val="C35954"/>
                </a:solidFill>
                <a:latin typeface="微软雅黑" panose="020B0503020204020204" charset="-122"/>
                <a:ea typeface="微软雅黑" panose="020B0503020204020204" charset="-122"/>
              </a:rPr>
              <a:t>提高</a:t>
            </a:r>
            <a:r>
              <a:rPr lang="zh-CN" altLang="en-US" sz="1600" dirty="0">
                <a:latin typeface="微软雅黑" panose="020B0503020204020204" charset="-122"/>
                <a:ea typeface="微软雅黑" panose="020B0503020204020204" charset="-122"/>
                <a:cs typeface="微软雅黑" panose="020B0503020204020204" charset="-122"/>
              </a:rPr>
              <a:t>。每个人运行的loss值有一定</a:t>
            </a:r>
            <a:r>
              <a:rPr lang="zh-CN" altLang="en-US" sz="2000" b="1" dirty="0">
                <a:solidFill>
                  <a:srgbClr val="C35954"/>
                </a:solidFill>
                <a:latin typeface="微软雅黑" panose="020B0503020204020204" charset="-122"/>
                <a:ea typeface="微软雅黑" panose="020B0503020204020204" charset="-122"/>
              </a:rPr>
              <a:t>随机</a:t>
            </a:r>
            <a:r>
              <a:rPr lang="zh-CN" altLang="en-US" sz="1600" dirty="0">
                <a:latin typeface="微软雅黑" panose="020B0503020204020204" charset="-122"/>
                <a:ea typeface="微软雅黑" panose="020B0503020204020204" charset="-122"/>
                <a:cs typeface="微软雅黑" panose="020B0503020204020204" charset="-122"/>
              </a:rPr>
              <a:t>性，不一定完全相同。</a:t>
            </a:r>
          </a:p>
        </p:txBody>
      </p:sp>
      <p:sp>
        <p:nvSpPr>
          <p:cNvPr id="3" name="文本框 2">
            <a:extLst>
              <a:ext uri="{FF2B5EF4-FFF2-40B4-BE49-F238E27FC236}">
                <a16:creationId xmlns:a16="http://schemas.microsoft.com/office/drawing/2014/main" id="{C7F20D5A-9A9E-71EC-EDAF-6DA92F207FBB}"/>
              </a:ext>
            </a:extLst>
          </p:cNvPr>
          <p:cNvSpPr txBox="1"/>
          <p:nvPr/>
        </p:nvSpPr>
        <p:spPr>
          <a:xfrm>
            <a:off x="467360" y="908685"/>
            <a:ext cx="5948680" cy="2031325"/>
          </a:xfrm>
          <a:prstGeom prst="rect">
            <a:avLst/>
          </a:prstGeom>
          <a:noFill/>
        </p:spPr>
        <p:txBody>
          <a:bodyPr wrap="square" rtlCol="0" anchor="t">
            <a:spAutoFit/>
          </a:bodyPr>
          <a:lstStyle/>
          <a:p>
            <a:r>
              <a:rPr lang="en-US" altLang="zh-CN" sz="18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1. </a:t>
            </a:r>
            <a:r>
              <a:rPr lang="zh-CN" altLang="en-US" sz="18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定义神经网络</a:t>
            </a:r>
          </a:p>
          <a:p>
            <a:endParaRPr lang="zh-CN" altLang="en-US" sz="18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a:p>
            <a:r>
              <a:rPr lang="en-US" altLang="zh-CN" sz="18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2. </a:t>
            </a:r>
            <a:r>
              <a:rPr lang="zh-CN" altLang="en-US" sz="18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sym typeface="+mn-ea"/>
              </a:rPr>
              <a:t>定义超参、损失函数及优化器</a:t>
            </a:r>
            <a:endParaRPr lang="zh-CN" altLang="en-US" sz="18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a:p>
            <a:endParaRPr lang="zh-CN" altLang="en-US" sz="1800" dirty="0">
              <a:latin typeface="微软雅黑" panose="020B0503020204020204" charset="-122"/>
              <a:ea typeface="微软雅黑" panose="020B0503020204020204" charset="-122"/>
              <a:cs typeface="微软雅黑" panose="020B0503020204020204" charset="-122"/>
            </a:endParaRPr>
          </a:p>
          <a:p>
            <a:r>
              <a:rPr lang="en-US" altLang="zh-CN" dirty="0">
                <a:solidFill>
                  <a:schemeClr val="tx1">
                    <a:lumMod val="50000"/>
                    <a:lumOff val="50000"/>
                  </a:schemeClr>
                </a:solidFill>
                <a:latin typeface="微软雅黑" panose="020B0503020204020204" charset="-122"/>
                <a:ea typeface="微软雅黑" panose="020B0503020204020204" charset="-122"/>
              </a:rPr>
              <a:t>3. </a:t>
            </a:r>
            <a:r>
              <a:rPr lang="zh-CN" altLang="en-US" dirty="0">
                <a:solidFill>
                  <a:schemeClr val="tx1">
                    <a:lumMod val="50000"/>
                    <a:lumOff val="50000"/>
                  </a:schemeClr>
                </a:solidFill>
                <a:latin typeface="微软雅黑" panose="020B0503020204020204" charset="-122"/>
                <a:ea typeface="微软雅黑" panose="020B0503020204020204" charset="-122"/>
              </a:rPr>
              <a:t>读入数据集</a:t>
            </a:r>
          </a:p>
          <a:p>
            <a:endParaRPr lang="zh-CN" altLang="en-US" sz="1800" dirty="0">
              <a:latin typeface="微软雅黑" panose="020B0503020204020204" charset="-122"/>
              <a:ea typeface="微软雅黑" panose="020B0503020204020204" charset="-122"/>
              <a:cs typeface="微软雅黑" panose="020B0503020204020204" charset="-122"/>
            </a:endParaRPr>
          </a:p>
          <a:p>
            <a:r>
              <a:rPr lang="en-US" altLang="zh-CN" b="1" dirty="0">
                <a:latin typeface="微软雅黑" panose="020B0503020204020204" charset="-122"/>
                <a:ea typeface="微软雅黑" panose="020B0503020204020204" charset="-122"/>
              </a:rPr>
              <a:t>4. </a:t>
            </a:r>
            <a:r>
              <a:rPr lang="zh-CN" altLang="en-US" b="1" dirty="0">
                <a:latin typeface="微软雅黑" panose="020B0503020204020204" charset="-122"/>
                <a:ea typeface="微软雅黑" panose="020B0503020204020204" charset="-122"/>
              </a:rPr>
              <a:t>输入训练轮次和数据集进行训练 </a:t>
            </a:r>
            <a:r>
              <a:rPr lang="en-US" altLang="zh-CN" sz="1800" dirty="0">
                <a:latin typeface="微软雅黑" panose="020B0503020204020204" charset="-122"/>
                <a:ea typeface="微软雅黑" panose="020B0503020204020204" charset="-122"/>
                <a:cs typeface="微软雅黑" panose="020B0503020204020204" charset="-122"/>
                <a:hlinkClick r:id="rId2" action="ppaction://hlinkfile"/>
              </a:rPr>
              <a:t>API</a:t>
            </a:r>
            <a:r>
              <a:rPr lang="zh-CN" altLang="en-US" sz="1800" dirty="0">
                <a:latin typeface="微软雅黑" panose="020B0503020204020204" charset="-122"/>
                <a:ea typeface="微软雅黑" panose="020B0503020204020204" charset="-122"/>
                <a:cs typeface="微软雅黑" panose="020B0503020204020204" charset="-122"/>
                <a:hlinkClick r:id="rId2" action="ppaction://hlinkfile"/>
              </a:rPr>
              <a:t>文档</a:t>
            </a:r>
            <a:endParaRPr lang="zh-CN" altLang="en-US" sz="18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p:txBody>
      </p:sp>
      <p:pic>
        <p:nvPicPr>
          <p:cNvPr id="7" name="图片 6">
            <a:extLst>
              <a:ext uri="{FF2B5EF4-FFF2-40B4-BE49-F238E27FC236}">
                <a16:creationId xmlns:a16="http://schemas.microsoft.com/office/drawing/2014/main" id="{79FC421B-1DD2-BF67-2695-85E66384C081}"/>
              </a:ext>
            </a:extLst>
          </p:cNvPr>
          <p:cNvPicPr>
            <a:picLocks noChangeAspect="1"/>
          </p:cNvPicPr>
          <p:nvPr/>
        </p:nvPicPr>
        <p:blipFill>
          <a:blip r:embed="rId3"/>
          <a:stretch>
            <a:fillRect/>
          </a:stretch>
        </p:blipFill>
        <p:spPr>
          <a:xfrm>
            <a:off x="1115616" y="3003512"/>
            <a:ext cx="6706181" cy="1828958"/>
          </a:xfrm>
          <a:prstGeom prst="rect">
            <a:avLst/>
          </a:prstGeom>
        </p:spPr>
      </p:pic>
      <p:pic>
        <p:nvPicPr>
          <p:cNvPr id="10" name="图片 9">
            <a:extLst>
              <a:ext uri="{FF2B5EF4-FFF2-40B4-BE49-F238E27FC236}">
                <a16:creationId xmlns:a16="http://schemas.microsoft.com/office/drawing/2014/main" id="{BF7422A1-DF0F-884B-3ACE-D8B4350E3173}"/>
              </a:ext>
            </a:extLst>
          </p:cNvPr>
          <p:cNvPicPr>
            <a:picLocks noChangeAspect="1"/>
          </p:cNvPicPr>
          <p:nvPr/>
        </p:nvPicPr>
        <p:blipFill>
          <a:blip r:embed="rId4"/>
          <a:stretch>
            <a:fillRect/>
          </a:stretch>
        </p:blipFill>
        <p:spPr>
          <a:xfrm>
            <a:off x="1222304" y="4922098"/>
            <a:ext cx="6492803" cy="1905165"/>
          </a:xfrm>
          <a:prstGeom prst="rect">
            <a:avLst/>
          </a:prstGeom>
        </p:spPr>
      </p:pic>
      <p:sp>
        <p:nvSpPr>
          <p:cNvPr id="12" name="文本框 11">
            <a:extLst>
              <a:ext uri="{FF2B5EF4-FFF2-40B4-BE49-F238E27FC236}">
                <a16:creationId xmlns:a16="http://schemas.microsoft.com/office/drawing/2014/main" id="{6E49DC5A-F8A5-511F-A98A-A65DDB6E3C70}"/>
              </a:ext>
            </a:extLst>
          </p:cNvPr>
          <p:cNvSpPr txBox="1"/>
          <p:nvPr/>
        </p:nvSpPr>
        <p:spPr>
          <a:xfrm>
            <a:off x="5111552" y="5229200"/>
            <a:ext cx="4032448" cy="523220"/>
          </a:xfrm>
          <a:prstGeom prst="rect">
            <a:avLst/>
          </a:prstGeom>
          <a:noFill/>
        </p:spPr>
        <p:txBody>
          <a:bodyPr wrap="square">
            <a:spAutoFit/>
          </a:bodyPr>
          <a:lstStyle/>
          <a:p>
            <a:r>
              <a:rPr lang="zh-CN" altLang="en-US" sz="1400" dirty="0">
                <a:latin typeface="微软雅黑" panose="020B0503020204020204" charset="-122"/>
                <a:ea typeface="微软雅黑" panose="020B0503020204020204" charset="-122"/>
              </a:rPr>
              <a:t>代码</a:t>
            </a:r>
            <a:r>
              <a:rPr lang="zh-CN" altLang="en-US" sz="1400" dirty="0"/>
              <a:t>：</a:t>
            </a:r>
            <a:r>
              <a:rPr lang="zh-CN" altLang="en-US" sz="1400" dirty="0">
                <a:solidFill>
                  <a:srgbClr val="009999"/>
                </a:solidFill>
                <a:hlinkClick r:id="rId5">
                  <a:extLst>
                    <a:ext uri="{A12FA001-AC4F-418D-AE19-62706E023703}">
                      <ahyp:hlinkClr xmlns:ahyp="http://schemas.microsoft.com/office/drawing/2018/hyperlinkcolor" val="tx"/>
                    </a:ext>
                  </a:extLst>
                </a:hlinkClick>
              </a:rPr>
              <a:t>https</a:t>
            </a:r>
            <a:r>
              <a:rPr lang="zh-CN" altLang="en-US" sz="1400" dirty="0">
                <a:solidFill>
                  <a:srgbClr val="C00000"/>
                </a:solidFill>
                <a:hlinkClick r:id="rId5">
                  <a:extLst>
                    <a:ext uri="{A12FA001-AC4F-418D-AE19-62706E023703}">
                      <ahyp:hlinkClr xmlns:ahyp="http://schemas.microsoft.com/office/drawing/2018/hyperlinkcolor" val="tx"/>
                    </a:ext>
                  </a:extLst>
                </a:hlinkClick>
              </a:rPr>
              <a:t>://www.mindspore.cn/tutorials/zh-CN/r1.8/beginner/quick_start.html</a:t>
            </a:r>
            <a:endParaRPr lang="zh-CN" altLang="en-US" sz="1400" dirty="0">
              <a:solidFill>
                <a:srgbClr val="C00000"/>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7360" y="908685"/>
            <a:ext cx="5948680" cy="2585323"/>
          </a:xfrm>
          <a:prstGeom prst="rect">
            <a:avLst/>
          </a:prstGeom>
          <a:noFill/>
        </p:spPr>
        <p:txBody>
          <a:bodyPr wrap="square" rtlCol="0" anchor="t">
            <a:spAutoFit/>
          </a:bodyPr>
          <a:lstStyle/>
          <a:p>
            <a:r>
              <a:rPr lang="en-US" altLang="zh-CN" sz="18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1. </a:t>
            </a:r>
            <a:r>
              <a:rPr lang="zh-CN" altLang="en-US" sz="18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定义神经网络</a:t>
            </a:r>
          </a:p>
          <a:p>
            <a:endParaRPr lang="zh-CN" altLang="en-US" sz="18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a:p>
            <a:r>
              <a:rPr lang="en-US" altLang="zh-CN" sz="18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rPr>
              <a:t>2. </a:t>
            </a:r>
            <a:r>
              <a:rPr lang="zh-CN" altLang="en-US" sz="18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sym typeface="+mn-ea"/>
              </a:rPr>
              <a:t>定义超参、损失函数及优化器</a:t>
            </a:r>
            <a:endParaRPr lang="zh-CN" altLang="en-US" sz="1800"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a:p>
            <a:endParaRPr lang="zh-CN" altLang="en-US" sz="1800" dirty="0">
              <a:latin typeface="微软雅黑" panose="020B0503020204020204" charset="-122"/>
              <a:ea typeface="微软雅黑" panose="020B0503020204020204" charset="-122"/>
              <a:cs typeface="微软雅黑" panose="020B0503020204020204" charset="-122"/>
            </a:endParaRPr>
          </a:p>
          <a:p>
            <a:r>
              <a:rPr lang="en-US" altLang="zh-CN" dirty="0">
                <a:solidFill>
                  <a:schemeClr val="tx1">
                    <a:lumMod val="50000"/>
                    <a:lumOff val="50000"/>
                  </a:schemeClr>
                </a:solidFill>
                <a:latin typeface="微软雅黑" panose="020B0503020204020204" charset="-122"/>
                <a:ea typeface="微软雅黑" panose="020B0503020204020204" charset="-122"/>
              </a:rPr>
              <a:t>3. </a:t>
            </a:r>
            <a:r>
              <a:rPr lang="zh-CN" altLang="en-US" dirty="0">
                <a:solidFill>
                  <a:schemeClr val="tx1">
                    <a:lumMod val="50000"/>
                    <a:lumOff val="50000"/>
                  </a:schemeClr>
                </a:solidFill>
                <a:latin typeface="微软雅黑" panose="020B0503020204020204" charset="-122"/>
                <a:ea typeface="微软雅黑" panose="020B0503020204020204" charset="-122"/>
              </a:rPr>
              <a:t>读入数据集</a:t>
            </a:r>
          </a:p>
          <a:p>
            <a:endParaRPr lang="zh-CN" altLang="en-US" sz="1800" dirty="0">
              <a:latin typeface="微软雅黑" panose="020B0503020204020204" charset="-122"/>
              <a:ea typeface="微软雅黑" panose="020B0503020204020204" charset="-122"/>
              <a:cs typeface="微软雅黑" panose="020B0503020204020204" charset="-122"/>
            </a:endParaRPr>
          </a:p>
          <a:p>
            <a:r>
              <a:rPr lang="en-US" altLang="zh-CN" dirty="0">
                <a:solidFill>
                  <a:schemeClr val="tx1">
                    <a:lumMod val="50000"/>
                    <a:lumOff val="50000"/>
                  </a:schemeClr>
                </a:solidFill>
                <a:latin typeface="微软雅黑" panose="020B0503020204020204" charset="-122"/>
                <a:ea typeface="微软雅黑" panose="020B0503020204020204" charset="-122"/>
              </a:rPr>
              <a:t>4. </a:t>
            </a:r>
            <a:r>
              <a:rPr lang="zh-CN" altLang="en-US" dirty="0">
                <a:solidFill>
                  <a:schemeClr val="tx1">
                    <a:lumMod val="50000"/>
                    <a:lumOff val="50000"/>
                  </a:schemeClr>
                </a:solidFill>
                <a:latin typeface="微软雅黑" panose="020B0503020204020204" charset="-122"/>
                <a:ea typeface="微软雅黑" panose="020B0503020204020204" charset="-122"/>
              </a:rPr>
              <a:t>输入训练轮次和数据集进行训练</a:t>
            </a:r>
            <a:endParaRPr lang="zh-CN" altLang="en-US" dirty="0">
              <a:solidFill>
                <a:schemeClr val="tx1">
                  <a:lumMod val="50000"/>
                  <a:lumOff val="50000"/>
                </a:schemeClr>
              </a:solidFill>
              <a:latin typeface="微软雅黑" panose="020B0503020204020204" charset="-122"/>
              <a:ea typeface="微软雅黑" panose="020B0503020204020204" charset="-122"/>
              <a:hlinkClick r:id="rId2" action="ppaction://hlinkfile">
                <a:extLst>
                  <a:ext uri="{A12FA001-AC4F-418D-AE19-62706E023703}">
                    <ahyp:hlinkClr xmlns:ahyp="http://schemas.microsoft.com/office/drawing/2018/hyperlinkcolor" val="tx"/>
                  </a:ext>
                </a:extLst>
              </a:hlinkClick>
            </a:endParaRPr>
          </a:p>
          <a:p>
            <a:endParaRPr lang="zh-CN" altLang="en-US" sz="1800" dirty="0">
              <a:latin typeface="微软雅黑" panose="020B0503020204020204" charset="-122"/>
              <a:ea typeface="微软雅黑" panose="020B0503020204020204" charset="-122"/>
              <a:cs typeface="微软雅黑" panose="020B0503020204020204" charset="-122"/>
            </a:endParaRPr>
          </a:p>
          <a:p>
            <a:r>
              <a:rPr lang="en-US" altLang="zh-CN" b="1" dirty="0">
                <a:latin typeface="微软雅黑" panose="020B0503020204020204" charset="-122"/>
                <a:ea typeface="微软雅黑" panose="020B0503020204020204" charset="-122"/>
              </a:rPr>
              <a:t>5.</a:t>
            </a:r>
            <a:r>
              <a:rPr lang="en-US" altLang="zh-CN" b="1" dirty="0">
                <a:latin typeface="微软雅黑" panose="020B0503020204020204" charset="-122"/>
                <a:ea typeface="微软雅黑" panose="020B0503020204020204" charset="-122"/>
                <a:sym typeface="+mn-ea"/>
              </a:rPr>
              <a:t> </a:t>
            </a:r>
            <a:r>
              <a:rPr lang="zh-CN" altLang="en-US" b="1" dirty="0">
                <a:latin typeface="微软雅黑" panose="020B0503020204020204" charset="-122"/>
                <a:ea typeface="微软雅黑" panose="020B0503020204020204" charset="-122"/>
                <a:sym typeface="+mn-ea"/>
              </a:rPr>
              <a:t>验证集验证</a:t>
            </a:r>
            <a:endParaRPr lang="zh-CN" altLang="en-US" b="1" dirty="0">
              <a:latin typeface="微软雅黑" panose="020B0503020204020204" charset="-122"/>
              <a:ea typeface="微软雅黑" panose="020B0503020204020204" charset="-122"/>
            </a:endParaRPr>
          </a:p>
        </p:txBody>
      </p:sp>
      <p:sp>
        <p:nvSpPr>
          <p:cNvPr id="9" name="object 3"/>
          <p:cNvSpPr txBox="1">
            <a:spLocks noGrp="1"/>
          </p:cNvSpPr>
          <p:nvPr>
            <p:ph type="title"/>
          </p:nvPr>
        </p:nvSpPr>
        <p:spPr>
          <a:xfrm>
            <a:off x="3441700" y="194654"/>
            <a:ext cx="2448079" cy="503502"/>
          </a:xfrm>
          <a:prstGeom prst="rect">
            <a:avLst/>
          </a:prstGeom>
        </p:spPr>
        <p:txBody>
          <a:bodyPr vert="horz" wrap="square" lIns="0" tIns="10953" rIns="0" bIns="0" rtlCol="0">
            <a:spAutoFit/>
          </a:bodyPr>
          <a:lstStyle/>
          <a:p>
            <a:pPr marL="12700">
              <a:lnSpc>
                <a:spcPct val="100000"/>
              </a:lnSpc>
              <a:spcBef>
                <a:spcPts val="115"/>
              </a:spcBef>
            </a:pPr>
            <a:r>
              <a:rPr lang="zh-CN" altLang="en-US" sz="3200" b="1" spc="15" dirty="0">
                <a:solidFill>
                  <a:schemeClr val="tx1"/>
                </a:solidFill>
                <a:latin typeface="微软雅黑" panose="020B0503020204020204" charset="-122"/>
                <a:ea typeface="微软雅黑" panose="020B0503020204020204" charset="-122"/>
                <a:cs typeface="微软雅黑" panose="020B0503020204020204" charset="-122"/>
              </a:rPr>
              <a:t>验证集验证</a:t>
            </a:r>
          </a:p>
        </p:txBody>
      </p:sp>
      <p:pic>
        <p:nvPicPr>
          <p:cNvPr id="10" name="图片 9">
            <a:extLst>
              <a:ext uri="{FF2B5EF4-FFF2-40B4-BE49-F238E27FC236}">
                <a16:creationId xmlns:a16="http://schemas.microsoft.com/office/drawing/2014/main" id="{BB2C76AC-CC0D-F935-4B77-71C08025778F}"/>
              </a:ext>
            </a:extLst>
          </p:cNvPr>
          <p:cNvPicPr>
            <a:picLocks noChangeAspect="1"/>
          </p:cNvPicPr>
          <p:nvPr/>
        </p:nvPicPr>
        <p:blipFill>
          <a:blip r:embed="rId3"/>
          <a:stretch>
            <a:fillRect/>
          </a:stretch>
        </p:blipFill>
        <p:spPr>
          <a:xfrm>
            <a:off x="2627784" y="3573016"/>
            <a:ext cx="3574090" cy="1882303"/>
          </a:xfrm>
          <a:prstGeom prst="rect">
            <a:avLst/>
          </a:prstGeom>
        </p:spPr>
      </p:pic>
      <p:sp>
        <p:nvSpPr>
          <p:cNvPr id="13" name="文本框 12">
            <a:extLst>
              <a:ext uri="{FF2B5EF4-FFF2-40B4-BE49-F238E27FC236}">
                <a16:creationId xmlns:a16="http://schemas.microsoft.com/office/drawing/2014/main" id="{7D0C293C-D444-9EC9-48FC-992544B8D896}"/>
              </a:ext>
            </a:extLst>
          </p:cNvPr>
          <p:cNvSpPr txBox="1"/>
          <p:nvPr/>
        </p:nvSpPr>
        <p:spPr>
          <a:xfrm>
            <a:off x="1101343" y="5805264"/>
            <a:ext cx="7128792" cy="646331"/>
          </a:xfrm>
          <a:prstGeom prst="rect">
            <a:avLst/>
          </a:prstGeom>
          <a:noFill/>
        </p:spPr>
        <p:txBody>
          <a:bodyPr wrap="square">
            <a:spAutoFit/>
          </a:bodyPr>
          <a:lstStyle/>
          <a:p>
            <a:r>
              <a:rPr lang="zh-CN" altLang="en-US" b="0" i="0" dirty="0">
                <a:effectLst/>
                <a:highlight>
                  <a:srgbClr val="FFFFFF"/>
                </a:highlight>
                <a:latin typeface="微软雅黑" panose="020B0503020204020204" pitchFamily="34" charset="-122"/>
                <a:ea typeface="微软雅黑" panose="020B0503020204020204" pitchFamily="34" charset="-122"/>
              </a:rPr>
              <a:t>可以在打印信息中看出模型精度数据，示例中精度数据达到</a:t>
            </a:r>
            <a:r>
              <a:rPr lang="en-US" altLang="zh-CN" b="0" i="0" dirty="0">
                <a:effectLst/>
                <a:highlight>
                  <a:srgbClr val="FFFFFF"/>
                </a:highlight>
                <a:latin typeface="微软雅黑" panose="020B0503020204020204" pitchFamily="34" charset="-122"/>
                <a:ea typeface="微软雅黑" panose="020B0503020204020204" pitchFamily="34" charset="-122"/>
              </a:rPr>
              <a:t>95%</a:t>
            </a:r>
            <a:r>
              <a:rPr lang="zh-CN" altLang="en-US" b="0" i="0" dirty="0">
                <a:effectLst/>
                <a:highlight>
                  <a:srgbClr val="FFFFFF"/>
                </a:highlight>
                <a:latin typeface="微软雅黑" panose="020B0503020204020204" pitchFamily="34" charset="-122"/>
                <a:ea typeface="微软雅黑" panose="020B0503020204020204" pitchFamily="34" charset="-122"/>
              </a:rPr>
              <a:t>以上，模型质量良好。随着网络迭代次数增加，模型精度会进一步提高。</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5B4388-2DD1-6D26-92A5-3C1D7EFA8FE3}"/>
              </a:ext>
            </a:extLst>
          </p:cNvPr>
          <p:cNvSpPr/>
          <p:nvPr/>
        </p:nvSpPr>
        <p:spPr>
          <a:xfrm>
            <a:off x="755576" y="2964755"/>
            <a:ext cx="7632848" cy="1055489"/>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文本框 2">
            <a:extLst>
              <a:ext uri="{FF2B5EF4-FFF2-40B4-BE49-F238E27FC236}">
                <a16:creationId xmlns:a16="http://schemas.microsoft.com/office/drawing/2014/main" id="{24176006-6655-FBDB-2572-49C746EB5351}"/>
              </a:ext>
            </a:extLst>
          </p:cNvPr>
          <p:cNvSpPr txBox="1"/>
          <p:nvPr/>
        </p:nvSpPr>
        <p:spPr>
          <a:xfrm>
            <a:off x="1043608" y="3138557"/>
            <a:ext cx="7560840" cy="707886"/>
          </a:xfrm>
          <a:prstGeom prst="rect">
            <a:avLst/>
          </a:prstGeom>
          <a:noFill/>
        </p:spPr>
        <p:txBody>
          <a:bodyPr wrap="square" rtlCol="0">
            <a:spAutoFit/>
          </a:bodyPr>
          <a:lstStyle/>
          <a:p>
            <a:r>
              <a:rPr lang="zh-CN" altLang="en-US" sz="4000" b="1" dirty="0">
                <a:solidFill>
                  <a:schemeClr val="bg1"/>
                </a:solidFill>
                <a:latin typeface="微软雅黑" panose="020B0503020204020204" charset="-122"/>
                <a:ea typeface="微软雅黑" panose="020B0503020204020204" charset="-122"/>
                <a:cs typeface="微软雅黑" panose="020B0503020204020204" charset="-122"/>
              </a:rPr>
              <a:t>使用生成的模型进行分类预测</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21088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3"/>
          <p:cNvSpPr txBox="1">
            <a:spLocks noGrp="1"/>
          </p:cNvSpPr>
          <p:nvPr>
            <p:ph type="title"/>
          </p:nvPr>
        </p:nvSpPr>
        <p:spPr>
          <a:xfrm>
            <a:off x="3635896" y="155508"/>
            <a:ext cx="2115979" cy="565058"/>
          </a:xfrm>
          <a:prstGeom prst="rect">
            <a:avLst/>
          </a:prstGeom>
        </p:spPr>
        <p:txBody>
          <a:bodyPr vert="horz" wrap="square" lIns="0" tIns="10953" rIns="0" bIns="0" rtlCol="0">
            <a:spAutoFit/>
          </a:bodyPr>
          <a:lstStyle/>
          <a:p>
            <a:pPr marL="12700">
              <a:lnSpc>
                <a:spcPct val="100000"/>
              </a:lnSpc>
              <a:spcBef>
                <a:spcPts val="115"/>
              </a:spcBef>
            </a:pPr>
            <a:r>
              <a:rPr lang="zh-CN" altLang="en-US" sz="3600" b="1" dirty="0">
                <a:latin typeface="微软雅黑" panose="020B0503020204020204" charset="-122"/>
                <a:ea typeface="微软雅黑" panose="020B0503020204020204" charset="-122"/>
                <a:cs typeface="微软雅黑" panose="020B0503020204020204" charset="-122"/>
              </a:rPr>
              <a:t>加载模型</a:t>
            </a:r>
            <a:endParaRPr lang="zh-CN" altLang="en-US" sz="3600" spc="15"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107315" y="836712"/>
            <a:ext cx="8331835" cy="2708434"/>
          </a:xfrm>
          <a:prstGeom prst="rect">
            <a:avLst/>
          </a:prstGeom>
          <a:noFill/>
        </p:spPr>
        <p:txBody>
          <a:bodyPr wrap="square" rtlCol="0" anchor="t">
            <a:spAutoFit/>
          </a:bodyPr>
          <a:lstStyle/>
          <a:p>
            <a:r>
              <a:rPr lang="zh-CN" altLang="en-US" sz="1600" dirty="0">
                <a:latin typeface="微软雅黑" panose="020B0503020204020204" charset="-122"/>
                <a:ea typeface="微软雅黑" panose="020B0503020204020204" charset="-122"/>
                <a:cs typeface="微软雅黑" panose="020B0503020204020204" charset="-122"/>
              </a:rPr>
              <a:t>我们使用生成的模型进行图片数据的分类预测，具体步骤如下：</a:t>
            </a:r>
            <a:endParaRPr lang="en-US" altLang="zh-CN" sz="1600" dirty="0">
              <a:latin typeface="微软雅黑" panose="020B0503020204020204" charset="-122"/>
              <a:ea typeface="微软雅黑" panose="020B0503020204020204" charset="-122"/>
              <a:cs typeface="微软雅黑" panose="020B0503020204020204" charset="-122"/>
            </a:endParaRPr>
          </a:p>
          <a:p>
            <a:endParaRPr lang="zh-CN" altLang="en-US" sz="1600" dirty="0">
              <a:latin typeface="微软雅黑" panose="020B0503020204020204" charset="-122"/>
              <a:ea typeface="微软雅黑" panose="020B0503020204020204" charset="-122"/>
              <a:cs typeface="微软雅黑" panose="020B0503020204020204" charset="-122"/>
            </a:endParaRPr>
          </a:p>
          <a:p>
            <a:r>
              <a:rPr lang="zh-CN" altLang="en-US" sz="1800" b="1" dirty="0">
                <a:latin typeface="微软雅黑" panose="020B0503020204020204" charset="-122"/>
                <a:ea typeface="微软雅黑" panose="020B0503020204020204" charset="-122"/>
                <a:cs typeface="微软雅黑" panose="020B0503020204020204" charset="-122"/>
              </a:rPr>
              <a:t>1. 加载保存的模型权重</a:t>
            </a:r>
          </a:p>
          <a:p>
            <a:endParaRPr lang="zh-CN" altLang="en-US" sz="1800" b="1" dirty="0">
              <a:latin typeface="微软雅黑" panose="020B0503020204020204" charset="-122"/>
              <a:ea typeface="微软雅黑" panose="020B0503020204020204" charset="-122"/>
              <a:cs typeface="微软雅黑" panose="020B0503020204020204" charset="-122"/>
            </a:endParaRPr>
          </a:p>
          <a:p>
            <a:r>
              <a:rPr lang="zh-CN" altLang="en-US" sz="1800" b="1" dirty="0">
                <a:latin typeface="微软雅黑" panose="020B0503020204020204" charset="-122"/>
                <a:ea typeface="微软雅黑" panose="020B0503020204020204" charset="-122"/>
                <a:cs typeface="微软雅黑" panose="020B0503020204020204" charset="-122"/>
              </a:rPr>
              <a:t>2. 把</a:t>
            </a:r>
            <a:r>
              <a:rPr lang="zh-CN" altLang="en-US" sz="1800" b="1" dirty="0">
                <a:latin typeface="微软雅黑" panose="020B0503020204020204" charset="-122"/>
                <a:ea typeface="微软雅黑" panose="020B0503020204020204" charset="-122"/>
                <a:cs typeface="微软雅黑" panose="020B0503020204020204" charset="-122"/>
                <a:sym typeface="+mn-ea"/>
              </a:rPr>
              <a:t>模型权重赋予到网络的每个权重中</a:t>
            </a:r>
          </a:p>
          <a:p>
            <a:endParaRPr lang="zh-CN" altLang="en-US" sz="1800" b="1" dirty="0">
              <a:latin typeface="微软雅黑" panose="020B0503020204020204" charset="-122"/>
              <a:ea typeface="微软雅黑" panose="020B0503020204020204" charset="-122"/>
              <a:cs typeface="微软雅黑" panose="020B0503020204020204" charset="-122"/>
            </a:endParaRPr>
          </a:p>
          <a:p>
            <a:r>
              <a:rPr lang="zh-CN" altLang="en-US" sz="1800" b="1" dirty="0">
                <a:latin typeface="微软雅黑" panose="020B0503020204020204" charset="-122"/>
                <a:ea typeface="微软雅黑" panose="020B0503020204020204" charset="-122"/>
                <a:cs typeface="微软雅黑" panose="020B0503020204020204" charset="-122"/>
              </a:rPr>
              <a:t>3. 加载测试集</a:t>
            </a:r>
          </a:p>
          <a:p>
            <a:endParaRPr lang="zh-CN" altLang="en-US" sz="1600" dirty="0">
              <a:latin typeface="微软雅黑" panose="020B0503020204020204" charset="-122"/>
              <a:ea typeface="微软雅黑" panose="020B0503020204020204" charset="-122"/>
              <a:cs typeface="微软雅黑" panose="020B0503020204020204" charset="-122"/>
            </a:endParaRPr>
          </a:p>
          <a:p>
            <a:endParaRPr lang="zh-CN" altLang="en-US" sz="1600" dirty="0">
              <a:latin typeface="微软雅黑" panose="020B0503020204020204" charset="-122"/>
              <a:ea typeface="微软雅黑" panose="020B0503020204020204" charset="-122"/>
              <a:cs typeface="微软雅黑" panose="020B0503020204020204" charset="-122"/>
            </a:endParaRPr>
          </a:p>
          <a:p>
            <a:endParaRPr lang="zh-CN" altLang="en-US" sz="1600" dirty="0">
              <a:latin typeface="微软雅黑" panose="020B0503020204020204" charset="-122"/>
              <a:ea typeface="微软雅黑" panose="020B0503020204020204" charset="-122"/>
              <a:cs typeface="微软雅黑" panose="020B0503020204020204" charset="-122"/>
            </a:endParaRPr>
          </a:p>
        </p:txBody>
      </p:sp>
      <p:pic>
        <p:nvPicPr>
          <p:cNvPr id="8" name="图片 7"/>
          <p:cNvPicPr>
            <a:picLocks noChangeAspect="1"/>
          </p:cNvPicPr>
          <p:nvPr/>
        </p:nvPicPr>
        <p:blipFill rotWithShape="1">
          <a:blip r:embed="rId2"/>
          <a:srcRect t="45370"/>
          <a:stretch/>
        </p:blipFill>
        <p:spPr>
          <a:xfrm>
            <a:off x="2910567" y="4090720"/>
            <a:ext cx="5682615" cy="1719600"/>
          </a:xfrm>
          <a:prstGeom prst="rect">
            <a:avLst/>
          </a:prstGeom>
        </p:spPr>
      </p:pic>
      <p:sp>
        <p:nvSpPr>
          <p:cNvPr id="10" name="文本框 9"/>
          <p:cNvSpPr txBox="1"/>
          <p:nvPr/>
        </p:nvSpPr>
        <p:spPr>
          <a:xfrm>
            <a:off x="2678182" y="6021288"/>
            <a:ext cx="5897880" cy="368300"/>
          </a:xfrm>
          <a:prstGeom prst="rect">
            <a:avLst/>
          </a:prstGeom>
          <a:noFill/>
        </p:spPr>
        <p:txBody>
          <a:bodyPr wrap="none" rtlCol="0" anchor="t">
            <a:spAutoFit/>
          </a:bodyPr>
          <a:lstStyle/>
          <a:p>
            <a:r>
              <a:rPr lang="zh-CN" altLang="en-US" dirty="0">
                <a:latin typeface="微软雅黑" panose="020B0503020204020204" charset="-122"/>
                <a:ea typeface="微软雅黑" panose="020B0503020204020204" charset="-122"/>
                <a:cs typeface="微软雅黑" panose="020B0503020204020204" charset="-122"/>
                <a:sym typeface="+mn-ea"/>
              </a:rPr>
              <a:t>被预测的图片会随机生成，每次运行结果可能会不一样。</a:t>
            </a:r>
            <a:endParaRPr lang="zh-CN" altLang="en-US" dirty="0"/>
          </a:p>
        </p:txBody>
      </p:sp>
      <p:sp>
        <p:nvSpPr>
          <p:cNvPr id="2" name="文本框 1">
            <a:extLst>
              <a:ext uri="{FF2B5EF4-FFF2-40B4-BE49-F238E27FC236}">
                <a16:creationId xmlns:a16="http://schemas.microsoft.com/office/drawing/2014/main" id="{BA74398D-D61A-FFE8-5D55-7D48DF926302}"/>
              </a:ext>
            </a:extLst>
          </p:cNvPr>
          <p:cNvSpPr txBox="1"/>
          <p:nvPr/>
        </p:nvSpPr>
        <p:spPr>
          <a:xfrm>
            <a:off x="179705" y="4636293"/>
            <a:ext cx="1604854" cy="1384995"/>
          </a:xfrm>
          <a:prstGeom prst="rect">
            <a:avLst/>
          </a:prstGeom>
          <a:noFill/>
        </p:spPr>
        <p:txBody>
          <a:bodyPr wrap="square">
            <a:spAutoFit/>
          </a:bodyPr>
          <a:lstStyle/>
          <a:p>
            <a:r>
              <a:rPr lang="zh-CN" altLang="en-US" sz="1400" dirty="0">
                <a:latin typeface="微软雅黑" panose="020B0503020204020204" charset="-122"/>
                <a:ea typeface="微软雅黑" panose="020B0503020204020204" charset="-122"/>
              </a:rPr>
              <a:t>代码</a:t>
            </a:r>
            <a:r>
              <a:rPr lang="zh-CN" altLang="en-US" sz="1400" dirty="0"/>
              <a:t>：</a:t>
            </a:r>
            <a:r>
              <a:rPr lang="zh-CN" altLang="en-US" sz="1400" dirty="0">
                <a:solidFill>
                  <a:srgbClr val="009999"/>
                </a:solidFill>
                <a:hlinkClick r:id="rId3">
                  <a:extLst>
                    <a:ext uri="{A12FA001-AC4F-418D-AE19-62706E023703}">
                      <ahyp:hlinkClr xmlns:ahyp="http://schemas.microsoft.com/office/drawing/2018/hyperlinkcolor" val="tx"/>
                    </a:ext>
                  </a:extLst>
                </a:hlinkClick>
              </a:rPr>
              <a:t>https</a:t>
            </a:r>
            <a:r>
              <a:rPr lang="zh-CN" altLang="en-US" sz="1400" dirty="0">
                <a:solidFill>
                  <a:srgbClr val="C00000"/>
                </a:solidFill>
                <a:hlinkClick r:id="rId3">
                  <a:extLst>
                    <a:ext uri="{A12FA001-AC4F-418D-AE19-62706E023703}">
                      <ahyp:hlinkClr xmlns:ahyp="http://schemas.microsoft.com/office/drawing/2018/hyperlinkcolor" val="tx"/>
                    </a:ext>
                  </a:extLst>
                </a:hlinkClick>
              </a:rPr>
              <a:t>://www.mindspore.cn/tutorials/zh-CN/r1.8/beginner/quick_start.html</a:t>
            </a:r>
            <a:endParaRPr lang="zh-CN" altLang="en-US" sz="1400" dirty="0">
              <a:solidFill>
                <a:srgbClr val="C00000"/>
              </a:solidFill>
            </a:endParaRPr>
          </a:p>
        </p:txBody>
      </p:sp>
      <p:pic>
        <p:nvPicPr>
          <p:cNvPr id="4" name="图片 3">
            <a:extLst>
              <a:ext uri="{FF2B5EF4-FFF2-40B4-BE49-F238E27FC236}">
                <a16:creationId xmlns:a16="http://schemas.microsoft.com/office/drawing/2014/main" id="{73955AB5-1AC3-D8BA-9F50-1084FFC3792B}"/>
              </a:ext>
            </a:extLst>
          </p:cNvPr>
          <p:cNvPicPr>
            <a:picLocks noChangeAspect="1"/>
          </p:cNvPicPr>
          <p:nvPr/>
        </p:nvPicPr>
        <p:blipFill>
          <a:blip r:embed="rId4"/>
          <a:stretch>
            <a:fillRect/>
          </a:stretch>
        </p:blipFill>
        <p:spPr>
          <a:xfrm>
            <a:off x="3059832" y="2498036"/>
            <a:ext cx="5031612" cy="159268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3"/>
          <p:cNvSpPr txBox="1">
            <a:spLocks noGrp="1"/>
          </p:cNvSpPr>
          <p:nvPr>
            <p:ph type="title"/>
          </p:nvPr>
        </p:nvSpPr>
        <p:spPr>
          <a:xfrm>
            <a:off x="3095932" y="260648"/>
            <a:ext cx="2952135" cy="503502"/>
          </a:xfrm>
          <a:prstGeom prst="rect">
            <a:avLst/>
          </a:prstGeom>
        </p:spPr>
        <p:txBody>
          <a:bodyPr vert="horz" wrap="square" lIns="0" tIns="10953" rIns="0" bIns="0" rtlCol="0">
            <a:spAutoFit/>
          </a:bodyPr>
          <a:lstStyle/>
          <a:p>
            <a:pPr marL="12700">
              <a:lnSpc>
                <a:spcPct val="100000"/>
              </a:lnSpc>
              <a:spcBef>
                <a:spcPts val="115"/>
              </a:spcBef>
            </a:pPr>
            <a:r>
              <a:rPr lang="zh-CN" altLang="en-US" sz="3200" b="1" spc="15" dirty="0">
                <a:solidFill>
                  <a:schemeClr val="tx1"/>
                </a:solidFill>
                <a:latin typeface="微软雅黑" panose="020B0503020204020204" charset="-122"/>
                <a:ea typeface="微软雅黑" panose="020B0503020204020204" charset="-122"/>
                <a:cs typeface="微软雅黑" panose="020B0503020204020204" charset="-122"/>
              </a:rPr>
              <a:t>测试例子可视化</a:t>
            </a:r>
          </a:p>
        </p:txBody>
      </p:sp>
      <p:sp>
        <p:nvSpPr>
          <p:cNvPr id="7" name="文本框 6"/>
          <p:cNvSpPr txBox="1"/>
          <p:nvPr/>
        </p:nvSpPr>
        <p:spPr>
          <a:xfrm>
            <a:off x="107315" y="908685"/>
            <a:ext cx="8331835" cy="3723005"/>
          </a:xfrm>
          <a:prstGeom prst="rect">
            <a:avLst/>
          </a:prstGeom>
          <a:noFill/>
        </p:spPr>
        <p:txBody>
          <a:bodyPr wrap="square" rtlCol="0" anchor="t">
            <a:spAutoFit/>
          </a:bodyPr>
          <a:lstStyle/>
          <a:p>
            <a:r>
              <a:rPr lang="zh-CN" altLang="en-US" sz="1600" dirty="0">
                <a:latin typeface="微软雅黑" panose="020B0503020204020204" charset="-122"/>
                <a:ea typeface="微软雅黑" panose="020B0503020204020204" charset="-122"/>
                <a:cs typeface="微软雅黑" panose="020B0503020204020204" charset="-122"/>
              </a:rPr>
              <a:t>使用生成的模型进行图片数据的分类预测，具体步骤如下：</a:t>
            </a:r>
          </a:p>
          <a:p>
            <a:endParaRPr lang="zh-CN" altLang="en-US" sz="1600" dirty="0">
              <a:latin typeface="微软雅黑" panose="020B0503020204020204" charset="-122"/>
              <a:ea typeface="微软雅黑" panose="020B0503020204020204" charset="-122"/>
              <a:cs typeface="微软雅黑" panose="020B0503020204020204" charset="-122"/>
            </a:endParaRPr>
          </a:p>
          <a:p>
            <a:r>
              <a:rPr lang="zh-CN" altLang="en-US" sz="1600" dirty="0">
                <a:solidFill>
                  <a:schemeClr val="bg1">
                    <a:lumMod val="85000"/>
                  </a:schemeClr>
                </a:solidFill>
                <a:latin typeface="微软雅黑" panose="020B0503020204020204" charset="-122"/>
                <a:ea typeface="微软雅黑" panose="020B0503020204020204" charset="-122"/>
                <a:cs typeface="微软雅黑" panose="020B0503020204020204" charset="-122"/>
              </a:rPr>
              <a:t>1. 加载保存的模型权重</a:t>
            </a:r>
          </a:p>
          <a:p>
            <a:endParaRPr lang="zh-CN" altLang="en-US" sz="1600" dirty="0">
              <a:solidFill>
                <a:schemeClr val="bg1">
                  <a:lumMod val="85000"/>
                </a:schemeClr>
              </a:solidFill>
              <a:latin typeface="微软雅黑" panose="020B0503020204020204" charset="-122"/>
              <a:ea typeface="微软雅黑" panose="020B0503020204020204" charset="-122"/>
              <a:cs typeface="微软雅黑" panose="020B0503020204020204" charset="-122"/>
            </a:endParaRPr>
          </a:p>
          <a:p>
            <a:r>
              <a:rPr lang="zh-CN" altLang="en-US" sz="1600" dirty="0">
                <a:solidFill>
                  <a:schemeClr val="bg1">
                    <a:lumMod val="85000"/>
                  </a:schemeClr>
                </a:solidFill>
                <a:latin typeface="微软雅黑" panose="020B0503020204020204" charset="-122"/>
                <a:ea typeface="微软雅黑" panose="020B0503020204020204" charset="-122"/>
                <a:cs typeface="微软雅黑" panose="020B0503020204020204" charset="-122"/>
              </a:rPr>
              <a:t>2. 把</a:t>
            </a:r>
            <a:r>
              <a:rPr lang="zh-CN" altLang="en-US" sz="1600" dirty="0">
                <a:solidFill>
                  <a:schemeClr val="bg1">
                    <a:lumMod val="85000"/>
                  </a:schemeClr>
                </a:solidFill>
                <a:latin typeface="微软雅黑" panose="020B0503020204020204" charset="-122"/>
                <a:ea typeface="微软雅黑" panose="020B0503020204020204" charset="-122"/>
                <a:cs typeface="微软雅黑" panose="020B0503020204020204" charset="-122"/>
                <a:sym typeface="+mn-ea"/>
              </a:rPr>
              <a:t>模型权重赋予到网络的每个权重中</a:t>
            </a:r>
          </a:p>
          <a:p>
            <a:endParaRPr lang="zh-CN" altLang="en-US" sz="1600" dirty="0">
              <a:solidFill>
                <a:schemeClr val="bg1">
                  <a:lumMod val="85000"/>
                </a:schemeClr>
              </a:solidFill>
              <a:latin typeface="微软雅黑" panose="020B0503020204020204" charset="-122"/>
              <a:ea typeface="微软雅黑" panose="020B0503020204020204" charset="-122"/>
              <a:cs typeface="微软雅黑" panose="020B0503020204020204" charset="-122"/>
            </a:endParaRPr>
          </a:p>
          <a:p>
            <a:r>
              <a:rPr lang="zh-CN" altLang="en-US" sz="1600" dirty="0">
                <a:solidFill>
                  <a:schemeClr val="bg1">
                    <a:lumMod val="85000"/>
                  </a:schemeClr>
                </a:solidFill>
                <a:latin typeface="微软雅黑" panose="020B0503020204020204" charset="-122"/>
                <a:ea typeface="微软雅黑" panose="020B0503020204020204" charset="-122"/>
                <a:cs typeface="微软雅黑" panose="020B0503020204020204" charset="-122"/>
              </a:rPr>
              <a:t>3. 加载测试集</a:t>
            </a:r>
          </a:p>
          <a:p>
            <a:endParaRPr lang="zh-CN" altLang="en-US" sz="1600" dirty="0">
              <a:latin typeface="微软雅黑" panose="020B0503020204020204" charset="-122"/>
              <a:ea typeface="微软雅黑" panose="020B0503020204020204" charset="-122"/>
              <a:cs typeface="微软雅黑" panose="020B0503020204020204" charset="-122"/>
            </a:endParaRPr>
          </a:p>
          <a:p>
            <a:r>
              <a:rPr lang="en-US" altLang="zh-CN" sz="1600" b="1" dirty="0">
                <a:latin typeface="微软雅黑" panose="020B0503020204020204" charset="-122"/>
                <a:ea typeface="微软雅黑" panose="020B0503020204020204" charset="-122"/>
                <a:cs typeface="微软雅黑" panose="020B0503020204020204" charset="-122"/>
              </a:rPr>
              <a:t>4</a:t>
            </a:r>
            <a:r>
              <a:rPr lang="zh-CN" altLang="en-US" sz="1800" b="1" dirty="0">
                <a:latin typeface="微软雅黑" panose="020B0503020204020204" charset="-122"/>
                <a:ea typeface="微软雅黑" panose="020B0503020204020204" charset="-122"/>
                <a:cs typeface="微软雅黑" panose="020B0503020204020204" charset="-122"/>
              </a:rPr>
              <a:t>. 可视化该测试集</a:t>
            </a:r>
          </a:p>
          <a:p>
            <a:endParaRPr lang="zh-CN" altLang="en-US" sz="1800" dirty="0">
              <a:latin typeface="微软雅黑" panose="020B0503020204020204" charset="-122"/>
              <a:ea typeface="微软雅黑" panose="020B0503020204020204" charset="-122"/>
              <a:cs typeface="微软雅黑" panose="020B0503020204020204" charset="-122"/>
            </a:endParaRPr>
          </a:p>
          <a:p>
            <a:r>
              <a:rPr lang="zh-CN" altLang="en-US" sz="1800" dirty="0">
                <a:solidFill>
                  <a:schemeClr val="bg1">
                    <a:lumMod val="85000"/>
                  </a:schemeClr>
                </a:solidFill>
                <a:latin typeface="微软雅黑" panose="020B0503020204020204" charset="-122"/>
                <a:ea typeface="微软雅黑" panose="020B0503020204020204" charset="-122"/>
                <a:cs typeface="微软雅黑" panose="020B0503020204020204" charset="-122"/>
              </a:rPr>
              <a:t>5. 使用model.predict()对该测试集进行预测</a:t>
            </a:r>
          </a:p>
          <a:p>
            <a:endParaRPr lang="zh-CN" altLang="en-US" sz="1800" dirty="0">
              <a:solidFill>
                <a:schemeClr val="bg1">
                  <a:lumMod val="85000"/>
                </a:schemeClr>
              </a:solidFill>
              <a:latin typeface="微软雅黑" panose="020B0503020204020204" charset="-122"/>
              <a:ea typeface="微软雅黑" panose="020B0503020204020204" charset="-122"/>
              <a:cs typeface="微软雅黑" panose="020B0503020204020204" charset="-122"/>
            </a:endParaRPr>
          </a:p>
          <a:p>
            <a:r>
              <a:rPr lang="zh-CN" altLang="en-US" sz="1800" dirty="0">
                <a:solidFill>
                  <a:schemeClr val="bg1">
                    <a:lumMod val="85000"/>
                  </a:schemeClr>
                </a:solidFill>
                <a:latin typeface="微软雅黑" panose="020B0503020204020204" charset="-122"/>
                <a:ea typeface="微软雅黑" panose="020B0503020204020204" charset="-122"/>
                <a:cs typeface="微软雅黑" panose="020B0503020204020204" charset="-122"/>
              </a:rPr>
              <a:t>6. 结果对比</a:t>
            </a:r>
          </a:p>
          <a:p>
            <a:endParaRPr lang="zh-CN" altLang="en-US" sz="1800" dirty="0">
              <a:solidFill>
                <a:schemeClr val="bg1">
                  <a:lumMod val="85000"/>
                </a:schemeClr>
              </a:solidFill>
              <a:latin typeface="微软雅黑" panose="020B0503020204020204" charset="-122"/>
              <a:ea typeface="微软雅黑" panose="020B0503020204020204" charset="-122"/>
              <a:cs typeface="微软雅黑" panose="020B0503020204020204" charset="-122"/>
            </a:endParaRPr>
          </a:p>
        </p:txBody>
      </p:sp>
      <p:pic>
        <p:nvPicPr>
          <p:cNvPr id="4" name="图片 3">
            <a:extLst>
              <a:ext uri="{FF2B5EF4-FFF2-40B4-BE49-F238E27FC236}">
                <a16:creationId xmlns:a16="http://schemas.microsoft.com/office/drawing/2014/main" id="{479D7234-25DA-39AC-961C-65D32EEE8EB9}"/>
              </a:ext>
            </a:extLst>
          </p:cNvPr>
          <p:cNvPicPr>
            <a:picLocks noChangeAspect="1"/>
          </p:cNvPicPr>
          <p:nvPr/>
        </p:nvPicPr>
        <p:blipFill>
          <a:blip r:embed="rId2"/>
          <a:stretch>
            <a:fillRect/>
          </a:stretch>
        </p:blipFill>
        <p:spPr>
          <a:xfrm>
            <a:off x="431160" y="4475055"/>
            <a:ext cx="8281679" cy="209492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3"/>
          <p:cNvSpPr txBox="1">
            <a:spLocks noGrp="1"/>
          </p:cNvSpPr>
          <p:nvPr>
            <p:ph type="title"/>
          </p:nvPr>
        </p:nvSpPr>
        <p:spPr>
          <a:xfrm>
            <a:off x="3514010" y="260648"/>
            <a:ext cx="2115979" cy="503502"/>
          </a:xfrm>
          <a:prstGeom prst="rect">
            <a:avLst/>
          </a:prstGeom>
        </p:spPr>
        <p:txBody>
          <a:bodyPr vert="horz" wrap="square" lIns="0" tIns="10953" rIns="0" bIns="0" rtlCol="0">
            <a:spAutoFit/>
          </a:bodyPr>
          <a:lstStyle/>
          <a:p>
            <a:pPr marL="12700">
              <a:lnSpc>
                <a:spcPct val="100000"/>
              </a:lnSpc>
              <a:spcBef>
                <a:spcPts val="115"/>
              </a:spcBef>
            </a:pPr>
            <a:r>
              <a:rPr lang="zh-CN" altLang="en-US" sz="3200" b="1" spc="15" dirty="0">
                <a:solidFill>
                  <a:schemeClr val="tx1"/>
                </a:solidFill>
                <a:latin typeface="微软雅黑" panose="020B0503020204020204" charset="-122"/>
                <a:ea typeface="微软雅黑" panose="020B0503020204020204" charset="-122"/>
                <a:cs typeface="微软雅黑" panose="020B0503020204020204" charset="-122"/>
              </a:rPr>
              <a:t>预测结果</a:t>
            </a:r>
          </a:p>
        </p:txBody>
      </p:sp>
      <p:sp>
        <p:nvSpPr>
          <p:cNvPr id="7" name="文本框 6"/>
          <p:cNvSpPr txBox="1"/>
          <p:nvPr/>
        </p:nvSpPr>
        <p:spPr>
          <a:xfrm>
            <a:off x="73157" y="908720"/>
            <a:ext cx="8331835" cy="3692525"/>
          </a:xfrm>
          <a:prstGeom prst="rect">
            <a:avLst/>
          </a:prstGeom>
          <a:noFill/>
        </p:spPr>
        <p:txBody>
          <a:bodyPr wrap="square" rtlCol="0" anchor="t">
            <a:spAutoFit/>
          </a:bodyPr>
          <a:lstStyle/>
          <a:p>
            <a:r>
              <a:rPr lang="zh-CN" altLang="en-US" sz="1600" dirty="0">
                <a:latin typeface="微软雅黑" panose="020B0503020204020204" charset="-122"/>
                <a:ea typeface="微软雅黑" panose="020B0503020204020204" charset="-122"/>
                <a:cs typeface="微软雅黑" panose="020B0503020204020204" charset="-122"/>
              </a:rPr>
              <a:t>使用生成的模型进行图片数据的分类预测，具体步骤如下：</a:t>
            </a:r>
          </a:p>
          <a:p>
            <a:endParaRPr lang="zh-CN" altLang="en-US" sz="1600" dirty="0">
              <a:latin typeface="微软雅黑" panose="020B0503020204020204" charset="-122"/>
              <a:ea typeface="微软雅黑" panose="020B0503020204020204" charset="-122"/>
              <a:cs typeface="微软雅黑" panose="020B0503020204020204" charset="-122"/>
            </a:endParaRPr>
          </a:p>
          <a:p>
            <a:r>
              <a:rPr lang="zh-CN" altLang="en-US" sz="1600" dirty="0">
                <a:solidFill>
                  <a:schemeClr val="bg1">
                    <a:lumMod val="85000"/>
                  </a:schemeClr>
                </a:solidFill>
                <a:latin typeface="微软雅黑" panose="020B0503020204020204" charset="-122"/>
                <a:ea typeface="微软雅黑" panose="020B0503020204020204" charset="-122"/>
                <a:cs typeface="微软雅黑" panose="020B0503020204020204" charset="-122"/>
              </a:rPr>
              <a:t>1. 加载保存的模型权重</a:t>
            </a:r>
          </a:p>
          <a:p>
            <a:endParaRPr lang="zh-CN" altLang="en-US" sz="1600" dirty="0">
              <a:solidFill>
                <a:schemeClr val="bg1">
                  <a:lumMod val="85000"/>
                </a:schemeClr>
              </a:solidFill>
              <a:latin typeface="微软雅黑" panose="020B0503020204020204" charset="-122"/>
              <a:ea typeface="微软雅黑" panose="020B0503020204020204" charset="-122"/>
              <a:cs typeface="微软雅黑" panose="020B0503020204020204" charset="-122"/>
            </a:endParaRPr>
          </a:p>
          <a:p>
            <a:r>
              <a:rPr lang="zh-CN" altLang="en-US" sz="1600" dirty="0">
                <a:solidFill>
                  <a:schemeClr val="bg1">
                    <a:lumMod val="85000"/>
                  </a:schemeClr>
                </a:solidFill>
                <a:latin typeface="微软雅黑" panose="020B0503020204020204" charset="-122"/>
                <a:ea typeface="微软雅黑" panose="020B0503020204020204" charset="-122"/>
                <a:cs typeface="微软雅黑" panose="020B0503020204020204" charset="-122"/>
              </a:rPr>
              <a:t>2. 把</a:t>
            </a:r>
            <a:r>
              <a:rPr lang="zh-CN" altLang="en-US" sz="1600" dirty="0">
                <a:solidFill>
                  <a:schemeClr val="bg1">
                    <a:lumMod val="85000"/>
                  </a:schemeClr>
                </a:solidFill>
                <a:latin typeface="微软雅黑" panose="020B0503020204020204" charset="-122"/>
                <a:ea typeface="微软雅黑" panose="020B0503020204020204" charset="-122"/>
                <a:cs typeface="微软雅黑" panose="020B0503020204020204" charset="-122"/>
                <a:sym typeface="+mn-ea"/>
              </a:rPr>
              <a:t>模型权重赋予到网络的每个权重中</a:t>
            </a:r>
          </a:p>
          <a:p>
            <a:endParaRPr lang="zh-CN" altLang="en-US" sz="1600" dirty="0">
              <a:solidFill>
                <a:schemeClr val="bg1">
                  <a:lumMod val="85000"/>
                </a:schemeClr>
              </a:solidFill>
              <a:latin typeface="微软雅黑" panose="020B0503020204020204" charset="-122"/>
              <a:ea typeface="微软雅黑" panose="020B0503020204020204" charset="-122"/>
              <a:cs typeface="微软雅黑" panose="020B0503020204020204" charset="-122"/>
            </a:endParaRPr>
          </a:p>
          <a:p>
            <a:r>
              <a:rPr lang="zh-CN" altLang="en-US" sz="1600" dirty="0">
                <a:solidFill>
                  <a:schemeClr val="bg1">
                    <a:lumMod val="85000"/>
                  </a:schemeClr>
                </a:solidFill>
                <a:latin typeface="微软雅黑" panose="020B0503020204020204" charset="-122"/>
                <a:ea typeface="微软雅黑" panose="020B0503020204020204" charset="-122"/>
                <a:cs typeface="微软雅黑" panose="020B0503020204020204" charset="-122"/>
              </a:rPr>
              <a:t>3. 加载测试集</a:t>
            </a:r>
          </a:p>
          <a:p>
            <a:endParaRPr lang="zh-CN" altLang="en-US" sz="1600" dirty="0">
              <a:latin typeface="微软雅黑" panose="020B0503020204020204" charset="-122"/>
              <a:ea typeface="微软雅黑" panose="020B0503020204020204" charset="-122"/>
              <a:cs typeface="微软雅黑" panose="020B0503020204020204" charset="-122"/>
            </a:endParaRPr>
          </a:p>
          <a:p>
            <a:r>
              <a:rPr lang="zh-CN" altLang="en-US" sz="1600" dirty="0">
                <a:solidFill>
                  <a:schemeClr val="bg1">
                    <a:lumMod val="85000"/>
                  </a:schemeClr>
                </a:solidFill>
                <a:latin typeface="微软雅黑" panose="020B0503020204020204" charset="-122"/>
                <a:ea typeface="微软雅黑" panose="020B0503020204020204" charset="-122"/>
                <a:cs typeface="微软雅黑" panose="020B0503020204020204" charset="-122"/>
              </a:rPr>
              <a:t>4. 可视化该测试集</a:t>
            </a:r>
          </a:p>
          <a:p>
            <a:endParaRPr lang="zh-CN" altLang="en-US" sz="1800" dirty="0">
              <a:latin typeface="微软雅黑" panose="020B0503020204020204" charset="-122"/>
              <a:ea typeface="微软雅黑" panose="020B0503020204020204" charset="-122"/>
              <a:cs typeface="微软雅黑" panose="020B0503020204020204" charset="-122"/>
            </a:endParaRPr>
          </a:p>
          <a:p>
            <a:r>
              <a:rPr lang="zh-CN" altLang="en-US" sz="1800" b="1" dirty="0">
                <a:latin typeface="微软雅黑" panose="020B0503020204020204" charset="-122"/>
                <a:ea typeface="微软雅黑" panose="020B0503020204020204" charset="-122"/>
                <a:cs typeface="微软雅黑" panose="020B0503020204020204" charset="-122"/>
              </a:rPr>
              <a:t>5. 使用model.predict()对测试集进行预测</a:t>
            </a:r>
          </a:p>
          <a:p>
            <a:endParaRPr lang="zh-CN" altLang="en-US" sz="1800" b="1" dirty="0">
              <a:latin typeface="微软雅黑" panose="020B0503020204020204" charset="-122"/>
              <a:ea typeface="微软雅黑" panose="020B0503020204020204" charset="-122"/>
              <a:cs typeface="微软雅黑" panose="020B0503020204020204" charset="-122"/>
            </a:endParaRPr>
          </a:p>
          <a:p>
            <a:r>
              <a:rPr lang="zh-CN" altLang="en-US" sz="1800" b="1" dirty="0">
                <a:latin typeface="微软雅黑" panose="020B0503020204020204" charset="-122"/>
                <a:ea typeface="微软雅黑" panose="020B0503020204020204" charset="-122"/>
                <a:cs typeface="微软雅黑" panose="020B0503020204020204" charset="-122"/>
              </a:rPr>
              <a:t>6. 结果对比</a:t>
            </a:r>
          </a:p>
          <a:p>
            <a:endParaRPr lang="zh-CN" altLang="en-US" sz="1800" dirty="0">
              <a:solidFill>
                <a:schemeClr val="bg1">
                  <a:lumMod val="85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323528" y="5626699"/>
            <a:ext cx="3507105" cy="645160"/>
          </a:xfrm>
          <a:prstGeom prst="rect">
            <a:avLst/>
          </a:prstGeom>
          <a:noFill/>
        </p:spPr>
        <p:txBody>
          <a:bodyPr wrap="square" rtlCol="0" anchor="t">
            <a:spAutoFit/>
          </a:bodyPr>
          <a:lstStyle/>
          <a:p>
            <a:r>
              <a:rPr lang="zh-CN" altLang="en-US" sz="1800" dirty="0">
                <a:latin typeface="微软雅黑" panose="020B0503020204020204" charset="-122"/>
                <a:ea typeface="微软雅黑" panose="020B0503020204020204" charset="-122"/>
                <a:cs typeface="微软雅黑" panose="020B0503020204020204" charset="-122"/>
              </a:rPr>
              <a:t>从打印结果可以看出，预测值与目标值大部分一致。</a:t>
            </a:r>
          </a:p>
        </p:txBody>
      </p:sp>
      <p:pic>
        <p:nvPicPr>
          <p:cNvPr id="8" name="图片 7">
            <a:extLst>
              <a:ext uri="{FF2B5EF4-FFF2-40B4-BE49-F238E27FC236}">
                <a16:creationId xmlns:a16="http://schemas.microsoft.com/office/drawing/2014/main" id="{7044BB4E-6365-623B-839D-A6E71D998B57}"/>
              </a:ext>
            </a:extLst>
          </p:cNvPr>
          <p:cNvPicPr>
            <a:picLocks noChangeAspect="1"/>
          </p:cNvPicPr>
          <p:nvPr/>
        </p:nvPicPr>
        <p:blipFill>
          <a:blip r:embed="rId2"/>
          <a:stretch>
            <a:fillRect/>
          </a:stretch>
        </p:blipFill>
        <p:spPr>
          <a:xfrm>
            <a:off x="4620139" y="2132856"/>
            <a:ext cx="4523861" cy="469983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
          <p:cNvSpPr/>
          <p:nvPr/>
        </p:nvSpPr>
        <p:spPr>
          <a:xfrm>
            <a:off x="3213734" y="188594"/>
            <a:ext cx="276034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object 3"/>
          <p:cNvSpPr txBox="1">
            <a:spLocks noGrp="1"/>
          </p:cNvSpPr>
          <p:nvPr>
            <p:ph type="title"/>
          </p:nvPr>
        </p:nvSpPr>
        <p:spPr>
          <a:xfrm>
            <a:off x="3419872" y="176556"/>
            <a:ext cx="2115979" cy="503502"/>
          </a:xfrm>
          <a:prstGeom prst="rect">
            <a:avLst/>
          </a:prstGeom>
        </p:spPr>
        <p:txBody>
          <a:bodyPr vert="horz" wrap="square" lIns="0" tIns="10953" rIns="0" bIns="0" rtlCol="0">
            <a:spAutoFit/>
          </a:bodyPr>
          <a:lstStyle/>
          <a:p>
            <a:pPr marL="12700">
              <a:lnSpc>
                <a:spcPct val="100000"/>
              </a:lnSpc>
              <a:spcBef>
                <a:spcPts val="115"/>
              </a:spcBef>
            </a:pPr>
            <a:r>
              <a:rPr lang="zh-CN" altLang="en-US" sz="3200" b="1" spc="15" dirty="0">
                <a:solidFill>
                  <a:schemeClr val="bg1"/>
                </a:solidFill>
                <a:latin typeface="微软雅黑" panose="020B0503020204020204" charset="-122"/>
                <a:ea typeface="微软雅黑" panose="020B0503020204020204" charset="-122"/>
                <a:cs typeface="微软雅黑" panose="020B0503020204020204" charset="-122"/>
              </a:rPr>
              <a:t>实验任务</a:t>
            </a:r>
          </a:p>
        </p:txBody>
      </p:sp>
      <p:sp>
        <p:nvSpPr>
          <p:cNvPr id="7" name="文本框 6"/>
          <p:cNvSpPr txBox="1"/>
          <p:nvPr/>
        </p:nvSpPr>
        <p:spPr>
          <a:xfrm>
            <a:off x="107315" y="908685"/>
            <a:ext cx="8331835" cy="3753485"/>
          </a:xfrm>
          <a:prstGeom prst="rect">
            <a:avLst/>
          </a:prstGeom>
          <a:noFill/>
        </p:spPr>
        <p:txBody>
          <a:bodyPr wrap="square" rtlCol="0" anchor="t">
            <a:spAutoFit/>
          </a:bodyPr>
          <a:lstStyle/>
          <a:p>
            <a:r>
              <a:rPr lang="zh-CN" altLang="en-US" sz="1800" dirty="0">
                <a:latin typeface="微软雅黑" panose="020B0503020204020204" charset="-122"/>
                <a:ea typeface="微软雅黑" panose="020B0503020204020204" charset="-122"/>
                <a:cs typeface="微软雅黑" panose="020B0503020204020204" charset="-122"/>
              </a:rPr>
              <a:t>1. 使用</a:t>
            </a:r>
            <a:r>
              <a:rPr lang="en-US" altLang="zh-CN" sz="1800" dirty="0">
                <a:latin typeface="微软雅黑" panose="020B0503020204020204" charset="-122"/>
                <a:ea typeface="微软雅黑" panose="020B0503020204020204" charset="-122"/>
                <a:cs typeface="微软雅黑" panose="020B0503020204020204" charset="-122"/>
              </a:rPr>
              <a:t>MindSpore</a:t>
            </a:r>
            <a:r>
              <a:rPr lang="zh-CN" altLang="en-US" sz="1800" dirty="0">
                <a:latin typeface="微软雅黑" panose="020B0503020204020204" charset="-122"/>
                <a:ea typeface="微软雅黑" panose="020B0503020204020204" charset="-122"/>
                <a:cs typeface="微软雅黑" panose="020B0503020204020204" charset="-122"/>
              </a:rPr>
              <a:t>框架以及所给文档里的代码完成</a:t>
            </a:r>
            <a:r>
              <a:rPr lang="en-US" altLang="zh-CN" sz="1800" dirty="0" err="1">
                <a:latin typeface="微软雅黑" panose="020B0503020204020204" charset="-122"/>
                <a:ea typeface="微软雅黑" panose="020B0503020204020204" charset="-122"/>
                <a:cs typeface="微软雅黑" panose="020B0503020204020204" charset="-122"/>
              </a:rPr>
              <a:t>Mnist</a:t>
            </a:r>
            <a:r>
              <a:rPr lang="zh-CN" altLang="en-US" sz="1800" dirty="0">
                <a:latin typeface="微软雅黑" panose="020B0503020204020204" charset="-122"/>
                <a:ea typeface="微软雅黑" panose="020B0503020204020204" charset="-122"/>
                <a:cs typeface="微软雅黑" panose="020B0503020204020204" charset="-122"/>
              </a:rPr>
              <a:t>手写数据集的识别任务：</a:t>
            </a:r>
          </a:p>
          <a:p>
            <a:endParaRPr lang="zh-CN" altLang="en-US" sz="1800" dirty="0">
              <a:latin typeface="微软雅黑" panose="020B0503020204020204" charset="-122"/>
              <a:ea typeface="微软雅黑" panose="020B0503020204020204" charset="-122"/>
              <a:cs typeface="微软雅黑" panose="020B0503020204020204" charset="-122"/>
            </a:endParaRPr>
          </a:p>
          <a:p>
            <a:r>
              <a:rPr lang="en-US" altLang="zh-CN" sz="1800" dirty="0">
                <a:latin typeface="微软雅黑" panose="020B0503020204020204" charset="-122"/>
                <a:ea typeface="微软雅黑" panose="020B0503020204020204" charset="-122"/>
                <a:cs typeface="微软雅黑" panose="020B0503020204020204" charset="-122"/>
              </a:rPr>
              <a:t>   1.1 </a:t>
            </a:r>
            <a:r>
              <a:rPr lang="zh-CN" altLang="en-US" sz="1800" dirty="0">
                <a:latin typeface="微软雅黑" panose="020B0503020204020204" charset="-122"/>
                <a:ea typeface="微软雅黑" panose="020B0503020204020204" charset="-122"/>
                <a:cs typeface="微软雅黑" panose="020B0503020204020204" charset="-122"/>
              </a:rPr>
              <a:t>训练模型；</a:t>
            </a:r>
          </a:p>
          <a:p>
            <a:endParaRPr lang="zh-CN" altLang="en-US" sz="1800" dirty="0">
              <a:latin typeface="微软雅黑" panose="020B0503020204020204" charset="-122"/>
              <a:ea typeface="微软雅黑" panose="020B0503020204020204" charset="-122"/>
              <a:cs typeface="微软雅黑" panose="020B0503020204020204" charset="-122"/>
            </a:endParaRPr>
          </a:p>
          <a:p>
            <a:r>
              <a:rPr lang="zh-CN" altLang="en-US" sz="1800" dirty="0">
                <a:latin typeface="微软雅黑" panose="020B0503020204020204" charset="-122"/>
                <a:ea typeface="微软雅黑" panose="020B0503020204020204" charset="-122"/>
                <a:cs typeface="微软雅黑" panose="020B0503020204020204" charset="-122"/>
              </a:rPr>
              <a:t> </a:t>
            </a:r>
            <a:r>
              <a:rPr lang="en-US" altLang="zh-CN" sz="1800" dirty="0">
                <a:latin typeface="微软雅黑" panose="020B0503020204020204" charset="-122"/>
                <a:ea typeface="微软雅黑" panose="020B0503020204020204" charset="-122"/>
                <a:cs typeface="微软雅黑" panose="020B0503020204020204" charset="-122"/>
              </a:rPr>
              <a:t>  1.2 </a:t>
            </a:r>
            <a:r>
              <a:rPr lang="zh-CN" altLang="en-US" sz="1800" dirty="0">
                <a:latin typeface="微软雅黑" panose="020B0503020204020204" charset="-122"/>
                <a:ea typeface="微软雅黑" panose="020B0503020204020204" charset="-122"/>
                <a:cs typeface="微软雅黑" panose="020B0503020204020204" charset="-122"/>
              </a:rPr>
              <a:t>单个</a:t>
            </a:r>
            <a:r>
              <a:rPr lang="en-US" altLang="zh-CN" sz="1800" dirty="0">
                <a:latin typeface="微软雅黑" panose="020B0503020204020204" charset="-122"/>
                <a:ea typeface="微软雅黑" panose="020B0503020204020204" charset="-122"/>
                <a:cs typeface="微软雅黑" panose="020B0503020204020204" charset="-122"/>
              </a:rPr>
              <a:t>batch</a:t>
            </a:r>
            <a:r>
              <a:rPr lang="zh-CN" altLang="en-US" sz="1800" dirty="0">
                <a:latin typeface="微软雅黑" panose="020B0503020204020204" charset="-122"/>
                <a:ea typeface="微软雅黑" panose="020B0503020204020204" charset="-122"/>
                <a:cs typeface="微软雅黑" panose="020B0503020204020204" charset="-122"/>
              </a:rPr>
              <a:t>的测试集可视化，</a:t>
            </a:r>
            <a:r>
              <a:rPr lang="en-US" altLang="zh-CN" sz="1800" dirty="0">
                <a:latin typeface="微软雅黑" panose="020B0503020204020204" charset="-122"/>
                <a:ea typeface="微软雅黑" panose="020B0503020204020204" charset="-122"/>
                <a:cs typeface="微软雅黑" panose="020B0503020204020204" charset="-122"/>
              </a:rPr>
              <a:t>(</a:t>
            </a:r>
            <a:r>
              <a:rPr lang="en-US" altLang="zh-CN" sz="1800" dirty="0" err="1">
                <a:latin typeface="微软雅黑" panose="020B0503020204020204" charset="-122"/>
                <a:ea typeface="微软雅黑" panose="020B0503020204020204" charset="-122"/>
                <a:cs typeface="微软雅黑" panose="020B0503020204020204" charset="-122"/>
              </a:rPr>
              <a:t>batchsize</a:t>
            </a:r>
            <a:r>
              <a:rPr lang="en-US" altLang="zh-CN" sz="1800" dirty="0">
                <a:latin typeface="微软雅黑" panose="020B0503020204020204" charset="-122"/>
                <a:ea typeface="微软雅黑" panose="020B0503020204020204" charset="-122"/>
                <a:cs typeface="微软雅黑" panose="020B0503020204020204" charset="-122"/>
              </a:rPr>
              <a:t> = 8)</a:t>
            </a:r>
            <a:r>
              <a:rPr lang="zh-CN" altLang="en-US" sz="1800" dirty="0">
                <a:latin typeface="微软雅黑" panose="020B0503020204020204" charset="-122"/>
                <a:ea typeface="微软雅黑" panose="020B0503020204020204" charset="-122"/>
                <a:cs typeface="微软雅黑" panose="020B0503020204020204" charset="-122"/>
              </a:rPr>
              <a:t>；</a:t>
            </a:r>
            <a:endParaRPr lang="en-US" altLang="zh-CN" sz="1800" dirty="0">
              <a:latin typeface="微软雅黑" panose="020B0503020204020204" charset="-122"/>
              <a:ea typeface="微软雅黑" panose="020B0503020204020204" charset="-122"/>
              <a:cs typeface="微软雅黑" panose="020B0503020204020204" charset="-122"/>
            </a:endParaRPr>
          </a:p>
          <a:p>
            <a:endParaRPr lang="zh-CN" altLang="en-US" sz="1800" dirty="0">
              <a:latin typeface="微软雅黑" panose="020B0503020204020204" charset="-122"/>
              <a:ea typeface="微软雅黑" panose="020B0503020204020204" charset="-122"/>
              <a:cs typeface="微软雅黑" panose="020B0503020204020204" charset="-122"/>
            </a:endParaRPr>
          </a:p>
          <a:p>
            <a:r>
              <a:rPr lang="zh-CN" altLang="en-US" sz="1800" dirty="0">
                <a:latin typeface="微软雅黑" panose="020B0503020204020204" charset="-122"/>
                <a:ea typeface="微软雅黑" panose="020B0503020204020204" charset="-122"/>
                <a:cs typeface="微软雅黑" panose="020B0503020204020204" charset="-122"/>
              </a:rPr>
              <a:t> </a:t>
            </a:r>
            <a:r>
              <a:rPr lang="en-US" altLang="zh-CN" sz="1800" dirty="0">
                <a:latin typeface="微软雅黑" panose="020B0503020204020204" charset="-122"/>
                <a:ea typeface="微软雅黑" panose="020B0503020204020204" charset="-122"/>
                <a:cs typeface="微软雅黑" panose="020B0503020204020204" charset="-122"/>
              </a:rPr>
              <a:t>  1.3 </a:t>
            </a:r>
            <a:r>
              <a:rPr lang="zh-CN" altLang="en-US" sz="1800" dirty="0">
                <a:latin typeface="微软雅黑" panose="020B0503020204020204" charset="-122"/>
                <a:ea typeface="微软雅黑" panose="020B0503020204020204" charset="-122"/>
                <a:cs typeface="微软雅黑" panose="020B0503020204020204" charset="-122"/>
              </a:rPr>
              <a:t>利用训练好的模型对单个</a:t>
            </a:r>
            <a:r>
              <a:rPr lang="en-US" altLang="zh-CN" sz="1800" dirty="0" err="1">
                <a:latin typeface="微软雅黑" panose="020B0503020204020204" charset="-122"/>
                <a:ea typeface="微软雅黑" panose="020B0503020204020204" charset="-122"/>
                <a:cs typeface="微软雅黑" panose="020B0503020204020204" charset="-122"/>
              </a:rPr>
              <a:t>batchsize</a:t>
            </a:r>
            <a:r>
              <a:rPr lang="zh-CN" altLang="en-US" sz="1800" dirty="0">
                <a:latin typeface="微软雅黑" panose="020B0503020204020204" charset="-122"/>
                <a:ea typeface="微软雅黑" panose="020B0503020204020204" charset="-122"/>
                <a:cs typeface="微软雅黑" panose="020B0503020204020204" charset="-122"/>
              </a:rPr>
              <a:t>进行预测，并给出它们的预测结果</a:t>
            </a:r>
          </a:p>
          <a:p>
            <a:endParaRPr lang="zh-CN" altLang="en-US" sz="1800" dirty="0">
              <a:latin typeface="微软雅黑" panose="020B0503020204020204" charset="-122"/>
              <a:ea typeface="微软雅黑" panose="020B0503020204020204" charset="-122"/>
              <a:cs typeface="微软雅黑" panose="020B0503020204020204" charset="-122"/>
            </a:endParaRPr>
          </a:p>
          <a:p>
            <a:r>
              <a:rPr lang="zh-CN" altLang="en-US" sz="1800" dirty="0">
                <a:latin typeface="微软雅黑" panose="020B0503020204020204" charset="-122"/>
                <a:ea typeface="微软雅黑" panose="020B0503020204020204" charset="-122"/>
                <a:cs typeface="微软雅黑" panose="020B0503020204020204" charset="-122"/>
              </a:rPr>
              <a:t>2. 尝试通过调整模型结构</a:t>
            </a:r>
            <a:r>
              <a:rPr lang="en-US" altLang="zh-CN" sz="1800" dirty="0">
                <a:latin typeface="微软雅黑" panose="020B0503020204020204" charset="-122"/>
                <a:ea typeface="微软雅黑" panose="020B0503020204020204" charset="-122"/>
                <a:cs typeface="微软雅黑" panose="020B0503020204020204" charset="-122"/>
              </a:rPr>
              <a:t> or </a:t>
            </a:r>
            <a:r>
              <a:rPr lang="zh-CN" altLang="en-US" sz="1800" dirty="0">
                <a:latin typeface="微软雅黑" panose="020B0503020204020204" charset="-122"/>
                <a:ea typeface="微软雅黑" panose="020B0503020204020204" charset="-122"/>
                <a:cs typeface="微软雅黑" panose="020B0503020204020204" charset="-122"/>
              </a:rPr>
              <a:t>参数</a:t>
            </a:r>
            <a:r>
              <a:rPr lang="en-US" altLang="zh-CN" sz="1800" dirty="0">
                <a:latin typeface="微软雅黑" panose="020B0503020204020204" charset="-122"/>
                <a:ea typeface="微软雅黑" panose="020B0503020204020204" charset="-122"/>
                <a:cs typeface="微软雅黑" panose="020B0503020204020204" charset="-122"/>
              </a:rPr>
              <a:t> or </a:t>
            </a:r>
            <a:r>
              <a:rPr lang="zh-CN" altLang="en-US" sz="1800" dirty="0">
                <a:latin typeface="微软雅黑" panose="020B0503020204020204" charset="-122"/>
                <a:ea typeface="微软雅黑" panose="020B0503020204020204" charset="-122"/>
                <a:cs typeface="微软雅黑" panose="020B0503020204020204" charset="-122"/>
              </a:rPr>
              <a:t>超参数</a:t>
            </a:r>
            <a:r>
              <a:rPr lang="en-US" altLang="zh-CN" sz="1800" dirty="0">
                <a:latin typeface="微软雅黑" panose="020B0503020204020204" charset="-122"/>
                <a:ea typeface="微软雅黑" panose="020B0503020204020204" charset="-122"/>
                <a:cs typeface="微软雅黑" panose="020B0503020204020204" charset="-122"/>
              </a:rPr>
              <a:t> or </a:t>
            </a:r>
            <a:r>
              <a:rPr lang="zh-CN" altLang="en-US" sz="1800" dirty="0">
                <a:latin typeface="微软雅黑" panose="020B0503020204020204" charset="-122"/>
                <a:ea typeface="微软雅黑" panose="020B0503020204020204" charset="-122"/>
                <a:cs typeface="微软雅黑" panose="020B0503020204020204" charset="-122"/>
                <a:hlinkClick r:id="rId2" action="ppaction://hlinkfile"/>
              </a:rPr>
              <a:t>权重初始化</a:t>
            </a:r>
            <a:r>
              <a:rPr lang="zh-CN" altLang="en-US" sz="1800" dirty="0">
                <a:latin typeface="微软雅黑" panose="020B0503020204020204" charset="-122"/>
                <a:ea typeface="微软雅黑" panose="020B0503020204020204" charset="-122"/>
                <a:cs typeface="微软雅黑" panose="020B0503020204020204" charset="-122"/>
              </a:rPr>
              <a:t>方式使得测试集准确率达到</a:t>
            </a:r>
            <a:r>
              <a:rPr lang="en-US" altLang="zh-CN" sz="1800" dirty="0">
                <a:latin typeface="微软雅黑" panose="020B0503020204020204" charset="-122"/>
                <a:ea typeface="微软雅黑" panose="020B0503020204020204" charset="-122"/>
                <a:cs typeface="微软雅黑" panose="020B0503020204020204" charset="-122"/>
              </a:rPr>
              <a:t>Baseline</a:t>
            </a:r>
            <a:r>
              <a:rPr lang="zh-CN" altLang="en-US" sz="1800" dirty="0">
                <a:latin typeface="微软雅黑" panose="020B0503020204020204" charset="-122"/>
                <a:ea typeface="微软雅黑" panose="020B0503020204020204" charset="-122"/>
                <a:cs typeface="微软雅黑" panose="020B0503020204020204" charset="-122"/>
              </a:rPr>
              <a:t>，即</a:t>
            </a:r>
            <a:r>
              <a:rPr lang="zh-CN" altLang="en-US" sz="2000" b="1" dirty="0">
                <a:solidFill>
                  <a:srgbClr val="C35954"/>
                </a:solidFill>
                <a:latin typeface="微软雅黑" panose="020B0503020204020204" charset="-122"/>
                <a:ea typeface="微软雅黑" panose="020B0503020204020204" charset="-122"/>
              </a:rPr>
              <a:t>准确率需要≥97%。</a:t>
            </a:r>
            <a:r>
              <a:rPr lang="zh-CN" altLang="en-US" sz="1800" dirty="0">
                <a:latin typeface="微软雅黑" panose="020B0503020204020204" charset="-122"/>
                <a:ea typeface="微软雅黑" panose="020B0503020204020204" charset="-122"/>
                <a:cs typeface="微软雅黑" panose="020B0503020204020204" charset="-122"/>
              </a:rPr>
              <a:t>（还可观察其收敛时间长短）</a:t>
            </a:r>
          </a:p>
          <a:p>
            <a:endParaRPr lang="zh-CN" altLang="en-US" sz="2000" b="1" dirty="0">
              <a:solidFill>
                <a:srgbClr val="C35954"/>
              </a:solidFill>
              <a:latin typeface="微软雅黑" panose="020B0503020204020204" charset="-122"/>
              <a:ea typeface="微软雅黑" panose="020B0503020204020204" charset="-122"/>
            </a:endParaRPr>
          </a:p>
          <a:p>
            <a:r>
              <a:rPr lang="zh-CN" altLang="en-US" sz="1800" dirty="0">
                <a:latin typeface="微软雅黑" panose="020B0503020204020204" charset="-122"/>
                <a:ea typeface="微软雅黑" panose="020B0503020204020204" charset="-122"/>
                <a:cs typeface="微软雅黑" panose="020B0503020204020204" charset="-122"/>
              </a:rPr>
              <a:t>具体请参考实验报告</a:t>
            </a:r>
          </a:p>
          <a:p>
            <a:endParaRPr lang="zh-CN" altLang="en-US" sz="1800" dirty="0">
              <a:solidFill>
                <a:schemeClr val="bg1">
                  <a:lumMod val="85000"/>
                </a:schemeClr>
              </a:solidFill>
              <a:latin typeface="微软雅黑" panose="020B0503020204020204" charset="-122"/>
              <a:ea typeface="微软雅黑" panose="020B0503020204020204" charset="-122"/>
              <a:cs typeface="微软雅黑" panose="020B0503020204020204" charset="-122"/>
            </a:endParaRPr>
          </a:p>
        </p:txBody>
      </p:sp>
      <p:sp>
        <p:nvSpPr>
          <p:cNvPr id="4" name="文本框 3">
            <a:extLst>
              <a:ext uri="{FF2B5EF4-FFF2-40B4-BE49-F238E27FC236}">
                <a16:creationId xmlns:a16="http://schemas.microsoft.com/office/drawing/2014/main" id="{AEC643A7-3A8A-EAE5-F906-B9212FCB20AA}"/>
              </a:ext>
            </a:extLst>
          </p:cNvPr>
          <p:cNvSpPr txBox="1"/>
          <p:nvPr/>
        </p:nvSpPr>
        <p:spPr>
          <a:xfrm>
            <a:off x="1619672" y="4913425"/>
            <a:ext cx="6398192" cy="1292662"/>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流程及代码</a:t>
            </a:r>
            <a:endParaRPr lang="en-US" altLang="zh-CN" sz="2400" b="1" dirty="0">
              <a:latin typeface="微软雅黑" panose="020B0503020204020204" pitchFamily="34" charset="-122"/>
              <a:ea typeface="微软雅黑" panose="020B0503020204020204" pitchFamily="34" charset="-122"/>
            </a:endParaRPr>
          </a:p>
          <a:p>
            <a:endParaRPr lang="en-US" altLang="zh-CN" b="1" dirty="0">
              <a:latin typeface="微软雅黑" panose="020B0503020204020204" pitchFamily="34" charset="-122"/>
              <a:ea typeface="微软雅黑" panose="020B0503020204020204" pitchFamily="34" charset="-122"/>
            </a:endParaRPr>
          </a:p>
          <a:p>
            <a:r>
              <a:rPr lang="zh-CN" altLang="en-US" dirty="0"/>
              <a:t>https://www.mindspore.cn/tutorials/zh-CN/r1.8/beginner/quick_start.html</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340,&quot;width&quot;:12840}"/>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340,&quot;width&quot;:12840}"/>
</p:tagLst>
</file>

<file path=ppt/tags/tag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208,&quot;width&quot;:14400}"/>
</p:tagLst>
</file>

<file path=ppt/tags/tag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820,&quot;width&quot;:7476}"/>
</p:tagLst>
</file>

<file path=ppt/theme/theme1.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TotalTime>
  <Words>1843</Words>
  <Application>Microsoft Office PowerPoint</Application>
  <PresentationFormat>全屏显示(4:3)</PresentationFormat>
  <Paragraphs>231</Paragraphs>
  <Slides>34</Slides>
  <Notes>3</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34</vt:i4>
      </vt:variant>
    </vt:vector>
  </HeadingPairs>
  <TitlesOfParts>
    <vt:vector size="39" baseType="lpstr">
      <vt:lpstr>微软雅黑</vt:lpstr>
      <vt:lpstr>Arial</vt:lpstr>
      <vt:lpstr>Calibri</vt:lpstr>
      <vt:lpstr>Times New Roman</vt:lpstr>
      <vt:lpstr>1_默认设计模板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神经网络基础巩固</vt:lpstr>
      <vt:lpstr>全连接网络的局限性</vt:lpstr>
      <vt:lpstr>PowerPoint 演示文稿</vt:lpstr>
      <vt:lpstr>PowerPoint 演示文稿</vt:lpstr>
      <vt:lpstr>卷积神经网络结构</vt:lpstr>
      <vt:lpstr>LeNet介绍 </vt:lpstr>
      <vt:lpstr>卷积和池化 </vt:lpstr>
      <vt:lpstr>MindSpore介绍</vt:lpstr>
      <vt:lpstr>PowerPoint 演示文稿</vt:lpstr>
      <vt:lpstr>Anaconda安装</vt:lpstr>
      <vt:lpstr>创建Python环境参考</vt:lpstr>
      <vt:lpstr>PowerPoint 演示文稿</vt:lpstr>
      <vt:lpstr>PowerPoint 演示文稿</vt:lpstr>
      <vt:lpstr>MindSpore安装</vt:lpstr>
      <vt:lpstr>定义网络</vt:lpstr>
      <vt:lpstr>定义损失函数</vt:lpstr>
      <vt:lpstr>定义优化器</vt:lpstr>
      <vt:lpstr>准备数据集</vt:lpstr>
      <vt:lpstr>训练</vt:lpstr>
      <vt:lpstr>验证集验证</vt:lpstr>
      <vt:lpstr>PowerPoint 演示文稿</vt:lpstr>
      <vt:lpstr>加载模型</vt:lpstr>
      <vt:lpstr>测试例子可视化</vt:lpstr>
      <vt:lpstr>预测结果</vt:lpstr>
      <vt:lpstr>实验任务</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万凌鸿</cp:lastModifiedBy>
  <cp:revision>241</cp:revision>
  <dcterms:created xsi:type="dcterms:W3CDTF">2022-03-28T13:15:00Z</dcterms:created>
  <dcterms:modified xsi:type="dcterms:W3CDTF">2024-04-18T07:20:32Z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2052-11.1.0.10577</vt:lpwstr>
  </property>
  <property fmtid="{D5CDD505-2E9C-101B-9397-08002B2CF9AE}" pid="3" name="ICV">
    <vt:lpwstr>6E7C5661E96E4FD9A3B58F41982AA065</vt:lpwstr>
  </property>
</Properties>
</file>