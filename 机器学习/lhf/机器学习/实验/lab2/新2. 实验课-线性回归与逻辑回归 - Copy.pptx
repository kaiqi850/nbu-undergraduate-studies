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33"/>
  </p:notesMasterIdLst>
  <p:sldIdLst>
    <p:sldId id="256" r:id="rId3"/>
    <p:sldId id="328" r:id="rId4"/>
    <p:sldId id="366" r:id="rId5"/>
    <p:sldId id="365" r:id="rId6"/>
    <p:sldId id="367" r:id="rId7"/>
    <p:sldId id="368" r:id="rId8"/>
    <p:sldId id="428" r:id="rId9"/>
    <p:sldId id="369" r:id="rId10"/>
    <p:sldId id="289" r:id="rId11"/>
    <p:sldId id="361" r:id="rId12"/>
    <p:sldId id="362" r:id="rId13"/>
    <p:sldId id="363" r:id="rId14"/>
    <p:sldId id="364" r:id="rId15"/>
    <p:sldId id="405" r:id="rId16"/>
    <p:sldId id="406" r:id="rId17"/>
    <p:sldId id="407" r:id="rId18"/>
    <p:sldId id="409" r:id="rId19"/>
    <p:sldId id="410" r:id="rId20"/>
    <p:sldId id="293" r:id="rId21"/>
    <p:sldId id="411" r:id="rId22"/>
    <p:sldId id="413" r:id="rId23"/>
    <p:sldId id="416" r:id="rId24"/>
    <p:sldId id="417" r:id="rId25"/>
    <p:sldId id="412" r:id="rId26"/>
    <p:sldId id="415" r:id="rId27"/>
    <p:sldId id="418" r:id="rId28"/>
    <p:sldId id="330" r:id="rId29"/>
    <p:sldId id="424" r:id="rId30"/>
    <p:sldId id="425" r:id="rId31"/>
    <p:sldId id="427" r:id="rId32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21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566" y="96"/>
      </p:cViewPr>
      <p:guideLst>
        <p:guide orient="horz" pos="2928"/>
        <p:guide pos="2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C0167-E855-4D17-BF35-432B61D5C6E4}" type="datetimeFigureOut">
              <a:rPr lang="zh-CN" altLang="en-US"/>
              <a:t>2024/3/26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F989F-8D12-475D-9C50-23F49E8F416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learncn.cn/2/" TargetMode="External"/><Relationship Id="rId2" Type="http://schemas.openxmlformats.org/officeDocument/2006/relationships/hyperlink" Target="https://scikit-learn.org/stable/modules/generated/sklearn.linear_model.LinearRegression.html#sklearn.linear_model.LinearRegress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mp.weixin.qq.com/s?__biz=MzI3NTkyMjA4NA==&amp;mid=2247484006&amp;idx=1&amp;sn=a3b5efb30f71339c4ef83ef5c4f7bd6f&amp;chksm=eb7c2faddc0ba6bb66392f734c7bf986b4857eaa29f35ecfa5414d59587f90be3835206c324d&amp;scene=21#wechat_redirect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s://mp.weixin.qq.com/s?__biz=MzI3NTkyMjA4NA==&amp;mid=2247483988&amp;idx=1&amp;sn=bdf97957469fef8b886adbac29ca969d&amp;chksm=eb7c2f9fdc0ba689e2c8c4ea1ee2ee8ad28492b73e114ec443ec0db4d7d2008fe8bad17e7140&amp;scene=21#wechat_redir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mp.weixin.qq.com/s?__biz=MzI3NTkyMjA4NA==&amp;mid=2247484070&amp;idx=1&amp;sn=98e6d2386d3d4d2db2afc35ef163b406&amp;chksm=eb7c2f6ddc0ba67b925f435c391278e21ce56c073551e1939805e30570e1ade263e7395fda6f&amp;scene=21#wechat_redirect" TargetMode="External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hyperlink" Target="https://scikit-learn.org/stable/modules/generated/sklearn.linear_model.LogisticRegression.html#sklearn.linear_model.LogisticRegression" TargetMode="Externa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llwleon/article/details/79204790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csdn.net/weixin_45104240/article/details/10764236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8200" y="152400"/>
            <a:ext cx="2821305" cy="444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800" spc="15" dirty="0">
                <a:ea typeface="微软雅黑" panose="020B0503020204020204" charset="-122"/>
              </a:rPr>
              <a:t>机器学习实验课</a:t>
            </a:r>
            <a:r>
              <a:rPr lang="en-US" altLang="zh-CN" sz="2800" spc="15" dirty="0">
                <a:ea typeface="微软雅黑" panose="020B0503020204020204" charset="-122"/>
              </a:rPr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78955" y="3604971"/>
            <a:ext cx="4503420" cy="14638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ML0</a:t>
            </a:r>
            <a:r>
              <a:rPr lang="en-US"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2</a:t>
            </a:r>
            <a:endParaRPr sz="210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R="1304290" algn="ctr">
              <a:lnSpc>
                <a:spcPct val="100000"/>
              </a:lnSpc>
            </a:pPr>
            <a:r>
              <a:rPr lang="en-US" altLang="zh-CN" sz="2400" dirty="0"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万凌鸿</a:t>
            </a:r>
            <a:endParaRPr sz="24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  <p:sp>
        <p:nvSpPr>
          <p:cNvPr id="7" name="object 3"/>
          <p:cNvSpPr txBox="1">
            <a:spLocks noGrp="1"/>
          </p:cNvSpPr>
          <p:nvPr/>
        </p:nvSpPr>
        <p:spPr>
          <a:xfrm>
            <a:off x="2712085" y="2960370"/>
            <a:ext cx="7226300" cy="937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6000" b="1" spc="15" dirty="0">
                <a:ea typeface="微软雅黑" panose="020B0503020204020204" charset="-122"/>
              </a:rPr>
              <a:t>线性回归与逻辑回归</a:t>
            </a:r>
            <a:endParaRPr lang="zh-CN" altLang="zh-CN" sz="6000" b="1" spc="15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  <p:pic>
        <p:nvPicPr>
          <p:cNvPr id="3" name="C9F754DE-2CAD-44b6-B708-469DEB6407EB-2" descr="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654050"/>
            <a:ext cx="8331200" cy="554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800" b="1" spc="25" dirty="0"/>
              <a:t>数据相关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  <p:sp>
        <p:nvSpPr>
          <p:cNvPr id="6" name="文本框 5"/>
          <p:cNvSpPr txBox="1"/>
          <p:nvPr/>
        </p:nvSpPr>
        <p:spPr>
          <a:xfrm>
            <a:off x="228600" y="304800"/>
            <a:ext cx="7123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如图所示，假定我们收集了一批西瓜的数据。</a:t>
            </a:r>
            <a:endParaRPr lang="zh-CN" altLang="en-US"/>
          </a:p>
        </p:txBody>
      </p:sp>
      <p:pic>
        <p:nvPicPr>
          <p:cNvPr id="7" name="图片 6" descr="6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4800" y="838200"/>
            <a:ext cx="6096000" cy="45910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05600" y="685800"/>
            <a:ext cx="537908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sz="2000" dirty="0" err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示例、样本】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对一个西瓜的描述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/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x1=（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色泽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=青绿；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根蒂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=蜷缩；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敲声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=浊响）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705600" y="2057400"/>
            <a:ext cx="5379085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sz="2000" dirty="0" err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数据集】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一组记录的集合，一组“对西瓜的描述”的集合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endParaRPr lang="zh-CN" altLang="en-US" dirty="0"/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D={x1,x2,x3...xm} 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705600" y="3505200"/>
            <a:ext cx="5379085" cy="920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sz="2000" dirty="0" err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属性、特征</a:t>
            </a: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色泽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根蒂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705600" y="4572000"/>
            <a:ext cx="5379085" cy="920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sz="2000" dirty="0" err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属性值</a:t>
            </a: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endParaRPr lang="zh-CN" altLang="en-US" sz="2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青绿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; </a:t>
            </a: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蜷缩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浊响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  <p:pic>
        <p:nvPicPr>
          <p:cNvPr id="7" name="图片 6" descr="6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710507"/>
            <a:ext cx="4540250" cy="3217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638800" y="381000"/>
            <a:ext cx="624840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【属性空间、样本空间、输入空间】：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以西瓜的三种属性为三个坐标轴，建立坐标系得到的空间。（此图系在假设属性值为</a:t>
            </a:r>
            <a:r>
              <a:rPr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而非离散的基础上绘制）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81600" y="4376938"/>
            <a:ext cx="6821805" cy="21000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sz="2000" dirty="0" err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特征向量</a:t>
            </a: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西瓜属性值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sz="2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属性空间坐标轴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相应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的坐标，由此找到符合三个属性值的</a:t>
            </a:r>
            <a:r>
              <a:rPr sz="2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一个坐标点</a:t>
            </a:r>
            <a:endParaRPr 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</a:pP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由于空间中每一个点对应一个坐标向量，故一个示例可以在d个属性围成的d维属性空间中表示成一个向量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6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274" y="1833187"/>
            <a:ext cx="3376295" cy="2094865"/>
          </a:xfrm>
          <a:prstGeom prst="rect">
            <a:avLst/>
          </a:prstGeom>
        </p:spPr>
      </p:pic>
      <p:pic>
        <p:nvPicPr>
          <p:cNvPr id="5" name="图片 4" descr="6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91000"/>
            <a:ext cx="4184015" cy="2606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8600" y="304800"/>
            <a:ext cx="71234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如图所示，假定我们收集了一批西瓜的数据。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914400" y="137160"/>
            <a:ext cx="982154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4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endParaRPr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85799" y="1295400"/>
                <a:ext cx="9821545" cy="502304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依靠机器学习得到的模型，对新示例进行结果判断。</a:t>
                </a:r>
                <a:endParaRPr lang="en-US" altLang="zh-CN" sz="2000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sz="2000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zh-CN" altLang="en-US" sz="28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分类任务</a:t>
                </a:r>
                <a:endParaRPr lang="zh-CN" alt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特点：预测的是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离散值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结果：判断西瓜的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好坏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当标记值是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离散值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的时候，如标记值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𝑌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={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1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，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2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，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3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，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…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𝑦</m:t>
                        </m:r>
                      </m:e>
                      <m:sub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𝑗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，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…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𝑦</m:t>
                        </m:r>
                      </m:e>
                      <m:sub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}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（此时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𝑦</m:t>
                    </m:r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的序号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𝑗</m:t>
                    </m:r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并不代表第几个样例，而代表</a:t>
                </a:r>
                <a:r>
                  <a:rPr lang="zh-CN" altLang="en-US" sz="20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标记的第几个取值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lang="en-US" altLang="zh-CN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n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表示标记可以取</a:t>
                </a:r>
                <a:r>
                  <a:rPr lang="en-US" altLang="zh-CN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n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个值）</a:t>
                </a: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在好瓜与坏瓜的问题上，</a:t>
                </a:r>
                <a:r>
                  <a:rPr lang="en-US" altLang="zh-CN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n=2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，即标记可以取两个值。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Y={</a:t>
                </a: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好瓜，坏瓜</a:t>
                </a:r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}</a:t>
                </a:r>
              </a:p>
              <a:p>
                <a:pPr marL="342900" indent="-342900"/>
                <a:endParaRPr lang="zh-CN" alt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1295400"/>
                <a:ext cx="9821545" cy="5023042"/>
              </a:xfrm>
              <a:prstGeom prst="rect">
                <a:avLst/>
              </a:prstGeom>
              <a:blipFill>
                <a:blip r:embed="rId2"/>
                <a:stretch>
                  <a:fillRect l="-1241" t="-729" r="-3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914399" y="1219200"/>
                <a:ext cx="9821545" cy="45243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charset="-122"/>
                    <a:ea typeface="微软雅黑" panose="020B0503020204020204" charset="-122"/>
                  </a:rPr>
                  <a:t>回归任务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特点：预测的是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连续值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结果：判断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西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瓜的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成熟度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当标记值是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连续值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的时候，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则代表在取序号为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的示例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时，标记的取值示例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做自变量的函数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dirty="0">
                  <a:latin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如对西瓜的</a:t>
                </a:r>
                <a:r>
                  <a:rPr lang="zh-CN" altLang="en-US" sz="2000" b="1" dirty="0">
                    <a:latin typeface="微软雅黑" panose="020B0503020204020204" charset="-122"/>
                    <a:ea typeface="微软雅黑" panose="020B0503020204020204" charset="-122"/>
                  </a:rPr>
                  <a:t>色泽、根蒂、敲声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进行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量化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的统计，则可归纳出某种函数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，用以表达西瓜的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成熟程度值</a:t>
                </a:r>
                <a:r>
                  <a:rPr lang="zh-CN" altLang="en-US" sz="2000" dirty="0"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219200"/>
                <a:ext cx="9821545" cy="4524315"/>
              </a:xfrm>
              <a:prstGeom prst="rect">
                <a:avLst/>
              </a:prstGeom>
              <a:blipFill>
                <a:blip r:embed="rId2"/>
                <a:stretch>
                  <a:fillRect l="-1241" t="-1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BD2EF0DE-D3ED-D4AF-872A-5385163BD395}"/>
              </a:ext>
            </a:extLst>
          </p:cNvPr>
          <p:cNvSpPr txBox="1"/>
          <p:nvPr/>
        </p:nvSpPr>
        <p:spPr>
          <a:xfrm>
            <a:off x="914400" y="137160"/>
            <a:ext cx="982154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预测任务</a:t>
            </a:r>
          </a:p>
        </p:txBody>
      </p:sp>
    </p:spTree>
    <p:extLst>
      <p:ext uri="{BB962C8B-B14F-4D97-AF65-F5344CB8AC3E}">
        <p14:creationId xmlns:p14="http://schemas.microsoft.com/office/powerpoint/2010/main" val="285884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3048000" y="206720"/>
            <a:ext cx="60960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4000" b="1" dirty="0">
                <a:latin typeface="微软雅黑" panose="020B0503020204020204" charset="-122"/>
                <a:ea typeface="微软雅黑" panose="020B0503020204020204" charset="-122"/>
              </a:rPr>
              <a:t>机器学习的目标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3400" y="1219200"/>
            <a:ext cx="11277600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机器学习的目标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使学得的模型可以</a:t>
            </a:r>
            <a:r>
              <a:rPr sz="20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更好的适用于</a:t>
            </a:r>
            <a:r>
              <a:rPr lang="en-US" sz="20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20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新样本</a:t>
            </a:r>
            <a:r>
              <a:rPr 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泛化：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模型适用于新样本的能力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泛化能力一定程度上体现出</a:t>
            </a:r>
            <a:r>
              <a:rPr sz="20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假设与真相之间的差距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如下图所示，假设某个样本空间的全体样本服从一个未知分布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Ɗ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一般而言，训练样本越多，得到关于D的信息就越多，越有可能通过学习获得强</a:t>
            </a:r>
            <a:r>
              <a:rPr sz="20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泛化能力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的模型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6F9FB33-C2B1-D304-E638-C5C90C846A0A}"/>
              </a:ext>
            </a:extLst>
          </p:cNvPr>
          <p:cNvGrpSpPr/>
          <p:nvPr/>
        </p:nvGrpSpPr>
        <p:grpSpPr>
          <a:xfrm>
            <a:off x="3505200" y="3547232"/>
            <a:ext cx="4800600" cy="3310768"/>
            <a:chOff x="4599940" y="2450398"/>
            <a:chExt cx="4800600" cy="3310768"/>
          </a:xfrm>
        </p:grpSpPr>
        <p:pic>
          <p:nvPicPr>
            <p:cNvPr id="8" name="图片 7" descr="6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3000" y="2450398"/>
              <a:ext cx="4170680" cy="2845278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8B323B8-C0BC-EB46-F83F-082325F624A1}"/>
                </a:ext>
              </a:extLst>
            </p:cNvPr>
            <p:cNvSpPr txBox="1"/>
            <p:nvPr/>
          </p:nvSpPr>
          <p:spPr>
            <a:xfrm>
              <a:off x="4599940" y="5391834"/>
              <a:ext cx="480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一个未知分布</a:t>
              </a:r>
              <a:r>
                <a:rPr lang="en-US" altLang="zh-CN" sz="18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Ɗ</a:t>
              </a:r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800" b="1" spc="25" dirty="0"/>
              <a:t>线性回归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304800"/>
            <a:ext cx="289560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b="1" spc="20" dirty="0"/>
              <a:t>线性回归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1828800"/>
            <a:ext cx="9982200" cy="43788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355600" algn="l"/>
                <a:tab pos="2922905" algn="l"/>
              </a:tabLst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线性回归(</a:t>
            </a:r>
            <a:r>
              <a:rPr sz="24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Linear</a:t>
            </a:r>
            <a:r>
              <a:rPr lang="en-US" sz="24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Regression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)是利用数理统计中回归分析，来确定</a:t>
            </a:r>
            <a:r>
              <a:rPr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两种或两种以上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变量间</a:t>
            </a:r>
            <a:r>
              <a:rPr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相互依赖的定量关系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的一种统计分析方法。</a:t>
            </a:r>
          </a:p>
          <a:p>
            <a:pPr marL="12700" marR="5080" algn="just">
              <a:lnSpc>
                <a:spcPct val="150000"/>
              </a:lnSpc>
              <a:tabLst>
                <a:tab pos="355600" algn="l"/>
              </a:tabLst>
            </a:pP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  <a:tabLst>
                <a:tab pos="355600" algn="l"/>
              </a:tabLst>
            </a:pPr>
            <a:r>
              <a:rPr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线性回归利用</a:t>
            </a:r>
            <a:r>
              <a:rPr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最小平方函数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一种线性回归方程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多个自变量</a:t>
            </a:r>
            <a:r>
              <a:rPr 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因变量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之间关系进行建模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  <a:tabLst>
                <a:tab pos="355600" algn="l"/>
              </a:tabLst>
            </a:pP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  <a:tabLst>
                <a:tab pos="355600" algn="l"/>
              </a:tabLst>
            </a:pPr>
            <a:r>
              <a:rPr sz="2400" dirty="0" err="1">
                <a:latin typeface="微软雅黑" panose="020B0503020204020204" charset="-122"/>
                <a:ea typeface="微软雅黑" panose="020B0503020204020204" charset="-122"/>
              </a:rPr>
              <a:t>只有一个自变量的情况称为简单回归,大于一个自变量情况的叫做多元回归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152400" y="2950442"/>
                <a:ext cx="5531796" cy="10549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 marR="30480" indent="608965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zh-CN" altLang="en-US" sz="24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使用形如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𝑦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𝑤</m:t>
                        </m:r>
                      </m:e>
                      <m:sup>
                        <m:r>
                          <a:rPr lang="zh-CN" altLang="en-US" sz="24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+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𝑏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微软雅黑" panose="020B0503020204020204" charset="-122"/>
                      </a:rPr>
                      <m:t>  </m:t>
                    </m:r>
                  </m:oMath>
                </a14:m>
                <a:r>
                  <a:rPr lang="zh-CN" altLang="en-US" sz="24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的线性模型拟合数据输入和输出之间的映射关系的。</a:t>
                </a:r>
                <a:endParaRPr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950442"/>
                <a:ext cx="5531796" cy="1054904"/>
              </a:xfrm>
              <a:prstGeom prst="rect">
                <a:avLst/>
              </a:prstGeom>
              <a:blipFill>
                <a:blip r:embed="rId2"/>
                <a:stretch>
                  <a:fillRect l="-2646" r="-3197" b="-16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object 4"/>
          <p:cNvGrpSpPr/>
          <p:nvPr/>
        </p:nvGrpSpPr>
        <p:grpSpPr>
          <a:xfrm>
            <a:off x="5943600" y="2362200"/>
            <a:ext cx="5212080" cy="2755900"/>
            <a:chOff x="6203005" y="2401823"/>
            <a:chExt cx="5212080" cy="2755900"/>
          </a:xfrm>
        </p:grpSpPr>
        <p:sp>
          <p:nvSpPr>
            <p:cNvPr id="5" name="object 5"/>
            <p:cNvSpPr/>
            <p:nvPr/>
          </p:nvSpPr>
          <p:spPr>
            <a:xfrm>
              <a:off x="6203005" y="2401823"/>
              <a:ext cx="5211754" cy="27553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44917" y="2853689"/>
              <a:ext cx="3072765" cy="1248410"/>
            </a:xfrm>
            <a:custGeom>
              <a:avLst/>
              <a:gdLst/>
              <a:ahLst/>
              <a:cxnLst/>
              <a:rect l="l" t="t" r="r" b="b"/>
              <a:pathLst>
                <a:path w="3072765" h="1248410">
                  <a:moveTo>
                    <a:pt x="0" y="1248156"/>
                  </a:moveTo>
                  <a:lnTo>
                    <a:pt x="3072383" y="0"/>
                  </a:lnTo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4DCA8BE-026B-5D87-4D74-28161B7839C5}"/>
              </a:ext>
            </a:extLst>
          </p:cNvPr>
          <p:cNvSpPr txBox="1">
            <a:spLocks/>
          </p:cNvSpPr>
          <p:nvPr/>
        </p:nvSpPr>
        <p:spPr>
          <a:xfrm>
            <a:off x="4419600" y="304800"/>
            <a:ext cx="289560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3970">
              <a:spcBef>
                <a:spcPts val="130"/>
              </a:spcBef>
            </a:pPr>
            <a:r>
              <a:rPr lang="zh-CN" altLang="en-US" b="1" kern="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线性回归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7205" y="438785"/>
            <a:ext cx="704532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20" dirty="0" err="1"/>
              <a:t>线性回归的</a:t>
            </a:r>
            <a:r>
              <a:rPr lang="zh-CN" altLang="en-US" b="1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b="1" spc="20" dirty="0" err="1"/>
              <a:t>用途</a:t>
            </a:r>
            <a:endParaRPr spc="3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12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6A5152-65AA-0768-9C8F-FFC7A7B1D578}"/>
                  </a:ext>
                </a:extLst>
              </p:cNvPr>
              <p:cNvSpPr txBox="1"/>
              <p:nvPr/>
            </p:nvSpPr>
            <p:spPr>
              <a:xfrm>
                <a:off x="685800" y="1981200"/>
                <a:ext cx="10439400" cy="3269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线性回归有很多实际的用途，分为以下两类：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如果目标是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预测或者映射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，线性回归可以用来对观测数据集的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的值拟合出一个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预测模型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。得到预测模型以后，对于任意新的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值， 可以用此模型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预测出新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值对应的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给定一个变量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和一些变量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 err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 err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，这些变量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有可能与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相关，线性回归分析可以用来量化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dirty="0">
                            <a:solidFill>
                              <a:srgbClr val="C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C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sz="2000" b="1" i="1" dirty="0">
                            <a:solidFill>
                              <a:srgbClr val="C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之间相关性的强度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，评估出与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不相关的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，并识别出哪些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的子集包含了关于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的冗余信息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6A5152-65AA-0768-9C8F-FFC7A7B1D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81200"/>
                <a:ext cx="10439400" cy="3269613"/>
              </a:xfrm>
              <a:prstGeom prst="rect">
                <a:avLst/>
              </a:prstGeom>
              <a:blipFill>
                <a:blip r:embed="rId2"/>
                <a:stretch>
                  <a:fillRect l="-643" r="-584" b="-2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4115" y="438734"/>
            <a:ext cx="476440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20" dirty="0"/>
              <a:t>线性回归的应用</a:t>
            </a:r>
            <a:endParaRPr spc="30" dirty="0"/>
          </a:p>
        </p:txBody>
      </p:sp>
      <p:sp>
        <p:nvSpPr>
          <p:cNvPr id="3" name="object 3"/>
          <p:cNvSpPr txBox="1"/>
          <p:nvPr/>
        </p:nvSpPr>
        <p:spPr>
          <a:xfrm>
            <a:off x="878840" y="5791200"/>
            <a:ext cx="10093960" cy="4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相关库</a:t>
            </a:r>
            <a:r>
              <a:rPr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sklearn.linear_model.LinearRegression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1469390"/>
            <a:ext cx="10569575" cy="27085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marR="5080" indent="-28575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西瓜成熟度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密切相关的除了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西瓜的密度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，还有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西瓜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含糖量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。我们可以根据已知的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西瓜的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密度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西瓜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含糖量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进行线性回归，继而可以对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西瓜的密度、西瓜</a:t>
            </a:r>
            <a:r>
              <a:rPr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含糖量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的前提下，对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西瓜的成熟度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进行预测</a:t>
            </a: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298450" marR="5080" indent="-28575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</a:t>
            </a:r>
            <a:r>
              <a:rPr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目标：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西瓜的两个特征与西瓜的成熟度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建立回归方程，并依据回归方程对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成熟度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进行预测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。并解释密度跟含糖量哪个指标更重要？</a:t>
            </a:r>
            <a:endParaRPr lang="zh-CN" sz="18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数学建模：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  <p:pic>
        <p:nvPicPr>
          <p:cNvPr id="7" name="图片 6" descr="C:/Users/Liang/AppData/Local/Temp/picturecompress_20220316153739/output_1.pngoutput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22" y="4169388"/>
            <a:ext cx="4745355" cy="14738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457200"/>
            <a:ext cx="715010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pc="2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Sklearn</a:t>
            </a:r>
            <a:r>
              <a:rPr lang="zh-CN" altLang="en-US" b="1" spc="20" dirty="0"/>
              <a:t>中的</a:t>
            </a:r>
            <a:r>
              <a:rPr b="1" spc="20" dirty="0"/>
              <a:t>线性回归</a:t>
            </a:r>
            <a:endParaRPr spc="30" dirty="0"/>
          </a:p>
        </p:txBody>
      </p:sp>
      <p:sp>
        <p:nvSpPr>
          <p:cNvPr id="3" name="object 3"/>
          <p:cNvSpPr txBox="1"/>
          <p:nvPr/>
        </p:nvSpPr>
        <p:spPr>
          <a:xfrm>
            <a:off x="914577" y="1447545"/>
            <a:ext cx="10093960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0940" marR="5080" indent="-115887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技术路线：</a:t>
            </a: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sklearn.linear_model.LinearRegression</a:t>
            </a:r>
            <a:r>
              <a:rPr lang="en-US"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 action="ppaction://hlinkfile"/>
              </a:rPr>
              <a:t>官方文档</a:t>
            </a:r>
            <a:r>
              <a:rPr lang="en-US" altLang="zh-CN"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 action="ppaction://hlinkfile"/>
              </a:rPr>
              <a:t>中文文档</a:t>
            </a:r>
            <a:endParaRPr lang="en-US" altLang="zh-CN" sz="2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487" y="2080385"/>
            <a:ext cx="8963025" cy="2314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572000"/>
            <a:ext cx="7919085" cy="18776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723120" y="4495800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疑问：</a:t>
            </a:r>
            <a:r>
              <a:rPr sz="2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最小二乘法？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5410200"/>
            <a:ext cx="5193665" cy="1396365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4115" y="438734"/>
            <a:ext cx="476440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20" dirty="0"/>
              <a:t>最小二乘法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0595" y="1447627"/>
            <a:ext cx="9779000" cy="2144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 action="ppaction://hlinkfile"/>
              </a:rPr>
              <a:t>最小二乘法：背后的假设和原理（前篇）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 action="ppaction://hlinkfile"/>
            </a:endParaRPr>
          </a:p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 action="ppaction://hlinkfile"/>
            </a:endParaRPr>
          </a:p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 action="ppaction://hlinkfile"/>
              </a:rPr>
              <a:t>最小二乘法原理（中）：似然函数求权重参数</a:t>
            </a:r>
          </a:p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 action="ppaction://hlinkfile"/>
              </a:rPr>
              <a:t>最小二乘法原理（后）：梯度下降求权重参数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15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6366" y="1408284"/>
            <a:ext cx="3583940" cy="7848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2267585"/>
            <a:ext cx="2577465" cy="5048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95" y="3886200"/>
            <a:ext cx="3651250" cy="6515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95" y="4800600"/>
            <a:ext cx="4147820" cy="7689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2971800"/>
            <a:ext cx="639127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altLang="en-US" sz="48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sz="4800" b="1" spc="25" dirty="0"/>
              <a:t>回归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17</a:t>
            </a:fld>
            <a:endParaRPr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643505" y="289878"/>
            <a:ext cx="6971665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sz="4800" b="1" spc="25" dirty="0"/>
              <a:t>回归</a:t>
            </a:r>
            <a:r>
              <a:rPr lang="en-US" sz="4800" b="1" spc="25" dirty="0"/>
              <a:t>——</a:t>
            </a:r>
            <a:r>
              <a:rPr sz="4800" b="1" spc="25" dirty="0">
                <a:sym typeface="+mn-ea"/>
              </a:rPr>
              <a:t>分类问题</a:t>
            </a:r>
            <a:endParaRPr lang="en-US" sz="4800" b="1" spc="25" dirty="0"/>
          </a:p>
        </p:txBody>
      </p:sp>
      <p:sp>
        <p:nvSpPr>
          <p:cNvPr id="7" name="文本框 6"/>
          <p:cNvSpPr txBox="1"/>
          <p:nvPr/>
        </p:nvSpPr>
        <p:spPr>
          <a:xfrm>
            <a:off x="577669" y="1295400"/>
            <a:ext cx="1100473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既然能够用线性回归预测出连续值结果，那根据结果设定一个阈值是不是就可以解决分类问题了呢？</a:t>
            </a:r>
          </a:p>
        </p:txBody>
      </p:sp>
      <p:pic>
        <p:nvPicPr>
          <p:cNvPr id="8" name="图片 7" descr="201801102255314220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6308090" cy="44164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15200" y="1797685"/>
            <a:ext cx="43713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线性回归的结果输出是一个连续值，而值的范围是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无法限定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如果输出结果是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(0,1)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的一个概率值——需要用sigmoid函数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442063"/>
            <a:ext cx="4142740" cy="2698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18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09600" y="1143000"/>
                <a:ext cx="11073130" cy="14773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逻辑回归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虽然名字中有“回归”，但实际上是一种</a:t>
                </a:r>
                <a:r>
                  <a:rPr lang="zh-CN" altLang="en-US" b="1" dirty="0">
                    <a:latin typeface="微软雅黑" panose="020B0503020204020204" charset="-122"/>
                    <a:ea typeface="微软雅黑" panose="020B0503020204020204" charset="-122"/>
                  </a:rPr>
                  <a:t>用于分类的线性模型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。逻辑回归的目的是预测一个离散的输出值，通常是二分类问题（如是</a:t>
                </a: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否，</a:t>
                </a: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</a:rPr>
                  <a:t>1/0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）</a:t>
                </a:r>
                <a:endParaRPr lang="en-US" altLang="zh-CN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线性回归的预测函数为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𝑊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𝑇</m:t>
                        </m:r>
                      </m:sup>
                    </m:sSup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，那么逻辑回归的输出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=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𝑔</m:t>
                    </m:r>
                    <m:d>
                      <m:dPr>
                        <m:ctrlPr>
                          <a:rPr lang="zh-CN" altLang="en-US" i="1" dirty="0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𝑇</m:t>
                            </m:r>
                          </m:sup>
                        </m:sSup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𝑦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=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𝑔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𝑧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函数正是上述sigmoid函数（又称</a:t>
                </a: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</a:rPr>
                  <a:t>L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ogistic函数）。</a:t>
                </a: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43000"/>
                <a:ext cx="11073130" cy="1477328"/>
              </a:xfrm>
              <a:prstGeom prst="rect">
                <a:avLst/>
              </a:prstGeom>
              <a:blipFill>
                <a:blip r:embed="rId2"/>
                <a:stretch>
                  <a:fillRect l="-330" t="-2479" b="-5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610167" y="236344"/>
            <a:ext cx="6971665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sz="4800" b="1" spc="25" dirty="0"/>
              <a:t>回归</a:t>
            </a:r>
            <a:r>
              <a:rPr lang="en-US" sz="4800" b="1" spc="25" dirty="0"/>
              <a:t>——</a:t>
            </a:r>
            <a:r>
              <a:rPr sz="4800" b="1" spc="25" dirty="0">
                <a:sym typeface="+mn-ea"/>
              </a:rPr>
              <a:t>分类问题</a:t>
            </a:r>
            <a:endParaRPr lang="en-US" sz="4800" b="1" spc="25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757" y="2350679"/>
            <a:ext cx="3044190" cy="10521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3400" y="4343400"/>
            <a:ext cx="10542905" cy="2394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逻辑回归和线性回归本质上都是得到一条直线。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线性回归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的直线是尽可能去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拟合输入变量X的分布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，使得训练集中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所有样本点到直线的距离最短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逻辑回归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的直线是尽可能去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拟合决策边界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，使得训练集样本中的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样本点尽可能分离开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线性回归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适用于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预测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连续变量，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比如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房价、温度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等；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逻辑回归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适用于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问题，比如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判断邮件是否为垃圾邮件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、判断图片中是否包含某物体等</a:t>
            </a:r>
          </a:p>
        </p:txBody>
      </p:sp>
      <p:sp>
        <p:nvSpPr>
          <p:cNvPr id="3" name="object 2"/>
          <p:cNvSpPr txBox="1">
            <a:spLocks noGrp="1"/>
          </p:cNvSpPr>
          <p:nvPr/>
        </p:nvSpPr>
        <p:spPr>
          <a:xfrm>
            <a:off x="533400" y="3637357"/>
            <a:ext cx="5207000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36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sz="36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回归</a:t>
            </a:r>
            <a:r>
              <a:rPr lang="en-US" sz="3600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3600" b="1" spc="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en-US" sz="3600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b="1" spc="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线性回归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19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3000" y="163286"/>
            <a:ext cx="8564245" cy="26771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369310"/>
            <a:ext cx="6264275" cy="34886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95400" y="2996656"/>
            <a:ext cx="1251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hlinkClick r:id="rId5" action="ppaction://hlinkfile"/>
              </a:rPr>
              <a:t>官方文档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0" y="3048000"/>
            <a:ext cx="5055235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预测西瓜成熟度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20</a:t>
            </a:fld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5791200" y="5029200"/>
            <a:ext cx="58731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2700" algn="l">
              <a:spcBef>
                <a:spcPts val="125"/>
              </a:spcBef>
              <a:buClrTx/>
              <a:buSzTx/>
              <a:buFontTx/>
            </a:pPr>
            <a:r>
              <a:rPr lang="en-US" altLang="zh-CN" sz="2400" kern="0" spc="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sz="2400" kern="0" spc="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并解释密度跟含糖量哪个指标更重要？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21</a:t>
            </a:fld>
            <a:endParaRPr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6200" y="304800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  <a:endParaRPr lang="en-US" sz="4800" b="1" spc="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3400" y="1143000"/>
            <a:ext cx="4164330" cy="28613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导入依赖包</a:t>
            </a:r>
          </a:p>
          <a:p>
            <a:pPr algn="l"/>
            <a:endParaRPr lang="zh-CN" altLang="en-US" dirty="0"/>
          </a:p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导入数据集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划分训练集和验证集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使用线性回归对训练集进行训练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预测结果与验证集的label进行对比，</a:t>
            </a:r>
          </a:p>
          <a:p>
            <a:pPr algn="l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计算其评价指标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52400"/>
            <a:ext cx="5819775" cy="2066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62200"/>
            <a:ext cx="3075940" cy="4476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22</a:t>
            </a:fld>
            <a:endParaRPr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6200" y="304800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实验步骤</a:t>
            </a:r>
            <a:endParaRPr lang="en-US" sz="4800" b="1" spc="25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297918"/>
            <a:ext cx="6635755" cy="214048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" y="1143000"/>
            <a:ext cx="4164330" cy="28613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导入依赖包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导入数据集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endParaRPr lang="zh-CN" altLang="en-US" dirty="0"/>
          </a:p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3. 划分训练集和验证集</a:t>
            </a: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使用线性回归对训练集进行训练</a:t>
            </a:r>
          </a:p>
          <a:p>
            <a:pPr algn="l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5. 预测结果与验证集的label进行对比，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计算其评价指标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38400"/>
            <a:ext cx="5334000" cy="41434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23</a:t>
            </a:fld>
            <a:endParaRPr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6200" y="304800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实验步骤</a:t>
            </a:r>
            <a:endParaRPr lang="en-US" sz="4800" b="1" spc="25" dirty="0"/>
          </a:p>
        </p:txBody>
      </p:sp>
      <p:sp>
        <p:nvSpPr>
          <p:cNvPr id="5" name="文本框 4"/>
          <p:cNvSpPr txBox="1"/>
          <p:nvPr/>
        </p:nvSpPr>
        <p:spPr>
          <a:xfrm>
            <a:off x="457200" y="1143000"/>
            <a:ext cx="4253087" cy="39703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导入依赖包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导入数据集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划分训练集和验证集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使用线性回归对训练集进行训练</a:t>
            </a:r>
          </a:p>
          <a:p>
            <a:pPr algn="l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对验证集进行预测</a:t>
            </a:r>
          </a:p>
          <a:p>
            <a:pPr algn="l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预测结果与验证集的label进行对比，</a:t>
            </a:r>
          </a:p>
          <a:p>
            <a:pPr algn="l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计算其评价指标</a:t>
            </a:r>
          </a:p>
          <a:p>
            <a:pPr algn="l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</a:t>
            </a:r>
            <a:r>
              <a:rPr lang="zh-CN" b="1" kern="0" spc="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密度跟含糖量哪个指标更重要？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363431-CABE-7F37-F17F-1649714E7577}"/>
              </a:ext>
            </a:extLst>
          </p:cNvPr>
          <p:cNvGrpSpPr/>
          <p:nvPr/>
        </p:nvGrpSpPr>
        <p:grpSpPr>
          <a:xfrm>
            <a:off x="4953000" y="546100"/>
            <a:ext cx="4419600" cy="2492375"/>
            <a:chOff x="4953000" y="546100"/>
            <a:chExt cx="4419600" cy="2492375"/>
          </a:xfrm>
        </p:grpSpPr>
        <p:sp>
          <p:nvSpPr>
            <p:cNvPr id="10" name="文本框 9"/>
            <p:cNvSpPr txBox="1"/>
            <p:nvPr/>
          </p:nvSpPr>
          <p:spPr>
            <a:xfrm>
              <a:off x="4957354" y="546100"/>
              <a:ext cx="897255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5. 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预测</a:t>
              </a:r>
              <a:endParaRPr lang="zh-CN" altLang="en-US" dirty="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3000" y="914400"/>
              <a:ext cx="4419600" cy="2124075"/>
            </a:xfrm>
            <a:prstGeom prst="rect">
              <a:avLst/>
            </a:prstGeom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5E5484F-D76E-BB57-D79B-CC602F5DCA34}"/>
              </a:ext>
            </a:extLst>
          </p:cNvPr>
          <p:cNvGrpSpPr/>
          <p:nvPr/>
        </p:nvGrpSpPr>
        <p:grpSpPr>
          <a:xfrm>
            <a:off x="4953000" y="3060246"/>
            <a:ext cx="5455285" cy="1587954"/>
            <a:chOff x="5222240" y="3212646"/>
            <a:chExt cx="5455285" cy="1587954"/>
          </a:xfrm>
        </p:grpSpPr>
        <p:sp>
          <p:nvSpPr>
            <p:cNvPr id="12" name="文本框 11"/>
            <p:cNvSpPr txBox="1"/>
            <p:nvPr/>
          </p:nvSpPr>
          <p:spPr>
            <a:xfrm>
              <a:off x="5222240" y="3212646"/>
              <a:ext cx="897255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6. 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评估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800" y="3657600"/>
              <a:ext cx="5419725" cy="1143000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13EEA26-94F9-6886-7692-63094F874130}"/>
              </a:ext>
            </a:extLst>
          </p:cNvPr>
          <p:cNvGrpSpPr/>
          <p:nvPr/>
        </p:nvGrpSpPr>
        <p:grpSpPr>
          <a:xfrm>
            <a:off x="4953000" y="5011601"/>
            <a:ext cx="4076700" cy="1276350"/>
            <a:chOff x="5124450" y="5105400"/>
            <a:chExt cx="4076700" cy="127635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4450" y="5419725"/>
              <a:ext cx="4076700" cy="962025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5124450" y="5105400"/>
              <a:ext cx="995045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7. 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答案：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3051810"/>
            <a:ext cx="5842635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对西瓜好坏进行分类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25</a:t>
            </a:fld>
            <a:endParaRPr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6200" y="304800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实验步骤</a:t>
            </a:r>
            <a:endParaRPr lang="en-US" sz="4800" b="1" spc="25" dirty="0"/>
          </a:p>
        </p:txBody>
      </p:sp>
      <p:sp>
        <p:nvSpPr>
          <p:cNvPr id="5" name="文本框 4"/>
          <p:cNvSpPr txBox="1"/>
          <p:nvPr/>
        </p:nvSpPr>
        <p:spPr>
          <a:xfrm>
            <a:off x="533400" y="1143000"/>
            <a:ext cx="3640455" cy="28613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导入依赖包</a:t>
            </a:r>
          </a:p>
          <a:p>
            <a:pPr algn="l"/>
            <a:endParaRPr lang="zh-CN" altLang="en-US" b="1" dirty="0"/>
          </a:p>
          <a:p>
            <a:pPr algn="l"/>
            <a:r>
              <a:rPr lang="en-US" altLang="zh-CN" b="1" dirty="0"/>
              <a:t>2.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导入数据集</a:t>
            </a:r>
            <a:endParaRPr lang="zh-CN" altLang="en-US" b="1" dirty="0"/>
          </a:p>
          <a:p>
            <a:pPr algn="l"/>
            <a:endParaRPr lang="zh-CN" altLang="en-US" dirty="0"/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划分训练集和验证集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使用逻辑回归对训练集进行训练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对验证集进行预测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5" y="228600"/>
            <a:ext cx="5991225" cy="297448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866" y="3424646"/>
            <a:ext cx="3360420" cy="22999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263" y="3429000"/>
            <a:ext cx="2985770" cy="30295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26</a:t>
            </a:fld>
            <a:endParaRPr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6200" y="304800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实验步骤</a:t>
            </a:r>
            <a:endParaRPr lang="en-US" sz="4800" b="1" spc="25" dirty="0"/>
          </a:p>
        </p:txBody>
      </p:sp>
      <p:sp>
        <p:nvSpPr>
          <p:cNvPr id="5" name="文本框 4"/>
          <p:cNvSpPr txBox="1"/>
          <p:nvPr/>
        </p:nvSpPr>
        <p:spPr>
          <a:xfrm>
            <a:off x="533400" y="1143000"/>
            <a:ext cx="3693640" cy="258532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导入依赖包</a:t>
            </a:r>
          </a:p>
          <a:p>
            <a:pPr algn="l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导入数据集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endParaRPr lang="zh-CN" altLang="en-US" dirty="0"/>
          </a:p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划分训练集和验证集</a:t>
            </a:r>
          </a:p>
          <a:p>
            <a:pPr algn="l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使用逻辑回归对训练集进行训练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对验证集进行预测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ECBF71D-2A4F-B947-F634-D77CC5EB6822}"/>
              </a:ext>
            </a:extLst>
          </p:cNvPr>
          <p:cNvGrpSpPr/>
          <p:nvPr/>
        </p:nvGrpSpPr>
        <p:grpSpPr>
          <a:xfrm>
            <a:off x="6195080" y="4463534"/>
            <a:ext cx="3239569" cy="2068848"/>
            <a:chOff x="6195080" y="4463534"/>
            <a:chExt cx="3239569" cy="206884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/>
            <a:srcRect l="24911"/>
            <a:stretch/>
          </p:blipFill>
          <p:spPr>
            <a:xfrm>
              <a:off x="6219030" y="4932182"/>
              <a:ext cx="3215619" cy="160020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610CC2D-78F5-E7D9-029D-7F16AB388A6E}"/>
                </a:ext>
              </a:extLst>
            </p:cNvPr>
            <p:cNvSpPr txBox="1"/>
            <p:nvPr/>
          </p:nvSpPr>
          <p:spPr>
            <a:xfrm>
              <a:off x="6195080" y="4463534"/>
              <a:ext cx="31775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、对验证集进行预测</a:t>
              </a:r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E5565AF-AD79-2D54-4647-9DB674E093F0}"/>
              </a:ext>
            </a:extLst>
          </p:cNvPr>
          <p:cNvGrpSpPr/>
          <p:nvPr/>
        </p:nvGrpSpPr>
        <p:grpSpPr>
          <a:xfrm>
            <a:off x="6096000" y="2863181"/>
            <a:ext cx="3390900" cy="1305112"/>
            <a:chOff x="6019800" y="2576325"/>
            <a:chExt cx="3390900" cy="130511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/>
            <a:srcRect l="25641"/>
            <a:stretch/>
          </p:blipFill>
          <p:spPr>
            <a:xfrm>
              <a:off x="6096000" y="2976562"/>
              <a:ext cx="3314700" cy="904875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CFE5C97-9907-AF51-9C52-39A6D2D2ADC2}"/>
                </a:ext>
              </a:extLst>
            </p:cNvPr>
            <p:cNvSpPr txBox="1"/>
            <p:nvPr/>
          </p:nvSpPr>
          <p:spPr>
            <a:xfrm>
              <a:off x="6019800" y="2576325"/>
              <a:ext cx="3200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、对训练集进行训练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790A606-29A7-D17A-91F0-EC8722DF26B5}"/>
              </a:ext>
            </a:extLst>
          </p:cNvPr>
          <p:cNvGrpSpPr/>
          <p:nvPr/>
        </p:nvGrpSpPr>
        <p:grpSpPr>
          <a:xfrm>
            <a:off x="4724400" y="279789"/>
            <a:ext cx="6988257" cy="2567940"/>
            <a:chOff x="4964983" y="0"/>
            <a:chExt cx="6988257" cy="256794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304800"/>
              <a:ext cx="6924040" cy="226314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EE227B8-E57D-C9C0-39AF-F9222F67404C}"/>
                </a:ext>
              </a:extLst>
            </p:cNvPr>
            <p:cNvSpPr txBox="1"/>
            <p:nvPr/>
          </p:nvSpPr>
          <p:spPr>
            <a:xfrm>
              <a:off x="4964983" y="0"/>
              <a:ext cx="28188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、划分训练集和验证集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1" y="764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auto">
          <a:xfrm>
            <a:off x="5098120" y="5465199"/>
            <a:ext cx="20955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F989F-8D12-475D-9C50-23F49E8F4161}" type="slidenum">
              <a:rPr lang="zh-CN" altLang="en-US"/>
              <a:t>27</a:t>
            </a:fld>
            <a:endParaRPr lang="zh-CN" altLang="en-US"/>
          </a:p>
        </p:txBody>
      </p:sp>
      <p:sp>
        <p:nvSpPr>
          <p:cNvPr id="2" name="任意多边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3814" y="64010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520" y="1467485"/>
            <a:ext cx="6410325" cy="3867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97" grpId="0"/>
      <p:bldP spid="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4380230" y="228600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800" b="1" spc="25" dirty="0">
                <a:sym typeface="+mn-ea"/>
              </a:rPr>
              <a:t>损失函数</a:t>
            </a:r>
            <a:endParaRPr sz="4800" b="1" spc="25" dirty="0"/>
          </a:p>
        </p:txBody>
      </p:sp>
      <p:sp>
        <p:nvSpPr>
          <p:cNvPr id="11" name="文本框 10"/>
          <p:cNvSpPr txBox="1"/>
          <p:nvPr/>
        </p:nvSpPr>
        <p:spPr>
          <a:xfrm>
            <a:off x="685800" y="1339804"/>
            <a:ext cx="10668000" cy="700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用于衡量模型对任何给定数据的性能。损失函数将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期望值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进行量化，并以单个实数的形式表示出来。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217" y="2438400"/>
            <a:ext cx="6086475" cy="2628900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4380230" y="179592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800" b="1" spc="25" dirty="0">
                <a:sym typeface="+mn-ea"/>
              </a:rPr>
              <a:t>梯度下降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14400" y="990600"/>
            <a:ext cx="5943600" cy="375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梯度下降法是一种求解函数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局部极小值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迭代优化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752600"/>
            <a:ext cx="4807611" cy="2076972"/>
          </a:xfrm>
          <a:prstGeom prst="rect">
            <a:avLst/>
          </a:prstGeom>
        </p:spPr>
      </p:pic>
      <p:pic>
        <p:nvPicPr>
          <p:cNvPr id="3" name="图片 2" descr="6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126" y="1574482"/>
            <a:ext cx="4171950" cy="259016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3370F35-8926-812A-F665-66A4746E3BE7}"/>
              </a:ext>
            </a:extLst>
          </p:cNvPr>
          <p:cNvGrpSpPr/>
          <p:nvPr/>
        </p:nvGrpSpPr>
        <p:grpSpPr>
          <a:xfrm>
            <a:off x="967921" y="4648200"/>
            <a:ext cx="9203690" cy="1934438"/>
            <a:chOff x="197485" y="4560252"/>
            <a:chExt cx="9203690" cy="1934438"/>
          </a:xfrm>
        </p:grpSpPr>
        <p:sp>
          <p:nvSpPr>
            <p:cNvPr id="4" name="文本框 3"/>
            <p:cNvSpPr txBox="1"/>
            <p:nvPr/>
          </p:nvSpPr>
          <p:spPr>
            <a:xfrm>
              <a:off x="197485" y="4560252"/>
              <a:ext cx="6630035" cy="17532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梯度下降算法的目标是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最小化给定函数（比如损失函数）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为了实现这一目标，它迭代地执行两个步骤：</a:t>
              </a:r>
            </a:p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计算梯度（斜率），函数在该点的一阶导数；</a:t>
              </a:r>
            </a:p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在与梯度相反的方向上移动一步（移动）</a:t>
              </a:r>
            </a:p>
          </p:txBody>
        </p:sp>
        <p:pic>
          <p:nvPicPr>
            <p:cNvPr id="6" name="图片 5" descr="64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7903" y="4562429"/>
              <a:ext cx="2893272" cy="1932261"/>
            </a:xfrm>
            <a:prstGeom prst="rect">
              <a:avLst/>
            </a:prstGeom>
          </p:spPr>
        </p:pic>
      </p:grp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4380230" y="219619"/>
            <a:ext cx="343154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800" b="1" spc="25" dirty="0">
                <a:sym typeface="+mn-ea"/>
              </a:rPr>
              <a:t>梯度下降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14400" y="990600"/>
            <a:ext cx="7547610" cy="2368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必须谨慎选择，以达到局部最小值。</a:t>
            </a: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如果学习率太高，我们可能会超过最小值，而不会达到最小值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如果学习率太低，训练时间可能会太长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学习率最优，模型收敛到最小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学习速度太小，需要更多的时间，但会收敛到最小值</a:t>
            </a:r>
          </a:p>
        </p:txBody>
      </p:sp>
      <p:pic>
        <p:nvPicPr>
          <p:cNvPr id="7" name="图片 6" descr="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10000"/>
            <a:ext cx="9291320" cy="25165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01000" y="838200"/>
            <a:ext cx="32245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代码实现：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 action="ppaction://hlinkfile"/>
            </a:endParaRPr>
          </a:p>
          <a:p>
            <a:endParaRPr lang="zh-CN" altLang="en-US">
              <a:hlinkClick r:id="rId3" action="ppaction://hlinkfile"/>
            </a:endParaRPr>
          </a:p>
          <a:p>
            <a:r>
              <a:rPr lang="zh-CN" altLang="en-US">
                <a:hlinkClick r:id="rId3" action="ppaction://hlinkfile"/>
              </a:rPr>
              <a:t>参考链接1</a:t>
            </a:r>
          </a:p>
          <a:p>
            <a:endParaRPr lang="zh-CN" altLang="en-US"/>
          </a:p>
          <a:p>
            <a:r>
              <a:rPr lang="zh-CN" altLang="en-US">
                <a:hlinkClick r:id="rId4" action="ppaction://hlinkfile"/>
              </a:rPr>
              <a:t>参考链接2</a:t>
            </a:r>
          </a:p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230,&quot;width&quot;:96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230,&quot;width&quot;:96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315,&quot;width&quot;:106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2">
      <extobjdata type="C9F754DE-2CAD-44b6-B708-469DEB6407EB" data="ewoJIkZpbGVJZCIgOiAiMTYwMjkzNjQ0MjI0IiwKCSJHcm91cElkIiA6ICI1NzU2ODI1NjUiLAoJIkltYWdlIiA6ICJpVkJPUncwS0dnb0FBQUFOU1VoRVVnQUFBcEFBQUFHMUNBWUFBQUJPUE1SSUFBQUFDWEJJV1hNQUFBc1RBQUFMRXdFQW1wd1lBQUFnQUVsRVFWUjRuT3pkZDNoVDllSS84SGQyVjBwM2FRc3RiVzJCcXpJTEl2T0NnZ2dvb0F4RlFRU1Y2VlVSOEFLQ0tDaERjQ0JjdU1BUEhBZ29seVZZaHFnTUFWbUN6RnFnZSsrUmp1emZILzJlWTlPa0k2eVU5djE2SGg2YW5KSFBTWnJUOS9tc0l6R2J6V1lRRVJFUkVkVkFJcEZJaEorbGppd0lFUkVSRWQxL0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VVh1NkFJUUVWSDFOTVZGS01ndlFJbEdBNzFlQjVQSjVPZ2lFVkV0cEZJcEZBb2xYTjNjNE9IcEFUZTF1Nk9MZE1kSnpHYXoyZEdGSUNJaVMxcXRGaWxKaVRBYWpmRHk5b1phN1E2RlVnbXBsQTFIUlBXZHlXU0NYcWREY1hFUjhuSnpJWlBKMEN3NEJDcVZ5dEZGdXkwU2lVUWkvc3dBU1VSVXY1Um9ORWlNajROL1FBQzhmWHdkWFJ3aXVrMjVPZG5JVEU5SFNHZ1lYTjNjSEYyY1c4WUFTVVJVVDJtMVd0eU0vUXZCb2FGd2MxTTd1amhFZElkb05NVklpbzlIZUdUTCs3WW1zbktBWkZzSUVWRTlrcEtVQ1ArQUFJWkhvZ2JHelUwTi80QUFwQ1FsT3Jvb2R3UURKQkZSUGFFcExvTFJhR1N6TlZFRDVlM2pDNlBSQ0UxeGthT0xjdHNZSUltSTZvbUMvQUo0ZVhzN3VoaEVkQmQ1ZVh1aklML0EwY1c0YlF5UVJFVDFSSWxHQTNVRG5PNkRpUDZtVnJ1alJLTnhkREZ1R3dNa0VWRTlvZGZyb0ZBcUhWME1JcnFMRkVvbDlIcWRvNHR4MnhnZ2lZanFDWlBKeEhrZWlSbzRxVlRhSUc0SXdETVZFUkVSRWRtRkFaS0lpSWlJN01JQVNVUkVSRVIyWVlBa0lpSWlJcnN3UUJJUkVSR1JYUmdnaVlpSWlNZ3VESkJFUkVSVm1NMW1sSmFXUXEvWE83b28xVXBQVDBkT1RrNmQxemVaVENnb0tFQjVlYm5ONWZic3kxNWFyZmFXdHhVK0M2UFJlQWRMWk51Wk0yZFFVbEp5MTErbklXQ0FKQ0pxNElxTGkzSG8wS0ZxbHlja0pDQXpNOVBtc3JLeU1oZ01CcGpOWnJ0ZjEydzJRNi9YMzFaNDBHZzArTzIzMzdCNjllcHFBMFJPVGc1S1Mwc0JBTWVQSDhlQ0JRdFFYbDRPczltTW1KZ1ljYjFmZi8wVmh3OGZybE1vTENzcnd5dXZ2SUtmZi83NWxzdGVHNFBCZ05kZWV3M0xseSsvcGUyUEhEbUNOOTU0QTZkT25ZSldxN1g0ak14bXMxVlExR2cwbUR4NU12YnQyMmR6ZjB1WExzWGl4WXV0M3VlOHZEd2tKaVlpTlRVVmFXbHBWdjhLQ3Y2K0xaOWVyMGRCUVFFU0V4Tngvdng1N04yN0Y1OS8vamttVDU2TVk4ZU9JU2NucDhaOTVlYm1XcFZMcDlQaGxWZGV3ZFdyVjZ0OUwwd21rOVY3SUpUSFlEQlUveVpXY3VIQ0JYejY2YWVZUG4wNmRMcjdmNkx2dTAzdTZBSVFFZEhkOWUyMzMrTG8wYU13bTgzbzI3ZXYxZktEQncvaThPSERHRDE2Tko1ODhrbnhlYVBSaVBIang5LzI2M2ZyMWcxVHBreXBkcm5KWkVKcGFTbnk4L09SbTV1THRMUTBKQ1VsSVQ0K0hpa3BLVENielpCS3BRZ1BEMGUvZnYwc3RqV2J6ZmppaXk4Z2s4a3daODRjRkJZVzR0cTFhNURKWkxoMjdSb1dMbHlJRHovOEVLR2hvVGgrL0RneU1qTFFzMmZQV3N1cy9MODdBaWtyM1Jub2hSZGVxRk9RL3VxcnI2QlFLQ3llS3kwdHhjcVZLL0gwMDAralZhdFc0bkZyYnVPV2R1ZlBuNGU3dXp2Q3c4UHg4c3N2MjF4bjgrYk40czh1TGk0QUFGZFhWNnYxL3Z6elQ2U2twQ0FxS3NyaVlzTGIyeHUvL3ZvcnRtL2ZYbTA1K3ZYcmg3Rmp4d0lBUHY3NFkxeStmTmxpK1FNUFBJQisvZnJCeThzTDBkSFIyTDkvZjdYN2V1YVpaekJzMkRDTDU0VFB3TjI5NGphZk4yL2V4Tnk1Y3kzV1diQmdnZFZ6Z3RkZmZ4MlBQdnBvdGE4SkFKbVptZmpQZi80REx5OHZGQlFVSURvNkdrT0dES2x4bThhT0FaS0lxSUhac1dNSDh2UHpNV2JNR0NnVUNyejAwa3VJajQvSFYxOTloWUNBQUR6MDBFTVc2d3MxVHFHaG9SYlB5MlF5ZlBEQkIxQXFsWkRKWkpCSUpPS3k2ZE9uWThxVUtlSTI4K2JOdzVOUFBtbnhoOXBzTnNOb05GcUVNTUhYWDMrTm8wZVBRcS9YVzlRSUtwVktlSHQ3dzhmSEIwRkJRVWhPVHNhOGVmTVFHaG9LbFVwbHRSK0pSSUtwVTZkaTl1eloyTHQzTDV5ZG5jV3k3OTI3RiszYXRVTm9hQ2lNUmlQaTR1TFFwMCtmT3QzdFJ6ald5c2VzVUNqdzFGTlBWUnRHNHVQanNXclZLc2psMW45YUN3b0tFQjhmanlWTGxtRG16SmxvM2JxMVdNdmw2K3RiYTNtcVNrNU9Sbkp5TWdZT0hJZ21UWnBnd1lJRitPMjMzM0RvMENFc1diSUVScU1SR28wR2VyMGV5Y25KOFBEd2dKZVhGd0JZSGIvQllNQzMzMzRMQU5pMWF4ZDI3ZG9GQUdqZXZEa1dMbHlJcDU5K0drODk5UlJLU2tvd1pjb1VQUDMwMDNqdXVlY0FBQys5OUJMYzNOekVmUTBaTWdRdFc3WkU4K2JOa1ppWWlKMDdkK0s5OTk2RFhxK0hTcVhDZ3c4K0NFOVBUK3pac3dlclZxMFNnL2JHalJ0eDlPaFJQUDc0NDFiSEtud0d3cnJDNzhHeVpjdVFsWldGcFV1WElpZ29DTXVXTFFOUUVRYVhMVnVHanovK0dBREU0NjVPWGw0ZUZpMWFCQ2NuSjh5Yk53OVhyMTdGZi8vN1g1ak5aZ3dkT3JTdUgwbWp3d0JKUk5UQW5EdDNEdkh4OFJnM2Jod0F3Tm5aR2RPbVRjTzc3NzZMRlN0VzRLT1BQb0tQajQrNGZsbFpHUUFnTUREUWFsOFBQUEJBdGEvajQrTWpiaU9WU3RHa1NST2IrNmhPYVdrcDVzeVpBMjl2YnpnNU9XSEdqQmtZTkdnUUJnOGVES0FpQ1B6KysrL1Zoa2NBS0NvcWdrYWp3ZWpSb3hFU0VvSXpaODRBcU9nZkdCRVJBVzl2YjZTbXBxSzB0QlRsNWVXSWlvcXkyTjVzTm9zMW5BQlFYbDV1Vlh0b05CcWgxK3NobDh0clBNYmk0bUlBbHFGVEVCZ1lpTm16WjJQQmdnWDQrT09QTVdmT0hMRkd6Y1BEbzY1dm1lamd3WU1BZ0s1ZHUwS2hVQ0E4UEJ6SGp4KzNLbDkyZGpiZWZmZGRQUC84ODNqcXFhZHM3dXVycjc1Q2JtNHVWcXhZQVI4Zkh4dzdkZ3hyMTY3RnhJa1RMZDZMRXlkT0FBQTZkZW9Fb0tKZm8xNnZGNDhEQUpvMmJZcTR1RGkwYTlmT29pL2gxMTkvamV2WHIyUEpraVhvMmJNbmR1ellnZWpvYUF3ZVBCZzNiOTdFTDcvOGdpRkRobGk4RjJhekdZbUppV0laTWpNem9kVnF4WUJlK1RoVktwWDRXS2ZUUVNhVDFlbDNNVDA5SFV1V0xJSEJZTURjdVhOUlZsYUduajE3d21ReVlkMjZkY2pPenNiTEw3OXM5VHRCREpCRVJBMk84TWV1Y3BEeDkvZkh4SWtUc1h6NWNxeFlzUUx2dmZjZVpESVpnSW9RcGxLcExJTEEzU2FFZ05EUVVMRnBGWUJZSnVEdjR5Z3RMYTAyUUo0N2R3N3IxcTJ6ZW43R2pCbml6NjFidDBiTGxpMEJBQjk4OElIVnV2Mzc5OGVZTVdNQUFHKzk5UllLQ3d2RlpldldyY082ZGVzUUVoSUNxVlNLd3NKQ3BLV2wyU3lMTUFqRmJEYmJESkhObXpmSFcyKzloUysrK0FKbXMxbHN2clkzUUJZVkZlRzMzMzREWUZscm5KR1JZVlhiSnRUSUN2OVh0V3ZYTHZ6ODg4OFlQSGd3ZERvZFVsTlRzWDM3ZG5UdTNCa3FsUXBwYVdudzgvT0R5V1RDM3IxN0VSWVdodkR3Y0FBUSt6NTZlbnFLK3lzb0tNRG16WnZoNys5djhUb1hMMTVFbHk1ZHhBdU5ZY09HWWV2V3JYQjJkc1lQUC95QUZpMWFXRFVaR3d3R3pKNDlXM3dzMUNpKzk5NTdBSUMwdERSa1pXVUJxQWpLYjc3NUpyNzQ0Z3NZREFhYnRkNVZYYmh3QWF0V3JZS25weWZtelp1SG5Kd2N6SjgvSDFPbVRNRS8vL2xQdUxpNFlOV3FWVWhJU01Da1NaUFF2SG56V3ZmWm1EQkFFbEdqbEo5WGdzc1hVL0RYdFhUazVXbFFWRmdHcmJadW5lM3ZsdEZqVzk3Vi9YZnMyQkc5ZS9kR1FVRUJkRHFkR0NvS0Nnb3NRb0F0NmVucFZ2My9jbkp5b0ZhckFWVDA1N01WcmdJQ0FteUdLZUc1eXMycFpyUFpJa0FLd1ZLajBWUmJ2dTdkdTZOcjE2NHdHbzM0NktPUGtKR1JnZExTVWl4ZnZoeVptWmxvMDZZTnpHWXpwazJiaGs2ZE9tSGt5SkVBZ0pTVUZIejIyV2VZT25VcUlpTWp4ZjE5OE1FSGtNdmxrRWdrbUR4NU1sNTg4VVU4K3Vpak1KbE1tRFZyRnJadjMxNWpmMENnSXZoVXJySEt6czZHUnFPQlFxRkFreVpOTUdQR0RLaFVLbkdBajhsa3FqYVVBaFg5RUNzSDZEMTc5dGdjbUJRWEY0Y1dMVnFJKzFJb0ZHSTRyZnkrQ2twTFMzSDY5R2wwN05nUnUzZnZ4dTdkdThWbFdWbFpPSG55SkFCZytmTGwyTHAxcXhpd0FPRFFvVU9Jam82R2s1TVRJaUlpeE8zQ3dzTGc0ZUdCUzVjdWllRzJwS1FFSVNFaDZOQ2hnN2plZ0FFRGNQWHFWWHo1NVplUVNxV1lPWE9tVlJubGNqbldyRm1EcEtRa2ZQVFJSMWkwYUJIVWFyVTRZR3I2OU9uaXVrSmc5UER3UUhwNnVzVkZTVlZhclJiZmZmY2REaHc0Z0RadDJtRHExS2x3ZFhXRmw1Y1hldlRvZ2ErKytnb2RPM1pFNTg2ZDRlUGpnODgvL3h5elo4OUd2Mzc5TUhqdzRIdDZvVldmTVVBU1VhT1NrMU9NZlh2K3hNVUx5UUNBWnNGZWFCN3NEYlhhQ1VxVm8wK0pkMy9LbURGanhrQ3BWSW9Cem13Mkl6YzNGNjFidDY1eHU1a3paMXFOemwyMWFwWEZZMXZoYXVQR2pkWFdIZ0t3Q0ZvbWs4a2lSRGc1T2NISnlRbDVlWG5WMXY0b0ZBcGtabWJpODg4L2gxd3V4K0RCZzdGbHl4YjgvdnZ2MkwxN04vNzk3MzhEcUFoeG5UcDFFcHMxaGRHK1lXRmhGczM1UW45RTRWaWRuWjNoNmVrcGh1ZHg0OFpaOU5ONzZhV1hNR0xFQ0F3Y09MRGFZL3p4eHgvRkptZGIxcTVkVysweUFGaTRjQ0hDd3NJQVZEVGpIang0RUJLSnhDTFF4OGZIbzZpb0NCY3ZYaFNEVmF0V3JUQm56cHhxOSt2aTRvTDU4K2NqUHo4ZjU4NmR3M3Z2dlFlMVdvM3AwNmRqOCtiTlNFdEx3L1RwMDZGU3FSQWNISXcrZmZxZ1JZc1cwR3ExVUNxVjZOdTNMenAzN214UmczcnAwaVVNSGp3WVBqNCs0bUNhMk5oWTlPelpVM3dmWTJKaWNPREFBVnk0Y0FGdDI3WkZRa0lDM252dlBVUkZSYUZObXpabzBhSUZtalZyQm9sRUFuZDNkNlNrcEFDbytLeTl2THpFMGVXVnl5aGNpTWhrTWhRV0Z0b2NLRlJlWG83RGh3OWp6NTQ5S0Nnb3dKQWhROUMzYjE5SUpCSnhuOE9HRFJNSG1wV1hseU13TUJEdnZmY2V0bTdkaW4zNzl1SFFvVU1ZTUdDQWVDSFNtRG42YkVsRWRFK1l6Y0RSWDJNUXZlY0NYRjFWZUhwb0I3VHRFQXgzZDl0TmU0NXc4ZndmZC8wMXFvYTVyS3dzR0kxR3F5YkhxcFJLSlFZTkdvU2hRNGRDcTlYaTVaZGZ4cUpGaXhBU0VnSUFlTzIxMXpCaXhBZ3hYQWwvMkt2ck82Ylg2eUdUeVN3Q284bGtzaHFBNHV2cmk1U1VGTFJ0MjlacUgyYXpXYXc1YTlteUpkNTg4MDM4OHNzdkFDcHF1QklTRXJCNTgyYXg5aklwS1VuY05pOHZEeEtKcE5ZQkZqcWREanQzN3JRNXZZend2bFJ1TGpXWlRPS0FFY0h6enorUDU1OS9Ibks1SEZLcFZBenZ5NVl0UTB4TUROYXVYV3R6WU0vWFgzK04vZnYzaTJYVTYvVll0V29WREFZRHVuZnZqbVBIam9uckN0TU5MVnUyRElHQmdWaThlSEdkbW5HRkFWSkFSZE80eVdRUzN4K2hLZC9UMHhQUFB2c3NZbUppWURhYmtaNmVqalZyMW1ERGhnMXdjbkt5Mk4rdVhidHc3ZG8xaStjKytlUVRBTUJ6enoySFk4ZU9JVFUxRlY1ZVhwZzhlVEk2ZHV5SXNySXlSRWRINDlkZmY4WHg0OGZSc1dOSFRKczJUZHoreG8wYkFDcEdYMWRXZVlvZVlVQlNXbG9hVWxKU29GQW9rSmFXQm9QQkFHOXZiN2k2dW9wTjhuSzVISFBuemtXclZxM3cxbHR2VlR1RmxTQXFLZ3B2dmZVV2V2VG9nVjkrK2FYR2k0WEdoQUdTaUJvOG85R0ViVnRPNGR5WkJQVHEzUXA5bjN3WUtvZlhOdFlQd2gvbnFpT3dxNm9jOUlTK2Z0N2Uzclh1djdvUnoyVmxaVmExUkVhajBhb1pzMW16Wm9pUGo3ZTVENGxFZ2padDJzQm9OR0xJa0NFb0xDeEVWbFlXUm80Y0NabE1oa21USmlFMk5oWkxsaXhCU0VnSTR1TGl4UDZKMmRuWjhQTHlxalprQ1FOQU5tM2FCRjlmWDR3ZE94WW5UNTdFaGcwYnNHSERCb3QxTjI3Y2lJMGJONHFQL2YzOThlbW5uNHFQYmRYQUdnd0dYTDE2RmYvNHh6K3FmWS95OHZJZ2s4bkVKbE9aVElhSEgzNFlMVnEwUUhCd3NCZ2dNekl5Y09USUVUejAwRU5pRFd0NmVybzQyS1UyUW1pc1hPYXBVNmVLUDBza0V1VG41MlBCZ2dYbzI3ZXZXRU5uNjdqZWV1c3RTS1ZTcEtXbFlkNjhlUUNBLy9mLy9wL1lQU0VrSkFTWm1abm8zYnUzT0VQQVk0ODloakZqeG1ENDhPRzRjdVdLUmJjSHM5bU1LMWV1QUtoNG55TWpJOFgrcWkrOTlKTDR1c0xuVmJsWlcvaDUyclJwaUlxS2drUWl3VXN2dlFTOVhpOEczemZmZkJNcWxjcm03OEhxMWF1Um5aMk5pUk1uUWlLUjRPR0hIOGJERHo5Y3AvZTBNZUFabElnYXZOM2J6K0hDSDBrWU5hWXIybmNNY1hSeEhPTGF0V3RRcTlWbzFxeVp4Zk1YTDE0RWdGcWJzQ3U3ZnYwNlBEdzhMS1p2c1ZkUlVSR2FOR2tpUGpZYWpUWURaSGg0T0hidjNsM3R3SlNnb0NBMGI5NGNVcWtVNTgrZngwOC8vWVQ1OCtkRExwZERMcGZEeGNVRmJkdTJ4WkFoUXpCLy9uekV4Y1VoUER3Y3ljbkpWdThGVUZHcmRmandZV3pidGcxQVJSL0xjZVBHUWFGUVFLL1hZOXk0Y2ZqSFAvNGhybDkxK2lLajBWaW5pYXZQbkRtRDh2SnlkT25TQmNuSnlVaEtTa0szYnQwczFzbkx5NE9ucDZjWU1LVlNLWVlQSHc2ejJTeldPQm9NQnF4WnN3WW1rd205ZXZYQ2hRc1hFQjRlanV6czdEcVBpQmVhNjk5OTkxMDRPenRqenB3NTJMQmhBOUxUMDhVbThGOSsrUVZtc3hrSER4NFVtK05mZU9FRkFFQkVSQVRlZi85OUFCQi9KNFNhWUFENDQ0OC9rSitmajBHREJxRlZxMVlvTEN6RTJiTm5JWlZLSVpQSmtKK2ZqMU9uVHNGb05FSXVsNk5wMDZiaXR0ZXVYVU5SVVJFQW9IZnYzdGkzYjU5NDBmUDU1NStMNi9uNCtHRHo1czNRNi9WNDVaVlhNSFBtVER6NDRJTlcvWGFyMW5vTE5laUE1ZUNuM2J0M0l5WW1CdlBuejYreFAyVmp4Z0JKUkEzYXFaTTNjZkw0RFF4L3ZuT2pEWS94OGZGWXZudzVQRDA5c1dqUklyR1pXQmhFRVJRVWhJQ0FnRHJ2NytqUm96WnJZb1NhckxySXljbXg2SHNvOUVHcjJ1VDk0SU1QWXRPbVRZaUppYkVaY29YNUF5c1RSdWtDRllGaHpabzFjSEZ4Z1llSEI4NmNPWU93c0RERXhNUllUYXB1TUJnd2ZmcDBaR2RuNCtHSEg4YWxTNWNRR1JrSmhVSWgzcEVuT0RqWUlwamR5dlJGWnJNWjBkSFJjSE56UTZkT25jUmorTzIzM3pCKy9IanhmY25QejdkWnkxczVTQnNNQmpSdDJoUmhZV0ZJVEV6RWp6LytLTDVQbFFjSDFVUUl2R3ExV2d4WFRrNU9ZZzFqVGs0Tzl1M2JoeWVlZUFKOSsvWVY1MTVjdG13WmREcWQxVjFia3BLU2NQVG9VYlJxMVFveE1USEl5c3JDdG0zYjRPVGtoQTRkT21ETm1qVVc2NTg2ZFFxblRwMENVREhvcW5Qbnp1S3lBd2NPSUNJaUFyR3hzZWpXclJ1dVhMa2lCa3BiODJmZXZIa1RNcGxNbkt6ZDFrV0hzSjVVS2hWcjNrMG1FejcrK0dQNCtmbWhSNDhlMkw1OU8wYU1HQ0dPT0M4dExXV1FySUlCa29nYXJOSVNMZmJ1UG8rb3pxSG8zQ1hjMGNWeGlQajRlQ3hhdEFnQU1HclVLSXMraGp0MjdJQldxNjNUblZrRVo4NmNRVXhNakRpUnRFQ2xVbUhidG0wNGN1UUlTa3RMYmQ3eFJtQTBHcEdWbFdVUlFvVXBiYXIra1E0SkNZR1BqdzhPSGp4b00wQSsvL3p6R0Q1OE9LNWZ2NDRWSzFaZzl1elpZcTNTM0xsekVSUVVKRGFWZCt2V0RZY1BIMGJMbGkxUlhGeHMxYTlTTHBlamRldlc2TldyRndZUEhvelJvMGVMeS9MeThnQlUxTEJWdm5VZlVORWNYL2s1ZDNmM0dpY3IvKzIzMzNEejVrMk1IRGtTS3BVSzQ4YU5nNHVMQ3c0Y09JQ1pNMmRpN05peDZOR2pCd29LQ21vTmdVNU9UcGc0Y2FKWWV4c1lHSWdOR3piQXc4TURRVUZCNGlUdE5kMUJSNWdIOUoxMzNoR2ZHelZxbFBpelZDcEZodzRkTUhqd1lJc0JNN1pDczlGb3hILy8rMS80K2ZtaGE5ZXVpSW1Kd2ROUFB3MnRWb3NmZi93UjNidDN4NFlORzZCUUtDQ1ZTakZod2dROCtlU1RHREpraUZYdGJYeDhQTTZlUFlzeFk4WWdOallXVGs1T1dMUm9FZExUMDhVNzdFUkhSNk8wdEZTOGU4MlpNMmZRc1dOSGpCNDlHaDk4OEVHMTg1aHUyN1lONWVYbG1EVnJGaFl0V29TK2ZmdGk2TkNoV0xSb0VYUTZIVmF1WENuT01IRHExQ21zWDc4ZTc3Nzdya1dOWldQSGUyRVRVWVAxODhFck1CaE02RC9JZWdCR1l4QWJHNHNQUC93UVRrNU9tRDkvUHRxM2J5OHV1M3o1TWc0Y09BQ2dvcFluSXlPajF2MFpEQVpzM2JvVm5UdDN0Z28ybzBlUFJzdVdMZUhzN0F4Zlg5OGFhK1NTa3BLZzFXb1JIQndzUHBlZm53K2dJbndWRlJVaE9qb2FmLzMxRndDZ1o4K2VPSDM2TkJJU0VxejIxYVJKRTNoN2UrUEFnUU1JQ1FsQldGZ1kxR28xWW1OamtaV1ZoVUdEQm9ucjl1dlhEeVVsSlZpNWNpWDgvZjF0aG90eDQ4YmhtV2Vlc1hvK1BUMWQ3STg0ZWZKazhaOUdvOEdXTFZzc25xdHV3QTFRTVJwY3VDUFFnQUVEQUZRTVpCa3paZ3plZXVzdGkvZkFhRFRXcVo4cDhIY2ZWYUhadGt1WExwQklKT0tVTnpVMXF3dmhkOUdpUlpnNWN5YUFpc0U0d3M4QU1IRGdRSlNVbEZqTXZaaVdsb2JVMUZRa0pDUWdPenNiQVBEZGQ5OGhQajRlbzBlUHRtZ3FmdTY1NThSbWJpRThWcTRkbEVna2tNbGtrTXZsWW0yMHdXQ0FwNmNuZXZUb1liRmVWVC8rK0NNS0NncWcxK3R4L1BoeGRPL2VIUUJzM2hFSXFQZ3NMMTI2aEg3OStrRXVseU0yTmhZbEpTV0lqSXpFeElrVGNlVElFUnc2ZEVoOHJRNGRPcUJaczJaWXNtU0oyUCtYV0FOSlJBMlUwV2pDbVZQeDZQUklHSm8wcVQ4anJlK2xqejc2Q0w2K3ZwZzllN2JGUElxeHNiSDQ3TFBQb0Zhck1YRGdRR3pkdWhVTEZ5N0UzTGx6YXh5TkxZeGV0VFd5dW5QbnpoWk5qelhOYXlpTTBoV2FHWUcvcDlYeDl2YUdUcWZEZDk5OWg0Y2VlZ2d6WnN4QTM3NTlzWGZ2WHF4YnR3N3Z2LysrVlRBb0tpcUNyNjh2TGwrK2pGZGZmUlhCd2NFb0tDaEFhR2lveFd2NCt2cWlRNGNPT0hQbURKNTk5bG1iWWFTNlFUWHg4Zkh3OC9NVGF6T0YwYzZWVlo3MnhoYU5Sb01sUzVaQXI5ZGp5cFFwVnU5alZGUVVQdm5rRTNoNGVJZ0RoK29hSUFWYnRteUIyV3dXN3htdVZxdXhjdVhLR3B0Zk16SXk0Tzd1anBDUUVMRk1sWTlObVBwR21COVQ2S293Zi81OG1Fd21HSTFHOU9qUkF3TUhEc1MrZmZ2UXZYdDN0Ry9mSHIvKytxdkY2N2k3dStQbGwxKzJtc055MjdadFlwOVQ0TzlCU0JFUkVWaTRjS0ZWMllYYTFJc1hMMkx2M3IzUTZYVDQzLy8raDVDUUVEZzdPNk5ObXpZQWJNOTlDUUQvKzkvLzBMUnBVM0ZpYytEdndWNlBQUElJeG93Wkk0YlExTlJVTkczYUZOT25UOGVzV2JPd2ZQbHl6SjgvdjhhcHFSb0xCa2dpYXBEaWJtU2hyRXlIaDlzMnJydEhHSTFHY1ZxU29LQWcvUHZmL3hhYjRvVEJGOTk4OHcxY1hWM3g3cnZ2SWpBd0VINStmbGl4WWdVKy9QQkR6SjgvdjhhcGJXN2x0bnRWL2Y3NzcvRDM5NGVmbjUvNFhFcEtDcHljbk9EcTZvcmMzRnlFaElUZ3dvVUx5TXJLZ3ArZkh3WU9ISWlkTzNkaS9mcjFtREJoZ2tYNEUyb0ZnWXB3dkhqeFlnQkFRa0lDM25qakRieisrdXVJaUlqQW1UTm5jT0hDQmNqbGN1emZ2eCtkT25XcTgzMm9yMTI3aG9pSWlHcjcxRlZtYTUzYzNGd3NYcndZNmVucG1EUnBraml2WTFYQysydlBTSGZCNGNPSDhmdnZ2Nk5Qbno3aVFCU1pURmJyVkVXeHNiRm8wYUpGdGN1ZmVlWVppMXBaSVNqYm1yOXkyclJwTlE3SVdycDBLZVJ5dVJqdTNuNzdiVHorK09ONDhza254WHVuVis1TGErdjNUWmpPWjhtU0pYajY2YWZGL3ByYnQyL0htREZqckNhcHJ6dzQ1dXpac3poNThxUTRXbHhZci9Kcjl1L2ZYL3g1NjlhdHVISGpCajcvL0hOTW1qUUp5NWN2eDgyYk55MEdValZXREpCRTFDRGR2SkVGdVZ5S3NQQzZCWVNHSWlNakErWGw1UWdORGNYczJiUEZHck8vL3ZvTDMzMzNIV0ppWWhBV0ZvWnAwNmFKd2FKVHAwNTQ5ZFZYc1diTkdpeGV2TmpteUZPVHlXUlZVMVFYVlVkUHg4VEU0TWFOR3hnNmRLajRuRWFqd2ZIang2SFg2ekYrL0hob3RWb0VCZ1pDSnBQaHdJRURHRDE2TklZTUdZSno1ODdoNk5Hak1CcU5lUFhWVnkxcUN3MEdBMDZjT0lIdnYvOGV2cjYrNGhRdUJ3OGVoSmVYRnpaczJJQ2ZmLzRaM2J0M3g2QkJnL0QrKys5ajNyeDVtRHg1c3MwQlFVS1RyMFFpUVc1dUx2NzY2eS8wN3QxYlhDNDA0MVptNnptZ29sL2Urdlhyb2RGbzhOSkxMNG0xVzVVSjgwZks1WEtVbEpTSXRYZlZCVndoOEFqdjc4OC8vNHlOR3pjaUlDQUFMNzc0b3NXNldxMFdXcTFXSEh4U3VRYTNwS1FFbHk1ZHdvZ1JJeXkyMGV2MTFSNVBUZjBwSzNlVHFGeEdRZFhqTVp2TlVDZ1VOZDdkUmRoZStQL3k1Y3RRcVZTWVBIa3lPblhxQkxQWmpFOC8vUlNSa1pIbzJyV3IxZmF6WjgvRzFLbFRFUlFVaE9EZ1lEenp6RE1XVXh5cFZDckV4Y1ZCcjlkYjFBcG5abWJpeXBVckNBc0xnMUtwUk92V3JmSHBwNStLRjJTTkhRTWtFVFZJaFlWbGNHL2lBcG1zY1hYMURnb0t3cXhaczhUQkk1Y3ZYOGFXTFZzUUh4OFBxVlNLZ1FNSFlzU0lFVmJOcHoxNzlrUjZlanAyNzk2TkV5ZE9XTnh0QmFpbzJlemZ2Ny9WODlVUlJ1b0tVN01BRlVGbTQ4YU5rRXFsNk5Xcmw3aXVYQzZIeVdTQ3I2OHZCZzRjaUVjZWVRUnVibTdZc0dFRHpwOC9qeGRmZkJFS2hRTFRwMC9IdkhuemNPN2NPZlRwMHdldFc3ZEdYRndjZnZycEo1dzdkdzRta3dtREJnM0N3SUVEeGVQejhQREE3Tm16b2RmcjhkSkxMNGxOdTdObno4YlNwVXV4YU5FaWpCdzVFb01IRHhhUGMrdldyVWhOVFFWUTBjZHkxNjVka0VxbGFOKyt2UmhpbGk1ZFdxZjM0ZkRodzFpN2RpM2tjamttVFpwa016d0NGV0ZyeG93WkZuM3Nnb09ETGZxSlZsMGZxQWk2TzNic3dPN2R1K0hqNDROWnMyWlpUZTZ0MSt2eCt1dXZpd05xS28rNDM3Tm5Ed3dHQXg1NTVCRUFnSmVYRjZaTm00Wno1ODVoeFlvVkZyWEVBbUhhSDF2VExsVW1oSENEd1ZCdGYwU2hDYndtUXJtRi9ZMGZQeDU5Ky9aRlJFUUV6R1l6dnZubUcrVG01bUx1M0xuaU5qS1pERC8vL0RQOC9QeVFsSlFrVGkvazUrY25EcmdSUkVSRTRPalJvMWFqK1lHS2NGazVYRE04L28wQmtvZ2FwS0xDVXFqVlRyV3YyQUJWSHVBU0hoNk8wdEpTdEduVEJpTkhqcXh4d3ZEaHc0Y2pNakxTb2haSm9OZnJvVmFyNnp4ZGpWUXFoWXVMaTFpckp1aldyWnZZTEMxd2NuTENuRGx6NE8vdmJ6RjZlZGl3WVJnMWFwUllnK25qNDRPNWMrY2lQejlmYkNZTkNncENVVkVSbm4zMldmVHMyVk84djdjZ0pDUUU3ZHUzeDRnUkl5eWFjc1BDd3ZEUlJ4OWg3d2F4dVA4QUFDQUFTVVJCVk42OTRtQVdvQ0o0M0x4NUV5a3BLZWpkdXpmYXRHa0RaMmRuY2Q1TG9mOWVUWDBnS3dlaWYvN3puK0trM3RXTkNBWXFRblMvZnYxdyt2UnArUHI2SWlJaUFqMTc5cXkyeVZ3dWw4UEh4d2NHZ3dHREJ3OUdZV0Vobm52dU9aczFlVzV1YnVqVnE1ZjRlOUN5NWQvM1hCODRjQ0NhTjI4dVRoM2s1T1NFcUtnb2FMVmFUSmt5eGVZZGdQUjZQYVJTcWNYOTFHM3g4UEFRNzBWZW5RY2VlS0RXKzdBRHdKQWhROFFRcUZLcHhQdHZYN2x5QlZsWldWYkIrWmxubnNGdnYvMG1YdmhVbm5PMHFuZmVlUWZaMmRrMkJ4cDVlSGh3K3A1cVNNdzFmYkpFUlBlcDFWOVVUTFE4NmZYSEhGeVN1cnQ0L2crMGFkL2hqdSszdkx6Y3FsYktYa2FqMFdya2JFTlZXbG9LWjJkbm04ZHFOQnB4NDhZTmhJYUdXZzI0TVJnTXlNcktncisvZjQwMWMwUjM2N3QrdDBrcWZTbFlBMGxFVkU4SW5mbHJta1B3VnR4dWVBU3FIOUhhRU5WVTR5U1R5U3hxOENxVHkrVjJUU2hPamRQZCtJNDd3djEvQkVSRURZUkNvWVMreWwwOWlLaGgwZXQwVUNoc1R4ZDFQMkdBSkNLcUoxemQzRkJjWE9Ub1loRFJYVlJjWEFUWDI3aVBmSDNCQUVsRVZFOTRlSG9ncjRhN21CRFIvUzh2SnhjZW5yYy9uNnFqTVVBU0VkVVRibXAzeUdReTVPWmtPN29vUkhRWDVPWmtReWFYd1UxZC9ieVg5d3NHU0NLaWVxUlpjQWd5MDlPaDBSUTd1aWhFZEFkcGlvdVJtWjZPWnNFaGppN0tIY0VBU1VSVWo2aFVLb1NFaGlFcFBwNDFrVVFOUkc1T05wSVM0aEVTR3RaZzdxUE5hWHlJaU9vWlZ6YzNoRWUyUkVwU0luSnpjdURsN1EyMTJoMEtwYkpCVFA5QjFOQ1pUQ2JvZFRvVUZ4Y2hMemNYTXBrTTRaRXRHMHg0QkJnZ2lZanFKWlZLaGZDSVNHaUtpMUNRWDREYzdCem85VHJ4Rm5aRVZIOUpwVklvRkVxNHVya2hNQ2lvUWZSNXJJb0Jrb2lvSG5OVHV6ZklQejVFZEg5ald3Z1JFUkVSMllVQmtvaUlpSWpzd2dCSlJFUkVSSFpoZ0NRaUlpSWl1ekJBRWhFUkVaRmRHQ0NKaUlpSXlDNE1rRVJFUkVSa0Z3WklJaUlpSXJJTEF5UVJFUkVSMllVQmtvaUlpSWpzd2dCSlJFUkVSSFpoZ0NRaUlpSWl1ekJBRWhFUkVaRmRHQ0NKaUlpSXlDNE1rRVJFUkVSa0Z3WklJaUlpSXJJTEF5UVJFUkVSMllVQmtvaUlpSWpzd2dCSlJFUkVSSFpoZ0NRaUlpSWl1ekJBRWhFUkVaRmRHQ0NKaUlpSXlDNE1rRVJFUkVSa0Z3WklJaUlpSXJJTEF5UVJFUkVSMllVQmtvaUlpSWpzd2dCSlJFUkVSSFpoZ0NRaUlpSWl1ekJBRWhFUkVaRmQ1STR1QUJFUlZVOVRYSVNDL0FLVWFEVFE2M1V3bVV5T0xsS2pKSlZLb1ZBbzRlcm1CZzlQRDdpcDNSMWRKQ0tIWW9Ba0lxcUh0Rm90VXBJU1lUUWE0ZVh0RFY4L1B5aVVTa2lsYkRoeUJKUEpCTDFPaCtMaUlxU2xwa0lteTBDejRCQ29WQ3BIRjQzSUlSZ2dpWWpxbVJLTkJvbnhjZkFQQ0lDM2o2K2ppME9vcUlGVU9UbEI1ZVFFSDE4LzVPWms0MmJzWHdnSkRZT3JtNXVqaTBkMHovRlNsb2lvSHRGcXRVaU1qME53YUNqRFl6M203ZU9MNE5CUUpNYkhRYXZWT3JvNFJQY2NBeVFSVVQyU2twUUkvNEFBdUxtcEhWMFVxb1dibXhyK0FRRklTVXAwZEZHSTdqa0dTQ0tpZWtKVFhBU2owY2lheC91SXQ0OHZqRVlqTk1WRmppNEswVDNGQUVsRVZFOFU1QmZBeTl2YjBjVWdPM2w1ZTZNZ3Y4RFJ4U0M2cHhnZ2lZanFpUktOQm1wT0QzUGZVYXZkVWFMUk9Mb1lSUGNVQXlRUlVUMmgxK3VnVUNvZFhReXlrMEtwaEY2dmMzUXhpTzRwQmtnaW9uckNaREp4bnNmN2tGUXE1UVR2MU9qd1RFVkVSRVJFZG1HQUpDSWlJaUs3TUVBU0VSRVJrVjBZSUltSWlJaklMZ3lRUkVSRVJHUVhCa2dpSWlJaXNnc0RKQkZSQTJVMm0rL1l2Z3dHQThyTHkrL1kvdTRtbzlGNFI0K2RpS3d4UUJJUk5VQkdveEd6Wjg5R2RIUzBWWmc2Y3VRSUprMmFoUDM3OXdNQVNrdExhdzFjMzMvL1BjYU5HNGV5c3JKcTE5bTFheGVtVHAxYWE5QXNMUzI5NVg5NnZiN0dmYWVtcG1MMDZOSFl2bjE3amVzUjBlMlJPN29BUkVSMDU1MDZkUXFKaVlubzJiTW5KQktKeFRKUFQwOFVGaGJDeGNVRkJRVUZtREZqQnZyMTY0Zmh3NGRYdXovbC85MGhSMW5wVGprbWt3bDc5dXhCaHc0ZDBMeDVjeGlOUnVUbDVVR2hVTlJZdHRkZWUrMldKOTUrNFlVWE1IRGd3R3FYQzYrdFVDZ1FIeCtQbXpkdlFpNlgxemhCZTlldVhTR1g4ODhoa1QzNGpTRWlhbURNWmpQMjdObURoeDU2Q0U4KythVFZjaWNuSndDQWk0c0xQRHc4MEw5L2YremN1Uk5SVVZFSURRMjF1VThoZ0ZVT1lwbVptZmp1dSsvZzZ1cUs1czJiaTh0a01sbU41WlBMNWVqZXZUdUdEUnRXNTJNcUxpN0dPKys4WXhWTzE2NWRpOE9IRDJQRGhnMXdjbklTZzZCTUpzT1ZLMWV3WmN1V2FnT2t3V0NBMFdqRUk0ODh3Z0JKWkNkK1k0aUlHcGdUSjA0Z05UVVZpeGN2QmdEczM3OGZIVHQyaEsrdkw0Qy9RNkJRTXpsMDZGQkVSVVhCMDlNVDE2OWZSMFJFaExpdjB0SlNPRHM3aSt1ZVBuMGF1Ym01R0RCZ0FKS1NrZ0FBclZ1M3Rsa09vOUVJdlY0dkJsYUJYQzZIVXFtRWg0ZUgzY2RXTlp4V3JSa1Zsa3NrRWd3WU1BQ0RCZzJxZGwrclZxM0M4ZVBITFdwVmlhaHVHQ0NKaUJxUXdzSkNiTnEwQ1U4OTlSUUNBd09SbVptSmI3NzVCcWRQbjhhNzc3NXJVUk4zNDhZTlpHZG5JeWtwQ1RkdTNFQnFhaXFhTm0ySzVjdVhpK3VzWGJzV3BhV2xZa2pNeXNyQ3pwMDcwYWRQSHlRbUpnSUFac3lZWVZHR1VhTkdpVDlMcFZKczJyVEpZbm5WSm5WN1ZOMjJhczJvc0Z3cWxkYjVkVzZuUEVTTkZRTWtFVFZLK1hrbHVId3hCWDlkUzBkZW5nWkZoV1hRYWcwT0xkUG9zUzF2YS92aTRtSXNXN1lNU3FVU3ZYdjNSbloyTnJadTNRbzNOemVNSGowYTI3WnRRM3A2T3VMaTRnQUFlL2Z1UmJObXpSQWFHb3JISG5zTUFRRUI4UGYzdDlobmRuWTJXclJvSVQ3dTBhTUh0bTdkaXRPblQrUHExYXVJaUlqQWdBRURBRlRVVHA0OGVSSnZ2UEVHZ0lvK2tyWUd2VlFOYkdQR2pJSEJZUHU5bno1OU9qcDA2RkR0dGxVSmZTdHJhMFlub3R2REFFbEVqVXBPVGpIMjdma1RGeThrQXdDYUJYdWhlYkEzMUdvbktGV09QaVhXUE1LNE5scXRGZ2tKQ1RBYWpmalh2LzRsUGo5NThtVDQrZm5oMkxGamFOV3FGZnIxNjRmTm16ZGoxS2hSTnZ0STZ2VjZLQlFLbU0xbXBLZW40OUZISHhXRG9JZUhCN3AwNllMQ3drSmN2MzRkbzBlUHhpT1BQQUlBU0V0TEF3RHhjVjBwbFVvOC92amplUHp4eDhYbjR1UGpzV3JWS3FoVUtydjJKUVJSTmtzVDNWMk9QbHNTRWQwVFpqTnc5TmNZUk8rNUFGZFhGWjRlMmdGdE93VEQzZDNaMFVVVFhUei94MjF0NytQamc3Rmp4OExmM3g4QkFRSDQ4c3N2b2RWcTBiMTdkd0RBeXBVckFWUU1zdG15WlF0S1MwdGhNcG1Ra1pHQnhNUkUzTGh4QTFldVhJR3ZyeS9lZnZ0dFpHVmxvYnk4SE0yYU5VTjhmTHo0T3ErLy9qcSsrKzQ3U0NRU2RPblM1YmJLREZRME42dlZhZ1FHQm9yUEZSY1hBN0MvZWJta3BBUUF4T0FaRXhPRHVMZzRtd05wTWpJeWJxZllSSTBhQXlRUk5YaEdvd25idHB6Q3VUTUo2Tlc3RmZvKytUQlVEcTl0dkRzZWUrd3hBTURGaXhkeDZkSWxMRm15QkVCRmFNekl5RUJXVmhhU2s1TWhsOHV4Yjk4KzdObXpCenFkRGs1T1RnZ09Ea2FyVnEzUXFsVXJBQkNidW9PRGd5MENKRkFSMExwMzczNUxBMkh1SmlGNHVycTZBZ0F1WGJxRUgzLzgwV2FBMUdxMTk3eDhSQTFGd3p5REVoRlZzbnY3T1Z6NEl3bWp4blJGKzQ0aGppN09YVmRVVklTMWE5ZGk2TkNoWXA5R2c4RWdEbllKQ0FpQWg0Y0h5c3ZMTVdIQ0JBUUhCOFBiMnh1SmlZa0lEdzhYOS9Qb280OGlMQ3dNWGw1ZVZxOHhaTWdRbEphVzRzS0ZDMUFvRkpCSUpNak96Z1lBWEwxNkZVREZLR3lWU29YSXlNZ2F5MXZUbkpEMjNsRW1LeXNMQU1RUjU4T0hENjkyZmt0aEZEWVIyWThCa29nYXRGTW5iK0xrOFJzWS9uem5SaEVlcjErL2pyVnIxMEt2MXlNd01CQkhqeDVGWVdFaDJyUnBnM256NWlFa0pBUXFsUXJSMGRIWXNtVUwycmR2RDdsY2prMmJObUgvL3YxNDdybm5MS2ErcVRxb3ByS01qQXdzWGJyVTZ2bUZDeGVLUDdkdTNScHo1ODZ0c2N4NnZSN2J0bTNEdG0zYnJKYnBkTG9hdHhYQ3A4bGtnbFFxUld4c0xKeWRuZEcwYWRNYXR5T2kyOE1BU1VRTmxzbG93dDdkNXhIVk9SU2R1NFRYdmtFRGNQNzhlYVNtcGdJQVB2dnNNNmpWYWpScDBnVHQycld6cUFtTWpJeUUwV2pFNWN1WGtaaVlpT2pvYUxScjF3NjlldldxODJzMWI5NGNuMy8rT1pSS0phUlNLYUtqbzdGNzkyNzg5Ny8vQlZEM2UxSXZYcnk0MnZWczFYNVdKZ1JNblU0SHVWeU9QLzc0QTIzYnR1WFVQRVIzR1FNa0VUVlkrZmtsTUJoTTZEK29yYU9MY3MvMDZORURZV0ZoYU42OE9YeDhmS3FkemlZOFBCeWVucDVZczJZTmlvcUswTFZyVjB5YU5NbXU2VzhVQ29YWVZBejhQZkpaclZiYlZlYUFnQUM3MXE5c3hJZ1JHRFJvRUZRcUZZNGRPd2FOUm9PZVBYdmU4djZJcUc0WUlJbW9RVEtielNndTB1S1JydUZvMHFUK2pMUysyd0lDQXNSQVpqYWJrWnljakpzM2IrTDY5ZXNZTjI2Y0dCREx5c3JRcEVrVEpDUWtvRjI3ZHBneVpjcDlVV3RYdGFiU3c4TURIaDRlS0NzcncvZmZmNC9nNEdDMGJkc1dPcDBPQnc0Y2dGS3ByRFlVY3hRMjBhMWpnQ1NpQnFtOFRBK1R5WVNIMnpaM2RGSHVHYTFXaTIzYnRpRTdPeHRaV1ZsSVQwK0hUcWVEV3EyMkdCd1RHeHVMLy96blB5Z3NMSVN2cnkvaTR1SlFXRmdJRHc4UG5EcDFDbWxwYVhqaWlTZmc0dUp5VjhwcE1wbFFVbElpemh0WkY4TG9hbHROM1VhakVTdFhya1IrZmo2bVRwMEtpVVFDclZhTDc3Ly9YbXhldHhXT2hWSFlaclA1dmdqUFJQVUpBeVFSTlVobFpYcElKRUJZdUcvdEt6Y1FLcFVLZVhsNXVITGxDdHEyYllzbm5uZ0NMVnUyRkdza2s1T1RzWHYzYnB3OGVSS0JnWUg0NElNUElKZkxNWGZ1WEN4WnNnVGp4NC9IenovL2pLdFhyNko3OSs0V0FWSUlia0xZMG1xMWtNbGtrTWxrMVlZdnM5a01vOUVvanNZV0dJMUdIRHQyRE1lT0hiUDdHSTFHbzhYajB0SlNyRnk1RWhjdVhNQ0lFU1BFS1lqVWFqVysrZWFiR3ZjbGpNSTJHQXhRS0JSMmw0V29NV09BSktJR3lXQTBRU2FYUVNhVDFyNXlBekp1M0RnNE96dGJOZHNlTzNZTXExZXZobFFxUmYvKy9URnk1RWl4eitMTW1UT3hkT2xTekpzM0R3RFFwMDhmaTc2TndOL0J6V2cwUWk2WFk4V0tGVGgvL3J6Tk1sUytGellBZE96WUVXKy8vYmI0V0svWFkvanc0Umc2ZEdpZGo2dWdvQUNUSjArMnVEV2kyV3pHc21YTEVCTVRnMzc5K21ISWtDRjEzaDlRRWJoZFhGd1lJSWx1Z2NSczd5UmJSRVQzZ1htenRzTnNNbVBCa21HT0xrcWRYVHovQjlxMDcxRDdpcmRveDQ0ZDZOeTVNNW8xYTJhMUxETXpVMnp5SFR0MnJOVXRCRGR2M295OWUvZGkvZnIxY0hGeFFVRkJBVXdtRStSeWVhMDFrQktKeEdMQzhZS0NBamc3Tzl0MW0wS3oyWXpDd2tLcjdUUWFEWTRlUFNyZWo5dFI3dlpuUjFRZlNDcDkyUmtnaWFoQm12dnYvd0VBRml4bWdLUzdqNThkTlFhVkEyVGphdHNoSXFySHBGSnBqWGRsb2ZwSm1NU2NxREhoYnp3UlVUMmhVQ2locitYT0sxVC82SFU2S0JSS1J4ZUQ2SjVpZ0NRaXFpZGMzZHhRWEZ6azZHS1FuWXFMaStEcTV1Ym9ZaERkVXd5UVJFVDFoSWVuQi9KeWN4MWRETEpUWGs0dVBEdzlhbCtScUFGaGdDUWlxaWZjMU82UXlXVEl6Y2wyZEZHb2puSnpzaUdUeStDbWRuZDBVWWp1S1FaSUlxSjZwRmx3Q0RMVDA2SFJGRHU2S0ZRTFRYRXhNdFBUMFN3NHhORkZJYnJuR0NDSmlPb1JsVXFGa05Bd0pNWEhzeWF5SHN2TnlVWlNRanhDUXNQc21zK1NxS0hnbldpSWlPb1pWemMzaEVlMlJFcFNJbkp6Y3VEbDdRMjEyaDJLLzd1dk05MTdKcE1KZXAwT3hjVkZ5TXZOaFV3bVEzaGtTNFpIYXJRWUlJbUk2aUdWU29Yd2lFaG9pb3RRa0YrQTNPd2M2UFU2emhQcElGS3BGQXFGRXE1dWJnZ01DbUtmUjJyMEdDQ0ppT294TjdVN3d3b1IxVHRzQ3lFaUlpSWl1ekJBRWhFUkVaRmRHQ0NKaUlpSXlDNE1rRVJFUkVSa0Z3WklJaUlpSXJJTEF5UVJFUkVSMllVQmtvaUlpSWpzd2dCSlJFUkVSSFpoZ0NRaUlpSWl1ekJBRWhFUkVaRmRHQ0NKaUlpSXlDNE1rRVJFUkVSa0Z3WklJaUlpSXJJTEF5UVJFUkVSMllVQmtvaUlpSWpzd2dCSlJFUkVSSFpoZ0NRaUlpSWl1ekJBRWhFUkVaRmRHQ0NKaUlpSXlDNE1rRVJFUkVSa0Z3WklJaUlpSXJJTEF5UVJFUkVSMllVQmtvaUlpSWpzSW5kMEFlNms3S3dzcEtXbUlDODNGK1hsWlRBWURJNHVFdEY5UVM2WHc4bkpHVjdlM2dnTWFnWmZQejlIRjRtSWlPcXhCaEVnU3pRYVhEai9Cd3g2SFlKRFFoSCtRQVNjWFp3aGt6V0l3eU82NjR4R0E4cEt5NUNkbFlXcmx5OUNybENpWGZzT2NIVnpjM1RSaUlpb0hycnZFMVplYmc3T25qNkZ5RmF0MFNJMHpOSEZJYm92eVdSeXVLblZjRk9yRVJvZWpvVDRPQncvZGdSUm5SK0JsN2VQbzR0SFJFVDF6SDNkQjdKRW84SFowNmZRb1ZObmhrZWlPNmhGYUJnNmRPcU1zNmRQb1VTamNYUnhpSWlvbnJtdkErU0Y4Mzhnc2xWcitQajRPcm9vUkEyT2o0OHZJbHUxeG9YemZ6aTZLRVJFVk0vY3R3RXlPeXNMQnIyT05ZOUVkMUdMMERBWTlEcGtaMlU1dWloRVJGU1AzTGQ5SU5OU1V4QWNFdXJvWWhBMWVNMURXaUF0TFlVanN4MUVVMXlFZ3Z3Q2xHZzAwT3QxTUpsTWppNVNveVNWU3FGUUtPSHE1Z1lQVHcrNHFkMGRYU1FpaDdwdkEyUmViaTdDSDRod2RER0lHancvUDM4a3hzYzd1aGlOamxhclJVcFNJb3hHSTd5OHZlSHI1d2VGVWdtcDlMNXRPTHF2bVV3bTZIVTZGQmNYSVMwMUZUSlpCcG9GaDBDbFVqbTZhRVFPY2Q4R3lQTHlNamk3T0R1NkdFUU5uck9MTThyTHl4eGRqRWFsUktOQllud2MvQU1DNE0wKzN2V0NWQ3FGeXNrSktpY24rUGo2SVRjbkd6ZGovMEpJYUJpbnU2Skc2YjY5bERVWURKem5rZWdla01ua25KVC9IdEpxdFVpTWowTndhQ2pEWXozbTdlT0w0TkJRSk1iSFFhdlZPcm80UlBmY2ZSc2dpWWdhb3BTa1JQZ0hCTUROVGUzb29sQXQzTnpVOEE4SVFFcFNvcU9MUW5UUE1VQVNFZFVUbXVJaUdJMUcxanplUjd4OWZHRTBHcUVwTG5KMFVZanVLUVpJSXFKNm9pQy9BRjdlM280dUJ0bkp5OXNiQmZrRmppNEcwVDNGQUVsRVZFK1VhRFJRYzNxWSs0NWE3YzQ3TmxHand3QkpSRlJQNlBVNktKUktSeGVEN0tSUUtxSFg2eHhkREtKN2lnR1NpS2llTUpsTW5PZnhQaVNWU2puQk96VTZQRk1SRVJFUmtWMFlJSW1JaUlqSUxneVFSRVJFUkdRWEJrZ2lJaUlpc2dzREpCRVJFUkhaaFFHUzdwcjdZVlNpaG5PM0VSRVIyWTBCOHY4a0pDU2dwS1RFNXJJTEZ5N2d6ei8vdER0c2pCbzFDa3VXTEtseG5lKy8veDR6WnN4QWFXbXBYZnUrRzI3ZXZJazMzM3dUZS9mdXZTUDdlL0hGRi9IbW0yL2UxajdNWmpOKy9mVlgvUFRUVCtKeitmbjVTRWxKcWZPLy9QejhhdmUvY2VOR3ZQcnFxOURwN284NTNPNzBaMFFOVTN4OFBLNWR1M2JIOTF0Y1hBeXoyWHpIOTN1bkdZM0crNktjUlBjenVhTUxVRitzVzdjT2NYRngrUERERHhFV0ZtYXhiTisrZmZqOTk5K3hkT2xTaElhRzRzaVJJK2pSb3dlY25KeHEzS2ZKWklKRUlyRjRycXlzREtXbHBmRCt2OXVWNWVmbkl6WTJGZ3FGb3NaOWJkaXdBYnQzNzc2Rkk2dlFwMDhmdlBIR0c3V1dOejQrSGlVbEpkRHBkTWpOellWU3FheHhYanFwVklvbVRacFlQVzh3R0ZCU1VnSlBUODliTGpNQVNDUVM3Tm16QjVtWm1lalRwdzlrTWhrMmJkcUVRNGNPMVhrZlR6enhCQ1pQbm14ejJmWHIxeEVTRWdKbGxjbWJodzhmWG1Pb2ZPKzk5OUNoUXdlTDUrNjN6NGdhcnBVclYwSXVsNHNYc0pzM2I3YnJvbVBEaGcwMnoyK2JObTFDYkd3c1B2bmtFL0hjWmphYmE3eTRkbkZ4Z1V3bXMzanVkaTZZRlFwRmplZkwxTlJVekpneEE4ODg4d3lHRFJ0Mnk2OURSRFZqZ0VURjFmcmx5NWZ4NUpOUFdvVkhBR0lJQ2dnSVFHSmlJbGF2WG8yelo4L2kzLy8rdDFWQXJFd21rMW1kT0M5ZHVvUVBQL3dRTTJmT1JMZHUzU0NYVjN3RXd2L1ZFWmEvL1BMTHRRYlhxbGF2WG0zemhQdnh4eC9EeWNrSnI3LytPZ0NJSVVvcWxTSXBLUWx2di8xMnJmdjI5UFRFbDE5K2FmVzhVT3ZYckZtek90ZnVtVXdtNlBWNk9EazVXWlMzZCsvZVdMOStQUzVkdW9SMjdkcEJwVklCZ0JqVzl1L2ZqOVdyVjJQMzd0MjRmUGt5NXN5Wmd6VnIxaUFnSUFDREJ3KzJPdmFFaEFTb1ZDcm9kRG9rSlNXaGQrL2V5TW5KZ2RGb2hGNnZoNnVySzVSS0pVYU9ISWx1M2JwWmJKdVJrWUg1OCtlTFphanNmdnVNcU9GcTM3NDlvcU9qa1plWEJ5OHZML0YzYTlteVpRQ0E2ZE9uWStiTW1mRHo4N1A0K2RDaFE5aS9mNy9WQlpYZ3hvMGJpSXlNdERqdmxaZVhZOEtFQ2RXV1plSENoVmJuMWRkZWUrMld1N2k4OE1JTEdEaHdZTFhMaFdOVktCU0lqNC9IelpzM0laZkxhN3pJNnRxMWE2M25ZQ0t5eEc4TUtwcVJ2YjI5TVhic1dKdkxoYkNnVkNvUkVSR0JNV1BHWVAvKy9VaExTME5RVUZDMSs1VklKSkJJSkdLQVVpcVZTRXBLQWdCRVJFUUFnSGhTcXltSUFuK0hrejU5K3NEZDNiNTc1VllYVHM2ZE93ZTFXaTArRnNLdVZDcUZ2NzgvM243N2JiRjJ5MWI1Rmk1Y2FETklBVUJPVGc0QTRJY2Zmc0FQUC94Z1Yzay8rT0FEdEczYlZuemN1WE5uckYrL0hoY3VYRUM3ZHUxcWZhK3FxcnIrRzIrOElSNnIyV3pHNXMyYjhlMjMzOEpvTk1Ka011SFpaNStGMld4R2t5Wk5FQkFRWUxHdDBXaTB1VS9nL3Z1TXFPRnEwNllOb3FPamNlblNKZlRxMVV2OHZRa01EQlRYOGZQekV4OExQd3UvYTVYRDFvMGJONkJVS2xGZVhvNzA5SFQwNmRNSHFhbXA0Z1dYY0E1Y3UzWXRuSjJkTGNveGV2VG9haSsydW5mdmJsY05ZWEZ4TWQ1NTV4MnI3OG5hdFd0eCtQQmhzZFpVK0I3S1pESmN1WElGVzdac3FUWkFHZ3dHR0kxR1BQTElJd3lRUkhacTlOK1lhOWV1NGNTSkUzam5uWGZnNU9TRUV5ZE80TXFWS3hneVpBaDhmWDB0MWhYNjFBd2VQQmk5ZXZYQ2pSczNjT1hLRmZUcjEwOWNwNmlvQ0tkUG4wYW5UcDBBVkFTT3laTW5ZOGlRSVJnMGFCRGk0K09oVkNvUkZ4ZUh1TGc0cEtlbkF3QisvLzEzQUJXMWNEcWREbEZSVVhCemN4UDNlN3UzTjdPMXZVd21zemhwQ3V0SXBWS28xV3IwN05tejF2MVdyV0VWWkdSa0FBQ2VmZlpaQkFjSDE2bU1ScU1SV3EzVzRvOGNBUGo3KytPamp6N0NQLzd4RHdCL0Q4NFJham1GNXJEOC9Id1VGeGNEcVBnY2hGckFxbjJodG0vZkRybGNqazgvL1JTNXVibFl1SENodU14a01zRnNObVBQbmoxWXVYSWxWcTVjYWJPc3RtcFY3N2ZQaUJxdXlNaEl1TGk0M0pGOXZmLysrMUFvRkdLWG5GMjdkbUhuenAxaWdQejQ0NDhCUUx3QXF3dTVYQTZsVWdrUER3Kzd5MVAxOTFtb0xSWCtGNVpMSkJJTUdEQUFnd1lOcW5aZnExYXR3dkhqeDZ1dGNTV2k2alhxQUZsV1ZvWVZLMVlnS2lvS1hidDJCUURzMkxFRGlZbUorT2MvL3lrR1NPR2t1R1BIRG1SbVppSWhJUUhKeWNrd21Venc5dmEyQ0pEeDhmSDQ0b3N2c0hqeFlnQVZKN09JaUFqczI3Y1Bnd1lOd28wYk42RFQ2YkJvMFNLTHNsUjkvTmxubjlVYUlGTlRVNnZ0S0I0VUZHUlJJMlZyZTZHR1ZDRHM2MDRFRGlFWVAvYllZelhXMHRiVmd3OCtLUDZzMVdvQndLckd1UExqbVRObmlqOVhEWHR5dVJ3bWt3bC8vUEVIUm8wYVpiRk1lSjgrKyt5ekdqdmgrL2o0V0QxM3YzMUcxSEE1T1RsWm5FT0Vtdk8wdERSeG5heXNMS3VmaFF1d3l2ZmsvdWFiYndBQW4zLytPYlJhcmNWM0M0QTQrSERTcEVrMnl5SjhYeXV6dHhXaHBtMHJYMVJWWGw1ZHJYeGQ5a2xFdFd1MEFiSzh2QndMRml4QVptWW14bzhmajVpWUdGeS9maDNYcjEvSHBFbVRjUDM2ZFd6WnNnWEp5Y25peWZYSWtTTjQ0SUVIMEt0WEw3Um8wUUpCUVVGV3RaUkN6VnZsME5TclZ5OHNXclFJdi8zMkd6SXlNdkQ4ODgvamlTZWVBQUI4OTkxMzJMZHZuOWhIeldReVFhdlYyZ3dvVmIzMTFsczJUODdDZnUzdGh5Y0U1VHZSbEpPZW5nNkpSQUovZi85YjNrZEdSZ2JPbmowTHVWd09tVXlHa0pBUVJFWkdZc0tFQ1JnL2ZyeTQzdGRmZncyejJZd1hYM3pSWnJDeWRUd1hMMTZFUnFOQjE2NWRNV3JVS0F3YU5BaWpSbzFDZG5ZMjlIbzk1SEo1alg5VTh2UHpZVGFicldwTHE2clBuNUc5WnJ5eDVaNi81cDF3UDVWNzlOaVd0N1c5MEk5WUxwZGJYSURxOVhvQUZYMGZCVXVYTHJYNU0xQngwVlg1ZDFPdjErUFBQLy9FeXkrL2JMR2VWcXVGVXFuRXVuWHJxdjIrMlBvZHI3cnVtREZqWURBWWJHNC9mZnAwaXdGcnRZVTk0VHZDaXl5aXU2dlJCa2lGUW9IczdHd1lqVVlzV0xBQVNxVVNPcDBPRHozMEVQcjM3NCtkTzNkQ0pwT2hmLy8rS0Nnb3dBOC8vSUJaczJZaE5EVFVhbC81K2ZuaVFKdms1R1M0dTd0YjlJSHIwS0VEaGd3Wmdnc1hMZ0FBZXZic0thNHY5QSs2bGRIS0twVUsvZnIxd3l1dnZDSSt0Mzc5ZXV6WnMrZVcrcjBKVGNIQ0NWOW9vbElvRkhaZHpRTVZOVzgrUGo2M0ZYUlNVbEx3MVZkZlFhbFVRcVBSWVBqdzRZaU1qSVJLcFJLUDcvVHAwemh3NEFDYU5XdUc0dUxpT3RkMkhqeDRFRzNidGtXVEprMWdOcHZGWS92bW0yOXc1TWlST3UyamZmdjJtRDkvZm8zcjFPZlB5RjV5K2YwMTY1ZkJZSUpFS3NIai9SNnNmZVY2UTM5Yld5Y25KMlBXckZuaTQrZWZmeDVQUGZVVVJvMGFKZGEySnlRa1lPblNwUmczYmh5aW9xTHF0Tit6WjgvQ2FEUWlLaW9LTDcvOE1wNTc3ams4OGNRVFdMdDJMVTZlUEZucjlpRWhJVmF0TEpVcGxVbzgvdmpqZVB6eHg4WG40dVBqc1dyVktydS9KMElRWmJNMDBkM1ZhQU9rVENiRHhJa1Q0ZXpzakpDUUVKdytmUnFyVnEzQ2xDbFRBQUJEaHc3RjBLRkRBVlQwVC96aGh4OVFVbEtDMHRKU0pDUWtJQ0VoQVRFeE1iaDgrVEw4L1B6RUp1dWJOMjhpSkNURTRyV1VTaVZHang2TlYxNTVCUzFidHF5MTFxcXVhdXB6ZHl0QlFwaUtRK2dJZitQR0Rhdm1xcm93bTgxSVRVMUZlWGs1Qmc4ZWJOZTJMVnUyRkd0RG9xS2lzRzNiTmdBVi9VNnIva0U0Zi80OFB2NzRZNWpOWmlRbko5dWNxc2ZWMVJYcjE2KzM2QTkyK2ZKbG5EaHhRaHpaTEpWS3hkcUtpUk1uWXZMa3lSZzVjaVFtVFpxRVBuMzZXT3p2bDE5K3dlclZxL0g5OTkrTHpZSTFxYStmMGExWXRIemtQWG1kTzJYdXYvOEhBT2ozNU1NT0xrbmRYVHoveDIxdEh4Z1lpQlVyVmtDcFZHTGl4SWxXMzVueThuTDg1ei8vZ1ZRcWhhK3ZyMFdUdHNERnhjV3FiK0xCZ3dmUm9VTUg4ZmRPdURCODl0bG44ZGhqajJIaHdvVllzR0NCeFNDYXJLd3NMRjI2Rk5PbVRiTnFxYWxLNk5OYitkd29OS2ZiK3owUm10U0Y0QmtURTRPNHVEaWJBMm1FRmlNaXNsK2pEWkFBMExGalJ3QVZmNVMvK3VvcmpCZ3hRanlCYVRRYVpHUmtJQ1VsQlgvOFVYRlMvK2lqajhTVGs0dUxDMEpEUTlHdFd6ZTBiUGwzczVOZXI3ZDRMREFZREJnMmJCajgvUHp1OW1IZE1tRlFpakJub0srdkw4YVBIeS9XYmxVOStWWTN3QVFBbGk5ZmJ0ZHJsNVNVWU9iTW1UV0c2OG9qcDMvNGRpTzVIUUFBSUFCSlJFRlU0UWQ4K2VXWFVLdlZlUGZkZDhWNU5RVkhqaHpCOTk5L2oyZWVlY1pxTU1HMzMzNExzOW1NRlN0V1lNV0tGZUp6MzM3N0xieTl2YkZod3dZQUZiOER1Ym01RnRzS0FjNVJJNXZ2NUdkRURZOUNvYkRvL2xLNUdWZXIxZUtUVHo1QlNrb0tBRmpVVkZiMit1dXY0OUZISHhVZi8vampqL2pycjc4d2V2Um9wS1dsUVNLUm9LaW9DR2xwYVhCeWNoSy9zd0VCQVRZSDd2ajcrNk41OCtaMzVQanFRZ2llcnE2dUFDcW1UdnZ4eHg5dEJzanF1cGNRVWUwYWRZQVVyRnExQ3U3dTduajIyV2ZGNS9idTNZc3RXN1pBSnBPaGVmUG1VQ3FWQ0F3TXhJZ1JJOUNpUlF0NGVIZ2dQVDNkcXJaUm1HZXRLaWNuSnd3YU5BZ3hNVEhZdW5XcjJNY3VOallXUU1YSVlPRHZPeWlNSEZsN2JVOU5JeDRyTjh2V3RFN2xBUjdKeWNrQUlFNWQ0K1hsaGFlZmZycmE3YXNMSnhLSkJNMmFOYXZ4dGF0S1RFd0VnRnI3VEpyTlppeGN1QkJuejU1RlVGQVE1czJiaCt2WHIrUFFvVU40L2ZYWG9WUXFVVmhZaUFNSERxQnAwNlkyeS8vQ0N5L0FaRExCeThzTFFNV0FtejU5K3FCLy8vNFdUZTdmZlBPTk9JRGdWdFhYejRnYWw2eXNMS3hZc1FMeDhmRVlPM1lzZXZUb1lWRmJlTzdjT1N4ZnZoemg0ZUhvMHFXTHhiYkMxR09WdncvYnRtM0R0bTNiMEw1OWU3ejY2cXNBWU5GTncxNjFmVS9zSWZSWkYybzlodzhmanVIRGg5dGNWeGlGVFVUMmE5UUJzcUNnQUY5OTlSVk9uRGlCS1ZPbTROcTFheWdvS0lCZXIwZVBIajNRcmwwN1BQREFBNURMNVpnelp3Nk1SaU02ZCs0TW9HTGV2bDkrK1FWang0NnRjVkxicXVMaTRyQmp4dzd4YWxpNEF0NjVjeWVBaWdDcFVDanFGQ0IxT2gzMjdObURQWHYyV0MzVDYvVzE5Z0V5bVV3V0orNUxseTdCejgvdnR1OGVjeXZ5OHZJQTJCN2RYSmxFSXNFTEw3d0FOemMzVEpnd0FjN096bGkvZmozT25EbUQ5UFIwekp3NUU4dVhMNGRHbzhHc1diTnN2Z2NQUGZTUXhXT3BWQXAzZDNlcjBEdDE2bFQwN2R2WDRybWZmdnJKcmxEV2tENGp1bjl0M2JvVmlZbUplUFhWVnhFU0VvSi8vZXRmZU82NTUvRFlZNDhoT3pzYjY5YXRnMEtod0t1dnZtcDFVVE5od2dSTW1EQkJyTDE3NVpWWDhNSUxMNkIzNzk0QUtzNmpRRVdyUStWUW1wbVppZmZmZjc5TzVkUHI5V0lvcmFxMkd4RUkzdzloNUhoc2JDeWNuWjNSdEduVE9yMDJFZDJhUmgwZy8venpUL3p5eXk4QUtxNUVnWXFBMHFWTEYvSGtLR2pac3FYWUQzTHYzcjNZdjM4L0lpSWkwTDU5ZTd0ZWM4Q0FBUmd3WUlENGVPUEdqZGkxYXhjMmJkcGtkL2xydXVLdnk1eUVXcTBXWldWbEFDb0d2ZHk4ZWJQR09kTnFVMVQwLzl1Nzk3Z295N3gvNEorWllRN0FEQXdNaUNDQ0p6eWdJbUZwYW14V1pwbWFsZG42MFA2MkxKOHlUMldwYVk5cm10YVd0cHR0cHJzZExPbGdtWWR3czlRVURMV3kwcElPS2lxSWdvUU1CK2ZFbk9mM0J6djNNZ0xDN1lFWmg4Lzc5ZktsTTNQUFBkOXhFRDljOTNWOUw0T3c2S1UxQ3pxOGZSOW56cHdwTkI1dmFhNFVBSFRyMWcyelpzMFNiaTlZc0FBYk4yN0VlKys5aHlsVHBzRHRkbVBHakJubzA2ZVA2UGRRVVZFaC9QbmN1WE5DTzZLRzk0a1JhSjhSdFUvVHAwOUhTVWtKdW5idENvdkZnajU5K3VEdHQ5L0dzV1BIOE50dnY4Rm9OR0xLbENsTjlteTkwTmRwU1VuSlpka204OFVYWDJ4MnBORjdwYUE1M29CcHQ5c1JFaEtDZ3djUFlzQ0FBV3pOUTNTRnRlc0FtWjZlanJ2dnZodGR1M1pGZkh3OFltSmlvTlZxbS95R2VkMTExMkhqeG8xWXNHQUJpb3FLa0o2ZWp2Lzd2Ly96NjBxLzgwZkh4TnEwYVpQd1orOElhTU5Wa0dKWnJWYms1ZVZCcVZTMktrQjZXeGFKRFpEbnE2cXFna1FpRWVZOHpabzFxMVdyU3owZUQwcEtTdUIwT3ZIMTExL2pxNisrUW1scEtaNTQ0Z2tBbCtjU2RxQjlSdFErU2FWU29ZTkVXRmdZcGsrZmpzV0xGeU0vUHg4S2hRSlRwMDV0dEczbitUd2VEMHBMUytGeXVaQ1hsNGRQUC8wVUJvTUJyN3p5Q2dDMGFsdk41cHkvNDVNWTk5MTNIOGFNR1FPbFVvazllL2JBWkRLMXFzRStFVjJhZGgwZ0l5TWpHeldqdGxnc0tDd3NSRWhJaU0rbHp1VGtaS2hVS2hRVkZlRzY2NjVyY2t1dEswbnNQQ0F4enk4c0xNVE9uVHR4M1hYWENmL0piTnk0RVZhcnRjVitpQTExNk5EQkovQ0ljZjY4cFFzcExDekV0OTkraTdLeU1wU1VsQWlqaEVPSERzWGt5Wk1iTGFocHlPUHg0S09QUHNMeDQ4ZHg1TWdSWVZHTTIrM0dpQkVqa0pHUmdlVGtaS3hZc2FMRlM5amU5amtOejMwcDJ1SXpvdmJKWUREZzVNbVR3aWkydHc5cTc5NjlNWG55NUdZWHIzazhIcXhmdng3RnhjVTRmdnk0MEVaS0pwUGgzbnZ2UlhwNnV0Q040UHh1QjJmT25CSDZUdGJWMVVHbFVsMldyOVB6LzUxb3RWcG90VnJVMWRWaC9mcjFTRXBLd29BQkEyQzMyN0Y5KzNZb0ZJb1dkOHdpSXZIYWRZQXNLQ2hBWldVbEtpb3FVRlpXSm13dDZQRjRNR0hDQkNGQUZoY1hZL255NWJEYjdjTE9JTjdnNE4xWnhydk4zcFhpbmVkVFhsNE9nOEZ3MGM4L24xNnZ4NHN2dmdpbFV1bHp1WFhYcmwyb3FhbUJUQ2E3WUVQZTFtNWQxcEx5OG5Kb05Kb21SM1M5QzBkeWNuTFFzV05IOU92WEQ5dTJiWVBaYkVhSERoMHdkdXhZakJneEFsMjZkR254ZFNRU0NRb0tDbEJYVjRkUm8wYmgybXV2eFpJbFN6QnMyRENoYlpPWHpXWkRXVmtaOUhvOTlIbzlxcXFxOFBQUFB3T29iL2Rqc1ZpUW5aMHRIQi9zbnhGZFBieGZmM3YzN2tYZnZuMFJFaEtDRlN0V3dHcTFJalEwRk9ucDZSZytmRGo2OTc5d2l5T0pSQ0lzb2hrL2ZqejY5KytQWjU5OUZwbVptY2pNekFUdzM4NEFwYVdsc0Znc3FLcXFRbFZWRmNyS3lnRFU3OGR1TXBsOHB1bTQzVzZZemVZbTJ3ZzF4N3U2dXFrZnRGd3VGMWF1WEltYW1ocE1uejRkRW9rRU5wc042OWV2ditDVUd1OGM5TllzYUNNaVgrMDZRT2JtNWlJdkx3OFNpUVJkdW5UQndJRURrWnFhaWw2OWVrR24wOEZrTW1IanhvM0l5Y21CV3EzRzRzV0w4ZU9QUDJMVHBrMzQ4TU1Qa1pXVmhkemNYR3pkdWhVTEZ5NFUyZ0o1ZWZkVjlpb3RMWVZTcWZSWjZldjlCdWI5Smd6VXQveHhPQncrb3dMZW4vSXZ0dWRmVTdzOEZCVVZZZW5TcGFpdXJzYnMyYk45SnAydldyV3F4WE9PR3pldVZiMFFtNnRISXBIQTZYVGl0OTkrdzdGang1cHMwbjd3NEVFc1g3NGMwZEhSU0VoSXdMSmx5NUNRa0lDdVhidGl5SkFodVBiYWE2SFZhb1cyT2g2UFIyaXU3WjAvYURLWjRIUTZoVG1SaXhjdjlnbXFEVmM2YjkrK0hldlcxZTljOHVhYmJ3ckhLQlFLbndVKzk5eHpUNk5GTjhIMkdkSFZxYmk0R0srODhncWlvcUxnOFhnd1o4NGNwS1dsb1cvZnZ1alRwdyt1di81NlJFUkVDTitIUEI0UG5FNG5uRTZuejcrWnpwMDdRNlZTWWM2Y09UN25iN2l3YTlPbVRVSUhpVVdMRmtFbWswR24weUUyTmxab2RqOWh3Z1NrcHFiNkJEU1h5NFU5ZS9aZ3o1NDlvdC9mK1YvUEZvc0ZLMWV1eEU4Ly9ZVDc3cnNQdlh2M0JnQm9OSm9XcDZCNFYyRTduYzQydmFKRUZBemFkWUM4OTk1N2tacWFpc0dEQi90TUJMZlpiRmk5ZWpWMjc5NE5xOVdLakl3TXpKdzVFMUZSVWVqWHJ4OSsvLzEzZlB6eHgvanFxNjlRV1ZtSmpoMDdJajA5dmRINVhTNlhUeWlZTVdOR3M2TkI1MTlLMTJnMFBqK3hlOCtUazVNaituMk9HemV1MFVyRzA2ZFA0K21ubjRiZGJzZi8vdS8vNG9ZYmJoQjlYcWxVS215Ukp0YW5uMzdhNkp2N3FGR2pmRzZmT25VS3p6Ly9QQ0lqSS9IU1N5OGhOallXQlFVRjJMQmhBMzcrK1dmODhzc3ZQaUh2UXU2Ly8zNGhRSjQveXRud2MwcExTOE9lUFhzd2ZQaHdkTzdjR1FrSkNlallzU08wV2kwa0VnbTJiOStPVmF0V1ljU0lFWTNteWdiYlowUlhINFBCZ0JkZmZCRUtoUUxQUGZjY2REb2REaDA2aE04Kyt3dy8vL3d6RGh3NDBLb0ZlN0d4c2NMY3h2TzVYQzRoeEtXbnA4UGo4ZmhzN2VvZERTOHRMY1dCQXdlUWtwTFM2Qks1dytIQWhBa1RHbzM2WDBodGJTMm1UcDNxOC9YczhYanc4c3N2NDhpUkl4ZzVjaVR1dXV1dVZwOFBxTy9uR2hZV3hnQkpkQkhhZFlCTVRFeHNzbCtoVXFsRVRFd01JaUlpTUgzNmRPRlNEVkQvSC9MczJiT3hkdTFhL1B2Zi8wWklTQWhtenB6WjVDVkV1OTN1ODgzdTJXZWZiWEdGc3NmamdkdnRidlJUOXQxMzMzM1JpeWRlZi8xMVlZR0pWK2ZPbmZIMDAwK2pwcWJtb2hkNmVCZDFYSXhSbzBiaDY2Ky9Sa3hNREpLU2tqQjQ4R0NrcEtUNEhKT1VsSVQ1OCtjTEl4cEFmY0JMUzB0RFhWMGRUcDQ4aWZMeWNsUlhWOE5rTXNGcXRjTGhjQWdqdncxSEZodCtodWR6T0J4QytJdVBqOGZTcFVzdmVLejM5L09iaVFmYlowUlhuNGlJQ015Yk53OXl1VnlZQ3p4Z3dBQmhUbUJwYVNuT25qMkxjK2ZPd1dLeHdHNjNDNzFuRy83cTBhTkhrNHNKRzQ1V0F2VWRFYnAxNjlaa0xkNnJLMDIxNFZtNWNxVlB5NS9XaUl5TXhLcFZxM3llSjVGSThPU1RUeUkvUDkrbnUwVnJUWjQ4K1pMNlZ4SzFaeExQcGM3ODk1Ti9mN29KWSsrNjU0cWQzM3VaNWtKN09aODlleFloSVNFdHRwbWd3TFozNzE1MDZ0U3B5VXZvNXlzcUtzTGh3NGN4Y3VUSWRqVmljYVgvdlYwSjNxME1sN3g0cjU4cmFiMkNIdzhpN1pvTWY1ZHhRVWFqRVVxbHNzVU9GSGE3SFhxOUhqRXhNZTFpWCtxcjRiTWp1bFNTQnFOZjdYb0U4a0thMmhidWZJRzhMU0cxbnBoTHd4Y2FjU0c2VkZLcFZHaUlIYWcwR2sycmp2UHUzdFVlQlBwblJuUWw4Q3VlaUNoQXlPVUtPRnJZZVlVQ2o4TnVoMXdlL0tPc1JBMHhRQklSQllod3RScEdvL2dXVU9SZlJxTUI0V3ExdjhzZ2FsTU1rRVJFQVVJYnBVVjFWWlcveXlDUnF2VlYwRVpwL1YwR1VadGlnQ1FpQ2hCcVRRUmtNaG1xOUpYK0xvVmFxVXBmQ1ZtSURHcE5oTDlMSVdwVFYyMkFEQWtKZ2N2VnVQRXlFVjFlTHBmemd0MEk2UEpLVEVwR1JYazVUQ2FqdjB1aEZwaU1SbFNVbHlNeEtkbmZwUkMxdWFzMlFLcFVvYWl6MVBtN0RLS2dWMmVwZzBvbHJtY2ZYVHlsVW9ua3J0MXdxcmlZSTVFQnJFcGZpVk1uaTVIY3RWdWpuckJFN2NGVk82d1FyZE9oOHV4WnFGdlpVb0tJTHM3WnN4V0lqdEg1dTR4MkpWeXRSdmVldlZCNnFnUlZlajJpZFRwb05CR1EvMmNqQW1wN2JyY2JEcnNkUnFNQjFWVlZrTWxrNk42ekY4TWp0VnRYYllCTTZKU0kzMzRwUU5mdTNmMWRDbEZRTzFWeUVuMzdwZm03akhaSHFWU2llMHBQbUl3RzFOYlVvcXBTRDRmRDN1eDJxSFJsU2FWU3lPVUtoS3ZWU09qVWlYTWVxZDI3YWdOa2JJY09DSkVyY0xLNENGMjZzckV6MFpWd3NyZ0lDcmtDc1d5YTd6ZHFUUVREQ2hFRm5LdjZXa2o2TlJrb1BISVllczRUSXJyczlKV1ZLRHh5R0FPNFBSc1JFWjNucWc2UTRXbzFyaDAwR0FlLy93NG5pNHY4WFE1UjBEaFpYSVNEUDN5SGF3Y05ab05rSWlKcTVLcTloTzBWcll2QnNNd2I4ZE9QQjFGU1hJVE95VjNRb1VNY1FzTkNJWk5kOVcrUHFFMjRYRTdVV2Vwdzltd0ZUcGVjUkloY2dXR1pOekk4RWhGUms0SWlZWVdyMVJpVytRZFVuajJMTTJkS1VWSmNES3UxRGs0biswUVN0VVpJU0FoVXFsQkV4K2lRMmkrTmN4NkppT2lDZ2lKQWVzVjI2TUQvK0lpSWlJaXVzS3Q2RGlRUkVSRVJ0VDBHU0NJaUlpSVNoUUdTaUlpSWlFUmhnQ1FpSWlJaVVSZ2dpWWlJaUVnVUJrZ2lJaUlpRW9VQmtvaUlpSWhFWVlBa0lpSWlJbEVZSUltSWlJaElGQVpJSWlJaUloS0ZBWktJaUlpSVJHR0FKQ0lpSWlKUkdDQ0ppSWlJU0JRR1NDSWlJaUlTaFFHU2lJaUlpRVJoZ0NRaUlpSWlVUmdnaVlpSWlFZ1VCa2dpSWlJaUVvVUJrb2lJaUloRVlZQWtJaUlpSWxFWUlJbUlpSWhJRkFaSUlpSWlJaEtGQVpLSWlJaUlSR0dBSkNJaUlpSlJRdnhkQUJFUk5jOWtOS0MycGhabWt3a09oeDF1dDl2ZkpiVkxVcWtVY3JrQzRXbzF0RkZhcURVUi9pNkp5SzhZSUltSUFwRE5aa1BwcVJLNFhDNUU2M1NJN2RBQmNvVUNVaWt2SFBtRDIrMkd3MjZIMFdqQW1iSXl5R1MvSXpFcEdVcWwwdCtsRWZrRkF5UVJVWUF4bTB3b0tTNUNYSHc4ZERHeC9pNkhVRDhDcVZTcG9GU3BFQlBiQVZYNlNwd29QSXJrcnQwUXJsYjd1enlpTnNjZlpZbUlBb2pOWmtOSmNSR1N1blpsZUF4Z3VwaFlKSFh0aXBMaUl0aHNObitYUTlUbUdDQ0ppQUpJNmFrU3hNWEhRNjNXK0xzVWFvRmFyVUZjZkR4S1Q1WDR1eFNpTnNjQVNVUVVJRXhHQTF3dUYwY2VyeUs2bUZpNFhDNllqQVovbDBMVXBoZ2dpWWdDUkcxTkxhSjFPbitYUVNKRjYzU29yYW4xZHhsRWJZb0Jrb2dvUUpoTkptallIdWFxbzlGRXdHd3krYnNNb2piRkFFbEVGQ0FjRGp2a0NvVy95eUNSNUFvRkhBNjd2OHNnYWxNTWtFUkVBY0x0ZHJQUDQxVklLcFd5d1R1MU8veE9SVVJFUkVTaU1FQVNVVkNTeWFSd3V6MytMb09JS0NneFFCSlJVSkxKcEhBNmVWbVJpT2hLWUlBa29xQ2tVSVRBN1hLanR0Ymk3MUtJaUlJT0F5UVJCYVd3Y0NVQTRMZWZ5L3hjQ1JGUjhHR0FKS0tnRkJJaWhWSWx4M2Zmbm9DSFV5R0ppQzRyQmtnaUNscFIwZUVvSzYzQno0ZE8rYnVVZ1BEYmI3L2hyYmZlZ3NWeStTL3JsNVdWSVRjM0YyVmxIUEVsYWc4WUlJa29hSVdGS2RDelYwZmtiRG9JbzhIcTczTDg3dWpSbzhqTnpVVmVYbDZybjJPMVd1Rnl1Vm84N3F1dnZzSmJiNzJGVHovOTlGSktoTlZxeGZ6NTgvSEZGMSswNm5pSHd3R24wd25QZWNQTTFkWFZxSzZ1Um0xdGJhTmZsWldWc05sc2wxUW5VWHNYNHU4Q2lJaXVwRC9lZnoxZWZYazcxcjY5QjQ5T3V4bHloY3pmSmZuTmpUZmVpQTBiTmlBL1B4K2pSNDl1MVhQbXo1K1Bpb3FLUnZmLzR4Ly9RRXhNRElENkVKZWZuNC91M2J2ajRNR0RNQnFOMEdnMHJUcS93K0dBdytGQWFHZ29KQklKcEZJcFNrcEtXajFLdW43OWVtemR1dFhudnRHalIrUDA2ZE1vS0NobzlubXpaczFDU2tvS0FFQWlrU0F5TXJKVnIwZEU5UmdnaVNpb1JVU0c0c0hKbVZpOWNoZGVmL1ZMUERqNUQ5QkdoZm03ckN2R2FyWGlvWWNldXVBeHAwK2ZSbFpXVnBPUHhjVEU0Qi8vK0lkd2U4R0NCWkRKWkpESjZvUDM1czJic1czYk5wK0FtSmVYaDdxNk9zeWFOUXV2dnZvcXNyT3pNVzNhdEZiVnUzSGpSbXpac2dWcjFxeUJTcVVTWHNkc051UE1tVFBDY1I2UEIzYTdIWEZ4Y1FnTCsrL25OMjdjT0l3YU5Rb2hJU0dRU0NSWXZIZ3hrcE9Ua1pXVkJaUEpoRWNmZlJULyt0ZS9vTkZva0pXVmhaZGZmaGtWRlJWWXZueTVjSTc0K0hqODdXOS9hMVc5UkZTUEFaS0lnbDduWkIybVB6RVM3NzZWajc4dit3SzMzTm9Yd3pKVEVDSVB2dEZJcGJKKzlYbEdSa2F6SWJFNXMyZlBobHd1OTdsUHA5UDUzSFk0SEpETDVjTHIxTlhWWWRPbVRiamxsbHNRSFIyTkJ4NTRBQXNYTGtSS1NncEdqaHpaNG1zcS9yUDN0L2Q4RW9rRVFIMG8zYnQzcjNDYzIrMkcwK25FN05tejBhOWZQK0YrdVZ5T3ZYdjNZc0NBQVlpUGowZGRYUjIwV3Exd0hnQjQ5TkZIZlY0elBEd2NyNy8rT3FLaW92Q1h2L3dGUFh2MmJMRk9JdkxGQUVsRTdVSkNKeTBlZitvMmJOM3lFN1p1K1JGZjVSNUczN1JFcFBidGhOZ09HbWdpVkZBcTVTMmZLTUI1NXl1R2hvWWlJU0VCMWRYVjhIZzhQa0h3eUpFajJMdDNMNFlPSFlyVTFOUW1uKy9sY0Rpd2QrOWVwS1NrSURFeEVXYXpHVkZSVWNMajc3Ly9QcHhPSis2KysyNEFRTGR1M2ZESFAvNFJhOWV1UlUxTkRlNjk5MTVoVkxFcDNxQjMvdTkzM25tbmNNNExNUmdNeU03T3hyeDU4eEFmSHcrejJReTFXdTF6elBMbHl4RWVIbzZwVTZjQ0FMNzk5bHZzMjdjUDQ4YU5RMUZSVWFPQVNVUXRZNEFrb25ZalhLM0VmVm1Ea1RtOEYvYnNQb3FDbjA3ajIzM0gvVjJXNFA4OTJPdVN6K0YydXpGKy9IZ2tKU1VCQU5hc1dZTmZmLzBWOTl4ekQrNjQ0dzdJWkRKWXJWYms1dVlpTmpiV0owRE9tREZER0JIMHFxdXJ3NXR2dm9scDA2WUpBVEk2T2hvQThNVVhYeUF2THc4VEowNEVBQmlOUmdEQThPSEQ4ZnZ2dnlNbkp3Y0hEaHpBdUhIak1IVG9VSjlSd2N2Rk8xY3lKaVlHRG9jRGRyc2Q0ZUhoUHNmTW1UUEg1L2FmLy94bkpDUWtZTTJhTlVoUFQwZGlZdUpscjRzbzJERkFFbEc3RTUrZ3hYMVpnK0YyZTNENlZCVnFxczA0ZDY0T05xdkR6NVZkK3VzckZBcU1IejlldVAzSUk0OWcvZnIxV0xkdUhmTHo4ekZseWhSaHhYSmNYSnpQYzRjTUdkTG9mRzUzL1hhUUVSRVJBT3JuSnNiRnhXSG56cDE0NzczM2tKYVdocHljSEh6MDBVZU5uanRwMGlSa1oyZmoxMTkveGJCaHd3RFV6Nzg4ZlBndzVISTVaRElaVHA0OENRREl6OC8zZWU3Smt5Y2IzZWZ4ZU9CeXVlQjBPb1hMNDk0QUdSRVJBYlBaREFDTlJpQlhyMTRObDh1RjZkT25ZOU9tVGNqS3lrSnBhU25rY2prT0hUcUVmZnYyQ2ZVUlVlc3dRQkpSdXlXVlNwRGNKUWJKWFdMOFhRb0FvT0RIZzVmdFhQLzg1ei9SdDI5ZlpHWm1ZdkxreVJnMGFCRGVlZWNkcU5WcTZQVjZBQkJHRWkvRTZYUUNxTDhrRHRRSFNKMU9oNXR1dWdsNnZSNTMzbmtuQ2dzTGZSYmF1TjF1Mk8xMlpHUmtJQ1VsUlZpdERRREhqeC9IdSsrK0M2bFVLc3kzVkNxVmVPZWRkNFJqbEVvbENnb0tHcTJpOW5nOGNMdmQ4SGc4UW9Dc3E2c0RBSVNGaGFHOHZCeFNxUlFxbFFybDVlWDQ5ZGRmQVFDTEZpMFNWcEtieldaOC92bm4yTEZqQjU1NDRnbDgvLzMzZU9PTk45Q25UNTlXL1gwUVVUMEdTQ0tpSUdNMEdsRldWb2I4L0h6czJiTUhqenp5Q05MUzB2RHl5eTlESnBNSndVcE1nUFNHUGU4Y1NKbE1KbHk2VGs5UGIvYjVYYnAwOGJrOWJOZ3dEQmt5QkNxVnFzbmpIUTRIdG16WmdwU1VGS1NscFRWNWpIZFUxRnVQU3FXQ1ZDcUYyV3hHV0ZnWUpCSUpqaDQ5aXV6c2JLU25weU05UFIzOSsvZkhVMDg5aGZIanh5TTdPeHQzM25rbkJnMGFoTDU5K3lJbEpZWGhrVWdrTmhJbklnb3lHbzBHenozM0hCNTg4RUVVRmhiaXVlZWVnOHZsRWtZSWEycHFJSlBKZkJiRE5NY2JJS3VxcW5EbXpCbFlMQlo0UEI1VVYxY0RxTitCeG1LeG9LS2lBaSsrK0tJdzB2ZkxMNzlnM2JwMXduRmVDb1dpVVhqY3NtVUxEaHc0SU56ZXVIRWpqaHc1MHFnV3ZWNFB1OTBPcWZTLy8zV1p6V1pZclZaa1pXVmgwYUpGTUpsTXlNcktRdWZPbmJGcTFTck1uVHNYSTBlT1JIeDhQT2JQbncrMzI0MlJJMGRDTHBkaitmTGxNQnFOclZvdFRrUytPQUpKUkJSRUxCWUxGQW9GWkRJWlJvNGNpVDU5K3FDNnV0cG5KZlRaczJjUkd4dmJhSFcwMisyR3crR0FUQ1pEU0VqOWZ3L2VIVnRlZnZsbDRiajMzMzhmSjA2Y3dPVEprekYvL253ODlOQkR5TWpJUUVGQkFVNmRPb1c0dURnVUZCUWdOemUzeFpYVSsvZnZ4OGNmZjR4Ky9mb2hQVDFkZUYzdjcxNE9od092dlBJS25FNG41czJiSjRUZkcyNjR3V2VrMG1nMFl2SGl4VkNwVkRoOStqU3lzN05oTnB0eDd0dzVZUUZSang0OWtKR1JnUnR2dkJFR2d3RWRPM1lVKzlkTTFPNHhRQklSQlpISmt5ZTMrdGptK2tUT21ERkRXRkRUdlh0M2ZQamhoejZQUC83NDQ5Qm9OQWdORFVYLy92MVJVRkNBNGNPSEl6bzZHbVZsWmJqdXV1dFFXRmlJZ1FNSE5udXBHcWpmbTN2VnFsWG8zNzgvWnMrZTdSTm9HNjdZOW5nOFdMVnFGWXFMaTNIYmJiZjVqSnlxMVdxbzFXcDRQQjZjT1hOR3VCU3RWQ3JSczJkUDNIYmJiVkFvRkVoTlRZVldxMFZXVmhZaUl5TngxMTEzSVM4dkQ5bloyWGptbVdlUWtKRFE2cjgzSW1LQUpDSUtLbzg4OG9pd3dybXB0amsvL1BBRDl1M2JoNGtUSnpaYWhlMGRnZXpXclZ1ajV6bWRUcHc5ZXhhaG9hR29xNnNURnRVTUhEZ1FIMzMwRVR3ZUQ1S1RrM0htekJrNG5VNFVGeGZqOXR0dmI3Yk9YMzc1QlgvNzI5L1FvMGNQUFBua2s0MUdITDFjTGhmKytjOS9Zdi8rL2JqNTVwdng1ei8vMmVmeGlvb0tmUDMxMThqUHowZGNYSnp3dUhkWG02cXFLbno3N2JmbzI3Y3Z6cDQ5Q3dBNGVQQWdQdjc0WTN6KytlY1lPWElrNXo4U1hRUUdTQ0tpSURKOCtQQm1IenQ2OUNnT0hEaUE5UFIwakJneEFqazVPUmcxYWhTMFdtMlR4Ly8rKys5WXZYbzFhbXBxVUYxZERiZmJqVm16WnNGcXRRcmJDZmJ2M3g5dnZmVVdpb3FLMExkdlg1dzdkdzZGaFlWd3U5M05Mb0xadjM4L1ZxNWNpWjQ5ZTJMdTNMbU5lazk2MWRiVzRyWFhYc1BodzRjeGR1eFlUSnc0c2RISTVOS2xTMkV5bVhEVFRUZGg1TWlSc0ZxdEFPcEhJTDNiSk02ZVBSdnIxcTNEd1lQMXE5elQwOU9SazVPRC8vbWYvOEhZc1dOYi9Ec2xvc1lZSUltSWdwelZhc1hXclZ2eDZhZWZJakV4RWRPblQ4ZnUzYnZ4MldlZlljZU9IUmc5ZWpUR2pCblQ2SEp6WEZ3Y0pCSUpCZzRjaU42OWU2Tjc5KzdRYXJWd09wM0NzYkd4c2JqNTVwc1JFaEtDTys2NEF3Q3didDA2OU9yVnkyZlA2b1lHREJpQU8rKzhFK1BHaldzMlBCNDZkQWlmZi80NW5FNG5IbnZzTVdSbVpqWTZSaUtSNE9HSEgwYTNidDJFUHBYSGpoMkRUQ2JEMXExYnNXWExGano1NUpNd0dBekl6ODlIVmxZV1B2endRd3dmUGh3ZWp3ZmJ0bTFEcjE2OXVKVWgwVVZnZ0NRaUNrSWVqd2ZIamgzRE45OThnNzE3OThKc05tUG8wS0Y0K09HSEVSb2FpanZ1dUFOcGFXbllzR0VETm0vZWpKMDdkK0t1dSs3Q3JiZmVLc3hGbEVna1dMUm9rYzk1YTJ0ckFkVDNoYlJZTEpESlpIamdnUWNBMUM5MEFlcTNDaHd4WWdUc2RqdnNkbnVqeHQ0cWxRb1RKa3p3dWM5Z01PRFlzV1BZdjM4L2dQb2dPR2pRSUdSbFpTRTJOcmJaOTNsK0M2Rmp4NDRoTkRRVVk4YU1RZi8rL2VGd09MQml4UXJjZXV1dEdETm1ERDc4OEVOSUpCTE1tREVEeTVjdngrTEZpekY4K0hCTW5qejVpdXlVUXhTc0dDQ0ppSUxJaVJNbjhNa25uK0Q0OGVPd1dDeVFTQ1JJUzB2RDJMRmpHKzE3blppWWlDZWVlQUxIang5SGRuWTJzck96c1hQblRpeGR1clRSYU9TK2ZmdnczWGZmQ2ZNSW82S2lzR3paTWhRV0ZqWlp4N3AxNjdCdTNUb0E4Rm1FWXphYnNYbnpabGl0VmhpTlJsUlZWYUd5c2xMWUJqRW1KZ1pqeG96QlRUZmRoUGo0K0ZhLzczMzc5dUdOTjk2QXcrRkF2Mzc5SUpWS2NlellNYXhidHc0WkdSbDQ0SUVIaFA2UkhvOEhvYUdobUQ5L1B0NSsrMjNjY01NTkRJOUVJakZBRWhFRmtlN2R1eU01T1JrQWtKR1JnVUdEQmpVN3g5R3JSNDhlV0x4NE1iWnYzdzYzMjkza3ltbWRUb2VmZnZvSkNRa0pHRDE2TlByMDZZTnAwNmJCNC9GY01IeDU1eVI2aFllSHcyUXk0ZnZ2djRkT3AwT0hEaDJRbXBxS3BLUWtwS1NrTkZyWTAxb0RCdzdFd0lFRDBiTm5Ud3diTmd5VmxaWDQ3TFBQTUdqUUlFeVpNZ1ZTcVZUWXRjWnV0d09vYjQ0K1pjcVVpM285b3ZaTzR2RnVpa3BFRkVSV3Y3WUxBUERZakZ2OFhFbnJGZng0RUduWFpQaTdqQ1o1LzZ1NEhDTjFMWVhPeTZXNnV0cG5oYlhINDhHNWMrY1FGaGJXN056TGl4WElueDNSNVNKcDhBK1hJNUJFUkFGQ0twWEM3WGI3N0xRU0tDNW40R3VyeThYbnQrZVJTQ1F0anNaZWpFRDl6SWl1Skg3RkV4RUZDTGxjQWNkL0xxL1MxY05odDBNdXY3d2pta1NCamdHU2lDaEFoS3ZWTUJvTi9pNkRSRElhRFFnL2I2VTVVYkJqZ0NRaUNoRGFLQzJxcTZyOFhRYUpWSzJ2Z2picThsOGFKd3BrREpCRVJBRkNyWWxMOXlSOUFBQVJQMGxFUVZTbzMzNVBYK252VXFpVnF2U1ZrSVhJb05aRStMc1VvamJGQUVsRUZFQVNrNUpSVVY0T2s4bm83MUtvQlNhakVSWGw1VWhNU3ZaM0tVUnRqZ0dTaUNpQUtKVktKSGZ0aGxQRnhSeUpER0JWK2txY09sbU01Szdkb0ZRcS9WME9VWnRqR3g4aW9nQVRybGFqZTg5ZUtEMVZnaXE5SHRFNkhUU2FDTWdWQ3JhTDhSTzMydzJIM1E2ajBZRHFxaXJJWkRKMDc5bUw0WkhhTFFaSUlxSUFwRlFxMFQybEoweEdBMnByYWxGVnFZZkRZUmUyNDZPMkpaVktJWmNyRUs1V0k2RlRKODU1cEhhUEFaS0lLSUNwTlJFTUswUVVjSGd0aElpSWlJaEVZWUFrSWlJaUlsRVlJSW1JaUloSUZBWklJaUlpSWhLRkFaS0lpSWlJUkdHQUpDSWlJaUpSR0NDSmlJaUlTQlFHU0NJaUlpSVNoUUdTaUlpSWlFUmhnQ1FpSWlJaVVSZ2dpWWlJaUVnVUJrZ2lJaUlpRW9VQmtvaUlpSWhFWVlBa0lpSWlJbEVZSUltSWlJaElGQVpJSWlJaUloS0ZBWktJaUlpSVJHR0FKQ0lpSWlKUkdDQ0ppSWlJU0JRR1NDSWlJaUlTaFFHU2lJaUlpRVJoZ0NRaUlpSWlVUmdnaVlpSWlFZ1VCa2dpSWlJaUVvVUJrb2lJaUloRVlZQWtJaUlpSWxFWUlJbUlpSWhJRkFaSUlpSWlJaEtGQVpLSWlJaUlSQW54ZHdGRVJOUThrOUdBMnBwYW1FMG1PQngydU4xdWY1ZlVMa21sVXNqbENvU3IxZEJHYWFIV1JQaTdKQ0svWW9Ba0lncEFOcHNOcGFkSzRISzVFSzNUSWJaREI4Z1ZDa2lsdkhEa0QyNjNHdzY3SFVhakFXZkt5aUNUL1k3RXBHUW9sVXAvbDBia0Z3eVFSRVFCeG13eW9hUzRDSEh4OGRERnhQcTdIRUw5Q0tSU3BZSlNwVUpNYkFkVTZTdHhvdkFva3J0MlE3aGE3ZS95aU5vY2Y1UWxJZ29nTnBzTkpjVkZTT3JhbGVFeGdPbGlZcEhVdFN0S2lvdGdzOW44WFE1Um0yT0FKQ0lLSUtXblNoQVhIdysxV3VQdlVxZ0ZhclVHY2ZIeEtEMVY0dTlTaU5vY0F5UVJVWUF3R1Exd3VWd2NlYnlLNkdKaTRYSzVZRElhL0YwS1VadGlnQ1FpQ2hDMU5iV0kxdW44WFFhSkZLM1RvYmFtMXQ5bEVMVXBCa2dpb2dCaE5wbWdZWHVZcTQ1R0V3R3p5ZVR2TW9qYUZBTWtFVkdBY0Rqc2tDc1UvaTZEUkpJckZIQTQ3UDR1ZzZoTk1VQVNFUVVJdDl2TlBvOVhJYWxVeWdidjFPN3dPeFVSQlMrUHZ3c2dJZ3BPREpCRUZKVEN3NVdvcStObFJTS2lLNEVCa29pQ1VrUmtLQXlHT24rWFFVUVVsQmdnaVNnb2RZaUxnTmxrUTIydHhkK2xFQkVGSFFaSUlncEtxZjA2QVFCKys3bk16NVVRRVFVZkJrZ2lDa3BhYlJpU3U4VGd1MjlQd01QRk5FUkVseFVESkJFRnJWdHY3NGV5MGhyOGZPaVV2MHRwY3dhREFjZVBINGZOWnZPNTMrRndZTWVPSGZBMFNOWDUrZm5ZdjM4L3JGYnJSYjNXbVRObkxxbld0dUJ3T1B4ZEFsRlFZWUFrb3FEVnMzYzhldmJxaUp4TkIyRTBYRnc0dWxyOTlOTlBXTGh3SVF3RzN6MmFyVllyUHZqZ0F4UVVGQWozYmR5NEVXdlhyb1hGSW42KzZDdXZ2SUk1YytiZzlPblRsMXp6eFRDYnpUaHo1a3lqWHczRGNGbFpHYVpObTRadnZ2bkdMelVTQmFNUWZ4ZEFSSFNsU0NUQUgrKy9IcSsrdkIxcjM5NkRSNmZkRExsQzV1K3kya1JJU1AyM2Q0MUc0M08vUnFQQjlkZGZqME9IRG1IQWdBRTRmUGd3S2lzck1YdjJiRVJIUnpkNUxyZmJEYnU5NlpaSUF3Y094UGZmZjQvdDI3ZmpUMy82azNDL3grT0IwK21FeStXQ1Zxc0ZVQi8yUHZqZ0E4amxjc2hrNGo4SHQ5c05wOU9KUVlNR0lTMHREUUN3Yjk4K3ZQdnV1ejdIeVdReXZQYmFhMUNwVkFDQURSczJ3R2F6UWF2Vk5ob3REUXNMRStvam90WmpnQ1Npb0JZUkdZb0hKMmRpOWNwZGVQM1ZML0hnNUQ5QUd4WG03N0t1T08rT05vb0dXeVBxOVhwWUxCWU1IandZTVRFeE9IUG1ETFp1M1lyazVHUjA3TmhSQ0ZmeDhmR1FTQ1RDODQ0Y09ZS2xTNWRlOFBWeWMzT1JtNXZiNlA3bzZHaXNYTGtTQUdDejJiQm56eDRvRklvbUEyUmRYUjFjTGhmVWFuV1RyK0YydStGd09KQ1ltQ2dFU08vN1c3Tm1EVlFxRlpZc1dlSVRDZ3NLQ3JCLy8zNEF3SklsU3hxZDg1bG5ubUdBSkxvSURKQkVGUFE2Sitzdy9ZbVJlUGV0ZlB4OTJSZTQ1ZGErR0phWmdoQjU4STFHMm13MmhJU0VDQUd3NGRhSU8zYnN3TTZkTzRYUlNiUFpESVZDQWJsY2prV0xGc0hoY01CbXMrR2RkOTZCVXFrVW51Yzkvc2tubjhTQUFRTUFBQmFMQlZhckZWcXQxdWMxYW1wcVlEQVkwS2xUSjdqZGJyaGNMdUd4Nk9ob3ZQZmVlODNXdm1qUkloUVdGdUtOTjk1bzlmdHQrTm9XaXdXRmhZV1lPWE1tZ1BwNW9ONXpqUjQ5R3ZmZmY3OXcvL3o1ODlHdlh6LzA2OWV2MWE5RlJQL0ZBRWxFN1VKQ0p5MGVmK28yYk4zeUU3WnUrUkZmNVI1RzM3UkVwUGJ0aE5nT0dtZ2lWRkFxNWY0dTg1SXRXN1lNaHc4ZkZtNW5aV1VCQVA3NjE3OGlLeXRMdUEwQWp6enlDTzY3N3o2TUdERUNBTEJ6NTA2c1diUEdaOVFTK0c5SUN3a0pnVnhlLzNlMGJkczI1T1RrWU8zYXRjSjlBSkNYbDRlY25CeTgrKzY3Q0EwTnZUSnZzb25hQU9ENzc3OUhhR2dvcnJubUdsZ3NGaXhidGd3QThOaGpqK0dOTjk2QVZDckYyTEZqc1d6Wk1xalZha3lhTk9tSzEwY1VyQmdnaWFqZENGY3JjVi9XWUdRTzc0VTl1NCtpNEtmVCtIYmZjWCtYSmZoL0QvYTY1SE5NbWpRSkhvOEhIMzMwRVg3ODhVY3NXN1lNZHJzZEhUdDJiUFU1R2w2K1B0K0pFeWVnVUNpRVJTcVZsWlUrajN2dlAzdjJMRHdlRHh3T0I3cDE2M1lSNzBTODNidDNZOUNnUWNJSTdPREJnNUdSa1lGT25UcEJKcFBoOWRkZng0NGRPeEFaR1ltRkN4Y0tjeVNKU0R3R1NDSnFkK0lUdExndmF6RGNiZzlPbjZwQ1RiVVo1ODdWd1diMWQ2dVhTMy85eE1SRUFFQjVlYm5QYmFCK0RxVDM4cTdYbWpWcnNHYk5HcC83UEI2UFQ0aDB1OTMxMVRrY1dMUm9FUlFLaFhCcGV0R2lSYjd2NEQvdGNwNTc3am00WEM1NFBKNUc1Mit0OCt1NEVMMWVqNk5IandxanFUS1pER1BIamhWcU9ubnlKRHdlRDJReUdXcHFhckJod3daY2UrMjE2TktsQzZLaW9scjlPa1JVandHU2lOb3RxVlNDNUM0eFNPNFM0KzlTQUFBRlB4NjhMT2NwS3l2RDc3Ly9EcUEraEZrc0ZvU0hoOE5vTkFJQW5uLytlU2lWU2l4Y3VCQ2pSbzNDa0NGRGZKNS9mcGp5QmtpMVdpM01ZZHk4ZVRNKytlU1RSdk1WbTd0ZnJFT0hEdUg5OTkvSEUwODhnVTZkT3JWNGZFeE1ESzY1NWhwczJMQUJBd2NPaEVxbGdzbGt3cDQ5ZTdCdDJ6WllMQlpNbVRJRmd3WU53cnAxNjdCcjF5N3MzcjBiUVAxbDhMLys5YS9vM0xuekpkVk0xSjR3UUJJUkJabjgvSHpoenkrODhBTFVhalVlZi94eEdJMUdTQ1FTZE9uU0JSS0pCRktwRkpHUmtVaElTTGpnK1p4T0p3RDR6SFgwamtDZTN4YkhHMUxkYnJmUC9FU3hhbXRyVVY1ZWpzV0xGMlB1M0xubzBhTkhpOCtaUEhreW5ucnFLYXhmdng0dWx3dTdkdTJDVkNyRkgvN3dCMHlZTUFGV3F4Vno1ODdGdEduVE1HYk1HT3pjdVJNLy9QQURwRklwd3lPUlNBeVFSRVJCeEdheklTOHZEOTI3ZDhlSkV5ZWcxV3F4Yjk4K25EaHhBdFhWMVZBb0ZNTGxiYmZialhQbnpqVUtnVEV4TVQ0TGFieTcyVFJjRk9QdEN6bDc5dXdtNjdEYjdaYzB4L0RHRzIrRVNxWEN5cFVyOGNJTEwyRHUzTG5vM2J2M0JaOFRGUldGRVNOR1lQdjI3WGptbVdlZ1ZDcVJtcHFLMk5oWW1NMW0xTmJXUXEvWG82cXFDaHFOQnBtWm1SZzZkS2lvK2FGRVZJOEJrb2dvaU96Y3VSTjFkWFhJek16RWlSTW5NSEhpUk96ZnZ4K2ZmZllaT25mdURKdk41aFA2Tm03Y2lJMGJOL3FjNDRVWFhrQ1hMbDJFMjJhekdVRDlKZXpxNm1yWWJEYmNldXV0dVAzMjI1dXR3Mkt4UUNhVCtZeGFpalY0OEdESTVYS3NXTEVDTDczMEVwNSsrdWtXUTZST3A0UEQ0VUJFUkFTNmQrOHVyTVJ1eU51WEV2RHRVMGxFcmNjQVNVUVVKQ3dXQ3padjNveGh3NFloTWpJU1FIMmdtanAxS3RMVDA2RlNxWERQUGZmZ20yKyt3UWNmZkFDcjFZcUpFeWNLQzArQStyWS81NGUrbXBvYXlPVnlSRVJFNE0wMzM4VHUzYnVGZVpMZUhwRU5PUndPeE1URVlObXlaWmNVSUFFZ0l5TURNMmZPeElvVks3QnMyVEk4Ly96emlJK1BiM1NjM1c2SFhxL0hOOTk4QTdsY2p0RFFVRVJGUmVGZi8vb1gxR28xSkJJSnFxdXJNWDM2ZE15Wk13ZlhYSE9Oc0ZzT0VZbkh2YkNKaUlKRVdGZ1loZzRkaXJ2dnZ0dm4vdXV2djE2NG5Lelg2L0hPTys5Zy9Qanh6YzVSUEg4UlRVVkZCV0ppWWlDUlNQRHd3dy9qZ3c4K3dKUXBVeUNUeWJCZ3dRS3NYYnRXK0RWbXpCaElwVkk4OXRoamw2MU56clhYWG91SEhub0l0OTEyVzdPWG00MUdJK2JObTRmaTRtSk1talFKWldWbFdMUm9FVTZmUHQzc0NtdnZQTkNHKzJZVFVldHdCSktJS0loTW1qUUpFb2tFSjArZWJQU1l3V0RBU3krOWhNVEVSQXdmUGh6cjFxM3plYnpocmpFTm5UaHhRbGhrNHQyQ01ETXpFei84OEFQKy92ZS9ZOEdDQmVqVXFSUHk4dkt3ZWZObVBQREFBK2pUcDg5bGZWODMzM3p6QlIvWDZYUjQ1cGxua0pTVUJMVmFqUysrK0FJQW10eUNjZm55NVQ2M0l5TWpzWHIxNnN0WExGRTd3QUJKUkJSRW1odHRPM255SkY1OTlWVzQzVzdNbkRuVDV6aVh5NFhQUC84Y3g0NGRBMUEva3VtbDErdHgrdlRwSmdQY1k0ODloaVZMbHVEWlo1L0ZrQ0ZEa0p1Yml3a1RKdUMyMjI2N3pPK3FlZDRXUXdDUW1wb3EvSG5Zc0dIQ3RvdGU1ODZkdzVJbFMvRFFRdzhoTlRVVkhvK24wWGFMUk5RNkRKQkVSRUdzcnE0T24zenlDYjc4OGt0MDdOZ1I4K2JOZzFhckJWRGZJOUxiWE52cGRPTEVpUlBJeXNvU0hnZUFYYnQyUVNLUllPREFnWTNPYmJWYTBiOS9meFFYRjJQWHJsMklqbzVHeDQ0ZFlUQVlFQkVSSWJwV2J4Z1UwMEM4WVlCc0tDSWlvbEVOM2t2cU9wMnV4ZFpGUkhSaERKQkVSRUhJdXpna0pDUUVIbzhIQXdZTXdOU3BVMzFHRjEwdWx6RDZObTdjdUVaekordnE2dkRsbDEraWI5KytpSXFLd29FREIxQmJXNHZUcDAranNMQVFKU1VsQ0E4UHgrMjMzNDdPblR0ajM3NTllUDMxMStGMnU2SFZhaEVYRjRmbzZHam9kRHBNbkRpeHhiNlEzbHFjVG1lckY5K0lXUVRqUFpZTFo0Z3VIUU1rRVZFUVVxbFU2TnExSzF3dUYvNzBwejlCS3BVMkd0VkxURXdVQW1WVDRTNDBOQlIvK2N0ZjRIUTZJWlBKY09qUUlYejk5ZGRJU2twQy8vNzljZi85OTZOMzc5N0N2TWliYnJvSkpwTUpSNDRjd2ZIangzSHExQ2tjUDM0Y1NVbEpyV29xUG16WU1QVHIxMC9VKzB4SVNNQXR0OXdpMUhBaGNya2N0OXh5QzZLam8wVzlCaEUxSnZGNFBCNS9GMEZFUlBWYkdhWmRrK0h2TXBwMXFidkxCTE5BLyt5SUxnZEpnNTlDK1oyQWlDaEFTS1hTWnVmMEJRS0d4Nll4V0ZON3hLOTRJcUlBSVpjcjRQalBGb0YwOVhEWTdaRExGUzBmU0JSRUdDQ0ppQUpFdUZvTm85SGc3ekpJSktQUmdIQzEydDlsRUxVcEJrZ2lvZ0NoamRLaXVxckszMldRU05YNkttaWp0QzBmU0JSRUdDQ0ppQUtFV2hNQm1VeUdLbjJsdjB1aFZxclNWMElXSW9OYUk3N3ZKZEhWakFHU2lDaUFKQ1lsbzZLOEhDYVQwZCtsVUF0TVJpTXF5c3VSbUpUczcxS0kyaHpiK0JBUkJSaXp5WVNTNGlMRXhjZERGeFByNzNLb0NWWDZTbFNVbHlPNWF6Zk9mNlIybzJFYkh3WklJcUlBWkxQWlVIcXFCQzZYQzlFNkhUU2FDTWdWQ3JhTDhSTzMydzJIM1E2ajBZRHFxaXJJWkRJa0ppVkRxVlQ2dXpTaU5zTUFTVVIwbFRBWkRhaXRxWVhaWklMRFlRL29QcEhCVENxVlFpNVhJRnl0aGpaS3l6bVAxQzR4UUJJUkVSR1JLTnlKaG9pSWlJZ3VHZ01rRVJFUkVZbkNBRWxFUkVSRW9qQkFFaEVSRVpFb0RKQkVSRVJFSkFvREpCRVJFUkdKd2dCSlJFUkVSS0l3UUJJUkVSR1JLQXlRUkVSRVJDUUtBeVFSRVJFUmljSUFTVVJFUkVTaU1FQVNFUkVSa1NnTWtFUkVSRVFrQ2dNa0VSRVJFWW5DQUVsRVJFUkVvakJBRWhFUkVaRW9ESkJFUkVSRUpBb0RKQkVSRVJHSndnQkpSRVJFUktJd1FCSVJFUkdSS0F5UVJFUkVSQ1FLQXlRUkVSRVJpY0lBU1VSRVJFU2lNRUFTRVJFUmtTZ01rRVJFUkVRa0NnTWtFUkVSRVluQ0FFbEVSRVJFb2pCQUVoRVJFWkVvREpCRVJFUkVKQW9ESkJFUkVSR0p3Z0JKUkVSRVJLSXdRQklSRVJHUktBeVFSRVJFUkNRS0F5UVJFUkVSaWNJQVNVUkVSRVNpTUVBU0VSRVJrU2dNa0VSRVJFUWtDZ01rRVJFUkVZbkNBRWxFUkVSRW9qQkFFaEVSRVpFb0RKQkVSRVJFSkFvREpCRVJFUkdKd2dCSlJFUkVSRVJFUkVSRVJFUkVSRVFCNHY4REZIaXBvOHBJVmJnQUFBQUFTVVZPUks1Q1lJST0iLAoJIlRoZW1lIiA6ICIiLAoJIlR5cGUiIDogIm1pbmQiLAoJIlZlcnNpb24iIDogIjQiCn0K"/>
    </extobj>
  </extobjs>
</s:customData>
</file>

<file path=customXml/itemProps1.xml><?xml version="1.0" encoding="utf-8"?>
<ds:datastoreItem xmlns:ds="http://schemas.openxmlformats.org/officeDocument/2006/customXml" ds:itemID="{7175BCE4-C69A-41A2-8150-1C63E0B9EBB6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1423</Words>
  <Application>Microsoft Office PowerPoint</Application>
  <PresentationFormat>宽屏</PresentationFormat>
  <Paragraphs>218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方正宋刻本秀楷简体</vt:lpstr>
      <vt:lpstr>微软雅黑</vt:lpstr>
      <vt:lpstr>Arial</vt:lpstr>
      <vt:lpstr>Calibri</vt:lpstr>
      <vt:lpstr>Cambria Math</vt:lpstr>
      <vt:lpstr>Palatino Linotype</vt:lpstr>
      <vt:lpstr>Times New Roman</vt:lpstr>
      <vt:lpstr>Office Theme</vt:lpstr>
      <vt:lpstr>机器学习实验课2</vt:lpstr>
      <vt:lpstr>PowerPoint 演示文稿</vt:lpstr>
      <vt:lpstr>数据相关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线性回归</vt:lpstr>
      <vt:lpstr>线性回归</vt:lpstr>
      <vt:lpstr>PowerPoint 演示文稿</vt:lpstr>
      <vt:lpstr>线性回归的实际用途</vt:lpstr>
      <vt:lpstr>线性回归的应用</vt:lpstr>
      <vt:lpstr>Sklearn中的线性回归</vt:lpstr>
      <vt:lpstr>最小二乘法</vt:lpstr>
      <vt:lpstr>逻辑回归</vt:lpstr>
      <vt:lpstr>逻辑回归——分类问题</vt:lpstr>
      <vt:lpstr>逻辑回归——分类问题</vt:lpstr>
      <vt:lpstr>PowerPoint 演示文稿</vt:lpstr>
      <vt:lpstr>预测西瓜成熟度</vt:lpstr>
      <vt:lpstr>实验步骤</vt:lpstr>
      <vt:lpstr>实验步骤</vt:lpstr>
      <vt:lpstr>实验步骤</vt:lpstr>
      <vt:lpstr>对西瓜好坏进行分类</vt:lpstr>
      <vt:lpstr>实验步骤</vt:lpstr>
      <vt:lpstr>实验步骤</vt:lpstr>
      <vt:lpstr>PowerPoint 演示文稿</vt:lpstr>
      <vt:lpstr>损失函数</vt:lpstr>
      <vt:lpstr>梯度下降</vt:lpstr>
      <vt:lpstr>梯度下降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万凌鸿</cp:lastModifiedBy>
  <cp:revision>254</cp:revision>
  <dcterms:created xsi:type="dcterms:W3CDTF">2022-02-24T06:40:00Z</dcterms:created>
  <dcterms:modified xsi:type="dcterms:W3CDTF">2024-03-26T08:45:33Z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2017-05-17T16:00:00Z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2022-02-26T16:00:00Z</vt:filetime>
  </property>
  <property fmtid="{D5CDD505-2E9C-101B-9397-08002B2CF9AE}" pid="5" name="KSOProductBuildVer">
    <vt:lpwstr>2052-11.1.0.11220</vt:lpwstr>
  </property>
  <property fmtid="{D5CDD505-2E9C-101B-9397-08002B2CF9AE}" pid="6" name="ICV">
    <vt:lpwstr>244F929687B14A8CBE0C2874BCF075D5</vt:lpwstr>
  </property>
</Properties>
</file>