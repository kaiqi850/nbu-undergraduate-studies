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443" r:id="rId2"/>
    <p:sldId id="428" r:id="rId3"/>
    <p:sldId id="445" r:id="rId4"/>
    <p:sldId id="447" r:id="rId5"/>
    <p:sldId id="429" r:id="rId6"/>
    <p:sldId id="444" r:id="rId7"/>
    <p:sldId id="430" r:id="rId8"/>
    <p:sldId id="449" r:id="rId9"/>
    <p:sldId id="450" r:id="rId10"/>
    <p:sldId id="452" r:id="rId11"/>
    <p:sldId id="453" r:id="rId12"/>
    <p:sldId id="454" r:id="rId13"/>
    <p:sldId id="455" r:id="rId14"/>
    <p:sldId id="457" r:id="rId15"/>
    <p:sldId id="458" r:id="rId16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0">
          <p15:clr>
            <a:srgbClr val="A4A3A4"/>
          </p15:clr>
        </p15:guide>
        <p15:guide id="2" pos="210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73" y="43"/>
      </p:cViewPr>
      <p:guideLst>
        <p:guide orient="horz" pos="2940"/>
        <p:guide pos="21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2024/5/4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43555" y="1412747"/>
            <a:ext cx="6624828" cy="3977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09216" y="1519427"/>
            <a:ext cx="7973568" cy="4780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0129" y="438734"/>
            <a:ext cx="5031740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9412" y="1832435"/>
            <a:ext cx="9393174" cy="459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3583" y="4036314"/>
            <a:ext cx="9715500" cy="0"/>
          </a:xfrm>
          <a:custGeom>
            <a:avLst/>
            <a:gdLst/>
            <a:ahLst/>
            <a:cxnLst/>
            <a:rect l="l" t="t" r="r" b="b"/>
            <a:pathLst>
              <a:path w="9715500">
                <a:moveTo>
                  <a:pt x="0" y="0"/>
                </a:moveTo>
                <a:lnTo>
                  <a:pt x="9715500" y="0"/>
                </a:lnTo>
              </a:path>
            </a:pathLst>
          </a:custGeom>
          <a:ln w="16763">
            <a:solidFill>
              <a:srgbClr val="C199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8200" y="152400"/>
            <a:ext cx="2821305" cy="444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800" spc="15" dirty="0">
                <a:ea typeface="微软雅黑" panose="020B0503020204020204" charset="-122"/>
              </a:rPr>
              <a:t>机器学习实验课</a:t>
            </a:r>
            <a:r>
              <a:rPr lang="en-US" altLang="zh-CN" sz="2800" spc="15" dirty="0">
                <a:ea typeface="微软雅黑" panose="020B0503020204020204" charset="-122"/>
              </a:rPr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78955" y="3604971"/>
            <a:ext cx="4503420" cy="19805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ML0</a:t>
            </a:r>
            <a:r>
              <a:rPr lang="en-US"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5</a:t>
            </a:r>
            <a:endParaRPr sz="2100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</a:pPr>
            <a:endParaRPr sz="21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R="1304290" algn="ctr">
              <a:lnSpc>
                <a:spcPct val="100000"/>
              </a:lnSpc>
            </a:pPr>
            <a:r>
              <a:rPr lang="en-US" altLang="zh-CN" sz="2400" dirty="0">
                <a:latin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4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万凌鸿</a:t>
            </a:r>
            <a:endParaRPr sz="2400" b="1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R="1217930" algn="ctr">
              <a:lnSpc>
                <a:spcPct val="100000"/>
              </a:lnSpc>
              <a:spcBef>
                <a:spcPts val="1110"/>
              </a:spcBef>
            </a:pPr>
            <a:endParaRPr sz="24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2290" y="4835024"/>
            <a:ext cx="2404664" cy="794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</a:t>
            </a:fld>
            <a:endParaRPr/>
          </a:p>
        </p:txBody>
      </p:sp>
      <p:sp>
        <p:nvSpPr>
          <p:cNvPr id="7" name="object 3"/>
          <p:cNvSpPr txBox="1">
            <a:spLocks noGrp="1"/>
          </p:cNvSpPr>
          <p:nvPr/>
        </p:nvSpPr>
        <p:spPr>
          <a:xfrm>
            <a:off x="2712085" y="2971800"/>
            <a:ext cx="7226300" cy="937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6000" b="1" spc="15" dirty="0">
                <a:ea typeface="微软雅黑" panose="020B0503020204020204" charset="-122"/>
              </a:rPr>
              <a:t>       SVM</a:t>
            </a:r>
            <a:r>
              <a:rPr lang="zh-CN" sz="6000" b="1" spc="15" dirty="0">
                <a:ea typeface="微软雅黑" panose="020B0503020204020204" charset="-122"/>
              </a:rPr>
              <a:t>支持向量机</a:t>
            </a:r>
            <a:endParaRPr lang="zh-CN" altLang="zh-CN" sz="6000" b="1" spc="15" dirty="0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5730" y="3048000"/>
            <a:ext cx="463423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>
                <a:sym typeface="+mn-ea"/>
              </a:rPr>
              <a:t>SVM支持向量机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56590"/>
            <a:ext cx="4714875" cy="28917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10280"/>
            <a:ext cx="4692650" cy="3462655"/>
          </a:xfrm>
          <a:prstGeom prst="rect">
            <a:avLst/>
          </a:prstGeom>
        </p:spPr>
      </p:pic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SVM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支持向量机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643890"/>
            <a:ext cx="4791075" cy="29375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3713480"/>
            <a:ext cx="4791075" cy="2922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5130165" cy="4599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15000" y="990600"/>
            <a:ext cx="62655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支持向量机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是一种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二分类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算法，通过在</a:t>
            </a:r>
            <a:r>
              <a:rPr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高维空间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中构造超平面实现对样本的分类。</a:t>
            </a: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SVM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支持向量机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819910"/>
            <a:ext cx="2835275" cy="28295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39765" y="4724400"/>
            <a:ext cx="6240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SVM 就是帮我们找到一个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超平面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，这个超平面能将不同的样本划分开，同时使得样本集中的点到这个分类超平面的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最小距离（即分类间隔）最大化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实验任务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6</a:t>
            </a:fld>
            <a:endParaRPr/>
          </a:p>
        </p:txBody>
      </p:sp>
      <p:sp>
        <p:nvSpPr>
          <p:cNvPr id="100" name="文本框 99"/>
          <p:cNvSpPr txBox="1"/>
          <p:nvPr/>
        </p:nvSpPr>
        <p:spPr>
          <a:xfrm>
            <a:off x="533400" y="762000"/>
            <a:ext cx="663575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</a:pPr>
            <a:r>
              <a:rPr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SVM 进行乳腺癌检测,要求掌握分类任务的从头到尾的流程。</a:t>
            </a:r>
          </a:p>
          <a:p>
            <a:pPr indent="0">
              <a:lnSpc>
                <a:spcPct val="150000"/>
              </a:lnSpc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要求准确率达到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以上，即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92.1058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以上。</a:t>
            </a: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实验任务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05"/>
            <a:ext cx="4140200" cy="68110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65125" y="2590800"/>
            <a:ext cx="69723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mean 代表平均值，se 代表标准差，worst 代表最大值（3 个最大值的平均值）。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每张图像都计算了相应的特征，得出了这 30 个特征值（不包括 ID 字段和分类标识结果字段 diagnosis）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实际上是 10 个特征值（radius、texture、perimeter、area、smoothness、compactness、concavity、concave points、symmetry 和fractal_dimension_mean）的 3 个维度，平均、标准差和最大值。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271780" y="2418080"/>
            <a:ext cx="7043420" cy="318897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实验步骤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  <p:sp>
        <p:nvSpPr>
          <p:cNvPr id="100" name="文本框 99"/>
          <p:cNvSpPr txBox="1"/>
          <p:nvPr/>
        </p:nvSpPr>
        <p:spPr>
          <a:xfrm>
            <a:off x="533400" y="762000"/>
            <a:ext cx="663575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</a:pPr>
            <a:r>
              <a:rPr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SVM 进行乳腺癌检测,要求掌握分类任务的从头到尾的流程。</a:t>
            </a:r>
          </a:p>
          <a:p>
            <a:pPr indent="0">
              <a:lnSpc>
                <a:spcPct val="150000"/>
              </a:lnSpc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要求准确率达到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以上，即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92.1058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以上。</a:t>
            </a: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实验步骤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200" y="1974850"/>
            <a:ext cx="107156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加载数据</a:t>
            </a: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数据探索(数据可视化)</a:t>
            </a: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特征选择</a:t>
            </a: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使用SVM模型对训练集进行训练</a:t>
            </a: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对验证集进行预测并计算准确率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749425"/>
            <a:ext cx="7543165" cy="335915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381000" y="1866900"/>
            <a:ext cx="3898900" cy="324993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33400"/>
            <a:ext cx="5572125" cy="2352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098800"/>
            <a:ext cx="5998845" cy="2339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670" y="671830"/>
            <a:ext cx="5331460" cy="4752975"/>
          </a:xfrm>
          <a:prstGeom prst="rect">
            <a:avLst/>
          </a:prstGeom>
        </p:spPr>
      </p:pic>
      <p:sp>
        <p:nvSpPr>
          <p:cNvPr id="12" name="Rectangle 1"/>
          <p:cNvSpPr/>
          <p:nvPr/>
        </p:nvSpPr>
        <p:spPr>
          <a:xfrm>
            <a:off x="228600" y="76200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加载数据</a:t>
            </a:r>
            <a:endParaRPr 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324600" y="457200"/>
            <a:ext cx="5821045" cy="5309235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数据清洗</a:t>
            </a:r>
            <a:endParaRPr lang="en-US" alt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" y="1276874"/>
            <a:ext cx="4586605" cy="1316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7" y="2545921"/>
            <a:ext cx="5945505" cy="15532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b="79051"/>
          <a:stretch/>
        </p:blipFill>
        <p:spPr>
          <a:xfrm>
            <a:off x="185838" y="4099131"/>
            <a:ext cx="6222899" cy="1044963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B9B31E19-82AB-2A8B-53AB-1710D3777D36}"/>
              </a:ext>
            </a:extLst>
          </p:cNvPr>
          <p:cNvGrpSpPr/>
          <p:nvPr/>
        </p:nvGrpSpPr>
        <p:grpSpPr>
          <a:xfrm>
            <a:off x="6408737" y="914400"/>
            <a:ext cx="5592445" cy="4439920"/>
            <a:chOff x="6400800" y="664845"/>
            <a:chExt cx="5592445" cy="4439920"/>
          </a:xfrm>
        </p:grpSpPr>
        <p:sp>
          <p:nvSpPr>
            <p:cNvPr id="5" name="圆角矩形 4"/>
            <p:cNvSpPr/>
            <p:nvPr/>
          </p:nvSpPr>
          <p:spPr>
            <a:xfrm>
              <a:off x="6400800" y="664845"/>
              <a:ext cx="5592445" cy="4439920"/>
            </a:xfrm>
            <a:prstGeom prst="roundRect">
              <a:avLst/>
            </a:prstGeom>
            <a:noFill/>
            <a:ln w="28575" cmpd="sng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BAB227F-7019-DF0F-7BDE-DE46FBA7A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428" t="23464"/>
            <a:stretch/>
          </p:blipFill>
          <p:spPr>
            <a:xfrm>
              <a:off x="6563209" y="1219200"/>
              <a:ext cx="5343827" cy="35801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  <a:t>11</a:t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数据可视化</a:t>
            </a:r>
            <a:endParaRPr lang="en-US" alt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97119"/>
            <a:ext cx="5762625" cy="2124075"/>
          </a:xfrm>
          <a:prstGeom prst="rect">
            <a:avLst/>
          </a:prstGeom>
        </p:spPr>
      </p:pic>
      <p:pic>
        <p:nvPicPr>
          <p:cNvPr id="11" name="图片 10" descr="inde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421194"/>
            <a:ext cx="444604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  <a:t>12</a:t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625090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40538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特征选择</a:t>
            </a: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数据划分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85800"/>
            <a:ext cx="9853295" cy="5886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65885"/>
            <a:ext cx="5695950" cy="20478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20" y="3505200"/>
            <a:ext cx="6858000" cy="1295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1752600"/>
            <a:ext cx="1676400" cy="87630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8153400" y="1676400"/>
            <a:ext cx="2085340" cy="1128395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630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  <a:t>13</a:t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625090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40538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模型训练</a:t>
            </a: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模型预测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9820275" cy="24193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800" y="3235325"/>
            <a:ext cx="103816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中文文档：</a:t>
            </a:r>
            <a:r>
              <a:rPr lang="zh-CN" altLang="en-US">
                <a:sym typeface="+mn-ea"/>
              </a:rPr>
              <a:t>https://www.sklearncn.cn/5/#141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官方文档：</a:t>
            </a:r>
            <a:r>
              <a:rPr lang="zh-CN" altLang="en-US">
                <a:sym typeface="+mn-ea"/>
              </a:rPr>
              <a:t>https://scikit-learn.org/stable/modules/generated/sklearn.svm.SVC.html#sklearn.svm.SVC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5435" y="4876800"/>
            <a:ext cx="11464925" cy="112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 C 代表目标函数的惩罚系数，惩罚系数指的是分错样本时的惩罚程度，默认情况下为1.0。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 C 越大的时候，分类器的准确性越高，但同样容错率会越低，泛化能力会变差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。相反，C 越小，泛化能力越强，但是准确性会降低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14</a:t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625090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40538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SVM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2400" y="728345"/>
            <a:ext cx="637349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SVM 是通过核函数将样本从原始空间映射到一个更高维的特质空间中，这样就使得样本在新的空间中线性可分。</a:t>
            </a: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最常用的核函数有线性核、多项式核、高斯核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sigmoid核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 descr="6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57400"/>
            <a:ext cx="6958965" cy="25520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728345"/>
            <a:ext cx="5183505" cy="37922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1000" y="4419600"/>
            <a:ext cx="3530600" cy="2407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15</a:t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28600" y="76200"/>
            <a:ext cx="2625090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37820" y="157163"/>
            <a:ext cx="240538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SVM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总结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2400" y="728345"/>
            <a:ext cx="63734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3400" y="3962400"/>
            <a:ext cx="112725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 SVM 分类器的三个程度：</a:t>
            </a: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完全线性可分情况下的线性分类器，也就是线性可分的情况，是最原始的 SVM，它最核心的思想就是找到最大的分类间隔；</a:t>
            </a: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大部分线性可分情况下的线性分类器，引入了软间隔的概念。软间隔，就是允许一定量的样本分类错误；</a:t>
            </a:r>
          </a:p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线性不可分情况下的非线性分类器，引入了核函数。它让原有的样本空间通过核函数投射到了一个高维的空间中，从而变得线性可分。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4800" y="728345"/>
            <a:ext cx="1104011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线性核函数，是在数据线性可分的情况下使用的，运算速度快，效果好。不足在于它不能处理线性不可分的数据。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多项式核函数可以将数据从低维空间映射到高维空间，但参数比较多，计算量大。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高斯核函数同样可以将样本映射到高维空间，但相比于多项式核函数来说所需的参数比较少，通常性能不错，所以是默认使用的核函数。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了解深度学习的同学应该知道 sigmoid 经常用在神经网络的映射中。因此当选用 sigmoid核函数时，SVM 实现的是多层神经网络。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495,&quot;width&quot;:95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359</Words>
  <Application>Microsoft Office PowerPoint</Application>
  <PresentationFormat>宽屏</PresentationFormat>
  <Paragraphs>76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微软雅黑</vt:lpstr>
      <vt:lpstr>Arial</vt:lpstr>
      <vt:lpstr>Calibri</vt:lpstr>
      <vt:lpstr>Palatino Linotype</vt:lpstr>
      <vt:lpstr>Times New Roman</vt:lpstr>
      <vt:lpstr>Office Theme</vt:lpstr>
      <vt:lpstr>机器学习实验课5</vt:lpstr>
      <vt:lpstr>SVM支持向量机</vt:lpstr>
      <vt:lpstr>PowerPoint 演示文稿</vt:lpstr>
      <vt:lpstr>PowerPoint 演示文稿</vt:lpstr>
      <vt:lpstr>实验任务</vt:lpstr>
      <vt:lpstr>PowerPoint 演示文稿</vt:lpstr>
      <vt:lpstr>实验步骤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sklearn库的安装</dc:title>
  <dc:creator>QW</dc:creator>
  <cp:lastModifiedBy>万凌鸿</cp:lastModifiedBy>
  <cp:revision>112</cp:revision>
  <dcterms:created xsi:type="dcterms:W3CDTF">2022-02-24T06:40:00Z</dcterms:created>
  <dcterms:modified xsi:type="dcterms:W3CDTF">2024-05-04T14:17:23Z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2017-05-18T16:00:00Z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2022-02-27T16:00:00Z</vt:filetime>
  </property>
  <property fmtid="{D5CDD505-2E9C-101B-9397-08002B2CF9AE}" pid="5" name="KSOProductBuildVer">
    <vt:lpwstr>2052-11.1.0.11220</vt:lpwstr>
  </property>
  <property fmtid="{D5CDD505-2E9C-101B-9397-08002B2CF9AE}" pid="6" name="ICV">
    <vt:lpwstr>30EAA01A05464D609DB49A848DAD7CC0</vt:lpwstr>
  </property>
</Properties>
</file>