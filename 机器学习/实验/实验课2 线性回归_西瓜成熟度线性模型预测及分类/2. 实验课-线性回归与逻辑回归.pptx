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rels" ContentType="application/vnd.openxmlformats-package.relationships+xml"/>
  <Override PartName="/customXml/itemProps7.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3"/>
    <p:sldId id="328" r:id="rId4"/>
    <p:sldId id="366" r:id="rId5"/>
    <p:sldId id="365" r:id="rId6"/>
    <p:sldId id="367" r:id="rId7"/>
    <p:sldId id="368" r:id="rId8"/>
    <p:sldId id="369" r:id="rId9"/>
    <p:sldId id="289" r:id="rId10"/>
    <p:sldId id="361" r:id="rId11"/>
    <p:sldId id="362" r:id="rId12"/>
    <p:sldId id="363" r:id="rId13"/>
    <p:sldId id="364" r:id="rId14"/>
    <p:sldId id="405" r:id="rId15"/>
    <p:sldId id="406" r:id="rId16"/>
    <p:sldId id="407" r:id="rId17"/>
    <p:sldId id="409" r:id="rId18"/>
    <p:sldId id="410" r:id="rId19"/>
    <p:sldId id="293" r:id="rId20"/>
    <p:sldId id="411" r:id="rId21"/>
    <p:sldId id="413" r:id="rId22"/>
    <p:sldId id="416" r:id="rId23"/>
    <p:sldId id="417" r:id="rId24"/>
    <p:sldId id="412" r:id="rId25"/>
    <p:sldId id="415" r:id="rId26"/>
    <p:sldId id="418" r:id="rId27"/>
    <p:sldId id="330" r:id="rId28"/>
    <p:sldId id="424" r:id="rId29"/>
    <p:sldId id="425" r:id="rId30"/>
    <p:sldId id="427" r:id="rId31"/>
  </p:sldIdLst>
  <p:sldSz cx="12192000" cy="6858000"/>
  <p:notesSz cx="12192000" cy="6858000"/>
  <p:custDataLst>
    <p:tags r:id="rId38"/>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40" userDrawn="1">
          <p15:clr>
            <a:srgbClr val="A4A3A4"/>
          </p15:clr>
        </p15:guide>
        <p15:guide id="2" pos="21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940"/>
        <p:guide pos="211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8" Type="http://schemas.openxmlformats.org/officeDocument/2006/relationships/tags" Target="tags/tag8.xml"/><Relationship Id="rId37" Type="http://schemas.openxmlformats.org/officeDocument/2006/relationships/customXml" Target="../customXml/item1.xml"/><Relationship Id="rId36" Type="http://schemas.openxmlformats.org/officeDocument/2006/relationships/customXmlProps" Target="../customXml/itemProps7.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notesMaster" Target="notesMasters/notesMaster1.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9392356" cy="25806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12277295" y="0"/>
            <a:ext cx="9392356" cy="25806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9294283" y="642938"/>
            <a:ext cx="3086100" cy="1735931"/>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2167467" y="2475309"/>
            <a:ext cx="17339733" cy="2025253"/>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4885432"/>
            <a:ext cx="9392356" cy="25806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12277295" y="4885432"/>
            <a:ext cx="9392356" cy="258068"/>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300" b="0" i="0">
                <a:solidFill>
                  <a:schemeClr val="tx1"/>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p:txBody>
          <a:bodyPr lIns="0" tIns="0" rIns="0" bIns="0"/>
          <a:lstStyle>
            <a:lvl1pPr>
              <a:defRPr sz="2000" b="0" i="0">
                <a:solidFill>
                  <a:schemeClr val="tx1"/>
                </a:solidFill>
                <a:latin typeface="微软雅黑" panose="020B0503020204020204" charset="-122"/>
                <a:cs typeface="微软雅黑" panose="020B0503020204020204" charset="-122"/>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300" b="0" i="0">
                <a:solidFill>
                  <a:schemeClr val="tx1"/>
                </a:solidFill>
                <a:latin typeface="微软雅黑" panose="020B0503020204020204" charset="-122"/>
                <a:cs typeface="微软雅黑" panose="020B0503020204020204" charset="-122"/>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showMasterSp="0">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2543555" y="1412747"/>
            <a:ext cx="6624828" cy="3977640"/>
          </a:xfrm>
          <a:prstGeom prst="rect">
            <a:avLst/>
          </a:prstGeom>
          <a:blipFill>
            <a:blip r:embed="rId2" cstate="print"/>
            <a:stretch>
              <a:fillRect/>
            </a:stretch>
          </a:blipFill>
        </p:spPr>
        <p:txBody>
          <a:bodyPr wrap="square" lIns="0" tIns="0" rIns="0" bIns="0" rtlCol="0"/>
          <a:lstStyle/>
          <a:p/>
        </p:txBody>
      </p:sp>
      <p:sp>
        <p:nvSpPr>
          <p:cNvPr id="2" name="Holder 2"/>
          <p:cNvSpPr>
            <a:spLocks noGrp="1"/>
          </p:cNvSpPr>
          <p:nvPr>
            <p:ph type="title"/>
          </p:nvPr>
        </p:nvSpPr>
        <p:spPr/>
        <p:txBody>
          <a:bodyPr lIns="0" tIns="0" rIns="0" bIns="0"/>
          <a:lstStyle>
            <a:lvl1pPr>
              <a:defRPr sz="5300" b="0" i="0">
                <a:solidFill>
                  <a:schemeClr val="tx1"/>
                </a:solidFill>
                <a:latin typeface="微软雅黑" panose="020B0503020204020204" charset="-122"/>
                <a:cs typeface="微软雅黑" panose="020B0503020204020204" charset="-122"/>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showMasterSp="0">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2109216" y="1519427"/>
            <a:ext cx="7973568" cy="4780788"/>
          </a:xfrm>
          <a:prstGeom prst="rect">
            <a:avLst/>
          </a:prstGeom>
          <a:blipFill>
            <a:blip r:embed="rId2" cstate="print"/>
            <a:stretch>
              <a:fillRect/>
            </a:stretch>
          </a:blipFill>
        </p:spPr>
        <p:txBody>
          <a:bodyPr wrap="square" lIns="0" tIns="0" rIns="0" bIns="0" rtlCol="0"/>
          <a:lstStyle/>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标题幻灯片">
    <p:bg>
      <p:bgPr>
        <a:solidFill>
          <a:srgbClr val="F2F2F2"/>
        </a:solidFill>
        <a:effectLst/>
      </p:bgPr>
    </p:bg>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B22C0167-E855-4D17-BF35-432B61D5C6E4}"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EF3F989F-8D12-475D-9C50-23F49E8F4161}"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399">
        <p14:doors dir="vert"/>
      </p:transition>
    </mc:Choice>
    <mc:Fallback>
      <p:transition spd="slow">
        <p:fade/>
      </p:transition>
    </mc:Fallback>
  </mc:AlternateContent>
  <p:timing>
    <p:tnLst>
      <p:par>
        <p:cTn id="1" dur="indefinite" restart="never" nodeType="tmRoot"/>
      </p:par>
    </p:tnLst>
  </p:timing>
  <p:hf hdr="0" ftr="0" dt="0"/>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580129" y="438734"/>
            <a:ext cx="5031740" cy="838200"/>
          </a:xfrm>
          <a:prstGeom prst="rect">
            <a:avLst/>
          </a:prstGeom>
        </p:spPr>
        <p:txBody>
          <a:bodyPr wrap="square" lIns="0" tIns="0" rIns="0" bIns="0">
            <a:spAutoFit/>
          </a:bodyPr>
          <a:lstStyle>
            <a:lvl1pPr>
              <a:defRPr sz="5300" b="0" i="0">
                <a:solidFill>
                  <a:schemeClr val="tx1"/>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a:xfrm>
            <a:off x="1399412" y="1832435"/>
            <a:ext cx="9393174" cy="4598035"/>
          </a:xfrm>
          <a:prstGeom prst="rect">
            <a:avLst/>
          </a:prstGeom>
        </p:spPr>
        <p:txBody>
          <a:bodyPr wrap="square" lIns="0" tIns="0" rIns="0" bIns="0">
            <a:spAutoFit/>
          </a:bodyPr>
          <a:lstStyle>
            <a:lvl1pPr>
              <a:defRPr sz="2000" b="0" i="0">
                <a:solidFill>
                  <a:schemeClr val="tx1"/>
                </a:solidFill>
                <a:latin typeface="微软雅黑" panose="020B0503020204020204" charset="-122"/>
                <a:cs typeface="微软雅黑" panose="020B0503020204020204" charset="-122"/>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jpeg"/><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hyperlink" Target="https://www.sklearncn.cn/2/" TargetMode="External"/><Relationship Id="rId1" Type="http://schemas.openxmlformats.org/officeDocument/2006/relationships/hyperlink" Target="https://scikit-learn.org/stable/modules/generated/sklearn.linear_model.LinearRegression.html#sklearn.linear_model.LinearRegression" TargetMode="External"/></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hyperlink" Target="https://mp.weixin.qq.com/s?__biz=MzI3NTkyMjA4NA==&amp;mid=2247484070&amp;idx=1&amp;sn=98e6d2386d3d4d2db2afc35ef163b406&amp;chksm=eb7c2f6ddc0ba67b925f435c391278e21ce56c073551e1939805e30570e1ade263e7395fda6f&amp;scene=21#wechat_redirect" TargetMode="External"/><Relationship Id="rId2" Type="http://schemas.openxmlformats.org/officeDocument/2006/relationships/hyperlink" Target="https://mp.weixin.qq.com/s?__biz=MzI3NTkyMjA4NA==&amp;mid=2247484006&amp;idx=1&amp;sn=a3b5efb30f71339c4ef83ef5c4f7bd6f&amp;chksm=eb7c2faddc0ba6bb66392f734c7bf986b4857eaa29f35ecfa5414d59587f90be3835206c324d&amp;scene=21#wechat_redirect" TargetMode="External"/><Relationship Id="rId1" Type="http://schemas.openxmlformats.org/officeDocument/2006/relationships/hyperlink" Target="https://mp.weixin.qq.com/s?__biz=MzI3NTkyMjA4NA==&amp;mid=2247483988&amp;idx=1&amp;sn=bdf97957469fef8b886adbac29ca969d&amp;chksm=eb7c2f9fdc0ba689e2c8c4ea1ee2ee8ad28492b73e114ec443ec0db4d7d2008fe8bad17e7140&amp;scene=21#wechat_redirec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image" Target="../media/image19.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s://scikit-learn.org/stable/modules/generated/sklearn.linear_model.LogisticRegression.html#sklearn.linear_model.LogisticRegression" TargetMode="Externa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tags" Target="../tags/tag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5.png"/><Relationship Id="rId1"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7.png"/><Relationship Id="rId1" Type="http://schemas.openxmlformats.org/officeDocument/2006/relationships/image" Target="../media/image26.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37.png"/><Relationship Id="rId2" Type="http://schemas.openxmlformats.org/officeDocument/2006/relationships/tags" Target="../tags/tag6.xml"/><Relationship Id="rId1" Type="http://schemas.openxmlformats.org/officeDocument/2006/relationships/tags" Target="../tags/tag5.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8.png"/></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hyperlink" Target="https://blog.csdn.net/weixin_45104240/article/details/107642361" TargetMode="External"/><Relationship Id="rId2" Type="http://schemas.openxmlformats.org/officeDocument/2006/relationships/hyperlink" Target="https://blog.csdn.net/llwleon/article/details/79204790" TargetMode="External"/><Relationship Id="rId1"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243583" y="4036314"/>
            <a:ext cx="9715500" cy="0"/>
          </a:xfrm>
          <a:custGeom>
            <a:avLst/>
            <a:gdLst/>
            <a:ahLst/>
            <a:cxnLst/>
            <a:rect l="l" t="t" r="r" b="b"/>
            <a:pathLst>
              <a:path w="9715500">
                <a:moveTo>
                  <a:pt x="0" y="0"/>
                </a:moveTo>
                <a:lnTo>
                  <a:pt x="9715500" y="0"/>
                </a:lnTo>
              </a:path>
            </a:pathLst>
          </a:custGeom>
          <a:ln w="16763">
            <a:solidFill>
              <a:srgbClr val="C19958"/>
            </a:solidFill>
          </a:ln>
        </p:spPr>
        <p:txBody>
          <a:bodyPr wrap="square" lIns="0" tIns="0" rIns="0" bIns="0" rtlCol="0"/>
          <a:lstStyle/>
          <a:p/>
        </p:txBody>
      </p:sp>
      <p:sp>
        <p:nvSpPr>
          <p:cNvPr id="3" name="object 3"/>
          <p:cNvSpPr txBox="1">
            <a:spLocks noGrp="1"/>
          </p:cNvSpPr>
          <p:nvPr>
            <p:ph type="title"/>
          </p:nvPr>
        </p:nvSpPr>
        <p:spPr>
          <a:xfrm>
            <a:off x="4648200" y="152400"/>
            <a:ext cx="2821305" cy="444500"/>
          </a:xfrm>
          <a:prstGeom prst="rect">
            <a:avLst/>
          </a:prstGeom>
        </p:spPr>
        <p:txBody>
          <a:bodyPr vert="horz" wrap="square" lIns="0" tIns="14604" rIns="0" bIns="0" rtlCol="0">
            <a:spAutoFit/>
          </a:bodyPr>
          <a:lstStyle/>
          <a:p>
            <a:pPr marL="12700">
              <a:lnSpc>
                <a:spcPct val="100000"/>
              </a:lnSpc>
              <a:spcBef>
                <a:spcPts val="115"/>
              </a:spcBef>
            </a:pPr>
            <a:r>
              <a:rPr lang="zh-CN" sz="2800" spc="15" dirty="0">
                <a:ea typeface="微软雅黑" panose="020B0503020204020204" charset="-122"/>
              </a:rPr>
              <a:t>机器学习实验课</a:t>
            </a:r>
            <a:r>
              <a:rPr lang="en-US" altLang="zh-CN" sz="2800" spc="15" dirty="0">
                <a:ea typeface="微软雅黑" panose="020B0503020204020204" charset="-122"/>
              </a:rPr>
              <a:t>2</a:t>
            </a:r>
            <a:endParaRPr lang="en-US" altLang="zh-CN" sz="2800" spc="15" dirty="0">
              <a:ea typeface="微软雅黑" panose="020B0503020204020204" charset="-122"/>
            </a:endParaRPr>
          </a:p>
        </p:txBody>
      </p:sp>
      <p:sp>
        <p:nvSpPr>
          <p:cNvPr id="5" name="object 5"/>
          <p:cNvSpPr/>
          <p:nvPr/>
        </p:nvSpPr>
        <p:spPr>
          <a:xfrm>
            <a:off x="2712290" y="4835024"/>
            <a:ext cx="2404664" cy="794484"/>
          </a:xfrm>
          <a:prstGeom prst="rect">
            <a:avLst/>
          </a:prstGeom>
          <a:blipFill>
            <a:blip r:embed="rId1" cstate="print"/>
            <a:stretch>
              <a:fillRect/>
            </a:stretch>
          </a:blipFill>
        </p:spPr>
        <p:txBody>
          <a:bodyPr wrap="square" lIns="0" tIns="0" rIns="0" bIns="0" rtlCol="0"/>
          <a:lstStyle/>
          <a:p/>
        </p:txBody>
      </p:sp>
      <p:sp>
        <p:nvSpPr>
          <p:cNvPr id="6" name="灯片编号占位符 5"/>
          <p:cNvSpPr>
            <a:spLocks noGrp="1"/>
          </p:cNvSpPr>
          <p:nvPr>
            <p:ph type="sldNum" sz="quarter" idx="7"/>
          </p:nvPr>
        </p:nvSpPr>
        <p:spPr/>
        <p:txBody>
          <a:bodyPr/>
          <a:p>
            <a:fld id="{B6F15528-21DE-4FAA-801E-634DDDAF4B2B}" type="slidenum">
              <a:rPr/>
            </a:fld>
            <a:endParaRPr/>
          </a:p>
        </p:txBody>
      </p:sp>
      <p:sp>
        <p:nvSpPr>
          <p:cNvPr id="7" name="object 3"/>
          <p:cNvSpPr txBox="1">
            <a:spLocks noGrp="1"/>
          </p:cNvSpPr>
          <p:nvPr/>
        </p:nvSpPr>
        <p:spPr>
          <a:xfrm>
            <a:off x="2712085" y="2960370"/>
            <a:ext cx="7226300" cy="937260"/>
          </a:xfrm>
          <a:prstGeom prst="rect">
            <a:avLst/>
          </a:prstGeom>
        </p:spPr>
        <p:txBody>
          <a:bodyPr vert="horz" wrap="square" lIns="0" tIns="14604" rIns="0" bIns="0" rtlCol="0">
            <a:spAutoFit/>
          </a:bodyPr>
          <a:lstStyle>
            <a:lvl1pPr>
              <a:defRPr sz="5300" b="0" i="0">
                <a:solidFill>
                  <a:schemeClr val="tx1"/>
                </a:solidFill>
                <a:latin typeface="微软雅黑" panose="020B0503020204020204" charset="-122"/>
                <a:ea typeface="+mj-ea"/>
                <a:cs typeface="微软雅黑" panose="020B0503020204020204" charset="-122"/>
              </a:defRPr>
            </a:lvl1pPr>
          </a:lstStyle>
          <a:p>
            <a:pPr marL="12700">
              <a:lnSpc>
                <a:spcPct val="100000"/>
              </a:lnSpc>
              <a:spcBef>
                <a:spcPts val="115"/>
              </a:spcBef>
            </a:pPr>
            <a:r>
              <a:rPr lang="zh-CN" sz="6000" b="1" spc="15" dirty="0">
                <a:ea typeface="微软雅黑" panose="020B0503020204020204" charset="-122"/>
              </a:rPr>
              <a:t>线性回归与逻辑回归</a:t>
            </a:r>
            <a:endParaRPr lang="zh-CN" altLang="zh-CN" sz="6000" b="1" spc="15" dirty="0">
              <a:ea typeface="微软雅黑" panose="020B0503020204020204" charset="-122"/>
            </a:endParaRPr>
          </a:p>
        </p:txBody>
      </p:sp>
      <p:sp>
        <p:nvSpPr>
          <p:cNvPr id="8" name="文本框 7"/>
          <p:cNvSpPr txBox="1"/>
          <p:nvPr>
            <p:custDataLst>
              <p:tags r:id="rId2"/>
            </p:custDataLst>
          </p:nvPr>
        </p:nvSpPr>
        <p:spPr>
          <a:xfrm>
            <a:off x="6781800" y="6322060"/>
            <a:ext cx="6096000" cy="398780"/>
          </a:xfrm>
          <a:prstGeom prst="rect">
            <a:avLst/>
          </a:prstGeom>
          <a:noFill/>
        </p:spPr>
        <p:txBody>
          <a:bodyPr wrap="square" rtlCol="0" anchor="t">
            <a:spAutoFit/>
          </a:bodyPr>
          <a:p>
            <a:pPr marR="1304290" algn="ctr">
              <a:lnSpc>
                <a:spcPct val="100000"/>
              </a:lnSpc>
              <a:buClrTx/>
              <a:buSzTx/>
              <a:buFontTx/>
            </a:pPr>
            <a:r>
              <a:rPr lang="zh-CN" sz="2000" dirty="0">
                <a:latin typeface="微软雅黑" panose="020B0503020204020204" charset="-122"/>
                <a:cs typeface="微软雅黑" panose="020B0503020204020204" charset="-122"/>
                <a:sym typeface="+mn-ea"/>
              </a:rPr>
              <a:t>  致谢：梁威鹏</a:t>
            </a:r>
            <a:endParaRPr lang="zh-CN" altLang="en-US" sz="2000" dirty="0">
              <a:latin typeface="微软雅黑" panose="020B0503020204020204" charset="-122"/>
              <a:cs typeface="微软雅黑" panose="020B0503020204020204" charset="-122"/>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7"/>
          </p:nvPr>
        </p:nvSpPr>
        <p:spPr/>
        <p:txBody>
          <a:bodyPr/>
          <a:p>
            <a:fld id="{B6F15528-21DE-4FAA-801E-634DDDAF4B2B}" type="slidenum">
              <a:rPr/>
            </a:fld>
            <a:endParaRPr/>
          </a:p>
        </p:txBody>
      </p:sp>
      <p:pic>
        <p:nvPicPr>
          <p:cNvPr id="3" name="C9F754DE-2CAD-44b6-B708-469DEB6407EB-1" descr="wpp"/>
          <p:cNvPicPr>
            <a:picLocks noChangeAspect="1"/>
          </p:cNvPicPr>
          <p:nvPr/>
        </p:nvPicPr>
        <p:blipFill>
          <a:blip r:embed="rId1"/>
          <a:stretch>
            <a:fillRect/>
          </a:stretch>
        </p:blipFill>
        <p:spPr>
          <a:xfrm>
            <a:off x="1930400" y="654050"/>
            <a:ext cx="8331200" cy="55499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95800" y="3048000"/>
            <a:ext cx="2909570" cy="754380"/>
          </a:xfrm>
          <a:prstGeom prst="rect">
            <a:avLst/>
          </a:prstGeom>
        </p:spPr>
        <p:txBody>
          <a:bodyPr vert="horz" wrap="square" lIns="0" tIns="15875" rIns="0" bIns="0" rtlCol="0">
            <a:spAutoFit/>
          </a:bodyPr>
          <a:lstStyle/>
          <a:p>
            <a:pPr marL="12700" algn="ctr">
              <a:lnSpc>
                <a:spcPct val="100000"/>
              </a:lnSpc>
              <a:spcBef>
                <a:spcPts val="125"/>
              </a:spcBef>
            </a:pPr>
            <a:r>
              <a:rPr sz="4800" b="1" spc="25" dirty="0"/>
              <a:t>数据相关</a:t>
            </a:r>
            <a:endParaRPr sz="4800" b="1" spc="25" dirty="0"/>
          </a:p>
        </p:txBody>
      </p:sp>
      <p:sp>
        <p:nvSpPr>
          <p:cNvPr id="3" name="灯片编号占位符 2"/>
          <p:cNvSpPr>
            <a:spLocks noGrp="1"/>
          </p:cNvSpPr>
          <p:nvPr>
            <p:ph type="sldNum" sz="quarter" idx="7"/>
          </p:nvPr>
        </p:nvSpPr>
        <p:spPr/>
        <p:txBody>
          <a:bodyPr/>
          <a:p>
            <a:fld id="{B6F15528-21DE-4FAA-801E-634DDDAF4B2B}" type="slidenum">
              <a:rPr/>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7"/>
          </p:nvPr>
        </p:nvSpPr>
        <p:spPr/>
        <p:txBody>
          <a:bodyPr/>
          <a:p>
            <a:fld id="{B6F15528-21DE-4FAA-801E-634DDDAF4B2B}" type="slidenum">
              <a:rPr/>
            </a:fld>
            <a:endParaRPr/>
          </a:p>
        </p:txBody>
      </p:sp>
      <p:sp>
        <p:nvSpPr>
          <p:cNvPr id="6" name="文本框 5"/>
          <p:cNvSpPr txBox="1"/>
          <p:nvPr/>
        </p:nvSpPr>
        <p:spPr>
          <a:xfrm>
            <a:off x="228600" y="304800"/>
            <a:ext cx="7123430" cy="460375"/>
          </a:xfrm>
          <a:prstGeom prst="rect">
            <a:avLst/>
          </a:prstGeom>
          <a:noFill/>
        </p:spPr>
        <p:txBody>
          <a:bodyPr wrap="square" rtlCol="0" anchor="t">
            <a:spAutoFit/>
          </a:bodyPr>
          <a:p>
            <a:r>
              <a:rPr sz="2400" dirty="0">
                <a:latin typeface="微软雅黑" panose="020B0503020204020204" charset="-122"/>
                <a:ea typeface="微软雅黑" panose="020B0503020204020204" charset="-122"/>
                <a:cs typeface="微软雅黑" panose="020B0503020204020204" charset="-122"/>
              </a:rPr>
              <a:t>如图所示，假定我们收集了一批西瓜的数据。</a:t>
            </a:r>
            <a:endParaRPr lang="zh-CN" altLang="en-US"/>
          </a:p>
        </p:txBody>
      </p:sp>
      <p:pic>
        <p:nvPicPr>
          <p:cNvPr id="7" name="图片 6" descr="640"/>
          <p:cNvPicPr>
            <a:picLocks noChangeAspect="1"/>
          </p:cNvPicPr>
          <p:nvPr>
            <p:custDataLst>
              <p:tags r:id="rId1"/>
            </p:custDataLst>
          </p:nvPr>
        </p:nvPicPr>
        <p:blipFill>
          <a:blip r:embed="rId2"/>
          <a:stretch>
            <a:fillRect/>
          </a:stretch>
        </p:blipFill>
        <p:spPr>
          <a:xfrm>
            <a:off x="304800" y="838200"/>
            <a:ext cx="6096000" cy="4591050"/>
          </a:xfrm>
          <a:prstGeom prst="rect">
            <a:avLst/>
          </a:prstGeom>
        </p:spPr>
      </p:pic>
      <p:sp>
        <p:nvSpPr>
          <p:cNvPr id="8" name="文本框 7"/>
          <p:cNvSpPr txBox="1"/>
          <p:nvPr/>
        </p:nvSpPr>
        <p:spPr>
          <a:xfrm>
            <a:off x="6705600" y="685800"/>
            <a:ext cx="5379085" cy="953135"/>
          </a:xfrm>
          <a:prstGeom prst="rect">
            <a:avLst/>
          </a:prstGeom>
          <a:noFill/>
        </p:spPr>
        <p:txBody>
          <a:bodyPr wrap="square" rtlCol="0" anchor="t">
            <a:spAutoFit/>
          </a:bodyPr>
          <a:p>
            <a:r>
              <a:rPr sz="2000" dirty="0">
                <a:solidFill>
                  <a:schemeClr val="accent6"/>
                </a:solidFill>
                <a:latin typeface="微软雅黑" panose="020B0503020204020204" charset="-122"/>
                <a:ea typeface="微软雅黑" panose="020B0503020204020204" charset="-122"/>
                <a:cs typeface="微软雅黑" panose="020B0503020204020204" charset="-122"/>
              </a:rPr>
              <a:t>【示例、样本】</a:t>
            </a:r>
            <a:r>
              <a:rPr sz="2000" dirty="0">
                <a:latin typeface="微软雅黑" panose="020B0503020204020204" charset="-122"/>
                <a:ea typeface="微软雅黑" panose="020B0503020204020204" charset="-122"/>
                <a:cs typeface="微软雅黑" panose="020B0503020204020204" charset="-122"/>
              </a:rPr>
              <a:t>：对一个西瓜的描述</a:t>
            </a:r>
            <a:endParaRPr sz="2000" dirty="0">
              <a:latin typeface="微软雅黑" panose="020B0503020204020204" charset="-122"/>
              <a:ea typeface="微软雅黑" panose="020B0503020204020204" charset="-122"/>
              <a:cs typeface="微软雅黑" panose="020B0503020204020204" charset="-122"/>
            </a:endParaRPr>
          </a:p>
          <a:p>
            <a:endParaRPr lang="zh-CN" altLang="en-US"/>
          </a:p>
          <a:p>
            <a:r>
              <a:rPr lang="en-US" altLang="zh-CN" sz="1600"/>
              <a:t>    </a:t>
            </a:r>
            <a:r>
              <a:rPr dirty="0">
                <a:latin typeface="微软雅黑" panose="020B0503020204020204" charset="-122"/>
                <a:ea typeface="微软雅黑" panose="020B0503020204020204" charset="-122"/>
                <a:cs typeface="微软雅黑" panose="020B0503020204020204" charset="-122"/>
              </a:rPr>
              <a:t>eg：x1=（色泽=青绿；根蒂=蜷缩；敲声=浊响）</a:t>
            </a:r>
            <a:endParaRPr lang="zh-CN" altLang="en-US"/>
          </a:p>
        </p:txBody>
      </p:sp>
      <p:sp>
        <p:nvSpPr>
          <p:cNvPr id="10" name="文本框 9"/>
          <p:cNvSpPr txBox="1"/>
          <p:nvPr/>
        </p:nvSpPr>
        <p:spPr>
          <a:xfrm>
            <a:off x="6705600" y="2057400"/>
            <a:ext cx="5379085" cy="1260475"/>
          </a:xfrm>
          <a:prstGeom prst="rect">
            <a:avLst/>
          </a:prstGeom>
          <a:noFill/>
        </p:spPr>
        <p:txBody>
          <a:bodyPr wrap="square" rtlCol="0" anchor="t">
            <a:spAutoFit/>
          </a:bodyPr>
          <a:p>
            <a:r>
              <a:rPr sz="2000" dirty="0">
                <a:solidFill>
                  <a:schemeClr val="accent6"/>
                </a:solidFill>
                <a:latin typeface="微软雅黑" panose="020B0503020204020204" charset="-122"/>
                <a:ea typeface="微软雅黑" panose="020B0503020204020204" charset="-122"/>
                <a:cs typeface="微软雅黑" panose="020B0503020204020204" charset="-122"/>
              </a:rPr>
              <a:t>【数据集】</a:t>
            </a:r>
            <a:r>
              <a:rPr sz="2000" dirty="0">
                <a:latin typeface="微软雅黑" panose="020B0503020204020204" charset="-122"/>
                <a:ea typeface="微软雅黑" panose="020B0503020204020204" charset="-122"/>
                <a:cs typeface="微软雅黑" panose="020B0503020204020204" charset="-122"/>
              </a:rPr>
              <a:t>：一组记录的集合，一组“对西瓜的描述”的集合。</a:t>
            </a:r>
            <a:endParaRPr sz="2000" dirty="0">
              <a:latin typeface="微软雅黑" panose="020B0503020204020204" charset="-122"/>
              <a:ea typeface="微软雅黑" panose="020B0503020204020204" charset="-122"/>
              <a:cs typeface="微软雅黑" panose="020B0503020204020204" charset="-122"/>
            </a:endParaRPr>
          </a:p>
          <a:p>
            <a:endParaRPr lang="zh-CN" altLang="en-US"/>
          </a:p>
          <a:p>
            <a:r>
              <a:rPr lang="en-US" altLang="zh-CN" sz="1600"/>
              <a:t>    </a:t>
            </a:r>
            <a:r>
              <a:rPr dirty="0">
                <a:latin typeface="微软雅黑" panose="020B0503020204020204" charset="-122"/>
                <a:ea typeface="微软雅黑" panose="020B0503020204020204" charset="-122"/>
                <a:cs typeface="微软雅黑" panose="020B0503020204020204" charset="-122"/>
              </a:rPr>
              <a:t>eg：D={x1,x2,x3...xm} </a:t>
            </a:r>
            <a:endParaRPr lang="zh-CN" altLang="en-US"/>
          </a:p>
        </p:txBody>
      </p:sp>
      <p:sp>
        <p:nvSpPr>
          <p:cNvPr id="12" name="文本框 11"/>
          <p:cNvSpPr txBox="1"/>
          <p:nvPr/>
        </p:nvSpPr>
        <p:spPr>
          <a:xfrm>
            <a:off x="6705600" y="3505200"/>
            <a:ext cx="5379085" cy="953135"/>
          </a:xfrm>
          <a:prstGeom prst="rect">
            <a:avLst/>
          </a:prstGeom>
          <a:noFill/>
        </p:spPr>
        <p:txBody>
          <a:bodyPr wrap="square" rtlCol="0" anchor="t">
            <a:spAutoFit/>
          </a:bodyPr>
          <a:p>
            <a:r>
              <a:rPr sz="2000" dirty="0">
                <a:solidFill>
                  <a:schemeClr val="accent6"/>
                </a:solidFill>
                <a:latin typeface="微软雅黑" panose="020B0503020204020204" charset="-122"/>
                <a:ea typeface="微软雅黑" panose="020B0503020204020204" charset="-122"/>
                <a:cs typeface="微软雅黑" panose="020B0503020204020204" charset="-122"/>
              </a:rPr>
              <a:t>【属性、特征】</a:t>
            </a:r>
            <a:r>
              <a:rPr sz="2000" dirty="0">
                <a:latin typeface="微软雅黑" panose="020B0503020204020204" charset="-122"/>
                <a:ea typeface="微软雅黑" panose="020B0503020204020204" charset="-122"/>
                <a:cs typeface="微软雅黑" panose="020B0503020204020204" charset="-122"/>
              </a:rPr>
              <a:t>：</a:t>
            </a:r>
            <a:endParaRPr sz="2000" dirty="0">
              <a:latin typeface="微软雅黑" panose="020B0503020204020204" charset="-122"/>
              <a:ea typeface="微软雅黑" panose="020B0503020204020204" charset="-122"/>
              <a:cs typeface="微软雅黑" panose="020B0503020204020204" charset="-122"/>
            </a:endParaRPr>
          </a:p>
          <a:p>
            <a:endParaRPr lang="zh-CN" altLang="en-US"/>
          </a:p>
          <a:p>
            <a:r>
              <a:rPr lang="en-US" altLang="zh-CN" sz="1600"/>
              <a:t>    </a:t>
            </a:r>
            <a:r>
              <a:rPr dirty="0">
                <a:latin typeface="微软雅黑" panose="020B0503020204020204" charset="-122"/>
                <a:ea typeface="微软雅黑" panose="020B0503020204020204" charset="-122"/>
                <a:cs typeface="微软雅黑" panose="020B0503020204020204" charset="-122"/>
              </a:rPr>
              <a:t>eg：色泽</a:t>
            </a:r>
            <a:r>
              <a:rPr lang="en-US" dirty="0">
                <a:latin typeface="微软雅黑" panose="020B0503020204020204" charset="-122"/>
                <a:ea typeface="微软雅黑" panose="020B0503020204020204" charset="-122"/>
                <a:cs typeface="微软雅黑" panose="020B0503020204020204" charset="-122"/>
              </a:rPr>
              <a:t>; </a:t>
            </a:r>
            <a:r>
              <a:rPr dirty="0">
                <a:latin typeface="微软雅黑" panose="020B0503020204020204" charset="-122"/>
                <a:ea typeface="微软雅黑" panose="020B0503020204020204" charset="-122"/>
                <a:cs typeface="微软雅黑" panose="020B0503020204020204" charset="-122"/>
              </a:rPr>
              <a:t>根蒂</a:t>
            </a:r>
            <a:r>
              <a:rPr lang="en-US" dirty="0">
                <a:latin typeface="微软雅黑" panose="020B0503020204020204" charset="-122"/>
                <a:ea typeface="微软雅黑" panose="020B0503020204020204" charset="-122"/>
                <a:cs typeface="微软雅黑" panose="020B0503020204020204" charset="-122"/>
              </a:rPr>
              <a:t>; </a:t>
            </a:r>
            <a:r>
              <a:rPr dirty="0">
                <a:latin typeface="微软雅黑" panose="020B0503020204020204" charset="-122"/>
                <a:ea typeface="微软雅黑" panose="020B0503020204020204" charset="-122"/>
                <a:cs typeface="微软雅黑" panose="020B0503020204020204" charset="-122"/>
              </a:rPr>
              <a:t>敲声</a:t>
            </a:r>
            <a:endParaRPr dirty="0">
              <a:latin typeface="微软雅黑" panose="020B0503020204020204" charset="-122"/>
              <a:ea typeface="微软雅黑" panose="020B0503020204020204" charset="-122"/>
              <a:cs typeface="微软雅黑" panose="020B0503020204020204" charset="-122"/>
            </a:endParaRPr>
          </a:p>
        </p:txBody>
      </p:sp>
      <p:sp>
        <p:nvSpPr>
          <p:cNvPr id="14" name="文本框 13"/>
          <p:cNvSpPr txBox="1"/>
          <p:nvPr/>
        </p:nvSpPr>
        <p:spPr>
          <a:xfrm>
            <a:off x="6705600" y="4572000"/>
            <a:ext cx="5379085" cy="1506855"/>
          </a:xfrm>
          <a:prstGeom prst="rect">
            <a:avLst/>
          </a:prstGeom>
          <a:noFill/>
        </p:spPr>
        <p:txBody>
          <a:bodyPr wrap="square" rtlCol="0" anchor="t">
            <a:spAutoFit/>
          </a:bodyPr>
          <a:p>
            <a:r>
              <a:rPr sz="2000" dirty="0">
                <a:solidFill>
                  <a:schemeClr val="accent6"/>
                </a:solidFill>
                <a:latin typeface="微软雅黑" panose="020B0503020204020204" charset="-122"/>
                <a:ea typeface="微软雅黑" panose="020B0503020204020204" charset="-122"/>
                <a:cs typeface="微软雅黑" panose="020B0503020204020204" charset="-122"/>
              </a:rPr>
              <a:t>【属性值】</a:t>
            </a:r>
            <a:r>
              <a:rPr sz="2000" dirty="0">
                <a:latin typeface="微软雅黑" panose="020B0503020204020204" charset="-122"/>
                <a:ea typeface="微软雅黑" panose="020B0503020204020204" charset="-122"/>
                <a:cs typeface="微软雅黑" panose="020B0503020204020204" charset="-122"/>
              </a:rPr>
              <a:t>：</a:t>
            </a:r>
            <a:endParaRPr sz="2000" dirty="0">
              <a:latin typeface="微软雅黑" panose="020B0503020204020204" charset="-122"/>
              <a:ea typeface="微软雅黑" panose="020B0503020204020204" charset="-122"/>
              <a:cs typeface="微软雅黑" panose="020B0503020204020204" charset="-122"/>
            </a:endParaRPr>
          </a:p>
          <a:p>
            <a:endParaRPr lang="zh-CN" altLang="en-US"/>
          </a:p>
          <a:p>
            <a:r>
              <a:rPr lang="en-US" altLang="zh-CN" sz="1600"/>
              <a:t>    </a:t>
            </a:r>
            <a:r>
              <a:rPr dirty="0">
                <a:latin typeface="微软雅黑" panose="020B0503020204020204" charset="-122"/>
                <a:ea typeface="微软雅黑" panose="020B0503020204020204" charset="-122"/>
                <a:cs typeface="微软雅黑" panose="020B0503020204020204" charset="-122"/>
              </a:rPr>
              <a:t>eg：  =青绿</a:t>
            </a:r>
            <a:r>
              <a:rPr lang="en-US" dirty="0">
                <a:latin typeface="微软雅黑" panose="020B0503020204020204" charset="-122"/>
                <a:ea typeface="微软雅黑" panose="020B0503020204020204" charset="-122"/>
                <a:cs typeface="微软雅黑" panose="020B0503020204020204" charset="-122"/>
              </a:rPr>
              <a:t>;  </a:t>
            </a:r>
            <a:r>
              <a:rPr dirty="0">
                <a:latin typeface="微软雅黑" panose="020B0503020204020204" charset="-122"/>
                <a:ea typeface="微软雅黑" panose="020B0503020204020204" charset="-122"/>
                <a:cs typeface="微软雅黑" panose="020B0503020204020204" charset="-122"/>
              </a:rPr>
              <a:t>=蜷缩</a:t>
            </a:r>
            <a:r>
              <a:rPr lang="en-US" dirty="0">
                <a:latin typeface="微软雅黑" panose="020B0503020204020204" charset="-122"/>
                <a:ea typeface="微软雅黑" panose="020B0503020204020204" charset="-122"/>
                <a:cs typeface="微软雅黑" panose="020B0503020204020204" charset="-122"/>
              </a:rPr>
              <a:t>;</a:t>
            </a:r>
            <a:r>
              <a:rPr dirty="0">
                <a:latin typeface="微软雅黑" panose="020B0503020204020204" charset="-122"/>
                <a:ea typeface="微软雅黑" panose="020B0503020204020204" charset="-122"/>
                <a:cs typeface="微软雅黑" panose="020B0503020204020204" charset="-122"/>
              </a:rPr>
              <a:t> =浊响</a:t>
            </a:r>
            <a:endParaRPr dirty="0">
              <a:latin typeface="微软雅黑" panose="020B0503020204020204" charset="-122"/>
              <a:ea typeface="微软雅黑" panose="020B0503020204020204" charset="-122"/>
              <a:cs typeface="微软雅黑" panose="020B0503020204020204" charset="-122"/>
            </a:endParaRPr>
          </a:p>
          <a:p>
            <a:endParaRPr dirty="0">
              <a:latin typeface="微软雅黑" panose="020B0503020204020204" charset="-122"/>
              <a:ea typeface="微软雅黑" panose="020B0503020204020204" charset="-122"/>
              <a:cs typeface="微软雅黑" panose="020B0503020204020204" charset="-122"/>
            </a:endParaRPr>
          </a:p>
          <a:p>
            <a:endParaRPr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7"/>
          </p:nvPr>
        </p:nvSpPr>
        <p:spPr/>
        <p:txBody>
          <a:bodyPr/>
          <a:p>
            <a:fld id="{B6F15528-21DE-4FAA-801E-634DDDAF4B2B}" type="slidenum">
              <a:rPr/>
            </a:fld>
            <a:endParaRPr/>
          </a:p>
        </p:txBody>
      </p:sp>
      <p:pic>
        <p:nvPicPr>
          <p:cNvPr id="7" name="图片 6" descr="640"/>
          <p:cNvPicPr>
            <a:picLocks noChangeAspect="1"/>
          </p:cNvPicPr>
          <p:nvPr>
            <p:custDataLst>
              <p:tags r:id="rId1"/>
            </p:custDataLst>
          </p:nvPr>
        </p:nvPicPr>
        <p:blipFill>
          <a:blip r:embed="rId2"/>
          <a:stretch>
            <a:fillRect/>
          </a:stretch>
        </p:blipFill>
        <p:spPr>
          <a:xfrm>
            <a:off x="304800" y="685800"/>
            <a:ext cx="4540250" cy="3217545"/>
          </a:xfrm>
          <a:prstGeom prst="rect">
            <a:avLst/>
          </a:prstGeom>
        </p:spPr>
      </p:pic>
      <p:sp>
        <p:nvSpPr>
          <p:cNvPr id="12" name="文本框 11"/>
          <p:cNvSpPr txBox="1"/>
          <p:nvPr/>
        </p:nvSpPr>
        <p:spPr>
          <a:xfrm>
            <a:off x="5638800" y="381000"/>
            <a:ext cx="5379085" cy="1229995"/>
          </a:xfrm>
          <a:prstGeom prst="rect">
            <a:avLst/>
          </a:prstGeom>
          <a:noFill/>
        </p:spPr>
        <p:txBody>
          <a:bodyPr wrap="square" rtlCol="0" anchor="t">
            <a:spAutoFit/>
          </a:bodyPr>
          <a:p>
            <a:r>
              <a:rPr sz="2000" dirty="0">
                <a:solidFill>
                  <a:schemeClr val="accent6"/>
                </a:solidFill>
                <a:latin typeface="微软雅黑" panose="020B0503020204020204" charset="-122"/>
                <a:ea typeface="微软雅黑" panose="020B0503020204020204" charset="-122"/>
                <a:cs typeface="微软雅黑" panose="020B0503020204020204" charset="-122"/>
              </a:rPr>
              <a:t>【属性空间、样本空间、输入空间】：</a:t>
            </a:r>
            <a:r>
              <a:rPr sz="1800" dirty="0">
                <a:latin typeface="微软雅黑" panose="020B0503020204020204" charset="-122"/>
                <a:ea typeface="微软雅黑" panose="020B0503020204020204" charset="-122"/>
                <a:cs typeface="微软雅黑" panose="020B0503020204020204" charset="-122"/>
              </a:rPr>
              <a:t>以西瓜的三种属性为三个坐标轴，建立坐标系得到的空间。（此图系在假设属性值为</a:t>
            </a:r>
            <a:r>
              <a:rPr sz="1800" dirty="0">
                <a:solidFill>
                  <a:srgbClr val="FF0000"/>
                </a:solidFill>
                <a:latin typeface="微软雅黑" panose="020B0503020204020204" charset="-122"/>
                <a:ea typeface="微软雅黑" panose="020B0503020204020204" charset="-122"/>
                <a:cs typeface="微软雅黑" panose="020B0503020204020204" charset="-122"/>
              </a:rPr>
              <a:t>连续</a:t>
            </a:r>
            <a:r>
              <a:rPr sz="1800" dirty="0">
                <a:latin typeface="微软雅黑" panose="020B0503020204020204" charset="-122"/>
                <a:ea typeface="微软雅黑" panose="020B0503020204020204" charset="-122"/>
                <a:cs typeface="微软雅黑" panose="020B0503020204020204" charset="-122"/>
              </a:rPr>
              <a:t>而非离散的基础上绘制）</a:t>
            </a:r>
            <a:endParaRPr dirty="0">
              <a:latin typeface="微软雅黑" panose="020B0503020204020204" charset="-122"/>
              <a:ea typeface="微软雅黑" panose="020B0503020204020204" charset="-122"/>
              <a:cs typeface="微软雅黑" panose="020B0503020204020204" charset="-122"/>
            </a:endParaRPr>
          </a:p>
        </p:txBody>
      </p:sp>
      <p:sp>
        <p:nvSpPr>
          <p:cNvPr id="14" name="文本框 13"/>
          <p:cNvSpPr txBox="1"/>
          <p:nvPr/>
        </p:nvSpPr>
        <p:spPr>
          <a:xfrm>
            <a:off x="4724400" y="4419600"/>
            <a:ext cx="6608445" cy="1783715"/>
          </a:xfrm>
          <a:prstGeom prst="rect">
            <a:avLst/>
          </a:prstGeom>
          <a:noFill/>
        </p:spPr>
        <p:txBody>
          <a:bodyPr wrap="square" rtlCol="0" anchor="t">
            <a:spAutoFit/>
          </a:bodyPr>
          <a:p>
            <a:pPr>
              <a:lnSpc>
                <a:spcPct val="110000"/>
              </a:lnSpc>
            </a:pPr>
            <a:r>
              <a:rPr sz="2000" dirty="0">
                <a:solidFill>
                  <a:schemeClr val="accent6"/>
                </a:solidFill>
                <a:latin typeface="微软雅黑" panose="020B0503020204020204" charset="-122"/>
                <a:ea typeface="微软雅黑" panose="020B0503020204020204" charset="-122"/>
                <a:cs typeface="微软雅黑" panose="020B0503020204020204" charset="-122"/>
              </a:rPr>
              <a:t>【特征向量】</a:t>
            </a:r>
            <a:r>
              <a:rPr sz="2000" dirty="0">
                <a:latin typeface="微软雅黑" panose="020B0503020204020204" charset="-122"/>
                <a:ea typeface="微软雅黑" panose="020B0503020204020204" charset="-122"/>
                <a:cs typeface="微软雅黑" panose="020B0503020204020204" charset="-122"/>
              </a:rPr>
              <a:t>：西瓜的三个属性的属性值可以在属性空间坐标轴上找到属于自己的坐标，由此找到空间中符合三个属性值的一个坐标点。由于空间中每一个点对应一个坐标向量，故一个示例可以在d个属性围成的d维属性空间中表示成一个向量。</a:t>
            </a:r>
            <a:endParaRPr dirty="0">
              <a:latin typeface="微软雅黑" panose="020B0503020204020204" charset="-122"/>
              <a:ea typeface="微软雅黑" panose="020B0503020204020204" charset="-122"/>
              <a:cs typeface="微软雅黑" panose="020B0503020204020204" charset="-122"/>
            </a:endParaRPr>
          </a:p>
        </p:txBody>
      </p:sp>
      <p:pic>
        <p:nvPicPr>
          <p:cNvPr id="3" name="图片 2" descr="640"/>
          <p:cNvPicPr>
            <a:picLocks noChangeAspect="1"/>
          </p:cNvPicPr>
          <p:nvPr/>
        </p:nvPicPr>
        <p:blipFill>
          <a:blip r:embed="rId3"/>
          <a:stretch>
            <a:fillRect/>
          </a:stretch>
        </p:blipFill>
        <p:spPr>
          <a:xfrm>
            <a:off x="6248400" y="1447800"/>
            <a:ext cx="3376295" cy="2094865"/>
          </a:xfrm>
          <a:prstGeom prst="rect">
            <a:avLst/>
          </a:prstGeom>
        </p:spPr>
      </p:pic>
      <p:pic>
        <p:nvPicPr>
          <p:cNvPr id="5" name="图片 4" descr="640"/>
          <p:cNvPicPr>
            <a:picLocks noChangeAspect="1"/>
          </p:cNvPicPr>
          <p:nvPr/>
        </p:nvPicPr>
        <p:blipFill>
          <a:blip r:embed="rId4"/>
          <a:stretch>
            <a:fillRect/>
          </a:stretch>
        </p:blipFill>
        <p:spPr>
          <a:xfrm>
            <a:off x="457200" y="4191000"/>
            <a:ext cx="4184015" cy="2606040"/>
          </a:xfrm>
          <a:prstGeom prst="rect">
            <a:avLst/>
          </a:prstGeom>
        </p:spPr>
      </p:pic>
      <p:sp>
        <p:nvSpPr>
          <p:cNvPr id="6" name="文本框 5"/>
          <p:cNvSpPr txBox="1"/>
          <p:nvPr/>
        </p:nvSpPr>
        <p:spPr>
          <a:xfrm>
            <a:off x="228600" y="304800"/>
            <a:ext cx="7123430" cy="398780"/>
          </a:xfrm>
          <a:prstGeom prst="rect">
            <a:avLst/>
          </a:prstGeom>
          <a:noFill/>
        </p:spPr>
        <p:txBody>
          <a:bodyPr wrap="square" rtlCol="0" anchor="t">
            <a:spAutoFit/>
          </a:bodyPr>
          <a:p>
            <a:r>
              <a:rPr sz="2000" dirty="0">
                <a:latin typeface="微软雅黑" panose="020B0503020204020204" charset="-122"/>
                <a:ea typeface="微软雅黑" panose="020B0503020204020204" charset="-122"/>
                <a:cs typeface="微软雅黑" panose="020B0503020204020204" charset="-122"/>
              </a:rPr>
              <a:t>如图所示，假定我们收集了一批西瓜的数据。</a:t>
            </a:r>
            <a:endParaRPr lang="zh-CN" altLang="en-US" sz="20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7"/>
          </p:nvPr>
        </p:nvSpPr>
        <p:spPr/>
        <p:txBody>
          <a:bodyPr/>
          <a:p>
            <a:fld id="{B6F15528-21DE-4FAA-801E-634DDDAF4B2B}" type="slidenum">
              <a:rPr/>
            </a:fld>
            <a:endParaRPr/>
          </a:p>
        </p:txBody>
      </p:sp>
      <p:sp>
        <p:nvSpPr>
          <p:cNvPr id="5" name="文本框 4"/>
          <p:cNvSpPr txBox="1"/>
          <p:nvPr/>
        </p:nvSpPr>
        <p:spPr>
          <a:xfrm>
            <a:off x="685800" y="152400"/>
            <a:ext cx="9821545" cy="398780"/>
          </a:xfrm>
          <a:prstGeom prst="rect">
            <a:avLst/>
          </a:prstGeom>
          <a:noFill/>
        </p:spPr>
        <p:txBody>
          <a:bodyPr wrap="square" rtlCol="0" anchor="t">
            <a:spAutoFit/>
          </a:bodyPr>
          <a:p>
            <a:r>
              <a:rPr sz="2000" dirty="0">
                <a:solidFill>
                  <a:schemeClr val="accent6"/>
                </a:solidFill>
                <a:latin typeface="微软雅黑" panose="020B0503020204020204" charset="-122"/>
                <a:ea typeface="微软雅黑" panose="020B0503020204020204" charset="-122"/>
                <a:cs typeface="微软雅黑" panose="020B0503020204020204" charset="-122"/>
              </a:rPr>
              <a:t>【预测】：</a:t>
            </a:r>
            <a:r>
              <a:rPr sz="2000" dirty="0">
                <a:latin typeface="微软雅黑" panose="020B0503020204020204" charset="-122"/>
                <a:ea typeface="微软雅黑" panose="020B0503020204020204" charset="-122"/>
                <a:cs typeface="微软雅黑" panose="020B0503020204020204" charset="-122"/>
              </a:rPr>
              <a:t>依靠机器学习得到的模型，对新示例进行结果判断。</a:t>
            </a:r>
            <a:endParaRPr sz="2000" dirty="0">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nvSpPr>
        <p:spPr>
          <a:xfrm>
            <a:off x="685800" y="685800"/>
            <a:ext cx="9821545" cy="5908040"/>
          </a:xfrm>
          <a:prstGeom prst="rect">
            <a:avLst/>
          </a:prstGeom>
          <a:noFill/>
        </p:spPr>
        <p:txBody>
          <a:bodyPr wrap="square" rtlCol="0" anchor="t">
            <a:spAutoFit/>
          </a:bodyPr>
          <a:p>
            <a:r>
              <a:rPr sz="2000" dirty="0">
                <a:solidFill>
                  <a:schemeClr val="accent6"/>
                </a:solidFill>
                <a:latin typeface="微软雅黑" panose="020B0503020204020204" charset="-122"/>
                <a:ea typeface="微软雅黑" panose="020B0503020204020204" charset="-122"/>
                <a:cs typeface="微软雅黑" panose="020B0503020204020204" charset="-122"/>
              </a:rPr>
              <a:t>【标记空间、输出空间】：</a:t>
            </a:r>
            <a:r>
              <a:rPr sz="2000" dirty="0">
                <a:latin typeface="微软雅黑" panose="020B0503020204020204" charset="-122"/>
                <a:ea typeface="微软雅黑" panose="020B0503020204020204" charset="-122"/>
                <a:cs typeface="微软雅黑" panose="020B0503020204020204" charset="-122"/>
              </a:rPr>
              <a:t>所有标记的集合。</a:t>
            </a:r>
            <a:endParaRPr sz="2000" dirty="0">
              <a:solidFill>
                <a:schemeClr val="accent6"/>
              </a:solidFill>
              <a:latin typeface="微软雅黑" panose="020B0503020204020204" charset="-122"/>
              <a:ea typeface="微软雅黑" panose="020B0503020204020204" charset="-122"/>
              <a:cs typeface="微软雅黑" panose="020B0503020204020204" charset="-122"/>
            </a:endParaRPr>
          </a:p>
          <a:p>
            <a:endParaRPr sz="2000" dirty="0">
              <a:solidFill>
                <a:schemeClr val="accent6"/>
              </a:solidFill>
              <a:latin typeface="微软雅黑" panose="020B0503020204020204" charset="-122"/>
              <a:ea typeface="微软雅黑" panose="020B0503020204020204" charset="-122"/>
              <a:cs typeface="微软雅黑" panose="020B0503020204020204" charset="-122"/>
            </a:endParaRPr>
          </a:p>
          <a:p>
            <a:pPr marL="342900" indent="-342900">
              <a:buFont typeface="Arial" panose="020B0604020202020204" pitchFamily="34" charset="0"/>
              <a:buChar char="•"/>
            </a:pPr>
            <a:r>
              <a:rPr sz="2000" dirty="0">
                <a:latin typeface="微软雅黑" panose="020B0503020204020204" charset="-122"/>
                <a:ea typeface="微软雅黑" panose="020B0503020204020204" charset="-122"/>
                <a:cs typeface="微软雅黑" panose="020B0503020204020204" charset="-122"/>
              </a:rPr>
              <a:t>当标记值是</a:t>
            </a:r>
            <a:r>
              <a:rPr sz="2000" dirty="0">
                <a:solidFill>
                  <a:srgbClr val="FF0000"/>
                </a:solidFill>
                <a:latin typeface="微软雅黑" panose="020B0503020204020204" charset="-122"/>
                <a:ea typeface="微软雅黑" panose="020B0503020204020204" charset="-122"/>
                <a:cs typeface="微软雅黑" panose="020B0503020204020204" charset="-122"/>
              </a:rPr>
              <a:t>离散值</a:t>
            </a:r>
            <a:r>
              <a:rPr sz="2000" dirty="0">
                <a:latin typeface="微软雅黑" panose="020B0503020204020204" charset="-122"/>
                <a:ea typeface="微软雅黑" panose="020B0503020204020204" charset="-122"/>
                <a:cs typeface="微软雅黑" panose="020B0503020204020204" charset="-122"/>
              </a:rPr>
              <a:t>的时候，Y={y1，y2，y3，...yj，...yn}（此时y的序号j并不代表第几个样例，而代表标记的第几个取值，n表示标记可以取n个值）在好瓜与坏瓜的问题上，n=2，即标记可以取两个值。</a:t>
            </a:r>
            <a:endParaRPr sz="2000" dirty="0">
              <a:latin typeface="微软雅黑" panose="020B0503020204020204" charset="-122"/>
              <a:ea typeface="微软雅黑" panose="020B0503020204020204" charset="-122"/>
              <a:cs typeface="微软雅黑" panose="020B0503020204020204" charset="-122"/>
            </a:endParaRPr>
          </a:p>
          <a:p>
            <a:pPr marL="342900" indent="-342900">
              <a:buFont typeface="Arial" panose="020B0604020202020204" pitchFamily="34" charset="0"/>
              <a:buChar char="•"/>
            </a:pPr>
            <a:endParaRPr sz="2000" dirty="0">
              <a:latin typeface="微软雅黑" panose="020B0503020204020204" charset="-122"/>
              <a:ea typeface="微软雅黑" panose="020B0503020204020204" charset="-122"/>
              <a:cs typeface="微软雅黑" panose="020B0503020204020204" charset="-122"/>
            </a:endParaRPr>
          </a:p>
          <a:p>
            <a:pPr marL="800100" lvl="1" indent="-342900">
              <a:buFont typeface="Arial" panose="020B0604020202020204" pitchFamily="34" charset="0"/>
              <a:buChar char="•"/>
            </a:pPr>
            <a:r>
              <a:rPr dirty="0">
                <a:latin typeface="微软雅黑" panose="020B0503020204020204" charset="-122"/>
                <a:ea typeface="微软雅黑" panose="020B0503020204020204" charset="-122"/>
                <a:cs typeface="微软雅黑" panose="020B0503020204020204" charset="-122"/>
              </a:rPr>
              <a:t>eg：Y={好瓜，坏瓜}</a:t>
            </a:r>
            <a:endParaRPr dirty="0">
              <a:latin typeface="微软雅黑" panose="020B0503020204020204" charset="-122"/>
              <a:ea typeface="微软雅黑" panose="020B0503020204020204" charset="-122"/>
              <a:cs typeface="微软雅黑" panose="020B0503020204020204" charset="-122"/>
            </a:endParaRPr>
          </a:p>
          <a:p>
            <a:pPr marL="342900" indent="-342900">
              <a:buFont typeface="Arial" panose="020B0604020202020204" pitchFamily="34" charset="0"/>
              <a:buChar char="•"/>
            </a:pPr>
            <a:endParaRPr sz="2000" dirty="0">
              <a:latin typeface="微软雅黑" panose="020B0503020204020204" charset="-122"/>
              <a:ea typeface="微软雅黑" panose="020B0503020204020204" charset="-122"/>
              <a:cs typeface="微软雅黑" panose="020B0503020204020204" charset="-122"/>
            </a:endParaRPr>
          </a:p>
          <a:p>
            <a:pPr marL="342900" indent="-342900">
              <a:buFont typeface="Arial" panose="020B0604020202020204" pitchFamily="34" charset="0"/>
              <a:buChar char="•"/>
            </a:pPr>
            <a:r>
              <a:rPr sz="2000" dirty="0">
                <a:latin typeface="微软雅黑" panose="020B0503020204020204" charset="-122"/>
                <a:ea typeface="微软雅黑" panose="020B0503020204020204" charset="-122"/>
                <a:cs typeface="微软雅黑" panose="020B0503020204020204" charset="-122"/>
              </a:rPr>
              <a:t>当标记值是</a:t>
            </a:r>
            <a:r>
              <a:rPr sz="2000" dirty="0">
                <a:solidFill>
                  <a:srgbClr val="FF0000"/>
                </a:solidFill>
                <a:latin typeface="微软雅黑" panose="020B0503020204020204" charset="-122"/>
                <a:ea typeface="微软雅黑" panose="020B0503020204020204" charset="-122"/>
                <a:cs typeface="微软雅黑" panose="020B0503020204020204" charset="-122"/>
              </a:rPr>
              <a:t>连续值</a:t>
            </a:r>
            <a:r>
              <a:rPr sz="2000" dirty="0">
                <a:latin typeface="微软雅黑" panose="020B0503020204020204" charset="-122"/>
                <a:ea typeface="微软雅黑" panose="020B0503020204020204" charset="-122"/>
                <a:cs typeface="微软雅黑" panose="020B0503020204020204" charset="-122"/>
              </a:rPr>
              <a:t>的时候，Y={yi=f(xi)}（此时yi则代表在取序号为i的示例xi时，标记的取值示例xi做自变量的函数f(xi)），如对西瓜的色泽、根蒂、敲声进行量化的统计，则可归纳出某种函数f(xi)，用以表达</a:t>
            </a:r>
            <a:r>
              <a:rPr sz="2000" dirty="0">
                <a:solidFill>
                  <a:srgbClr val="FF0000"/>
                </a:solidFill>
                <a:latin typeface="微软雅黑" panose="020B0503020204020204" charset="-122"/>
                <a:ea typeface="微软雅黑" panose="020B0503020204020204" charset="-122"/>
                <a:cs typeface="微软雅黑" panose="020B0503020204020204" charset="-122"/>
              </a:rPr>
              <a:t>西瓜的成熟程度值</a:t>
            </a:r>
            <a:r>
              <a:rPr sz="2000" dirty="0">
                <a:latin typeface="微软雅黑" panose="020B0503020204020204" charset="-122"/>
                <a:ea typeface="微软雅黑" panose="020B0503020204020204" charset="-122"/>
                <a:cs typeface="微软雅黑" panose="020B0503020204020204" charset="-122"/>
              </a:rPr>
              <a:t>，从而判断西瓜的好坏。</a:t>
            </a:r>
            <a:endParaRPr sz="2000" dirty="0">
              <a:latin typeface="微软雅黑" panose="020B0503020204020204" charset="-122"/>
              <a:ea typeface="微软雅黑" panose="020B0503020204020204" charset="-122"/>
              <a:cs typeface="微软雅黑" panose="020B0503020204020204" charset="-122"/>
            </a:endParaRPr>
          </a:p>
          <a:p>
            <a:pPr marL="342900" indent="-342900"/>
            <a:endParaRPr sz="2000" dirty="0">
              <a:latin typeface="微软雅黑" panose="020B0503020204020204" charset="-122"/>
              <a:ea typeface="微软雅黑" panose="020B0503020204020204" charset="-122"/>
              <a:cs typeface="微软雅黑" panose="020B0503020204020204" charset="-122"/>
            </a:endParaRPr>
          </a:p>
          <a:p>
            <a:r>
              <a:rPr sz="2000" dirty="0">
                <a:solidFill>
                  <a:schemeClr val="accent6"/>
                </a:solidFill>
                <a:latin typeface="微软雅黑" panose="020B0503020204020204" charset="-122"/>
                <a:ea typeface="微软雅黑" panose="020B0503020204020204" charset="-122"/>
                <a:cs typeface="微软雅黑" panose="020B0503020204020204" charset="-122"/>
              </a:rPr>
              <a:t>【分类】：</a:t>
            </a:r>
            <a:r>
              <a:rPr sz="2000" dirty="0">
                <a:latin typeface="微软雅黑" panose="020B0503020204020204" charset="-122"/>
                <a:ea typeface="微软雅黑" panose="020B0503020204020204" charset="-122"/>
                <a:cs typeface="微软雅黑" panose="020B0503020204020204" charset="-122"/>
              </a:rPr>
              <a:t>预测的是离散值。</a:t>
            </a:r>
            <a:endParaRPr sz="2000" dirty="0">
              <a:latin typeface="微软雅黑" panose="020B0503020204020204" charset="-122"/>
              <a:ea typeface="微软雅黑" panose="020B0503020204020204" charset="-122"/>
              <a:cs typeface="微软雅黑" panose="020B0503020204020204" charset="-122"/>
            </a:endParaRPr>
          </a:p>
          <a:p>
            <a:endParaRPr sz="2000" dirty="0">
              <a:latin typeface="微软雅黑" panose="020B0503020204020204" charset="-122"/>
              <a:ea typeface="微软雅黑" panose="020B0503020204020204" charset="-122"/>
              <a:cs typeface="微软雅黑" panose="020B0503020204020204" charset="-122"/>
            </a:endParaRPr>
          </a:p>
          <a:p>
            <a:pPr marL="800100" lvl="1" indent="-342900">
              <a:buFont typeface="Arial" panose="020B0604020202020204" pitchFamily="34" charset="0"/>
              <a:buChar char="•"/>
            </a:pPr>
            <a:r>
              <a:rPr sz="2000" dirty="0">
                <a:latin typeface="微软雅黑" panose="020B0503020204020204" charset="-122"/>
                <a:ea typeface="微软雅黑" panose="020B0503020204020204" charset="-122"/>
                <a:cs typeface="微软雅黑" panose="020B0503020204020204" charset="-122"/>
              </a:rPr>
              <a:t>eg：判断</a:t>
            </a:r>
            <a:r>
              <a:rPr lang="zh-CN" sz="2000" dirty="0">
                <a:latin typeface="微软雅黑" panose="020B0503020204020204" charset="-122"/>
                <a:ea typeface="微软雅黑" panose="020B0503020204020204" charset="-122"/>
                <a:cs typeface="微软雅黑" panose="020B0503020204020204" charset="-122"/>
              </a:rPr>
              <a:t>西</a:t>
            </a:r>
            <a:r>
              <a:rPr sz="2000" dirty="0">
                <a:latin typeface="微软雅黑" panose="020B0503020204020204" charset="-122"/>
                <a:ea typeface="微软雅黑" panose="020B0503020204020204" charset="-122"/>
                <a:cs typeface="微软雅黑" panose="020B0503020204020204" charset="-122"/>
              </a:rPr>
              <a:t>瓜的好坏。</a:t>
            </a:r>
            <a:endParaRPr sz="2000" dirty="0">
              <a:latin typeface="微软雅黑" panose="020B0503020204020204" charset="-122"/>
              <a:ea typeface="微软雅黑" panose="020B0503020204020204" charset="-122"/>
              <a:cs typeface="微软雅黑" panose="020B0503020204020204" charset="-122"/>
            </a:endParaRPr>
          </a:p>
          <a:p>
            <a:pPr marL="342900" indent="-342900"/>
            <a:endParaRPr sz="2000" dirty="0">
              <a:latin typeface="微软雅黑" panose="020B0503020204020204" charset="-122"/>
              <a:ea typeface="微软雅黑" panose="020B0503020204020204" charset="-122"/>
              <a:cs typeface="微软雅黑" panose="020B0503020204020204" charset="-122"/>
            </a:endParaRPr>
          </a:p>
          <a:p>
            <a:r>
              <a:rPr sz="2000" dirty="0">
                <a:solidFill>
                  <a:schemeClr val="accent6"/>
                </a:solidFill>
                <a:latin typeface="微软雅黑" panose="020B0503020204020204" charset="-122"/>
                <a:ea typeface="微软雅黑" panose="020B0503020204020204" charset="-122"/>
                <a:cs typeface="微软雅黑" panose="020B0503020204020204" charset="-122"/>
              </a:rPr>
              <a:t>【回归】：</a:t>
            </a:r>
            <a:r>
              <a:rPr sz="2000" dirty="0">
                <a:latin typeface="微软雅黑" panose="020B0503020204020204" charset="-122"/>
                <a:ea typeface="微软雅黑" panose="020B0503020204020204" charset="-122"/>
                <a:cs typeface="微软雅黑" panose="020B0503020204020204" charset="-122"/>
              </a:rPr>
              <a:t>预测的是连续值。</a:t>
            </a:r>
            <a:endParaRPr sz="2000" dirty="0">
              <a:latin typeface="微软雅黑" panose="020B0503020204020204" charset="-122"/>
              <a:ea typeface="微软雅黑" panose="020B0503020204020204" charset="-122"/>
              <a:cs typeface="微软雅黑" panose="020B0503020204020204" charset="-122"/>
            </a:endParaRPr>
          </a:p>
          <a:p>
            <a:endParaRPr sz="2000" dirty="0">
              <a:latin typeface="微软雅黑" panose="020B0503020204020204" charset="-122"/>
              <a:ea typeface="微软雅黑" panose="020B0503020204020204" charset="-122"/>
              <a:cs typeface="微软雅黑" panose="020B0503020204020204" charset="-122"/>
            </a:endParaRPr>
          </a:p>
          <a:p>
            <a:pPr marL="800100" lvl="1" indent="-342900">
              <a:buFont typeface="Arial" panose="020B0604020202020204" pitchFamily="34" charset="0"/>
              <a:buChar char="•"/>
            </a:pPr>
            <a:r>
              <a:rPr sz="2000" dirty="0">
                <a:latin typeface="微软雅黑" panose="020B0503020204020204" charset="-122"/>
                <a:ea typeface="微软雅黑" panose="020B0503020204020204" charset="-122"/>
                <a:cs typeface="微软雅黑" panose="020B0503020204020204" charset="-122"/>
              </a:rPr>
              <a:t>eg：判断</a:t>
            </a:r>
            <a:r>
              <a:rPr lang="zh-CN" sz="2000" dirty="0">
                <a:latin typeface="微软雅黑" panose="020B0503020204020204" charset="-122"/>
                <a:ea typeface="微软雅黑" panose="020B0503020204020204" charset="-122"/>
                <a:cs typeface="微软雅黑" panose="020B0503020204020204" charset="-122"/>
                <a:sym typeface="+mn-ea"/>
              </a:rPr>
              <a:t>西</a:t>
            </a:r>
            <a:r>
              <a:rPr sz="2000" dirty="0">
                <a:latin typeface="微软雅黑" panose="020B0503020204020204" charset="-122"/>
                <a:ea typeface="微软雅黑" panose="020B0503020204020204" charset="-122"/>
                <a:cs typeface="微软雅黑" panose="020B0503020204020204" charset="-122"/>
              </a:rPr>
              <a:t>瓜的成熟度。</a:t>
            </a:r>
            <a:endParaRPr sz="20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7"/>
          </p:nvPr>
        </p:nvSpPr>
        <p:spPr/>
        <p:txBody>
          <a:bodyPr/>
          <a:p>
            <a:fld id="{B6F15528-21DE-4FAA-801E-634DDDAF4B2B}" type="slidenum">
              <a:rPr/>
            </a:fld>
            <a:endParaRPr/>
          </a:p>
        </p:txBody>
      </p:sp>
      <p:sp>
        <p:nvSpPr>
          <p:cNvPr id="5" name="文本框 4"/>
          <p:cNvSpPr txBox="1"/>
          <p:nvPr/>
        </p:nvSpPr>
        <p:spPr>
          <a:xfrm>
            <a:off x="914400" y="381000"/>
            <a:ext cx="2540000" cy="398780"/>
          </a:xfrm>
          <a:prstGeom prst="rect">
            <a:avLst/>
          </a:prstGeom>
          <a:noFill/>
        </p:spPr>
        <p:txBody>
          <a:bodyPr wrap="square" rtlCol="0" anchor="t">
            <a:spAutoFit/>
          </a:bodyPr>
          <a:p>
            <a:r>
              <a:rPr sz="2000" dirty="0">
                <a:solidFill>
                  <a:schemeClr val="accent6"/>
                </a:solidFill>
                <a:latin typeface="微软雅黑" panose="020B0503020204020204" charset="-122"/>
                <a:ea typeface="微软雅黑" panose="020B0503020204020204" charset="-122"/>
                <a:cs typeface="微软雅黑" panose="020B0503020204020204" charset="-122"/>
              </a:rPr>
              <a:t>机器学习的目标</a:t>
            </a:r>
            <a:endParaRPr sz="2000" dirty="0">
              <a:solidFill>
                <a:schemeClr val="accent6"/>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914400" y="990600"/>
            <a:ext cx="8517890" cy="4707890"/>
          </a:xfrm>
          <a:prstGeom prst="rect">
            <a:avLst/>
          </a:prstGeom>
          <a:noFill/>
        </p:spPr>
        <p:txBody>
          <a:bodyPr wrap="square" rtlCol="0" anchor="t">
            <a:spAutoFit/>
          </a:bodyPr>
          <a:p>
            <a:r>
              <a:rPr sz="2000" dirty="0">
                <a:latin typeface="微软雅黑" panose="020B0503020204020204" charset="-122"/>
                <a:ea typeface="微软雅黑" panose="020B0503020204020204" charset="-122"/>
                <a:cs typeface="微软雅黑" panose="020B0503020204020204" charset="-122"/>
              </a:rPr>
              <a:t>机器学习的目标是使学得的模型可以更好的适用于“新样本”。</a:t>
            </a:r>
            <a:endParaRPr sz="2000" dirty="0">
              <a:latin typeface="微软雅黑" panose="020B0503020204020204" charset="-122"/>
              <a:ea typeface="微软雅黑" panose="020B0503020204020204" charset="-122"/>
              <a:cs typeface="微软雅黑" panose="020B0503020204020204" charset="-122"/>
            </a:endParaRPr>
          </a:p>
          <a:p>
            <a:endParaRPr sz="2000" dirty="0">
              <a:latin typeface="微软雅黑" panose="020B0503020204020204" charset="-122"/>
              <a:ea typeface="微软雅黑" panose="020B0503020204020204" charset="-122"/>
              <a:cs typeface="微软雅黑" panose="020B0503020204020204" charset="-122"/>
            </a:endParaRPr>
          </a:p>
          <a:p>
            <a:endParaRPr sz="2000" dirty="0">
              <a:latin typeface="微软雅黑" panose="020B0503020204020204" charset="-122"/>
              <a:ea typeface="微软雅黑" panose="020B0503020204020204" charset="-122"/>
              <a:cs typeface="微软雅黑" panose="020B0503020204020204" charset="-122"/>
            </a:endParaRPr>
          </a:p>
          <a:p>
            <a:r>
              <a:rPr sz="2000" dirty="0">
                <a:solidFill>
                  <a:schemeClr val="accent6"/>
                </a:solidFill>
                <a:latin typeface="微软雅黑" panose="020B0503020204020204" charset="-122"/>
                <a:ea typeface="微软雅黑" panose="020B0503020204020204" charset="-122"/>
                <a:cs typeface="微软雅黑" panose="020B0503020204020204" charset="-122"/>
              </a:rPr>
              <a:t>【泛化】</a:t>
            </a:r>
            <a:r>
              <a:rPr sz="2000" dirty="0">
                <a:latin typeface="微软雅黑" panose="020B0503020204020204" charset="-122"/>
                <a:ea typeface="微软雅黑" panose="020B0503020204020204" charset="-122"/>
                <a:cs typeface="微软雅黑" panose="020B0503020204020204" charset="-122"/>
              </a:rPr>
              <a:t>：学得模型适用于新样本的能力。</a:t>
            </a:r>
            <a:endParaRPr sz="2000" dirty="0">
              <a:latin typeface="微软雅黑" panose="020B0503020204020204" charset="-122"/>
              <a:ea typeface="微软雅黑" panose="020B0503020204020204" charset="-122"/>
              <a:cs typeface="微软雅黑" panose="020B0503020204020204" charset="-122"/>
            </a:endParaRPr>
          </a:p>
          <a:p>
            <a:endParaRPr sz="2000" dirty="0">
              <a:latin typeface="微软雅黑" panose="020B0503020204020204" charset="-122"/>
              <a:ea typeface="微软雅黑" panose="020B0503020204020204" charset="-122"/>
              <a:cs typeface="微软雅黑" panose="020B0503020204020204" charset="-122"/>
            </a:endParaRPr>
          </a:p>
          <a:p>
            <a:r>
              <a:rPr sz="2000" dirty="0">
                <a:latin typeface="微软雅黑" panose="020B0503020204020204" charset="-122"/>
                <a:ea typeface="微软雅黑" panose="020B0503020204020204" charset="-122"/>
                <a:cs typeface="微软雅黑" panose="020B0503020204020204" charset="-122"/>
              </a:rPr>
              <a:t>泛化能力一定程度上体现出假设与真相之间的差距。</a:t>
            </a:r>
            <a:endParaRPr sz="2000" dirty="0">
              <a:latin typeface="微软雅黑" panose="020B0503020204020204" charset="-122"/>
              <a:ea typeface="微软雅黑" panose="020B0503020204020204" charset="-122"/>
              <a:cs typeface="微软雅黑" panose="020B0503020204020204" charset="-122"/>
            </a:endParaRPr>
          </a:p>
          <a:p>
            <a:endParaRPr sz="2000" dirty="0">
              <a:latin typeface="微软雅黑" panose="020B0503020204020204" charset="-122"/>
              <a:ea typeface="微软雅黑" panose="020B0503020204020204" charset="-122"/>
              <a:cs typeface="微软雅黑" panose="020B0503020204020204" charset="-122"/>
            </a:endParaRPr>
          </a:p>
          <a:p>
            <a:endParaRPr sz="2000" dirty="0">
              <a:latin typeface="微软雅黑" panose="020B0503020204020204" charset="-122"/>
              <a:ea typeface="微软雅黑" panose="020B0503020204020204" charset="-122"/>
              <a:cs typeface="微软雅黑" panose="020B0503020204020204" charset="-122"/>
            </a:endParaRPr>
          </a:p>
          <a:p>
            <a:pPr marL="342900" indent="-342900">
              <a:buFont typeface="Arial" panose="020B0604020202020204" pitchFamily="34" charset="0"/>
              <a:buChar char="•"/>
            </a:pPr>
            <a:r>
              <a:rPr sz="2000" dirty="0">
                <a:latin typeface="微软雅黑" panose="020B0503020204020204" charset="-122"/>
                <a:ea typeface="微软雅黑" panose="020B0503020204020204" charset="-122"/>
                <a:cs typeface="微软雅黑" panose="020B0503020204020204" charset="-122"/>
              </a:rPr>
              <a:t>假设样本空间的全体样本服从一个未知分布Ɗ。</a:t>
            </a:r>
            <a:endParaRPr sz="2000" dirty="0">
              <a:latin typeface="微软雅黑" panose="020B0503020204020204" charset="-122"/>
              <a:ea typeface="微软雅黑" panose="020B0503020204020204" charset="-122"/>
              <a:cs typeface="微软雅黑" panose="020B0503020204020204" charset="-122"/>
            </a:endParaRPr>
          </a:p>
          <a:p>
            <a:pPr marL="342900" indent="-342900">
              <a:buFont typeface="Arial" panose="020B0604020202020204" pitchFamily="34" charset="0"/>
              <a:buChar char="•"/>
            </a:pPr>
            <a:endParaRPr sz="2000" dirty="0">
              <a:latin typeface="微软雅黑" panose="020B0503020204020204" charset="-122"/>
              <a:ea typeface="微软雅黑" panose="020B0503020204020204" charset="-122"/>
              <a:cs typeface="微软雅黑" panose="020B0503020204020204" charset="-122"/>
            </a:endParaRPr>
          </a:p>
          <a:p>
            <a:pPr marL="342900" indent="-342900">
              <a:buFont typeface="Arial" panose="020B0604020202020204" pitchFamily="34" charset="0"/>
              <a:buChar char="•"/>
            </a:pPr>
            <a:endParaRPr sz="2000" dirty="0">
              <a:latin typeface="微软雅黑" panose="020B0503020204020204" charset="-122"/>
              <a:ea typeface="微软雅黑" panose="020B0503020204020204" charset="-122"/>
              <a:cs typeface="微软雅黑" panose="020B0503020204020204" charset="-122"/>
            </a:endParaRPr>
          </a:p>
          <a:p>
            <a:pPr marL="342900" indent="-342900">
              <a:buFont typeface="Arial" panose="020B0604020202020204" pitchFamily="34" charset="0"/>
              <a:buChar char="•"/>
            </a:pPr>
            <a:r>
              <a:rPr sz="2000" dirty="0">
                <a:latin typeface="微软雅黑" panose="020B0503020204020204" charset="-122"/>
                <a:ea typeface="微软雅黑" panose="020B0503020204020204" charset="-122"/>
                <a:cs typeface="微软雅黑" panose="020B0503020204020204" charset="-122"/>
                <a:sym typeface="+mn-ea"/>
              </a:rPr>
              <a:t>一般而言，训练样本越多，得到关于D的信息就越</a:t>
            </a:r>
            <a:endParaRPr sz="2000" dirty="0">
              <a:latin typeface="微软雅黑" panose="020B0503020204020204" charset="-122"/>
              <a:ea typeface="微软雅黑" panose="020B0503020204020204" charset="-122"/>
              <a:cs typeface="微软雅黑" panose="020B0503020204020204" charset="-122"/>
              <a:sym typeface="+mn-ea"/>
            </a:endParaRPr>
          </a:p>
          <a:p>
            <a:pPr indent="0">
              <a:buFont typeface="Arial" panose="020B0604020202020204" pitchFamily="34" charset="0"/>
              <a:buNone/>
            </a:pPr>
            <a:r>
              <a:rPr sz="2000" dirty="0">
                <a:latin typeface="微软雅黑" panose="020B0503020204020204" charset="-122"/>
                <a:ea typeface="微软雅黑" panose="020B0503020204020204" charset="-122"/>
                <a:cs typeface="微软雅黑" panose="020B0503020204020204" charset="-122"/>
                <a:sym typeface="+mn-ea"/>
              </a:rPr>
              <a:t>多，越有可能通过学习获得强</a:t>
            </a:r>
            <a:r>
              <a:rPr sz="2000" dirty="0">
                <a:solidFill>
                  <a:schemeClr val="accent6"/>
                </a:solidFill>
                <a:latin typeface="微软雅黑" panose="020B0503020204020204" charset="-122"/>
                <a:ea typeface="微软雅黑" panose="020B0503020204020204" charset="-122"/>
                <a:cs typeface="微软雅黑" panose="020B0503020204020204" charset="-122"/>
                <a:sym typeface="+mn-ea"/>
              </a:rPr>
              <a:t>泛化能力</a:t>
            </a:r>
            <a:r>
              <a:rPr sz="2000" dirty="0">
                <a:latin typeface="微软雅黑" panose="020B0503020204020204" charset="-122"/>
                <a:ea typeface="微软雅黑" panose="020B0503020204020204" charset="-122"/>
                <a:cs typeface="微软雅黑" panose="020B0503020204020204" charset="-122"/>
                <a:sym typeface="+mn-ea"/>
              </a:rPr>
              <a:t>的模型。</a:t>
            </a:r>
            <a:endParaRPr sz="2000" dirty="0">
              <a:latin typeface="微软雅黑" panose="020B0503020204020204" charset="-122"/>
              <a:ea typeface="微软雅黑" panose="020B0503020204020204" charset="-122"/>
              <a:cs typeface="微软雅黑" panose="020B0503020204020204" charset="-122"/>
            </a:endParaRPr>
          </a:p>
          <a:p>
            <a:pPr marL="342900" indent="-342900">
              <a:buFont typeface="Arial" panose="020B0604020202020204" pitchFamily="34" charset="0"/>
              <a:buChar char="•"/>
            </a:pPr>
            <a:endParaRPr sz="2000" dirty="0">
              <a:latin typeface="微软雅黑" panose="020B0503020204020204" charset="-122"/>
              <a:ea typeface="微软雅黑" panose="020B0503020204020204" charset="-122"/>
              <a:cs typeface="微软雅黑" panose="020B0503020204020204" charset="-122"/>
            </a:endParaRPr>
          </a:p>
          <a:p>
            <a:pPr marL="342900" indent="-342900">
              <a:buFont typeface="Arial" panose="020B0604020202020204" pitchFamily="34" charset="0"/>
              <a:buChar char="•"/>
            </a:pPr>
            <a:endParaRPr sz="2000" dirty="0">
              <a:latin typeface="微软雅黑" panose="020B0503020204020204" charset="-122"/>
              <a:ea typeface="微软雅黑" panose="020B0503020204020204" charset="-122"/>
              <a:cs typeface="微软雅黑" panose="020B0503020204020204" charset="-122"/>
            </a:endParaRPr>
          </a:p>
        </p:txBody>
      </p:sp>
      <p:pic>
        <p:nvPicPr>
          <p:cNvPr id="8" name="图片 7" descr="640"/>
          <p:cNvPicPr>
            <a:picLocks noChangeAspect="1"/>
          </p:cNvPicPr>
          <p:nvPr/>
        </p:nvPicPr>
        <p:blipFill>
          <a:blip r:embed="rId1"/>
          <a:stretch>
            <a:fillRect/>
          </a:stretch>
        </p:blipFill>
        <p:spPr>
          <a:xfrm>
            <a:off x="7010400" y="1584325"/>
            <a:ext cx="5161280" cy="35210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95800" y="3048000"/>
            <a:ext cx="2909570" cy="754380"/>
          </a:xfrm>
          <a:prstGeom prst="rect">
            <a:avLst/>
          </a:prstGeom>
        </p:spPr>
        <p:txBody>
          <a:bodyPr vert="horz" wrap="square" lIns="0" tIns="15875" rIns="0" bIns="0" rtlCol="0">
            <a:spAutoFit/>
          </a:bodyPr>
          <a:lstStyle/>
          <a:p>
            <a:pPr marL="12700" algn="ctr">
              <a:lnSpc>
                <a:spcPct val="100000"/>
              </a:lnSpc>
              <a:spcBef>
                <a:spcPts val="125"/>
              </a:spcBef>
            </a:pPr>
            <a:r>
              <a:rPr sz="4800" b="1" spc="25" dirty="0"/>
              <a:t>线性回归</a:t>
            </a:r>
            <a:endParaRPr sz="4800" b="1" spc="25" dirty="0"/>
          </a:p>
        </p:txBody>
      </p:sp>
      <p:sp>
        <p:nvSpPr>
          <p:cNvPr id="3" name="灯片编号占位符 2"/>
          <p:cNvSpPr>
            <a:spLocks noGrp="1"/>
          </p:cNvSpPr>
          <p:nvPr>
            <p:ph type="sldNum" sz="quarter" idx="7"/>
          </p:nvPr>
        </p:nvSpPr>
        <p:spPr/>
        <p:txBody>
          <a:bodyPr/>
          <a:p>
            <a:fld id="{B6F15528-21DE-4FAA-801E-634DDDAF4B2B}" type="slidenum">
              <a:rPr/>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80129" y="438734"/>
            <a:ext cx="5031740" cy="831850"/>
          </a:xfrm>
          <a:prstGeom prst="rect">
            <a:avLst/>
          </a:prstGeom>
        </p:spPr>
        <p:txBody>
          <a:bodyPr vert="horz" wrap="square" lIns="0" tIns="16510" rIns="0" bIns="0" rtlCol="0">
            <a:spAutoFit/>
          </a:bodyPr>
          <a:lstStyle/>
          <a:p>
            <a:pPr marL="13970">
              <a:lnSpc>
                <a:spcPct val="100000"/>
              </a:lnSpc>
              <a:spcBef>
                <a:spcPts val="130"/>
              </a:spcBef>
            </a:pPr>
            <a:r>
              <a:rPr b="1" spc="20" dirty="0"/>
              <a:t>线性回归</a:t>
            </a:r>
            <a:endParaRPr b="1" spc="20" dirty="0"/>
          </a:p>
        </p:txBody>
      </p:sp>
      <p:sp>
        <p:nvSpPr>
          <p:cNvPr id="3" name="object 3"/>
          <p:cNvSpPr txBox="1"/>
          <p:nvPr/>
        </p:nvSpPr>
        <p:spPr>
          <a:xfrm>
            <a:off x="1600326" y="1752579"/>
            <a:ext cx="8903335" cy="3890010"/>
          </a:xfrm>
          <a:prstGeom prst="rect">
            <a:avLst/>
          </a:prstGeom>
        </p:spPr>
        <p:txBody>
          <a:bodyPr vert="horz" wrap="square" lIns="0" tIns="12065" rIns="0" bIns="0" rtlCol="0">
            <a:spAutoFit/>
          </a:bodyPr>
          <a:lstStyle/>
          <a:p>
            <a:pPr marL="355600" marR="5080" indent="-342900">
              <a:lnSpc>
                <a:spcPct val="150000"/>
              </a:lnSpc>
              <a:spcBef>
                <a:spcPts val="95"/>
              </a:spcBef>
              <a:buFont typeface="Wingdings" panose="05000000000000000000"/>
              <a:buChar char=""/>
              <a:tabLst>
                <a:tab pos="355600" algn="l"/>
                <a:tab pos="2922905" algn="l"/>
              </a:tabLst>
            </a:pPr>
            <a:r>
              <a:rPr sz="2400" dirty="0">
                <a:latin typeface="微软雅黑" panose="020B0503020204020204" charset="-122"/>
                <a:ea typeface="微软雅黑" panose="020B0503020204020204" charset="-122"/>
                <a:cs typeface="微软雅黑" panose="020B0503020204020204" charset="-122"/>
              </a:rPr>
              <a:t>线性回归(</a:t>
            </a:r>
            <a:r>
              <a:rPr sz="2400" dirty="0">
                <a:latin typeface="Arial" panose="020B0604020202020204" pitchFamily="34" charset="0"/>
                <a:ea typeface="微软雅黑" panose="020B0503020204020204" charset="-122"/>
                <a:cs typeface="Arial" panose="020B0604020202020204" pitchFamily="34" charset="0"/>
              </a:rPr>
              <a:t>Linear</a:t>
            </a:r>
            <a:r>
              <a:rPr lang="en-US" sz="2400" dirty="0">
                <a:latin typeface="Arial" panose="020B0604020202020204" pitchFamily="34" charset="0"/>
                <a:ea typeface="微软雅黑" panose="020B0503020204020204" charset="-122"/>
                <a:cs typeface="Arial" panose="020B0604020202020204" pitchFamily="34" charset="0"/>
              </a:rPr>
              <a:t> </a:t>
            </a:r>
            <a:r>
              <a:rPr sz="2400" dirty="0">
                <a:latin typeface="Arial" panose="020B0604020202020204" pitchFamily="34" charset="0"/>
                <a:ea typeface="微软雅黑" panose="020B0503020204020204" charset="-122"/>
                <a:cs typeface="Arial" panose="020B0604020202020204" pitchFamily="34" charset="0"/>
              </a:rPr>
              <a:t>Regression</a:t>
            </a:r>
            <a:r>
              <a:rPr sz="2400" dirty="0">
                <a:latin typeface="微软雅黑" panose="020B0503020204020204" charset="-122"/>
                <a:ea typeface="微软雅黑" panose="020B0503020204020204" charset="-122"/>
                <a:cs typeface="微软雅黑" panose="020B0503020204020204" charset="-122"/>
              </a:rPr>
              <a:t>)是利用数理统计中回归分析，来确定两种或两种以上变量间</a:t>
            </a:r>
            <a:r>
              <a:rPr sz="2400" dirty="0">
                <a:solidFill>
                  <a:srgbClr val="FF0000"/>
                </a:solidFill>
                <a:latin typeface="微软雅黑" panose="020B0503020204020204" charset="-122"/>
                <a:ea typeface="微软雅黑" panose="020B0503020204020204" charset="-122"/>
                <a:cs typeface="微软雅黑" panose="020B0503020204020204" charset="-122"/>
              </a:rPr>
              <a:t>相互依赖的定量关系</a:t>
            </a:r>
            <a:r>
              <a:rPr sz="2400" dirty="0">
                <a:latin typeface="微软雅黑" panose="020B0503020204020204" charset="-122"/>
                <a:ea typeface="微软雅黑" panose="020B0503020204020204" charset="-122"/>
                <a:cs typeface="微软雅黑" panose="020B0503020204020204" charset="-122"/>
              </a:rPr>
              <a:t>的一种统计分析方法。</a:t>
            </a:r>
            <a:endParaRPr sz="2400" dirty="0">
              <a:latin typeface="微软雅黑" panose="020B0503020204020204" charset="-122"/>
              <a:ea typeface="微软雅黑" panose="020B0503020204020204" charset="-122"/>
              <a:cs typeface="微软雅黑" panose="020B0503020204020204" charset="-122"/>
            </a:endParaRPr>
          </a:p>
          <a:p>
            <a:pPr marL="355600" marR="5080" indent="-342900" algn="just">
              <a:lnSpc>
                <a:spcPct val="150000"/>
              </a:lnSpc>
              <a:buFont typeface="Wingdings" panose="05000000000000000000"/>
              <a:buChar char=""/>
              <a:tabLst>
                <a:tab pos="355600" algn="l"/>
              </a:tabLst>
            </a:pPr>
            <a:r>
              <a:rPr sz="2400" dirty="0">
                <a:latin typeface="微软雅黑" panose="020B0503020204020204" charset="-122"/>
                <a:ea typeface="微软雅黑" panose="020B0503020204020204" charset="-122"/>
                <a:cs typeface="微软雅黑" panose="020B0503020204020204" charset="-122"/>
              </a:rPr>
              <a:t>线性回归利用称为线性回归方程的</a:t>
            </a:r>
            <a:r>
              <a:rPr sz="2400" dirty="0">
                <a:solidFill>
                  <a:srgbClr val="FF0000"/>
                </a:solidFill>
                <a:latin typeface="微软雅黑" panose="020B0503020204020204" charset="-122"/>
                <a:ea typeface="微软雅黑" panose="020B0503020204020204" charset="-122"/>
                <a:cs typeface="微软雅黑" panose="020B0503020204020204" charset="-122"/>
              </a:rPr>
              <a:t>最小平方函数</a:t>
            </a:r>
            <a:r>
              <a:rPr sz="2400" dirty="0">
                <a:latin typeface="微软雅黑" panose="020B0503020204020204" charset="-122"/>
                <a:ea typeface="微软雅黑" panose="020B0503020204020204" charset="-122"/>
                <a:cs typeface="微软雅黑" panose="020B0503020204020204" charset="-122"/>
              </a:rPr>
              <a:t>对一个或多个自 变量和因变量之间关系进行建模。这种函数是一个或多个称为回 归系数的模型参数的线性组合。只有一个自变量的情况称为</a:t>
            </a:r>
            <a:r>
              <a:rPr sz="2400" dirty="0">
                <a:solidFill>
                  <a:srgbClr val="FF0000"/>
                </a:solidFill>
                <a:latin typeface="微软雅黑" panose="020B0503020204020204" charset="-122"/>
                <a:ea typeface="微软雅黑" panose="020B0503020204020204" charset="-122"/>
                <a:cs typeface="微软雅黑" panose="020B0503020204020204" charset="-122"/>
              </a:rPr>
              <a:t>简单 回归</a:t>
            </a:r>
            <a:r>
              <a:rPr sz="2400" dirty="0">
                <a:latin typeface="微软雅黑" panose="020B0503020204020204" charset="-122"/>
                <a:ea typeface="微软雅黑" panose="020B0503020204020204" charset="-122"/>
                <a:cs typeface="微软雅黑" panose="020B0503020204020204" charset="-122"/>
              </a:rPr>
              <a:t>,大于一个自变量情况的叫做多元回归。</a:t>
            </a:r>
            <a:endParaRPr sz="2400" dirty="0">
              <a:latin typeface="微软雅黑" panose="020B0503020204020204" charset="-122"/>
              <a:ea typeface="微软雅黑" panose="020B0503020204020204" charset="-122"/>
              <a:cs typeface="微软雅黑" panose="020B0503020204020204" charset="-122"/>
            </a:endParaRPr>
          </a:p>
        </p:txBody>
      </p:sp>
      <p:sp>
        <p:nvSpPr>
          <p:cNvPr id="4" name="灯片编号占位符 3"/>
          <p:cNvSpPr>
            <a:spLocks noGrp="1"/>
          </p:cNvSpPr>
          <p:nvPr>
            <p:ph type="sldNum" sz="quarter" idx="7"/>
          </p:nvPr>
        </p:nvSpPr>
        <p:spPr/>
        <p:txBody>
          <a:bodyPr/>
          <a:p>
            <a:fld id="{B6F15528-21DE-4FAA-801E-634DDDAF4B2B}" type="slidenum">
              <a:rPr/>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66800" y="2590800"/>
            <a:ext cx="5042535" cy="1673860"/>
          </a:xfrm>
          <a:prstGeom prst="rect">
            <a:avLst/>
          </a:prstGeom>
        </p:spPr>
        <p:txBody>
          <a:bodyPr vert="horz" wrap="square" lIns="0" tIns="12065" rIns="0" bIns="0" rtlCol="0">
            <a:spAutoFit/>
          </a:bodyPr>
          <a:lstStyle/>
          <a:p>
            <a:pPr marL="38100" marR="30480" indent="608965">
              <a:lnSpc>
                <a:spcPct val="150000"/>
              </a:lnSpc>
              <a:spcBef>
                <a:spcPts val="95"/>
              </a:spcBef>
            </a:pPr>
            <a:r>
              <a:rPr sz="2400" dirty="0">
                <a:latin typeface="微软雅黑" panose="020B0503020204020204" charset="-122"/>
                <a:ea typeface="微软雅黑" panose="020B0503020204020204" charset="-122"/>
                <a:cs typeface="微软雅黑" panose="020B0503020204020204" charset="-122"/>
              </a:rPr>
              <a:t>线性回归：使用形如y=wTx+b  的线性模型拟合数据输入和输出之间的映射关系的。</a:t>
            </a:r>
            <a:endParaRPr sz="2400" dirty="0">
              <a:latin typeface="微软雅黑" panose="020B0503020204020204" charset="-122"/>
              <a:ea typeface="微软雅黑" panose="020B0503020204020204" charset="-122"/>
              <a:cs typeface="微软雅黑" panose="020B0503020204020204" charset="-122"/>
            </a:endParaRPr>
          </a:p>
        </p:txBody>
      </p:sp>
      <p:grpSp>
        <p:nvGrpSpPr>
          <p:cNvPr id="4" name="object 4"/>
          <p:cNvGrpSpPr/>
          <p:nvPr/>
        </p:nvGrpSpPr>
        <p:grpSpPr>
          <a:xfrm>
            <a:off x="6203005" y="2401823"/>
            <a:ext cx="5212080" cy="2755900"/>
            <a:chOff x="6203005" y="2401823"/>
            <a:chExt cx="5212080" cy="2755900"/>
          </a:xfrm>
        </p:grpSpPr>
        <p:sp>
          <p:nvSpPr>
            <p:cNvPr id="5" name="object 5"/>
            <p:cNvSpPr/>
            <p:nvPr/>
          </p:nvSpPr>
          <p:spPr>
            <a:xfrm>
              <a:off x="6203005" y="2401823"/>
              <a:ext cx="5211754" cy="2755392"/>
            </a:xfrm>
            <a:prstGeom prst="rect">
              <a:avLst/>
            </a:prstGeom>
            <a:blipFill>
              <a:blip r:embed="rId1" cstate="print"/>
              <a:stretch>
                <a:fillRect/>
              </a:stretch>
            </a:blipFill>
          </p:spPr>
          <p:txBody>
            <a:bodyPr wrap="square" lIns="0" tIns="0" rIns="0" bIns="0" rtlCol="0"/>
            <a:lstStyle/>
            <a:p/>
          </p:txBody>
        </p:sp>
        <p:sp>
          <p:nvSpPr>
            <p:cNvPr id="6" name="object 6"/>
            <p:cNvSpPr/>
            <p:nvPr/>
          </p:nvSpPr>
          <p:spPr>
            <a:xfrm>
              <a:off x="7344917" y="2853689"/>
              <a:ext cx="3072765" cy="1248410"/>
            </a:xfrm>
            <a:custGeom>
              <a:avLst/>
              <a:gdLst/>
              <a:ahLst/>
              <a:cxnLst/>
              <a:rect l="l" t="t" r="r" b="b"/>
              <a:pathLst>
                <a:path w="3072765" h="1248410">
                  <a:moveTo>
                    <a:pt x="0" y="1248156"/>
                  </a:moveTo>
                  <a:lnTo>
                    <a:pt x="3072383" y="0"/>
                  </a:lnTo>
                </a:path>
              </a:pathLst>
            </a:custGeom>
            <a:ln w="25907">
              <a:solidFill>
                <a:srgbClr val="000000"/>
              </a:solidFill>
            </a:ln>
          </p:spPr>
          <p:txBody>
            <a:bodyPr wrap="square" lIns="0" tIns="0" rIns="0" bIns="0" rtlCol="0"/>
            <a:lstStyle/>
            <a:p/>
          </p:txBody>
        </p:sp>
      </p:grpSp>
      <p:sp>
        <p:nvSpPr>
          <p:cNvPr id="8" name="object 2"/>
          <p:cNvSpPr txBox="1">
            <a:spLocks noGrp="1"/>
          </p:cNvSpPr>
          <p:nvPr/>
        </p:nvSpPr>
        <p:spPr>
          <a:xfrm>
            <a:off x="3580129" y="438734"/>
            <a:ext cx="5031740" cy="831850"/>
          </a:xfrm>
          <a:prstGeom prst="rect">
            <a:avLst/>
          </a:prstGeom>
        </p:spPr>
        <p:txBody>
          <a:bodyPr vert="horz" wrap="square" lIns="0" tIns="16510" rIns="0" bIns="0" rtlCol="0">
            <a:spAutoFit/>
          </a:bodyPr>
          <a:lstStyle>
            <a:lvl1pPr>
              <a:defRPr sz="5300" b="0" i="0">
                <a:solidFill>
                  <a:schemeClr val="tx1"/>
                </a:solidFill>
                <a:latin typeface="微软雅黑" panose="020B0503020204020204" charset="-122"/>
                <a:ea typeface="+mj-ea"/>
                <a:cs typeface="微软雅黑" panose="020B0503020204020204" charset="-122"/>
              </a:defRPr>
            </a:lvl1pPr>
          </a:lstStyle>
          <a:p>
            <a:pPr marL="13970">
              <a:lnSpc>
                <a:spcPct val="100000"/>
              </a:lnSpc>
              <a:spcBef>
                <a:spcPts val="130"/>
              </a:spcBef>
            </a:pPr>
            <a:r>
              <a:rPr b="1" kern="0" spc="20" dirty="0"/>
              <a:t>线性回归</a:t>
            </a:r>
            <a:endParaRPr spc="25" dirty="0"/>
          </a:p>
        </p:txBody>
      </p:sp>
      <p:sp>
        <p:nvSpPr>
          <p:cNvPr id="2" name="灯片编号占位符 1"/>
          <p:cNvSpPr>
            <a:spLocks noGrp="1"/>
          </p:cNvSpPr>
          <p:nvPr>
            <p:ph type="sldNum" sz="quarter" idx="7"/>
          </p:nvPr>
        </p:nvSpPr>
        <p:spPr/>
        <p:txBody>
          <a:bodyPr/>
          <a:p>
            <a:fld id="{B6F15528-21DE-4FAA-801E-634DDDAF4B2B}" type="slidenum">
              <a:rPr/>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37205" y="438785"/>
            <a:ext cx="7045325" cy="831850"/>
          </a:xfrm>
          <a:prstGeom prst="rect">
            <a:avLst/>
          </a:prstGeom>
        </p:spPr>
        <p:txBody>
          <a:bodyPr vert="horz" wrap="square" lIns="0" tIns="16510" rIns="0" bIns="0" rtlCol="0">
            <a:spAutoFit/>
          </a:bodyPr>
          <a:lstStyle/>
          <a:p>
            <a:pPr marL="12700">
              <a:lnSpc>
                <a:spcPct val="100000"/>
              </a:lnSpc>
              <a:spcBef>
                <a:spcPts val="130"/>
              </a:spcBef>
            </a:pPr>
            <a:r>
              <a:rPr b="1" spc="20" dirty="0"/>
              <a:t>线性回归的实际用途</a:t>
            </a:r>
            <a:endParaRPr spc="30" dirty="0"/>
          </a:p>
        </p:txBody>
      </p:sp>
      <p:sp>
        <p:nvSpPr>
          <p:cNvPr id="3" name="object 3"/>
          <p:cNvSpPr txBox="1"/>
          <p:nvPr/>
        </p:nvSpPr>
        <p:spPr>
          <a:xfrm>
            <a:off x="1174292" y="1601448"/>
            <a:ext cx="10278110" cy="3516630"/>
          </a:xfrm>
          <a:prstGeom prst="rect">
            <a:avLst/>
          </a:prstGeom>
        </p:spPr>
        <p:txBody>
          <a:bodyPr vert="horz" wrap="square" lIns="0" tIns="194945" rIns="0" bIns="0" rtlCol="0">
            <a:spAutoFit/>
          </a:bodyPr>
          <a:lstStyle/>
          <a:p>
            <a:pPr marL="634365">
              <a:lnSpc>
                <a:spcPct val="100000"/>
              </a:lnSpc>
              <a:spcBef>
                <a:spcPts val="1535"/>
              </a:spcBef>
            </a:pPr>
            <a:r>
              <a:rPr sz="2400" dirty="0">
                <a:latin typeface="微软雅黑" panose="020B0503020204020204" charset="-122"/>
                <a:ea typeface="微软雅黑" panose="020B0503020204020204" charset="-122"/>
                <a:cs typeface="微软雅黑" panose="020B0503020204020204" charset="-122"/>
              </a:rPr>
              <a:t>线性回归有很多实际的用途，分为以下两类：</a:t>
            </a:r>
            <a:endParaRPr sz="2400" dirty="0">
              <a:latin typeface="微软雅黑" panose="020B0503020204020204" charset="-122"/>
              <a:ea typeface="微软雅黑" panose="020B0503020204020204" charset="-122"/>
              <a:cs typeface="微软雅黑" panose="020B0503020204020204" charset="-122"/>
            </a:endParaRPr>
          </a:p>
          <a:p>
            <a:pPr marL="634365">
              <a:lnSpc>
                <a:spcPct val="120000"/>
              </a:lnSpc>
              <a:spcBef>
                <a:spcPts val="1535"/>
              </a:spcBef>
            </a:pPr>
            <a:r>
              <a:rPr dirty="0">
                <a:latin typeface="微软雅黑" panose="020B0503020204020204" charset="-122"/>
                <a:ea typeface="微软雅黑" panose="020B0503020204020204" charset="-122"/>
                <a:cs typeface="微软雅黑" panose="020B0503020204020204" charset="-122"/>
              </a:rPr>
              <a:t>	1. 如果目标是预测或者映射，线性回归可以用来对观测数据集的y和X 的值拟合出一个预测模型。当完成这样一个模型以后，对于一个新增的X值， 在没有给定与它相配对的y的情况下，可以用这个拟合过的模型</a:t>
            </a:r>
            <a:r>
              <a:rPr sz="1800" dirty="0">
                <a:solidFill>
                  <a:schemeClr val="accent6"/>
                </a:solidFill>
                <a:latin typeface="微软雅黑" panose="020B0503020204020204" charset="-122"/>
                <a:ea typeface="微软雅黑" panose="020B0503020204020204" charset="-122"/>
                <a:cs typeface="微软雅黑" panose="020B0503020204020204" charset="-122"/>
              </a:rPr>
              <a:t>预测</a:t>
            </a:r>
            <a:r>
              <a:rPr sz="1800" dirty="0">
                <a:latin typeface="微软雅黑" panose="020B0503020204020204" charset="-122"/>
                <a:ea typeface="微软雅黑" panose="020B0503020204020204" charset="-122"/>
                <a:cs typeface="微软雅黑" panose="020B0503020204020204" charset="-122"/>
              </a:rPr>
              <a:t>出</a:t>
            </a:r>
            <a:r>
              <a:rPr sz="1800" dirty="0">
                <a:latin typeface="微软雅黑" panose="020B0503020204020204" charset="-122"/>
                <a:ea typeface="微软雅黑" panose="020B0503020204020204" charset="-122"/>
                <a:cs typeface="微软雅黑" panose="020B0503020204020204" charset="-122"/>
                <a:sym typeface="+mn-ea"/>
              </a:rPr>
              <a:t>一个</a:t>
            </a:r>
            <a:r>
              <a:rPr sz="1800" dirty="0">
                <a:latin typeface="微软雅黑" panose="020B0503020204020204" charset="-122"/>
                <a:ea typeface="微软雅黑" panose="020B0503020204020204" charset="-122"/>
                <a:cs typeface="微软雅黑" panose="020B0503020204020204" charset="-122"/>
              </a:rPr>
              <a:t>y值</a:t>
            </a:r>
            <a:r>
              <a:rPr sz="1600" dirty="0">
                <a:latin typeface="微软雅黑" panose="020B0503020204020204" charset="-122"/>
                <a:ea typeface="微软雅黑" panose="020B0503020204020204" charset="-122"/>
                <a:cs typeface="微软雅黑" panose="020B0503020204020204" charset="-122"/>
              </a:rPr>
              <a:t>。</a:t>
            </a:r>
            <a:endParaRPr sz="1600" dirty="0">
              <a:latin typeface="微软雅黑" panose="020B0503020204020204" charset="-122"/>
              <a:ea typeface="微软雅黑" panose="020B0503020204020204" charset="-122"/>
              <a:cs typeface="微软雅黑" panose="020B0503020204020204" charset="-122"/>
            </a:endParaRPr>
          </a:p>
          <a:p>
            <a:pPr marL="634365">
              <a:lnSpc>
                <a:spcPct val="100000"/>
              </a:lnSpc>
              <a:spcBef>
                <a:spcPts val="1535"/>
              </a:spcBef>
            </a:pPr>
            <a:endParaRPr sz="1600" dirty="0">
              <a:latin typeface="微软雅黑" panose="020B0503020204020204" charset="-122"/>
              <a:ea typeface="微软雅黑" panose="020B0503020204020204" charset="-122"/>
              <a:cs typeface="微软雅黑" panose="020B0503020204020204" charset="-122"/>
            </a:endParaRPr>
          </a:p>
          <a:p>
            <a:pPr marL="634365">
              <a:lnSpc>
                <a:spcPct val="130000"/>
              </a:lnSpc>
              <a:spcBef>
                <a:spcPts val="1535"/>
              </a:spcBef>
            </a:pPr>
            <a:r>
              <a:rPr sz="2000" dirty="0">
                <a:latin typeface="微软雅黑" panose="020B0503020204020204" charset="-122"/>
                <a:ea typeface="微软雅黑" panose="020B0503020204020204" charset="-122"/>
                <a:cs typeface="微软雅黑" panose="020B0503020204020204" charset="-122"/>
              </a:rPr>
              <a:t>	2</a:t>
            </a:r>
            <a:r>
              <a:rPr sz="1800" dirty="0">
                <a:latin typeface="微软雅黑" panose="020B0503020204020204" charset="-122"/>
                <a:ea typeface="微软雅黑" panose="020B0503020204020204" charset="-122"/>
                <a:cs typeface="微软雅黑" panose="020B0503020204020204" charset="-122"/>
              </a:rPr>
              <a:t>. 给定一个变量y和一些变量</a:t>
            </a:r>
            <a:r>
              <a:rPr lang="en-US" sz="1800" dirty="0">
                <a:latin typeface="微软雅黑" panose="020B0503020204020204" charset="-122"/>
                <a:ea typeface="微软雅黑" panose="020B0503020204020204" charset="-122"/>
                <a:cs typeface="微软雅黑" panose="020B0503020204020204" charset="-122"/>
              </a:rPr>
              <a:t>x</a:t>
            </a:r>
            <a:r>
              <a:rPr lang="en-US" sz="1800" baseline="-25000" dirty="0">
                <a:solidFill>
                  <a:schemeClr val="tx1"/>
                </a:solidFill>
                <a:uFillTx/>
                <a:latin typeface="微软雅黑" panose="020B0503020204020204" charset="-122"/>
                <a:ea typeface="微软雅黑" panose="020B0503020204020204" charset="-122"/>
                <a:cs typeface="微软雅黑" panose="020B0503020204020204" charset="-122"/>
              </a:rPr>
              <a:t>1</a:t>
            </a:r>
            <a:r>
              <a:rPr lang="en-US" sz="1800" dirty="0">
                <a:latin typeface="微软雅黑" panose="020B0503020204020204" charset="-122"/>
                <a:ea typeface="微软雅黑" panose="020B0503020204020204" charset="-122"/>
                <a:cs typeface="微软雅黑" panose="020B0503020204020204" charset="-122"/>
              </a:rPr>
              <a:t>,x</a:t>
            </a:r>
            <a:r>
              <a:rPr lang="en-US" sz="1800" baseline="-25000" dirty="0">
                <a:uFillTx/>
                <a:latin typeface="微软雅黑" panose="020B0503020204020204" charset="-122"/>
                <a:ea typeface="微软雅黑" panose="020B0503020204020204" charset="-122"/>
                <a:cs typeface="微软雅黑" panose="020B0503020204020204" charset="-122"/>
              </a:rPr>
              <a:t>2</a:t>
            </a:r>
            <a:r>
              <a:rPr lang="en-US" sz="1800" dirty="0">
                <a:latin typeface="微软雅黑" panose="020B0503020204020204" charset="-122"/>
                <a:ea typeface="微软雅黑" panose="020B0503020204020204" charset="-122"/>
                <a:cs typeface="微软雅黑" panose="020B0503020204020204" charset="-122"/>
              </a:rPr>
              <a:t>...x</a:t>
            </a:r>
            <a:r>
              <a:rPr lang="en-US" sz="1800" baseline="-25000" dirty="0">
                <a:uFillTx/>
                <a:latin typeface="微软雅黑" panose="020B0503020204020204" charset="-122"/>
                <a:ea typeface="微软雅黑" panose="020B0503020204020204" charset="-122"/>
                <a:cs typeface="微软雅黑" panose="020B0503020204020204" charset="-122"/>
              </a:rPr>
              <a:t>n </a:t>
            </a:r>
            <a:r>
              <a:rPr lang="zh-CN" altLang="en-US" sz="1800" baseline="-25000" dirty="0">
                <a:uFillTx/>
                <a:latin typeface="微软雅黑" panose="020B0503020204020204" charset="-122"/>
                <a:ea typeface="微软雅黑" panose="020B0503020204020204" charset="-122"/>
                <a:cs typeface="微软雅黑" panose="020B0503020204020204" charset="-122"/>
              </a:rPr>
              <a:t>，</a:t>
            </a:r>
            <a:r>
              <a:rPr sz="1800" dirty="0">
                <a:latin typeface="微软雅黑" panose="020B0503020204020204" charset="-122"/>
                <a:ea typeface="微软雅黑" panose="020B0503020204020204" charset="-122"/>
                <a:cs typeface="微软雅黑" panose="020B0503020204020204" charset="-122"/>
              </a:rPr>
              <a:t>这些变量有可能与y相关，线性回归分析可以用来量化y与</a:t>
            </a:r>
            <a:r>
              <a:rPr lang="en-US" sz="1800" dirty="0">
                <a:latin typeface="微软雅黑" panose="020B0503020204020204" charset="-122"/>
                <a:ea typeface="微软雅黑" panose="020B0503020204020204" charset="-122"/>
                <a:cs typeface="微软雅黑" panose="020B0503020204020204" charset="-122"/>
              </a:rPr>
              <a:t> </a:t>
            </a:r>
            <a:r>
              <a:rPr sz="1800" dirty="0">
                <a:latin typeface="微软雅黑" panose="020B0503020204020204" charset="-122"/>
                <a:ea typeface="微软雅黑" panose="020B0503020204020204" charset="-122"/>
                <a:cs typeface="微软雅黑" panose="020B0503020204020204" charset="-122"/>
              </a:rPr>
              <a:t>X</a:t>
            </a:r>
            <a:r>
              <a:rPr lang="en-US" sz="1800" baseline="-25000" dirty="0">
                <a:solidFill>
                  <a:schemeClr val="tx1"/>
                </a:solidFill>
                <a:uFillTx/>
                <a:latin typeface="微软雅黑" panose="020B0503020204020204" charset="-122"/>
                <a:ea typeface="微软雅黑" panose="020B0503020204020204" charset="-122"/>
                <a:cs typeface="微软雅黑" panose="020B0503020204020204" charset="-122"/>
              </a:rPr>
              <a:t>i </a:t>
            </a:r>
            <a:r>
              <a:rPr sz="1800" dirty="0">
                <a:latin typeface="微软雅黑" panose="020B0503020204020204" charset="-122"/>
                <a:ea typeface="微软雅黑" panose="020B0503020204020204" charset="-122"/>
                <a:cs typeface="微软雅黑" panose="020B0503020204020204" charset="-122"/>
              </a:rPr>
              <a:t>之间</a:t>
            </a:r>
            <a:r>
              <a:rPr sz="1800" dirty="0">
                <a:solidFill>
                  <a:schemeClr val="accent6"/>
                </a:solidFill>
                <a:latin typeface="微软雅黑" panose="020B0503020204020204" charset="-122"/>
                <a:ea typeface="微软雅黑" panose="020B0503020204020204" charset="-122"/>
                <a:cs typeface="微软雅黑" panose="020B0503020204020204" charset="-122"/>
              </a:rPr>
              <a:t>相关性的强度</a:t>
            </a:r>
            <a:r>
              <a:rPr sz="1800" dirty="0">
                <a:latin typeface="微软雅黑" panose="020B0503020204020204" charset="-122"/>
                <a:ea typeface="微软雅黑" panose="020B0503020204020204" charset="-122"/>
                <a:cs typeface="微软雅黑" panose="020B0503020204020204" charset="-122"/>
              </a:rPr>
              <a:t>，评估出与y不相关的</a:t>
            </a:r>
            <a:r>
              <a:rPr lang="en-US" dirty="0">
                <a:latin typeface="微软雅黑" panose="020B0503020204020204" charset="-122"/>
                <a:ea typeface="微软雅黑" panose="020B0503020204020204" charset="-122"/>
                <a:cs typeface="微软雅黑" panose="020B0503020204020204" charset="-122"/>
                <a:sym typeface="+mn-ea"/>
              </a:rPr>
              <a:t> </a:t>
            </a:r>
            <a:r>
              <a:rPr dirty="0">
                <a:latin typeface="微软雅黑" panose="020B0503020204020204" charset="-122"/>
                <a:ea typeface="微软雅黑" panose="020B0503020204020204" charset="-122"/>
                <a:cs typeface="微软雅黑" panose="020B0503020204020204" charset="-122"/>
                <a:sym typeface="+mn-ea"/>
              </a:rPr>
              <a:t>X</a:t>
            </a:r>
            <a:r>
              <a:rPr lang="en-US" baseline="-25000" dirty="0">
                <a:uFillTx/>
                <a:latin typeface="微软雅黑" panose="020B0503020204020204" charset="-122"/>
                <a:ea typeface="微软雅黑" panose="020B0503020204020204" charset="-122"/>
                <a:cs typeface="微软雅黑" panose="020B0503020204020204" charset="-122"/>
                <a:sym typeface="+mn-ea"/>
              </a:rPr>
              <a:t>i </a:t>
            </a:r>
            <a:r>
              <a:rPr lang="zh-CN" altLang="en-US" baseline="-25000" dirty="0">
                <a:uFillTx/>
                <a:latin typeface="微软雅黑" panose="020B0503020204020204" charset="-122"/>
                <a:ea typeface="微软雅黑" panose="020B0503020204020204" charset="-122"/>
                <a:cs typeface="微软雅黑" panose="020B0503020204020204" charset="-122"/>
                <a:sym typeface="+mn-ea"/>
              </a:rPr>
              <a:t>，</a:t>
            </a:r>
            <a:r>
              <a:rPr sz="1800" dirty="0">
                <a:latin typeface="微软雅黑" panose="020B0503020204020204" charset="-122"/>
                <a:ea typeface="微软雅黑" panose="020B0503020204020204" charset="-122"/>
                <a:cs typeface="微软雅黑" panose="020B0503020204020204" charset="-122"/>
              </a:rPr>
              <a:t>并识别出哪些</a:t>
            </a:r>
            <a:r>
              <a:rPr lang="en-US" dirty="0">
                <a:latin typeface="微软雅黑" panose="020B0503020204020204" charset="-122"/>
                <a:ea typeface="微软雅黑" panose="020B0503020204020204" charset="-122"/>
                <a:cs typeface="微软雅黑" panose="020B0503020204020204" charset="-122"/>
                <a:sym typeface="+mn-ea"/>
              </a:rPr>
              <a:t> </a:t>
            </a:r>
            <a:r>
              <a:rPr dirty="0">
                <a:latin typeface="微软雅黑" panose="020B0503020204020204" charset="-122"/>
                <a:ea typeface="微软雅黑" panose="020B0503020204020204" charset="-122"/>
                <a:cs typeface="微软雅黑" panose="020B0503020204020204" charset="-122"/>
                <a:sym typeface="+mn-ea"/>
              </a:rPr>
              <a:t>X</a:t>
            </a:r>
            <a:r>
              <a:rPr lang="en-US" baseline="-25000" dirty="0">
                <a:uFillTx/>
                <a:latin typeface="微软雅黑" panose="020B0503020204020204" charset="-122"/>
                <a:ea typeface="微软雅黑" panose="020B0503020204020204" charset="-122"/>
                <a:cs typeface="微软雅黑" panose="020B0503020204020204" charset="-122"/>
                <a:sym typeface="+mn-ea"/>
              </a:rPr>
              <a:t>i  </a:t>
            </a:r>
            <a:r>
              <a:rPr sz="1800" dirty="0">
                <a:latin typeface="微软雅黑" panose="020B0503020204020204" charset="-122"/>
                <a:ea typeface="微软雅黑" panose="020B0503020204020204" charset="-122"/>
                <a:cs typeface="微软雅黑" panose="020B0503020204020204" charset="-122"/>
              </a:rPr>
              <a:t>的子集包含了关于y的</a:t>
            </a:r>
            <a:r>
              <a:rPr sz="1800" dirty="0">
                <a:latin typeface="微软雅黑" panose="020B0503020204020204" charset="-122"/>
                <a:ea typeface="微软雅黑" panose="020B0503020204020204" charset="-122"/>
                <a:cs typeface="微软雅黑" panose="020B0503020204020204" charset="-122"/>
              </a:rPr>
              <a:t>冗余信息。</a:t>
            </a:r>
            <a:endParaRPr sz="1800" dirty="0">
              <a:latin typeface="微软雅黑" panose="020B0503020204020204" charset="-122"/>
              <a:ea typeface="微软雅黑" panose="020B0503020204020204" charset="-122"/>
              <a:cs typeface="微软雅黑" panose="020B0503020204020204" charset="-122"/>
            </a:endParaRPr>
          </a:p>
        </p:txBody>
      </p:sp>
      <p:sp>
        <p:nvSpPr>
          <p:cNvPr id="4" name="灯片编号占位符 3"/>
          <p:cNvSpPr>
            <a:spLocks noGrp="1"/>
          </p:cNvSpPr>
          <p:nvPr>
            <p:ph type="sldNum" sz="quarter" idx="7"/>
          </p:nvPr>
        </p:nvSpPr>
        <p:spPr/>
        <p:txBody>
          <a:bodyPr/>
          <a:p>
            <a:fld id="{B6F15528-21DE-4FAA-801E-634DDDAF4B2B}" type="slidenum">
              <a:rPr/>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14115" y="438734"/>
            <a:ext cx="4764405" cy="831850"/>
          </a:xfrm>
          <a:prstGeom prst="rect">
            <a:avLst/>
          </a:prstGeom>
        </p:spPr>
        <p:txBody>
          <a:bodyPr vert="horz" wrap="square" lIns="0" tIns="16510" rIns="0" bIns="0" rtlCol="0">
            <a:spAutoFit/>
          </a:bodyPr>
          <a:lstStyle/>
          <a:p>
            <a:pPr marL="12700" algn="ctr">
              <a:lnSpc>
                <a:spcPct val="100000"/>
              </a:lnSpc>
              <a:spcBef>
                <a:spcPts val="130"/>
              </a:spcBef>
            </a:pPr>
            <a:r>
              <a:rPr b="1" spc="20" dirty="0"/>
              <a:t>线性回归的应用</a:t>
            </a:r>
            <a:endParaRPr spc="30" dirty="0"/>
          </a:p>
        </p:txBody>
      </p:sp>
      <p:sp>
        <p:nvSpPr>
          <p:cNvPr id="3" name="object 3"/>
          <p:cNvSpPr txBox="1"/>
          <p:nvPr/>
        </p:nvSpPr>
        <p:spPr>
          <a:xfrm>
            <a:off x="914577" y="5486145"/>
            <a:ext cx="10093960" cy="427990"/>
          </a:xfrm>
          <a:prstGeom prst="rect">
            <a:avLst/>
          </a:prstGeom>
        </p:spPr>
        <p:txBody>
          <a:bodyPr vert="horz" wrap="square" lIns="0" tIns="12700" rIns="0" bIns="0" rtlCol="0">
            <a:spAutoFit/>
          </a:bodyPr>
          <a:lstStyle/>
          <a:p>
            <a:pPr marL="297815" marR="5080" indent="-285750">
              <a:lnSpc>
                <a:spcPct val="150000"/>
              </a:lnSpc>
              <a:spcBef>
                <a:spcPts val="100"/>
              </a:spcBef>
              <a:buFont typeface="Arial" panose="020B0604020202020204" pitchFamily="34" charset="0"/>
              <a:buChar char="•"/>
            </a:pPr>
            <a:r>
              <a:rPr sz="1800" dirty="0">
                <a:solidFill>
                  <a:schemeClr val="accent6"/>
                </a:solidFill>
                <a:latin typeface="微软雅黑" panose="020B0503020204020204" charset="-122"/>
                <a:ea typeface="微软雅黑" panose="020B0503020204020204" charset="-122"/>
                <a:cs typeface="微软雅黑" panose="020B0503020204020204" charset="-122"/>
              </a:rPr>
              <a:t>技术路线：</a:t>
            </a:r>
            <a:r>
              <a:rPr sz="1800" dirty="0">
                <a:latin typeface="Arial" panose="020B0604020202020204" pitchFamily="34" charset="0"/>
                <a:ea typeface="微软雅黑" panose="020B0503020204020204" charset="-122"/>
                <a:cs typeface="Arial" panose="020B0604020202020204" pitchFamily="34" charset="0"/>
              </a:rPr>
              <a:t>sklearn.linear_model.LinearRegression</a:t>
            </a:r>
            <a:endParaRPr sz="1800" dirty="0">
              <a:latin typeface="Arial" panose="020B0604020202020204" pitchFamily="34" charset="0"/>
              <a:ea typeface="微软雅黑" panose="020B0503020204020204" charset="-122"/>
              <a:cs typeface="Arial" panose="020B0604020202020204" pitchFamily="34" charset="0"/>
            </a:endParaRPr>
          </a:p>
        </p:txBody>
      </p:sp>
      <p:sp>
        <p:nvSpPr>
          <p:cNvPr id="4" name="object 4"/>
          <p:cNvSpPr txBox="1"/>
          <p:nvPr/>
        </p:nvSpPr>
        <p:spPr>
          <a:xfrm>
            <a:off x="939800" y="1469390"/>
            <a:ext cx="10569575" cy="2533015"/>
          </a:xfrm>
          <a:prstGeom prst="rect">
            <a:avLst/>
          </a:prstGeom>
        </p:spPr>
        <p:txBody>
          <a:bodyPr vert="horz" wrap="square" lIns="0" tIns="13335" rIns="0" bIns="0" rtlCol="0">
            <a:spAutoFit/>
          </a:bodyPr>
          <a:lstStyle/>
          <a:p>
            <a:pPr marL="298450" marR="5080" indent="-285750" algn="just">
              <a:lnSpc>
                <a:spcPct val="150000"/>
              </a:lnSpc>
              <a:spcBef>
                <a:spcPts val="105"/>
              </a:spcBef>
              <a:buFont typeface="Arial" panose="020B0604020202020204" pitchFamily="34" charset="0"/>
              <a:buChar char="•"/>
            </a:pPr>
            <a:r>
              <a:rPr sz="1800" dirty="0">
                <a:solidFill>
                  <a:schemeClr val="accent6"/>
                </a:solidFill>
                <a:latin typeface="微软雅黑" panose="020B0503020204020204" charset="-122"/>
                <a:ea typeface="微软雅黑" panose="020B0503020204020204" charset="-122"/>
                <a:cs typeface="微软雅黑" panose="020B0503020204020204" charset="-122"/>
              </a:rPr>
              <a:t>背景：</a:t>
            </a:r>
            <a:r>
              <a:rPr sz="1800" dirty="0">
                <a:latin typeface="微软雅黑" panose="020B0503020204020204" charset="-122"/>
                <a:ea typeface="微软雅黑" panose="020B0503020204020204" charset="-122"/>
                <a:cs typeface="微软雅黑" panose="020B0503020204020204" charset="-122"/>
              </a:rPr>
              <a:t>与</a:t>
            </a:r>
            <a:r>
              <a:rPr lang="zh-CN" sz="1800" dirty="0">
                <a:latin typeface="微软雅黑" panose="020B0503020204020204" charset="-122"/>
                <a:ea typeface="微软雅黑" panose="020B0503020204020204" charset="-122"/>
                <a:cs typeface="微软雅黑" panose="020B0503020204020204" charset="-122"/>
              </a:rPr>
              <a:t>西瓜成熟度</a:t>
            </a:r>
            <a:r>
              <a:rPr sz="1800" dirty="0">
                <a:latin typeface="微软雅黑" panose="020B0503020204020204" charset="-122"/>
                <a:ea typeface="微软雅黑" panose="020B0503020204020204" charset="-122"/>
                <a:cs typeface="微软雅黑" panose="020B0503020204020204" charset="-122"/>
              </a:rPr>
              <a:t>密切相关的除了</a:t>
            </a:r>
            <a:r>
              <a:rPr lang="zh-CN" sz="1800" dirty="0">
                <a:latin typeface="微软雅黑" panose="020B0503020204020204" charset="-122"/>
                <a:ea typeface="微软雅黑" panose="020B0503020204020204" charset="-122"/>
                <a:cs typeface="微软雅黑" panose="020B0503020204020204" charset="-122"/>
              </a:rPr>
              <a:t>西瓜的密度</a:t>
            </a:r>
            <a:r>
              <a:rPr sz="1800" dirty="0">
                <a:latin typeface="微软雅黑" panose="020B0503020204020204" charset="-122"/>
                <a:ea typeface="微软雅黑" panose="020B0503020204020204" charset="-122"/>
                <a:cs typeface="微软雅黑" panose="020B0503020204020204" charset="-122"/>
              </a:rPr>
              <a:t>，还有</a:t>
            </a:r>
            <a:r>
              <a:rPr lang="zh-CN" sz="1800" dirty="0">
                <a:latin typeface="微软雅黑" panose="020B0503020204020204" charset="-122"/>
                <a:ea typeface="微软雅黑" panose="020B0503020204020204" charset="-122"/>
                <a:cs typeface="微软雅黑" panose="020B0503020204020204" charset="-122"/>
              </a:rPr>
              <a:t>西瓜</a:t>
            </a:r>
            <a:r>
              <a:rPr sz="1800" dirty="0">
                <a:latin typeface="微软雅黑" panose="020B0503020204020204" charset="-122"/>
                <a:ea typeface="微软雅黑" panose="020B0503020204020204" charset="-122"/>
                <a:cs typeface="微软雅黑" panose="020B0503020204020204" charset="-122"/>
              </a:rPr>
              <a:t>的</a:t>
            </a:r>
            <a:r>
              <a:rPr lang="zh-CN" sz="1800" dirty="0">
                <a:latin typeface="微软雅黑" panose="020B0503020204020204" charset="-122"/>
                <a:ea typeface="微软雅黑" panose="020B0503020204020204" charset="-122"/>
                <a:cs typeface="微软雅黑" panose="020B0503020204020204" charset="-122"/>
              </a:rPr>
              <a:t>含糖量</a:t>
            </a:r>
            <a:r>
              <a:rPr sz="1800" dirty="0">
                <a:latin typeface="微软雅黑" panose="020B0503020204020204" charset="-122"/>
                <a:ea typeface="微软雅黑" panose="020B0503020204020204" charset="-122"/>
                <a:cs typeface="微软雅黑" panose="020B0503020204020204" charset="-122"/>
              </a:rPr>
              <a:t>。我们可以根据已知的</a:t>
            </a:r>
            <a:r>
              <a:rPr lang="zh-CN" dirty="0">
                <a:latin typeface="微软雅黑" panose="020B0503020204020204" charset="-122"/>
                <a:ea typeface="微软雅黑" panose="020B0503020204020204" charset="-122"/>
                <a:cs typeface="微软雅黑" panose="020B0503020204020204" charset="-122"/>
                <a:sym typeface="+mn-ea"/>
              </a:rPr>
              <a:t>西瓜的密度</a:t>
            </a:r>
            <a:r>
              <a:rPr sz="1800" dirty="0">
                <a:latin typeface="微软雅黑" panose="020B0503020204020204" charset="-122"/>
                <a:ea typeface="微软雅黑" panose="020B0503020204020204" charset="-122"/>
                <a:cs typeface="微软雅黑" panose="020B0503020204020204" charset="-122"/>
              </a:rPr>
              <a:t>和</a:t>
            </a:r>
            <a:r>
              <a:rPr lang="zh-CN" dirty="0">
                <a:latin typeface="微软雅黑" panose="020B0503020204020204" charset="-122"/>
                <a:ea typeface="微软雅黑" panose="020B0503020204020204" charset="-122"/>
                <a:cs typeface="微软雅黑" panose="020B0503020204020204" charset="-122"/>
                <a:sym typeface="+mn-ea"/>
              </a:rPr>
              <a:t>西瓜</a:t>
            </a:r>
            <a:r>
              <a:rPr dirty="0">
                <a:latin typeface="微软雅黑" panose="020B0503020204020204" charset="-122"/>
                <a:ea typeface="微软雅黑" panose="020B0503020204020204" charset="-122"/>
                <a:cs typeface="微软雅黑" panose="020B0503020204020204" charset="-122"/>
                <a:sym typeface="+mn-ea"/>
              </a:rPr>
              <a:t>的</a:t>
            </a:r>
            <a:r>
              <a:rPr lang="zh-CN" dirty="0">
                <a:latin typeface="微软雅黑" panose="020B0503020204020204" charset="-122"/>
                <a:ea typeface="微软雅黑" panose="020B0503020204020204" charset="-122"/>
                <a:cs typeface="微软雅黑" panose="020B0503020204020204" charset="-122"/>
                <a:sym typeface="+mn-ea"/>
              </a:rPr>
              <a:t>含糖量</a:t>
            </a:r>
            <a:r>
              <a:rPr sz="1800" dirty="0">
                <a:latin typeface="微软雅黑" panose="020B0503020204020204" charset="-122"/>
                <a:ea typeface="微软雅黑" panose="020B0503020204020204" charset="-122"/>
                <a:cs typeface="微软雅黑" panose="020B0503020204020204" charset="-122"/>
              </a:rPr>
              <a:t>进行线性回归，继而可以对</a:t>
            </a:r>
            <a:r>
              <a:rPr lang="zh-CN" sz="1800" dirty="0">
                <a:latin typeface="微软雅黑" panose="020B0503020204020204" charset="-122"/>
                <a:ea typeface="微软雅黑" panose="020B0503020204020204" charset="-122"/>
                <a:cs typeface="微软雅黑" panose="020B0503020204020204" charset="-122"/>
              </a:rPr>
              <a:t>在</a:t>
            </a:r>
            <a:r>
              <a:rPr sz="1800" dirty="0">
                <a:latin typeface="微软雅黑" panose="020B0503020204020204" charset="-122"/>
                <a:ea typeface="微软雅黑" panose="020B0503020204020204" charset="-122"/>
                <a:cs typeface="微软雅黑" panose="020B0503020204020204" charset="-122"/>
              </a:rPr>
              <a:t>已知</a:t>
            </a:r>
            <a:r>
              <a:rPr lang="zh-CN" dirty="0">
                <a:latin typeface="微软雅黑" panose="020B0503020204020204" charset="-122"/>
                <a:ea typeface="微软雅黑" panose="020B0503020204020204" charset="-122"/>
                <a:cs typeface="微软雅黑" panose="020B0503020204020204" charset="-122"/>
                <a:sym typeface="+mn-ea"/>
              </a:rPr>
              <a:t>西瓜的密度、西瓜</a:t>
            </a:r>
            <a:r>
              <a:rPr dirty="0">
                <a:latin typeface="微软雅黑" panose="020B0503020204020204" charset="-122"/>
                <a:ea typeface="微软雅黑" panose="020B0503020204020204" charset="-122"/>
                <a:cs typeface="微软雅黑" panose="020B0503020204020204" charset="-122"/>
                <a:sym typeface="+mn-ea"/>
              </a:rPr>
              <a:t>的</a:t>
            </a:r>
            <a:r>
              <a:rPr lang="zh-CN" dirty="0">
                <a:latin typeface="微软雅黑" panose="020B0503020204020204" charset="-122"/>
                <a:ea typeface="微软雅黑" panose="020B0503020204020204" charset="-122"/>
                <a:cs typeface="微软雅黑" panose="020B0503020204020204" charset="-122"/>
                <a:sym typeface="+mn-ea"/>
              </a:rPr>
              <a:t>含糖量的前提下，对西瓜的成熟度</a:t>
            </a:r>
            <a:r>
              <a:rPr sz="1800" dirty="0">
                <a:latin typeface="微软雅黑" panose="020B0503020204020204" charset="-122"/>
                <a:ea typeface="微软雅黑" panose="020B0503020204020204" charset="-122"/>
                <a:cs typeface="微软雅黑" panose="020B0503020204020204" charset="-122"/>
              </a:rPr>
              <a:t>进行预测。</a:t>
            </a:r>
            <a:endParaRPr sz="1800" dirty="0">
              <a:latin typeface="微软雅黑" panose="020B0503020204020204" charset="-122"/>
              <a:ea typeface="微软雅黑" panose="020B0503020204020204" charset="-122"/>
              <a:cs typeface="微软雅黑" panose="020B0503020204020204" charset="-122"/>
            </a:endParaRPr>
          </a:p>
          <a:p>
            <a:pPr marL="298450" marR="5080" indent="-285750" algn="just">
              <a:lnSpc>
                <a:spcPct val="150000"/>
              </a:lnSpc>
              <a:spcBef>
                <a:spcPts val="105"/>
              </a:spcBef>
              <a:buFont typeface="Arial" panose="020B0604020202020204" pitchFamily="34" charset="0"/>
              <a:buChar char="•"/>
            </a:pPr>
            <a:r>
              <a:rPr lang="zh-CN" dirty="0">
                <a:solidFill>
                  <a:schemeClr val="accent6"/>
                </a:solidFill>
                <a:latin typeface="微软雅黑" panose="020B0503020204020204" charset="-122"/>
                <a:ea typeface="微软雅黑" panose="020B0503020204020204" charset="-122"/>
                <a:cs typeface="微软雅黑" panose="020B0503020204020204" charset="-122"/>
                <a:sym typeface="+mn-ea"/>
              </a:rPr>
              <a:t>应用</a:t>
            </a:r>
            <a:r>
              <a:rPr dirty="0">
                <a:solidFill>
                  <a:schemeClr val="accent6"/>
                </a:solidFill>
                <a:latin typeface="微软雅黑" panose="020B0503020204020204" charset="-122"/>
                <a:ea typeface="微软雅黑" panose="020B0503020204020204" charset="-122"/>
                <a:cs typeface="微软雅黑" panose="020B0503020204020204" charset="-122"/>
                <a:sym typeface="+mn-ea"/>
              </a:rPr>
              <a:t>目标：</a:t>
            </a:r>
            <a:r>
              <a:rPr dirty="0">
                <a:latin typeface="微软雅黑" panose="020B0503020204020204" charset="-122"/>
                <a:ea typeface="微软雅黑" panose="020B0503020204020204" charset="-122"/>
                <a:cs typeface="微软雅黑" panose="020B0503020204020204" charset="-122"/>
                <a:sym typeface="+mn-ea"/>
              </a:rPr>
              <a:t>对</a:t>
            </a:r>
            <a:r>
              <a:rPr lang="zh-CN" dirty="0">
                <a:latin typeface="微软雅黑" panose="020B0503020204020204" charset="-122"/>
                <a:ea typeface="微软雅黑" panose="020B0503020204020204" charset="-122"/>
                <a:cs typeface="微软雅黑" panose="020B0503020204020204" charset="-122"/>
                <a:sym typeface="+mn-ea"/>
              </a:rPr>
              <a:t>西瓜的两个特征与西瓜的成熟度</a:t>
            </a:r>
            <a:r>
              <a:rPr dirty="0">
                <a:latin typeface="微软雅黑" panose="020B0503020204020204" charset="-122"/>
                <a:ea typeface="微软雅黑" panose="020B0503020204020204" charset="-122"/>
                <a:cs typeface="微软雅黑" panose="020B0503020204020204" charset="-122"/>
                <a:sym typeface="+mn-ea"/>
              </a:rPr>
              <a:t>建立回归方程，并依据回归方程对</a:t>
            </a:r>
            <a:r>
              <a:rPr lang="zh-CN" dirty="0">
                <a:latin typeface="微软雅黑" panose="020B0503020204020204" charset="-122"/>
                <a:ea typeface="微软雅黑" panose="020B0503020204020204" charset="-122"/>
                <a:cs typeface="微软雅黑" panose="020B0503020204020204" charset="-122"/>
                <a:sym typeface="+mn-ea"/>
              </a:rPr>
              <a:t>成熟度</a:t>
            </a:r>
            <a:r>
              <a:rPr dirty="0">
                <a:latin typeface="微软雅黑" panose="020B0503020204020204" charset="-122"/>
                <a:ea typeface="微软雅黑" panose="020B0503020204020204" charset="-122"/>
                <a:cs typeface="微软雅黑" panose="020B0503020204020204" charset="-122"/>
                <a:sym typeface="+mn-ea"/>
              </a:rPr>
              <a:t>进行预测</a:t>
            </a:r>
            <a:r>
              <a:rPr lang="zh-CN" dirty="0">
                <a:latin typeface="微软雅黑" panose="020B0503020204020204" charset="-122"/>
                <a:ea typeface="微软雅黑" panose="020B0503020204020204" charset="-122"/>
                <a:cs typeface="微软雅黑" panose="020B0503020204020204" charset="-122"/>
                <a:sym typeface="+mn-ea"/>
              </a:rPr>
              <a:t>。并解释密度跟含糖量哪个指标更重要？</a:t>
            </a:r>
            <a:endParaRPr lang="zh-CN" sz="1800" dirty="0">
              <a:solidFill>
                <a:schemeClr val="accent6"/>
              </a:solidFill>
              <a:latin typeface="微软雅黑" panose="020B0503020204020204" charset="-122"/>
              <a:ea typeface="微软雅黑" panose="020B0503020204020204" charset="-122"/>
              <a:cs typeface="微软雅黑" panose="020B0503020204020204" charset="-122"/>
            </a:endParaRPr>
          </a:p>
          <a:p>
            <a:pPr marL="298450" marR="5080" indent="-285750" algn="just">
              <a:lnSpc>
                <a:spcPct val="150000"/>
              </a:lnSpc>
              <a:spcBef>
                <a:spcPts val="105"/>
              </a:spcBef>
              <a:buFont typeface="Arial" panose="020B0604020202020204" pitchFamily="34" charset="0"/>
              <a:buChar char="•"/>
            </a:pPr>
            <a:r>
              <a:rPr lang="zh-CN" sz="1800" dirty="0">
                <a:solidFill>
                  <a:schemeClr val="accent6"/>
                </a:solidFill>
                <a:latin typeface="微软雅黑" panose="020B0503020204020204" charset="-122"/>
                <a:ea typeface="微软雅黑" panose="020B0503020204020204" charset="-122"/>
                <a:cs typeface="微软雅黑" panose="020B0503020204020204" charset="-122"/>
              </a:rPr>
              <a:t>数学建模：</a:t>
            </a:r>
            <a:endParaRPr lang="zh-CN" sz="1800" dirty="0">
              <a:solidFill>
                <a:schemeClr val="accent6"/>
              </a:solidFill>
              <a:latin typeface="微软雅黑" panose="020B0503020204020204" charset="-122"/>
              <a:ea typeface="微软雅黑" panose="020B0503020204020204" charset="-122"/>
              <a:cs typeface="微软雅黑" panose="020B0503020204020204" charset="-122"/>
            </a:endParaRPr>
          </a:p>
        </p:txBody>
      </p:sp>
      <p:sp>
        <p:nvSpPr>
          <p:cNvPr id="6" name="灯片编号占位符 5"/>
          <p:cNvSpPr>
            <a:spLocks noGrp="1"/>
          </p:cNvSpPr>
          <p:nvPr>
            <p:ph type="sldNum" sz="quarter" idx="7"/>
          </p:nvPr>
        </p:nvSpPr>
        <p:spPr/>
        <p:txBody>
          <a:bodyPr/>
          <a:p>
            <a:fld id="{B6F15528-21DE-4FAA-801E-634DDDAF4B2B}" type="slidenum">
              <a:rPr/>
            </a:fld>
            <a:endParaRPr/>
          </a:p>
        </p:txBody>
      </p:sp>
      <p:pic>
        <p:nvPicPr>
          <p:cNvPr id="7" name="图片 6" descr="C:/Users/Liang/AppData/Local/Temp/picturecompress_20220316153739/output_1.pngoutput_1"/>
          <p:cNvPicPr>
            <a:picLocks noChangeAspect="1"/>
          </p:cNvPicPr>
          <p:nvPr/>
        </p:nvPicPr>
        <p:blipFill>
          <a:blip r:embed="rId1"/>
          <a:stretch>
            <a:fillRect/>
          </a:stretch>
        </p:blipFill>
        <p:spPr>
          <a:xfrm>
            <a:off x="1219200" y="4015740"/>
            <a:ext cx="4745355" cy="14738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9400" y="457200"/>
            <a:ext cx="7150100" cy="831850"/>
          </a:xfrm>
          <a:prstGeom prst="rect">
            <a:avLst/>
          </a:prstGeom>
        </p:spPr>
        <p:txBody>
          <a:bodyPr vert="horz" wrap="square" lIns="0" tIns="16510" rIns="0" bIns="0" rtlCol="0">
            <a:spAutoFit/>
          </a:bodyPr>
          <a:lstStyle/>
          <a:p>
            <a:pPr marL="12700" algn="ctr">
              <a:lnSpc>
                <a:spcPct val="100000"/>
              </a:lnSpc>
              <a:spcBef>
                <a:spcPts val="130"/>
              </a:spcBef>
            </a:pPr>
            <a:r>
              <a:rPr lang="en-US" spc="20" dirty="0">
                <a:latin typeface="Arial" panose="020B0604020202020204" pitchFamily="34" charset="0"/>
                <a:ea typeface="宋体" panose="02010600030101010101" pitchFamily="2" charset="-122"/>
                <a:cs typeface="Arial" panose="020B0604020202020204" pitchFamily="34" charset="0"/>
              </a:rPr>
              <a:t>Sklearn</a:t>
            </a:r>
            <a:r>
              <a:rPr lang="zh-CN" altLang="en-US" b="1" spc="20" dirty="0"/>
              <a:t>中的</a:t>
            </a:r>
            <a:r>
              <a:rPr b="1" spc="20" dirty="0"/>
              <a:t>线性回归</a:t>
            </a:r>
            <a:endParaRPr spc="30" dirty="0"/>
          </a:p>
        </p:txBody>
      </p:sp>
      <p:sp>
        <p:nvSpPr>
          <p:cNvPr id="3" name="object 3"/>
          <p:cNvSpPr txBox="1"/>
          <p:nvPr/>
        </p:nvSpPr>
        <p:spPr>
          <a:xfrm>
            <a:off x="914577" y="1447545"/>
            <a:ext cx="10093960" cy="474345"/>
          </a:xfrm>
          <a:prstGeom prst="rect">
            <a:avLst/>
          </a:prstGeom>
        </p:spPr>
        <p:txBody>
          <a:bodyPr vert="horz" wrap="square" lIns="0" tIns="12700" rIns="0" bIns="0" rtlCol="0">
            <a:spAutoFit/>
          </a:bodyPr>
          <a:lstStyle/>
          <a:p>
            <a:pPr marL="1170940" marR="5080" indent="-1158875">
              <a:lnSpc>
                <a:spcPct val="150000"/>
              </a:lnSpc>
              <a:spcBef>
                <a:spcPts val="100"/>
              </a:spcBef>
            </a:pPr>
            <a:r>
              <a:rPr sz="1800" dirty="0">
                <a:latin typeface="微软雅黑" panose="020B0503020204020204" charset="-122"/>
                <a:ea typeface="微软雅黑" panose="020B0503020204020204" charset="-122"/>
                <a:cs typeface="微软雅黑" panose="020B0503020204020204" charset="-122"/>
              </a:rPr>
              <a:t>技术路线：</a:t>
            </a:r>
            <a:r>
              <a:rPr sz="2000" dirty="0">
                <a:solidFill>
                  <a:schemeClr val="accent6"/>
                </a:solidFill>
                <a:latin typeface="微软雅黑" panose="020B0503020204020204" charset="-122"/>
                <a:ea typeface="微软雅黑" panose="020B0503020204020204" charset="-122"/>
                <a:cs typeface="微软雅黑" panose="020B0503020204020204" charset="-122"/>
              </a:rPr>
              <a:t>sklearn.linear_model.LinearRegression</a:t>
            </a:r>
            <a:r>
              <a:rPr lang="en-US" sz="2000" dirty="0">
                <a:solidFill>
                  <a:schemeClr val="accent6"/>
                </a:solidFill>
                <a:latin typeface="微软雅黑" panose="020B0503020204020204" charset="-122"/>
                <a:ea typeface="微软雅黑" panose="020B0503020204020204" charset="-122"/>
                <a:cs typeface="微软雅黑" panose="020B0503020204020204" charset="-122"/>
              </a:rPr>
              <a:t> </a:t>
            </a:r>
            <a:r>
              <a:rPr lang="zh-CN" altLang="en-US" sz="2000" dirty="0">
                <a:solidFill>
                  <a:schemeClr val="accent6"/>
                </a:solidFill>
                <a:latin typeface="微软雅黑" panose="020B0503020204020204" charset="-122"/>
                <a:ea typeface="微软雅黑" panose="020B0503020204020204" charset="-122"/>
                <a:cs typeface="微软雅黑" panose="020B0503020204020204" charset="-122"/>
                <a:hlinkClick r:id="rId1" action="ppaction://hlinkfile"/>
              </a:rPr>
              <a:t>官方文档</a:t>
            </a:r>
            <a:r>
              <a:rPr lang="en-US" altLang="zh-CN" sz="2000" dirty="0">
                <a:solidFill>
                  <a:schemeClr val="accent6"/>
                </a:solidFill>
                <a:latin typeface="微软雅黑" panose="020B0503020204020204" charset="-122"/>
                <a:ea typeface="微软雅黑" panose="020B0503020204020204" charset="-122"/>
                <a:cs typeface="微软雅黑" panose="020B0503020204020204" charset="-122"/>
              </a:rPr>
              <a:t>   </a:t>
            </a:r>
            <a:r>
              <a:rPr lang="en-US" altLang="zh-CN" sz="2000" dirty="0">
                <a:solidFill>
                  <a:schemeClr val="accent6"/>
                </a:solidFill>
                <a:latin typeface="微软雅黑" panose="020B0503020204020204" charset="-122"/>
                <a:ea typeface="微软雅黑" panose="020B0503020204020204" charset="-122"/>
                <a:cs typeface="微软雅黑" panose="020B0503020204020204" charset="-122"/>
                <a:hlinkClick r:id="rId2" action="ppaction://hlinkfile"/>
              </a:rPr>
              <a:t>中文文档</a:t>
            </a:r>
            <a:endParaRPr lang="en-US" altLang="zh-CN" sz="2000" dirty="0">
              <a:solidFill>
                <a:schemeClr val="accent6"/>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3"/>
          <a:stretch>
            <a:fillRect/>
          </a:stretch>
        </p:blipFill>
        <p:spPr>
          <a:xfrm>
            <a:off x="838200" y="2080895"/>
            <a:ext cx="8963025" cy="2314575"/>
          </a:xfrm>
          <a:prstGeom prst="rect">
            <a:avLst/>
          </a:prstGeom>
        </p:spPr>
      </p:pic>
      <p:pic>
        <p:nvPicPr>
          <p:cNvPr id="6" name="图片 5"/>
          <p:cNvPicPr>
            <a:picLocks noChangeAspect="1"/>
          </p:cNvPicPr>
          <p:nvPr/>
        </p:nvPicPr>
        <p:blipFill>
          <a:blip r:embed="rId4"/>
          <a:stretch>
            <a:fillRect/>
          </a:stretch>
        </p:blipFill>
        <p:spPr>
          <a:xfrm>
            <a:off x="838200" y="4572000"/>
            <a:ext cx="7919085" cy="1877695"/>
          </a:xfrm>
          <a:prstGeom prst="rect">
            <a:avLst/>
          </a:prstGeom>
        </p:spPr>
      </p:pic>
      <p:sp>
        <p:nvSpPr>
          <p:cNvPr id="7" name="文本框 6"/>
          <p:cNvSpPr txBox="1"/>
          <p:nvPr/>
        </p:nvSpPr>
        <p:spPr>
          <a:xfrm>
            <a:off x="9723120" y="4495800"/>
            <a:ext cx="2468880" cy="398780"/>
          </a:xfrm>
          <a:prstGeom prst="rect">
            <a:avLst/>
          </a:prstGeom>
          <a:noFill/>
        </p:spPr>
        <p:txBody>
          <a:bodyPr wrap="none" rtlCol="0">
            <a:spAutoFit/>
          </a:bodyPr>
          <a:p>
            <a:r>
              <a:rPr lang="zh-CN" sz="2000" dirty="0">
                <a:solidFill>
                  <a:schemeClr val="accent6"/>
                </a:solidFill>
                <a:latin typeface="微软雅黑" panose="020B0503020204020204" charset="-122"/>
                <a:ea typeface="微软雅黑" panose="020B0503020204020204" charset="-122"/>
                <a:cs typeface="微软雅黑" panose="020B0503020204020204" charset="-122"/>
              </a:rPr>
              <a:t>疑问：</a:t>
            </a:r>
            <a:r>
              <a:rPr sz="2000" dirty="0">
                <a:solidFill>
                  <a:schemeClr val="accent6"/>
                </a:solidFill>
                <a:latin typeface="微软雅黑" panose="020B0503020204020204" charset="-122"/>
                <a:ea typeface="微软雅黑" panose="020B0503020204020204" charset="-122"/>
                <a:cs typeface="微软雅黑" panose="020B0503020204020204" charset="-122"/>
              </a:rPr>
              <a:t>最小二乘法？</a:t>
            </a:r>
            <a:endParaRPr sz="2000" dirty="0">
              <a:solidFill>
                <a:schemeClr val="accent6"/>
              </a:solidFill>
              <a:latin typeface="微软雅黑" panose="020B0503020204020204" charset="-122"/>
              <a:ea typeface="微软雅黑" panose="020B0503020204020204" charset="-122"/>
              <a:cs typeface="微软雅黑" panose="020B0503020204020204" charset="-122"/>
            </a:endParaRPr>
          </a:p>
        </p:txBody>
      </p:sp>
      <p:pic>
        <p:nvPicPr>
          <p:cNvPr id="8" name="图片 7"/>
          <p:cNvPicPr>
            <a:picLocks noChangeAspect="1"/>
          </p:cNvPicPr>
          <p:nvPr/>
        </p:nvPicPr>
        <p:blipFill>
          <a:blip r:embed="rId5"/>
          <a:stretch>
            <a:fillRect/>
          </a:stretch>
        </p:blipFill>
        <p:spPr>
          <a:xfrm>
            <a:off x="7010400" y="5410200"/>
            <a:ext cx="5193665" cy="1396365"/>
          </a:xfrm>
          <a:prstGeom prst="rect">
            <a:avLst/>
          </a:prstGeom>
        </p:spPr>
      </p:pic>
      <p:sp>
        <p:nvSpPr>
          <p:cNvPr id="9" name="灯片编号占位符 8"/>
          <p:cNvSpPr>
            <a:spLocks noGrp="1"/>
          </p:cNvSpPr>
          <p:nvPr>
            <p:ph type="sldNum" sz="quarter" idx="7"/>
          </p:nvPr>
        </p:nvSpPr>
        <p:spPr/>
        <p:txBody>
          <a:bodyPr/>
          <a:p>
            <a:fld id="{B6F15528-21DE-4FAA-801E-634DDDAF4B2B}" type="slidenum">
              <a:rPr/>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14115" y="438734"/>
            <a:ext cx="4764405" cy="831850"/>
          </a:xfrm>
          <a:prstGeom prst="rect">
            <a:avLst/>
          </a:prstGeom>
        </p:spPr>
        <p:txBody>
          <a:bodyPr vert="horz" wrap="square" lIns="0" tIns="16510" rIns="0" bIns="0" rtlCol="0">
            <a:spAutoFit/>
          </a:bodyPr>
          <a:lstStyle/>
          <a:p>
            <a:pPr marL="12700" algn="ctr">
              <a:lnSpc>
                <a:spcPct val="100000"/>
              </a:lnSpc>
              <a:spcBef>
                <a:spcPts val="130"/>
              </a:spcBef>
            </a:pPr>
            <a:r>
              <a:rPr b="1" spc="20" dirty="0"/>
              <a:t>最小二乘法</a:t>
            </a:r>
            <a:endParaRPr b="1" spc="20" dirty="0"/>
          </a:p>
        </p:txBody>
      </p:sp>
      <p:sp>
        <p:nvSpPr>
          <p:cNvPr id="4" name="object 4"/>
          <p:cNvSpPr txBox="1"/>
          <p:nvPr/>
        </p:nvSpPr>
        <p:spPr>
          <a:xfrm>
            <a:off x="950595" y="1447627"/>
            <a:ext cx="9779000" cy="2144395"/>
          </a:xfrm>
          <a:prstGeom prst="rect">
            <a:avLst/>
          </a:prstGeom>
        </p:spPr>
        <p:txBody>
          <a:bodyPr vert="horz" wrap="square" lIns="0" tIns="13335" rIns="0" bIns="0" rtlCol="0">
            <a:spAutoFit/>
          </a:bodyPr>
          <a:lstStyle/>
          <a:p>
            <a:pPr marL="12700" marR="5080" algn="just">
              <a:lnSpc>
                <a:spcPct val="150000"/>
              </a:lnSpc>
              <a:spcBef>
                <a:spcPts val="105"/>
              </a:spcBef>
            </a:pPr>
            <a:r>
              <a:rPr lang="en-US" sz="1800" dirty="0">
                <a:latin typeface="微软雅黑" panose="020B0503020204020204" charset="-122"/>
                <a:ea typeface="微软雅黑" panose="020B0503020204020204" charset="-122"/>
                <a:cs typeface="微软雅黑" panose="020B0503020204020204" charset="-122"/>
                <a:hlinkClick r:id="rId1" action="ppaction://hlinkfile"/>
              </a:rPr>
              <a:t>最小二乘法：背后的假设和原理（前篇）</a:t>
            </a:r>
            <a:endParaRPr lang="en-US" sz="1800" dirty="0">
              <a:latin typeface="微软雅黑" panose="020B0503020204020204" charset="-122"/>
              <a:ea typeface="微软雅黑" panose="020B0503020204020204" charset="-122"/>
              <a:cs typeface="微软雅黑" panose="020B0503020204020204" charset="-122"/>
              <a:hlinkClick r:id="rId2" action="ppaction://hlinkfile"/>
            </a:endParaRPr>
          </a:p>
          <a:p>
            <a:pPr marL="12700" marR="5080" algn="just">
              <a:lnSpc>
                <a:spcPct val="150000"/>
              </a:lnSpc>
              <a:spcBef>
                <a:spcPts val="105"/>
              </a:spcBef>
            </a:pPr>
            <a:endParaRPr lang="en-US" sz="1800" dirty="0">
              <a:latin typeface="微软雅黑" panose="020B0503020204020204" charset="-122"/>
              <a:ea typeface="微软雅黑" panose="020B0503020204020204" charset="-122"/>
              <a:cs typeface="微软雅黑" panose="020B0503020204020204" charset="-122"/>
              <a:hlinkClick r:id="rId2" action="ppaction://hlinkfile"/>
            </a:endParaRPr>
          </a:p>
          <a:p>
            <a:pPr marL="12700" marR="5080" algn="just">
              <a:lnSpc>
                <a:spcPct val="150000"/>
              </a:lnSpc>
              <a:spcBef>
                <a:spcPts val="105"/>
              </a:spcBef>
            </a:pPr>
            <a:r>
              <a:rPr lang="en-US" sz="1800" dirty="0">
                <a:latin typeface="微软雅黑" panose="020B0503020204020204" charset="-122"/>
                <a:ea typeface="微软雅黑" panose="020B0503020204020204" charset="-122"/>
                <a:cs typeface="微软雅黑" panose="020B0503020204020204" charset="-122"/>
                <a:hlinkClick r:id="rId2" action="ppaction://hlinkfile"/>
              </a:rPr>
              <a:t>最小二乘法原理（中）：似然函数求权重参数</a:t>
            </a:r>
            <a:endParaRPr lang="en-US" sz="1800" dirty="0">
              <a:latin typeface="微软雅黑" panose="020B0503020204020204" charset="-122"/>
              <a:ea typeface="微软雅黑" panose="020B0503020204020204" charset="-122"/>
              <a:cs typeface="微软雅黑" panose="020B0503020204020204" charset="-122"/>
              <a:hlinkClick r:id="rId2" action="ppaction://hlinkfile"/>
            </a:endParaRPr>
          </a:p>
          <a:p>
            <a:pPr marL="12700" marR="5080" algn="just">
              <a:lnSpc>
                <a:spcPct val="150000"/>
              </a:lnSpc>
              <a:spcBef>
                <a:spcPts val="105"/>
              </a:spcBef>
            </a:pPr>
            <a:endParaRPr lang="en-US" sz="1800" dirty="0">
              <a:latin typeface="微软雅黑" panose="020B0503020204020204" charset="-122"/>
              <a:ea typeface="微软雅黑" panose="020B0503020204020204" charset="-122"/>
              <a:cs typeface="微软雅黑" panose="020B0503020204020204" charset="-122"/>
            </a:endParaRPr>
          </a:p>
          <a:p>
            <a:pPr marL="12700" marR="5080" algn="just">
              <a:lnSpc>
                <a:spcPct val="150000"/>
              </a:lnSpc>
              <a:spcBef>
                <a:spcPts val="105"/>
              </a:spcBef>
            </a:pPr>
            <a:r>
              <a:rPr lang="en-US" sz="1800" dirty="0">
                <a:latin typeface="微软雅黑" panose="020B0503020204020204" charset="-122"/>
                <a:ea typeface="微软雅黑" panose="020B0503020204020204" charset="-122"/>
                <a:cs typeface="微软雅黑" panose="020B0503020204020204" charset="-122"/>
                <a:hlinkClick r:id="rId3" action="ppaction://hlinkfile"/>
              </a:rPr>
              <a:t>最小二乘法原理（后）：梯度下降求权重参数</a:t>
            </a:r>
            <a:endParaRPr lang="en-US" sz="1800" dirty="0">
              <a:latin typeface="微软雅黑" panose="020B0503020204020204" charset="-122"/>
              <a:ea typeface="微软雅黑" panose="020B0503020204020204" charset="-122"/>
              <a:cs typeface="微软雅黑" panose="020B0503020204020204" charset="-122"/>
            </a:endParaRPr>
          </a:p>
        </p:txBody>
      </p:sp>
      <p:sp>
        <p:nvSpPr>
          <p:cNvPr id="6" name="灯片编号占位符 5"/>
          <p:cNvSpPr>
            <a:spLocks noGrp="1"/>
          </p:cNvSpPr>
          <p:nvPr>
            <p:ph type="sldNum" sz="quarter" idx="7"/>
          </p:nvPr>
        </p:nvSpPr>
        <p:spPr/>
        <p:txBody>
          <a:bodyPr/>
          <a:p>
            <a:fld id="{B6F15528-21DE-4FAA-801E-634DDDAF4B2B}" type="slidenum">
              <a:rPr/>
            </a:fld>
            <a:endParaRPr/>
          </a:p>
        </p:txBody>
      </p:sp>
      <p:pic>
        <p:nvPicPr>
          <p:cNvPr id="7" name="图片 6"/>
          <p:cNvPicPr>
            <a:picLocks noChangeAspect="1"/>
          </p:cNvPicPr>
          <p:nvPr/>
        </p:nvPicPr>
        <p:blipFill>
          <a:blip r:embed="rId4"/>
          <a:stretch>
            <a:fillRect/>
          </a:stretch>
        </p:blipFill>
        <p:spPr>
          <a:xfrm>
            <a:off x="5638800" y="1270635"/>
            <a:ext cx="3583940" cy="784860"/>
          </a:xfrm>
          <a:prstGeom prst="rect">
            <a:avLst/>
          </a:prstGeom>
        </p:spPr>
      </p:pic>
      <p:pic>
        <p:nvPicPr>
          <p:cNvPr id="8" name="图片 7"/>
          <p:cNvPicPr>
            <a:picLocks noChangeAspect="1"/>
          </p:cNvPicPr>
          <p:nvPr/>
        </p:nvPicPr>
        <p:blipFill>
          <a:blip r:embed="rId5"/>
          <a:stretch>
            <a:fillRect/>
          </a:stretch>
        </p:blipFill>
        <p:spPr>
          <a:xfrm>
            <a:off x="5791200" y="2267585"/>
            <a:ext cx="2577465" cy="504825"/>
          </a:xfrm>
          <a:prstGeom prst="rect">
            <a:avLst/>
          </a:prstGeom>
        </p:spPr>
      </p:pic>
      <p:pic>
        <p:nvPicPr>
          <p:cNvPr id="9" name="图片 8"/>
          <p:cNvPicPr>
            <a:picLocks noChangeAspect="1"/>
          </p:cNvPicPr>
          <p:nvPr/>
        </p:nvPicPr>
        <p:blipFill>
          <a:blip r:embed="rId6"/>
          <a:stretch>
            <a:fillRect/>
          </a:stretch>
        </p:blipFill>
        <p:spPr>
          <a:xfrm>
            <a:off x="950595" y="3886200"/>
            <a:ext cx="3651250" cy="651510"/>
          </a:xfrm>
          <a:prstGeom prst="rect">
            <a:avLst/>
          </a:prstGeom>
        </p:spPr>
      </p:pic>
      <p:pic>
        <p:nvPicPr>
          <p:cNvPr id="10" name="图片 9"/>
          <p:cNvPicPr>
            <a:picLocks noChangeAspect="1"/>
          </p:cNvPicPr>
          <p:nvPr/>
        </p:nvPicPr>
        <p:blipFill>
          <a:blip r:embed="rId7"/>
          <a:stretch>
            <a:fillRect/>
          </a:stretch>
        </p:blipFill>
        <p:spPr>
          <a:xfrm>
            <a:off x="950595" y="4800600"/>
            <a:ext cx="4147820" cy="768985"/>
          </a:xfrm>
          <a:prstGeom prst="rect">
            <a:avLst/>
          </a:prstGeom>
        </p:spPr>
      </p:pic>
      <p:pic>
        <p:nvPicPr>
          <p:cNvPr id="11" name="图片 10"/>
          <p:cNvPicPr>
            <a:picLocks noChangeAspect="1"/>
          </p:cNvPicPr>
          <p:nvPr/>
        </p:nvPicPr>
        <p:blipFill>
          <a:blip r:embed="rId8"/>
          <a:stretch>
            <a:fillRect/>
          </a:stretch>
        </p:blipFill>
        <p:spPr>
          <a:xfrm>
            <a:off x="5638800" y="2971800"/>
            <a:ext cx="6391275" cy="33242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95800" y="3048000"/>
            <a:ext cx="2909570" cy="754380"/>
          </a:xfrm>
          <a:prstGeom prst="rect">
            <a:avLst/>
          </a:prstGeom>
        </p:spPr>
        <p:txBody>
          <a:bodyPr vert="horz" wrap="square" lIns="0" tIns="15875" rIns="0" bIns="0" rtlCol="0">
            <a:spAutoFit/>
          </a:bodyPr>
          <a:lstStyle/>
          <a:p>
            <a:pPr marL="12700" algn="ctr">
              <a:lnSpc>
                <a:spcPct val="100000"/>
              </a:lnSpc>
              <a:spcBef>
                <a:spcPts val="125"/>
              </a:spcBef>
            </a:pPr>
            <a:r>
              <a:rPr lang="zh-CN" sz="4800" b="1" spc="25" dirty="0"/>
              <a:t>逻辑</a:t>
            </a:r>
            <a:r>
              <a:rPr sz="4800" b="1" spc="25" dirty="0"/>
              <a:t>回归</a:t>
            </a:r>
            <a:endParaRPr sz="4800" b="1" spc="25" dirty="0"/>
          </a:p>
        </p:txBody>
      </p:sp>
      <p:sp>
        <p:nvSpPr>
          <p:cNvPr id="3" name="灯片编号占位符 2"/>
          <p:cNvSpPr>
            <a:spLocks noGrp="1"/>
          </p:cNvSpPr>
          <p:nvPr>
            <p:ph type="sldNum" sz="quarter" idx="7"/>
          </p:nvPr>
        </p:nvSpPr>
        <p:spPr/>
        <p:txBody>
          <a:bodyPr/>
          <a:p>
            <a:fld id="{B6F15528-21DE-4FAA-801E-634DDDAF4B2B}" type="slidenum">
              <a:rPr/>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7"/>
          </p:nvPr>
        </p:nvSpPr>
        <p:spPr/>
        <p:txBody>
          <a:bodyPr/>
          <a:p>
            <a:fld id="{B6F15528-21DE-4FAA-801E-634DDDAF4B2B}" type="slidenum">
              <a:rPr/>
            </a:fld>
            <a:endParaRPr/>
          </a:p>
        </p:txBody>
      </p:sp>
      <p:sp>
        <p:nvSpPr>
          <p:cNvPr id="6" name="object 2"/>
          <p:cNvSpPr txBox="1">
            <a:spLocks noGrp="1"/>
          </p:cNvSpPr>
          <p:nvPr>
            <p:ph type="title"/>
          </p:nvPr>
        </p:nvSpPr>
        <p:spPr>
          <a:xfrm>
            <a:off x="228600" y="304800"/>
            <a:ext cx="6971665" cy="754380"/>
          </a:xfrm>
          <a:prstGeom prst="rect">
            <a:avLst/>
          </a:prstGeom>
        </p:spPr>
        <p:txBody>
          <a:bodyPr vert="horz" wrap="square" lIns="0" tIns="15875" rIns="0" bIns="0" rtlCol="0">
            <a:spAutoFit/>
          </a:bodyPr>
          <a:p>
            <a:pPr marL="12700" algn="ctr">
              <a:lnSpc>
                <a:spcPct val="100000"/>
              </a:lnSpc>
              <a:spcBef>
                <a:spcPts val="125"/>
              </a:spcBef>
            </a:pPr>
            <a:r>
              <a:rPr lang="zh-CN" sz="4800" b="1" spc="25" dirty="0"/>
              <a:t>逻辑</a:t>
            </a:r>
            <a:r>
              <a:rPr sz="4800" b="1" spc="25" dirty="0"/>
              <a:t>回归</a:t>
            </a:r>
            <a:r>
              <a:rPr lang="en-US" sz="4800" b="1" spc="25" dirty="0"/>
              <a:t>——</a:t>
            </a:r>
            <a:r>
              <a:rPr sz="4800" b="1" spc="25" dirty="0">
                <a:sym typeface="+mn-ea"/>
              </a:rPr>
              <a:t>分类问题</a:t>
            </a:r>
            <a:endParaRPr lang="en-US" sz="4800" b="1" spc="25" dirty="0"/>
          </a:p>
        </p:txBody>
      </p:sp>
      <p:sp>
        <p:nvSpPr>
          <p:cNvPr id="7" name="文本框 6"/>
          <p:cNvSpPr txBox="1"/>
          <p:nvPr/>
        </p:nvSpPr>
        <p:spPr>
          <a:xfrm>
            <a:off x="609600" y="1295400"/>
            <a:ext cx="7073265" cy="645160"/>
          </a:xfrm>
          <a:prstGeom prst="rect">
            <a:avLst/>
          </a:prstGeom>
          <a:noFill/>
        </p:spPr>
        <p:txBody>
          <a:bodyPr wrap="square" rtlCol="0" anchor="t">
            <a:spAutoFit/>
          </a:bodyPr>
          <a:p>
            <a:r>
              <a:rPr lang="zh-CN" altLang="en-US">
                <a:latin typeface="微软雅黑" panose="020B0503020204020204" charset="-122"/>
                <a:ea typeface="微软雅黑" panose="020B0503020204020204" charset="-122"/>
              </a:rPr>
              <a:t>既然能够用线性回归预测出连续值结果，那根据结果设定一个阈值是不是就可以解决</a:t>
            </a:r>
            <a:r>
              <a:rPr lang="zh-CN" altLang="en-US">
                <a:latin typeface="微软雅黑" panose="020B0503020204020204" charset="-122"/>
                <a:ea typeface="微软雅黑" panose="020B0503020204020204" charset="-122"/>
              </a:rPr>
              <a:t>分类问题了呢？</a:t>
            </a:r>
            <a:endParaRPr lang="zh-CN" altLang="en-US">
              <a:latin typeface="微软雅黑" panose="020B0503020204020204" charset="-122"/>
              <a:ea typeface="微软雅黑" panose="020B0503020204020204" charset="-122"/>
            </a:endParaRPr>
          </a:p>
        </p:txBody>
      </p:sp>
      <p:pic>
        <p:nvPicPr>
          <p:cNvPr id="8" name="图片 7" descr="20180110225531422088"/>
          <p:cNvPicPr>
            <a:picLocks noChangeAspect="1"/>
          </p:cNvPicPr>
          <p:nvPr/>
        </p:nvPicPr>
        <p:blipFill>
          <a:blip r:embed="rId1"/>
          <a:stretch>
            <a:fillRect/>
          </a:stretch>
        </p:blipFill>
        <p:spPr>
          <a:xfrm>
            <a:off x="685800" y="2057400"/>
            <a:ext cx="6308090" cy="4416425"/>
          </a:xfrm>
          <a:prstGeom prst="rect">
            <a:avLst/>
          </a:prstGeom>
        </p:spPr>
      </p:pic>
      <p:sp>
        <p:nvSpPr>
          <p:cNvPr id="9" name="文本框 8"/>
          <p:cNvSpPr txBox="1"/>
          <p:nvPr/>
        </p:nvSpPr>
        <p:spPr>
          <a:xfrm>
            <a:off x="7315200" y="1797685"/>
            <a:ext cx="4269105" cy="2030095"/>
          </a:xfrm>
          <a:prstGeom prst="rect">
            <a:avLst/>
          </a:prstGeom>
          <a:noFill/>
        </p:spPr>
        <p:txBody>
          <a:bodyPr wrap="square" rtlCol="0" anchor="t">
            <a:spAutoFit/>
          </a:bodyPr>
          <a:p>
            <a:pPr marL="285750" indent="-285750">
              <a:buFont typeface="Arial" panose="020B0604020202020204" pitchFamily="34" charset="0"/>
              <a:buChar char="•"/>
            </a:pPr>
            <a:r>
              <a:rPr lang="zh-CN" altLang="en-US">
                <a:latin typeface="微软雅黑" panose="020B0503020204020204" charset="-122"/>
                <a:ea typeface="微软雅黑" panose="020B0503020204020204" charset="-122"/>
              </a:rPr>
              <a:t>线性回归的结果输出是一个连续值，而值的范围是</a:t>
            </a:r>
            <a:r>
              <a:rPr lang="zh-CN" altLang="en-US">
                <a:solidFill>
                  <a:srgbClr val="FF0000"/>
                </a:solidFill>
                <a:latin typeface="微软雅黑" panose="020B0503020204020204" charset="-122"/>
                <a:ea typeface="微软雅黑" panose="020B0503020204020204" charset="-122"/>
              </a:rPr>
              <a:t>无法限定</a:t>
            </a:r>
            <a:r>
              <a:rPr lang="zh-CN" altLang="en-US">
                <a:latin typeface="微软雅黑" panose="020B0503020204020204" charset="-122"/>
                <a:ea typeface="微软雅黑" panose="020B0503020204020204" charset="-122"/>
              </a:rPr>
              <a:t>的。</a:t>
            </a:r>
            <a:endParaRPr lang="zh-CN" altLang="en-US">
              <a:latin typeface="微软雅黑" panose="020B0503020204020204" charset="-122"/>
              <a:ea typeface="微软雅黑" panose="020B0503020204020204" charset="-122"/>
            </a:endParaRPr>
          </a:p>
          <a:p>
            <a:pPr marL="285750" indent="-285750">
              <a:buFont typeface="Arial" panose="020B0604020202020204" pitchFamily="34" charset="0"/>
              <a:buChar char="•"/>
            </a:pPr>
            <a:endParaRPr lang="zh-CN" altLang="en-US">
              <a:latin typeface="微软雅黑" panose="020B0503020204020204" charset="-122"/>
              <a:ea typeface="微软雅黑" panose="020B0503020204020204" charset="-122"/>
            </a:endParaRPr>
          </a:p>
          <a:p>
            <a:pPr marL="285750" indent="-285750">
              <a:buFont typeface="Arial" panose="020B0604020202020204" pitchFamily="34" charset="0"/>
              <a:buChar char="•"/>
            </a:pPr>
            <a:r>
              <a:rPr lang="zh-CN" altLang="en-US">
                <a:latin typeface="微软雅黑" panose="020B0503020204020204" charset="-122"/>
                <a:ea typeface="微软雅黑" panose="020B0503020204020204" charset="-122"/>
              </a:rPr>
              <a:t>如果输出结果是</a:t>
            </a:r>
            <a:r>
              <a:rPr lang="zh-CN" altLang="en-US">
                <a:solidFill>
                  <a:srgbClr val="FF0000"/>
                </a:solidFill>
                <a:latin typeface="微软雅黑" panose="020B0503020204020204" charset="-122"/>
                <a:ea typeface="微软雅黑" panose="020B0503020204020204" charset="-122"/>
              </a:rPr>
              <a:t> (0,1) </a:t>
            </a:r>
            <a:r>
              <a:rPr lang="zh-CN" altLang="en-US">
                <a:latin typeface="微软雅黑" panose="020B0503020204020204" charset="-122"/>
                <a:ea typeface="微软雅黑" panose="020B0503020204020204" charset="-122"/>
              </a:rPr>
              <a:t>的一个概率值——sigmoid函数</a:t>
            </a:r>
            <a:endParaRPr lang="zh-CN" altLang="en-US">
              <a:latin typeface="微软雅黑" panose="020B0503020204020204" charset="-122"/>
              <a:ea typeface="微软雅黑" panose="020B0503020204020204" charset="-122"/>
            </a:endParaRPr>
          </a:p>
          <a:p>
            <a:pPr marL="285750" indent="-285750">
              <a:buFont typeface="Arial" panose="020B0604020202020204" pitchFamily="34" charset="0"/>
              <a:buChar char="•"/>
            </a:pPr>
            <a:endParaRPr lang="zh-CN" altLang="en-US">
              <a:latin typeface="微软雅黑" panose="020B0503020204020204" charset="-122"/>
              <a:ea typeface="微软雅黑" panose="020B0503020204020204" charset="-122"/>
            </a:endParaRPr>
          </a:p>
          <a:p>
            <a:pPr marL="285750" indent="-285750">
              <a:buFont typeface="Arial" panose="020B0604020202020204" pitchFamily="34" charset="0"/>
              <a:buChar char="•"/>
            </a:pPr>
            <a:endParaRPr lang="zh-CN" altLang="en-US">
              <a:latin typeface="微软雅黑" panose="020B0503020204020204" charset="-122"/>
              <a:ea typeface="微软雅黑" panose="020B0503020204020204" charset="-122"/>
            </a:endParaRPr>
          </a:p>
        </p:txBody>
      </p:sp>
      <p:pic>
        <p:nvPicPr>
          <p:cNvPr id="10" name="图片 9"/>
          <p:cNvPicPr>
            <a:picLocks noChangeAspect="1"/>
          </p:cNvPicPr>
          <p:nvPr/>
        </p:nvPicPr>
        <p:blipFill>
          <a:blip r:embed="rId2"/>
          <a:stretch>
            <a:fillRect/>
          </a:stretch>
        </p:blipFill>
        <p:spPr>
          <a:xfrm>
            <a:off x="7772400" y="3429000"/>
            <a:ext cx="4142740" cy="26981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blinds(horizontal)">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blinds(horizontal)">
                                      <p:cBhvr>
                                        <p:cTn id="12"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7"/>
          </p:nvPr>
        </p:nvSpPr>
        <p:spPr/>
        <p:txBody>
          <a:bodyPr/>
          <a:p>
            <a:fld id="{B6F15528-21DE-4FAA-801E-634DDDAF4B2B}" type="slidenum">
              <a:rPr/>
            </a:fld>
            <a:endParaRPr/>
          </a:p>
        </p:txBody>
      </p:sp>
      <p:sp>
        <p:nvSpPr>
          <p:cNvPr id="5" name="文本框 4"/>
          <p:cNvSpPr txBox="1"/>
          <p:nvPr/>
        </p:nvSpPr>
        <p:spPr>
          <a:xfrm>
            <a:off x="609600" y="1143000"/>
            <a:ext cx="11073130" cy="645160"/>
          </a:xfrm>
          <a:prstGeom prst="rect">
            <a:avLst/>
          </a:prstGeom>
          <a:noFill/>
        </p:spPr>
        <p:txBody>
          <a:bodyPr wrap="square" rtlCol="0" anchor="t">
            <a:spAutoFit/>
          </a:bodyPr>
          <a:p>
            <a:pPr marL="285750" indent="-285750">
              <a:buFont typeface="Arial" panose="020B0604020202020204" pitchFamily="34" charset="0"/>
              <a:buChar char="•"/>
            </a:pPr>
            <a:r>
              <a:rPr lang="zh-CN" altLang="en-US">
                <a:latin typeface="微软雅黑" panose="020B0503020204020204" charset="-122"/>
                <a:ea typeface="微软雅黑" panose="020B0503020204020204" charset="-122"/>
              </a:rPr>
              <a:t>线性回归的预测函数为Y=W</a:t>
            </a:r>
            <a:r>
              <a:rPr lang="zh-CN" altLang="en-US" baseline="30000">
                <a:solidFill>
                  <a:schemeClr val="tx1"/>
                </a:solidFill>
                <a:uFillTx/>
                <a:latin typeface="微软雅黑" panose="020B0503020204020204" charset="-122"/>
                <a:ea typeface="微软雅黑" panose="020B0503020204020204" charset="-122"/>
              </a:rPr>
              <a:t>T</a:t>
            </a:r>
            <a:r>
              <a:rPr lang="zh-CN" altLang="en-US">
                <a:latin typeface="微软雅黑" panose="020B0503020204020204" charset="-122"/>
                <a:ea typeface="微软雅黑" panose="020B0503020204020204" charset="-122"/>
              </a:rPr>
              <a:t>X，那么逻辑回归的输出Y= g(W</a:t>
            </a:r>
            <a:r>
              <a:rPr lang="zh-CN" altLang="en-US" baseline="30000">
                <a:uFillTx/>
                <a:latin typeface="微软雅黑" panose="020B0503020204020204" charset="-122"/>
                <a:ea typeface="微软雅黑" panose="020B0503020204020204" charset="-122"/>
              </a:rPr>
              <a:t>T</a:t>
            </a:r>
            <a:r>
              <a:rPr lang="zh-CN" altLang="en-US">
                <a:latin typeface="微软雅黑" panose="020B0503020204020204" charset="-122"/>
                <a:ea typeface="微软雅黑" panose="020B0503020204020204" charset="-122"/>
              </a:rPr>
              <a:t>X)，其中y=g(z)函数正是上述sigmoid函数</a:t>
            </a:r>
            <a:endParaRPr lang="zh-CN" altLang="en-US">
              <a:latin typeface="微软雅黑" panose="020B0503020204020204" charset="-122"/>
              <a:ea typeface="微软雅黑" panose="020B0503020204020204" charset="-122"/>
            </a:endParaRPr>
          </a:p>
          <a:p>
            <a:r>
              <a:rPr lang="zh-CN" altLang="en-US">
                <a:latin typeface="微软雅黑" panose="020B0503020204020204" charset="-122"/>
                <a:ea typeface="微软雅黑" panose="020B0503020204020204" charset="-122"/>
              </a:rPr>
              <a:t>（又称</a:t>
            </a:r>
            <a:r>
              <a:rPr lang="en-US" altLang="zh-CN">
                <a:latin typeface="微软雅黑" panose="020B0503020204020204" charset="-122"/>
                <a:ea typeface="微软雅黑" panose="020B0503020204020204" charset="-122"/>
              </a:rPr>
              <a:t>L</a:t>
            </a:r>
            <a:r>
              <a:rPr lang="zh-CN" altLang="en-US">
                <a:latin typeface="微软雅黑" panose="020B0503020204020204" charset="-122"/>
                <a:ea typeface="微软雅黑" panose="020B0503020204020204" charset="-122"/>
              </a:rPr>
              <a:t>ogistic函数）。</a:t>
            </a:r>
            <a:endParaRPr lang="zh-CN" altLang="en-US">
              <a:latin typeface="微软雅黑" panose="020B0503020204020204" charset="-122"/>
              <a:ea typeface="微软雅黑" panose="020B0503020204020204" charset="-122"/>
            </a:endParaRPr>
          </a:p>
        </p:txBody>
      </p:sp>
      <p:sp>
        <p:nvSpPr>
          <p:cNvPr id="6" name="object 2"/>
          <p:cNvSpPr txBox="1">
            <a:spLocks noGrp="1"/>
          </p:cNvSpPr>
          <p:nvPr>
            <p:ph type="title"/>
          </p:nvPr>
        </p:nvSpPr>
        <p:spPr>
          <a:xfrm>
            <a:off x="228600" y="304800"/>
            <a:ext cx="6971665" cy="754380"/>
          </a:xfrm>
          <a:prstGeom prst="rect">
            <a:avLst/>
          </a:prstGeom>
        </p:spPr>
        <p:txBody>
          <a:bodyPr vert="horz" wrap="square" lIns="0" tIns="15875" rIns="0" bIns="0" rtlCol="0">
            <a:spAutoFit/>
          </a:bodyPr>
          <a:p>
            <a:pPr marL="12700" algn="ctr">
              <a:lnSpc>
                <a:spcPct val="100000"/>
              </a:lnSpc>
              <a:spcBef>
                <a:spcPts val="125"/>
              </a:spcBef>
            </a:pPr>
            <a:r>
              <a:rPr lang="zh-CN" sz="4800" b="1" spc="25" dirty="0"/>
              <a:t>逻辑</a:t>
            </a:r>
            <a:r>
              <a:rPr sz="4800" b="1" spc="25" dirty="0"/>
              <a:t>回归</a:t>
            </a:r>
            <a:r>
              <a:rPr lang="en-US" sz="4800" b="1" spc="25" dirty="0"/>
              <a:t>——</a:t>
            </a:r>
            <a:r>
              <a:rPr sz="4800" b="1" spc="25" dirty="0">
                <a:sym typeface="+mn-ea"/>
              </a:rPr>
              <a:t>分类问题</a:t>
            </a:r>
            <a:endParaRPr lang="en-US" sz="4800" b="1" spc="25" dirty="0"/>
          </a:p>
        </p:txBody>
      </p:sp>
      <p:pic>
        <p:nvPicPr>
          <p:cNvPr id="7" name="图片 6"/>
          <p:cNvPicPr>
            <a:picLocks noChangeAspect="1"/>
          </p:cNvPicPr>
          <p:nvPr/>
        </p:nvPicPr>
        <p:blipFill>
          <a:blip r:embed="rId1"/>
          <a:stretch>
            <a:fillRect/>
          </a:stretch>
        </p:blipFill>
        <p:spPr>
          <a:xfrm>
            <a:off x="838200" y="1905000"/>
            <a:ext cx="3044190" cy="1052195"/>
          </a:xfrm>
          <a:prstGeom prst="rect">
            <a:avLst/>
          </a:prstGeom>
        </p:spPr>
      </p:pic>
      <p:sp>
        <p:nvSpPr>
          <p:cNvPr id="2" name="文本框 1"/>
          <p:cNvSpPr txBox="1"/>
          <p:nvPr/>
        </p:nvSpPr>
        <p:spPr>
          <a:xfrm>
            <a:off x="533400" y="4343400"/>
            <a:ext cx="10542905" cy="1808480"/>
          </a:xfrm>
          <a:prstGeom prst="rect">
            <a:avLst/>
          </a:prstGeom>
          <a:noFill/>
        </p:spPr>
        <p:txBody>
          <a:bodyPr wrap="square" rtlCol="0" anchor="t">
            <a:spAutoFit/>
          </a:bodyPr>
          <a:p>
            <a:pPr marL="285750" indent="-285750">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rPr>
              <a:t>逻辑回归和线性回归本质上都是得到一条直线。</a:t>
            </a:r>
            <a:endParaRPr lang="zh-CN" altLang="en-US" dirty="0">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endParaRPr lang="zh-CN" altLang="en-US" dirty="0">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rPr>
              <a:t>线性回归的直线是尽可能去</a:t>
            </a:r>
            <a:r>
              <a:rPr lang="zh-CN" altLang="en-US" dirty="0">
                <a:solidFill>
                  <a:srgbClr val="FF0000"/>
                </a:solidFill>
                <a:latin typeface="微软雅黑" panose="020B0503020204020204" charset="-122"/>
                <a:ea typeface="微软雅黑" panose="020B0503020204020204" charset="-122"/>
                <a:cs typeface="微软雅黑" panose="020B0503020204020204" charset="-122"/>
              </a:rPr>
              <a:t>拟合</a:t>
            </a:r>
            <a:r>
              <a:rPr lang="zh-CN" altLang="en-US" dirty="0">
                <a:latin typeface="微软雅黑" panose="020B0503020204020204" charset="-122"/>
                <a:ea typeface="微软雅黑" panose="020B0503020204020204" charset="-122"/>
                <a:cs typeface="微软雅黑" panose="020B0503020204020204" charset="-122"/>
              </a:rPr>
              <a:t>输入变量X的分布，使得训练集中所有样本点到直线的距离最短；</a:t>
            </a:r>
            <a:endParaRPr lang="zh-CN" altLang="en-US" dirty="0">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endParaRPr lang="zh-CN" altLang="en-US" dirty="0">
              <a:latin typeface="微软雅黑" panose="020B0503020204020204" charset="-122"/>
              <a:ea typeface="微软雅黑" panose="020B0503020204020204" charset="-122"/>
              <a:cs typeface="微软雅黑" panose="020B0503020204020204" charset="-122"/>
            </a:endParaRPr>
          </a:p>
          <a:p>
            <a:pPr marL="285750" indent="-285750">
              <a:lnSpc>
                <a:spcPct val="11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rPr>
              <a:t>而逻辑回归的直线是尽可能去拟合</a:t>
            </a:r>
            <a:r>
              <a:rPr lang="zh-CN" altLang="en-US" dirty="0">
                <a:solidFill>
                  <a:srgbClr val="FF0000"/>
                </a:solidFill>
                <a:latin typeface="微软雅黑" panose="020B0503020204020204" charset="-122"/>
                <a:ea typeface="微软雅黑" panose="020B0503020204020204" charset="-122"/>
                <a:cs typeface="微软雅黑" panose="020B0503020204020204" charset="-122"/>
              </a:rPr>
              <a:t>决策边界</a:t>
            </a:r>
            <a:r>
              <a:rPr lang="zh-CN" altLang="en-US" dirty="0">
                <a:latin typeface="微软雅黑" panose="020B0503020204020204" charset="-122"/>
                <a:ea typeface="微软雅黑" panose="020B0503020204020204" charset="-122"/>
                <a:cs typeface="微软雅黑" panose="020B0503020204020204" charset="-122"/>
              </a:rPr>
              <a:t>，使得训练集样本中的样本点尽可能分离开。因此，两者的</a:t>
            </a:r>
            <a:r>
              <a:rPr lang="zh-CN" altLang="en-US" dirty="0">
                <a:solidFill>
                  <a:srgbClr val="FF0000"/>
                </a:solidFill>
                <a:latin typeface="微软雅黑" panose="020B0503020204020204" charset="-122"/>
                <a:ea typeface="微软雅黑" panose="020B0503020204020204" charset="-122"/>
                <a:cs typeface="微软雅黑" panose="020B0503020204020204" charset="-122"/>
              </a:rPr>
              <a:t>目的</a:t>
            </a:r>
            <a:r>
              <a:rPr lang="zh-CN" altLang="en-US" dirty="0">
                <a:latin typeface="微软雅黑" panose="020B0503020204020204" charset="-122"/>
                <a:ea typeface="微软雅黑" panose="020B0503020204020204" charset="-122"/>
                <a:cs typeface="微软雅黑" panose="020B0503020204020204" charset="-122"/>
              </a:rPr>
              <a:t>是不同的。</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3" name="object 2"/>
          <p:cNvSpPr txBox="1">
            <a:spLocks noGrp="1"/>
          </p:cNvSpPr>
          <p:nvPr/>
        </p:nvSpPr>
        <p:spPr>
          <a:xfrm>
            <a:off x="127000" y="3403600"/>
            <a:ext cx="6971665" cy="754380"/>
          </a:xfrm>
          <a:prstGeom prst="rect">
            <a:avLst/>
          </a:prstGeom>
        </p:spPr>
        <p:txBody>
          <a:bodyPr vert="horz" wrap="square" lIns="0" tIns="15875" rIns="0" bIns="0" rtlCol="0">
            <a:spAutoFit/>
          </a:bodyPr>
          <a:lstStyle>
            <a:lvl1pPr>
              <a:defRPr sz="5300" b="0" i="0">
                <a:solidFill>
                  <a:schemeClr val="tx1"/>
                </a:solidFill>
                <a:latin typeface="微软雅黑" panose="020B0503020204020204" charset="-122"/>
                <a:ea typeface="+mj-ea"/>
                <a:cs typeface="微软雅黑" panose="020B0503020204020204" charset="-122"/>
              </a:defRPr>
            </a:lvl1pPr>
          </a:lstStyle>
          <a:p>
            <a:pPr marL="12700" algn="ctr">
              <a:lnSpc>
                <a:spcPct val="100000"/>
              </a:lnSpc>
              <a:spcBef>
                <a:spcPts val="125"/>
              </a:spcBef>
            </a:pPr>
            <a:r>
              <a:rPr lang="zh-CN" sz="4800" b="1" spc="25" dirty="0"/>
              <a:t>逻辑</a:t>
            </a:r>
            <a:r>
              <a:rPr sz="4800" b="1" spc="25" dirty="0"/>
              <a:t>回归</a:t>
            </a:r>
            <a:r>
              <a:rPr lang="en-US" sz="4800" spc="25" dirty="0"/>
              <a:t> VS </a:t>
            </a:r>
            <a:r>
              <a:rPr lang="zh-CN" sz="4800" b="1" spc="25" dirty="0">
                <a:sym typeface="+mn-ea"/>
              </a:rPr>
              <a:t>线性回归</a:t>
            </a:r>
            <a:endParaRPr lang="zh-CN" sz="4800" b="1" spc="25" dirty="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7"/>
          </p:nvPr>
        </p:nvSpPr>
        <p:spPr/>
        <p:txBody>
          <a:bodyPr/>
          <a:p>
            <a:fld id="{B6F15528-21DE-4FAA-801E-634DDDAF4B2B}" type="slidenum">
              <a:rPr/>
            </a:fld>
            <a:endParaRPr/>
          </a:p>
        </p:txBody>
      </p:sp>
      <p:pic>
        <p:nvPicPr>
          <p:cNvPr id="7" name="图片 6"/>
          <p:cNvPicPr>
            <a:picLocks noChangeAspect="1"/>
          </p:cNvPicPr>
          <p:nvPr>
            <p:custDataLst>
              <p:tags r:id="rId1"/>
            </p:custDataLst>
          </p:nvPr>
        </p:nvPicPr>
        <p:blipFill>
          <a:blip r:embed="rId2"/>
          <a:stretch>
            <a:fillRect/>
          </a:stretch>
        </p:blipFill>
        <p:spPr>
          <a:xfrm>
            <a:off x="381000" y="609600"/>
            <a:ext cx="8564245" cy="2677160"/>
          </a:xfrm>
          <a:prstGeom prst="rect">
            <a:avLst/>
          </a:prstGeom>
        </p:spPr>
      </p:pic>
      <p:pic>
        <p:nvPicPr>
          <p:cNvPr id="9" name="图片 8"/>
          <p:cNvPicPr>
            <a:picLocks noChangeAspect="1"/>
          </p:cNvPicPr>
          <p:nvPr/>
        </p:nvPicPr>
        <p:blipFill>
          <a:blip r:embed="rId3"/>
          <a:stretch>
            <a:fillRect/>
          </a:stretch>
        </p:blipFill>
        <p:spPr>
          <a:xfrm>
            <a:off x="457200" y="3352800"/>
            <a:ext cx="6264275" cy="3488690"/>
          </a:xfrm>
          <a:prstGeom prst="rect">
            <a:avLst/>
          </a:prstGeom>
        </p:spPr>
      </p:pic>
      <p:sp>
        <p:nvSpPr>
          <p:cNvPr id="10" name="文本框 9"/>
          <p:cNvSpPr txBox="1"/>
          <p:nvPr/>
        </p:nvSpPr>
        <p:spPr>
          <a:xfrm>
            <a:off x="1447800" y="3276600"/>
            <a:ext cx="1097280" cy="368300"/>
          </a:xfrm>
          <a:prstGeom prst="rect">
            <a:avLst/>
          </a:prstGeom>
          <a:noFill/>
        </p:spPr>
        <p:txBody>
          <a:bodyPr wrap="none" rtlCol="0">
            <a:spAutoFit/>
          </a:bodyPr>
          <a:p>
            <a:r>
              <a:rPr lang="zh-CN" altLang="en-US">
                <a:latin typeface="微软雅黑" panose="020B0503020204020204" charset="-122"/>
                <a:ea typeface="微软雅黑" panose="020B0503020204020204" charset="-122"/>
                <a:hlinkClick r:id="rId4" action="ppaction://hlinkfile"/>
              </a:rPr>
              <a:t>官方文档</a:t>
            </a:r>
            <a:endParaRPr lang="zh-CN" altLang="en-US">
              <a:latin typeface="微软雅黑" panose="020B0503020204020204" charset="-122"/>
              <a:ea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05200" y="3048000"/>
            <a:ext cx="5055235" cy="754380"/>
          </a:xfrm>
          <a:prstGeom prst="rect">
            <a:avLst/>
          </a:prstGeom>
        </p:spPr>
        <p:txBody>
          <a:bodyPr vert="horz" wrap="square" lIns="0" tIns="15875" rIns="0" bIns="0" rtlCol="0">
            <a:spAutoFit/>
          </a:bodyPr>
          <a:lstStyle/>
          <a:p>
            <a:pPr marL="12700" algn="ctr">
              <a:lnSpc>
                <a:spcPct val="100000"/>
              </a:lnSpc>
              <a:spcBef>
                <a:spcPts val="125"/>
              </a:spcBef>
            </a:pPr>
            <a:r>
              <a:rPr lang="zh-CN" sz="4800" b="1" spc="25" dirty="0"/>
              <a:t>预测西瓜成熟度</a:t>
            </a:r>
            <a:endParaRPr lang="zh-CN" sz="4800" b="1" spc="25" dirty="0"/>
          </a:p>
        </p:txBody>
      </p:sp>
      <p:sp>
        <p:nvSpPr>
          <p:cNvPr id="3" name="灯片编号占位符 2"/>
          <p:cNvSpPr>
            <a:spLocks noGrp="1"/>
          </p:cNvSpPr>
          <p:nvPr>
            <p:ph type="sldNum" sz="quarter" idx="7"/>
          </p:nvPr>
        </p:nvSpPr>
        <p:spPr/>
        <p:txBody>
          <a:bodyPr/>
          <a:p>
            <a:fld id="{B6F15528-21DE-4FAA-801E-634DDDAF4B2B}" type="slidenum">
              <a:rPr/>
            </a:fld>
            <a:endParaRPr/>
          </a:p>
        </p:txBody>
      </p:sp>
      <p:sp>
        <p:nvSpPr>
          <p:cNvPr id="100" name="文本框 99"/>
          <p:cNvSpPr txBox="1"/>
          <p:nvPr/>
        </p:nvSpPr>
        <p:spPr>
          <a:xfrm>
            <a:off x="5791200" y="5029200"/>
            <a:ext cx="5873115" cy="460375"/>
          </a:xfrm>
          <a:prstGeom prst="rect">
            <a:avLst/>
          </a:prstGeom>
          <a:noFill/>
          <a:ln w="9525">
            <a:noFill/>
          </a:ln>
        </p:spPr>
        <p:txBody>
          <a:bodyPr wrap="square">
            <a:spAutoFit/>
          </a:bodyPr>
          <a:p>
            <a:pPr marL="12700" algn="l">
              <a:spcBef>
                <a:spcPts val="125"/>
              </a:spcBef>
              <a:buClrTx/>
              <a:buSzTx/>
              <a:buFontTx/>
            </a:pPr>
            <a:r>
              <a:rPr lang="en-US" altLang="zh-CN" sz="2400" kern="0" spc="25" dirty="0">
                <a:latin typeface="微软雅黑" panose="020B0503020204020204" charset="-122"/>
                <a:ea typeface="微软雅黑" panose="020B0503020204020204" charset="-122"/>
                <a:cs typeface="微软雅黑" panose="020B0503020204020204" charset="-122"/>
              </a:rPr>
              <a:t>——</a:t>
            </a:r>
            <a:r>
              <a:rPr lang="zh-CN" sz="2400" kern="0" spc="25" dirty="0">
                <a:latin typeface="微软雅黑" panose="020B0503020204020204" charset="-122"/>
                <a:ea typeface="微软雅黑" panose="020B0503020204020204" charset="-122"/>
                <a:cs typeface="微软雅黑" panose="020B0503020204020204" charset="-122"/>
              </a:rPr>
              <a:t>并解释密度跟含糖量哪个指标更重要？</a:t>
            </a:r>
            <a:endParaRPr lang="zh-CN" sz="2400" kern="0" spc="25"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7"/>
          </p:nvPr>
        </p:nvSpPr>
        <p:spPr/>
        <p:txBody>
          <a:bodyPr/>
          <a:p>
            <a:fld id="{B6F15528-21DE-4FAA-801E-634DDDAF4B2B}" type="slidenum">
              <a:rPr/>
            </a:fld>
            <a:endParaRPr/>
          </a:p>
        </p:txBody>
      </p:sp>
      <p:sp>
        <p:nvSpPr>
          <p:cNvPr id="6" name="object 2"/>
          <p:cNvSpPr txBox="1">
            <a:spLocks noGrp="1"/>
          </p:cNvSpPr>
          <p:nvPr>
            <p:ph type="title"/>
          </p:nvPr>
        </p:nvSpPr>
        <p:spPr>
          <a:xfrm>
            <a:off x="76200" y="304800"/>
            <a:ext cx="3431540" cy="754380"/>
          </a:xfrm>
          <a:prstGeom prst="rect">
            <a:avLst/>
          </a:prstGeom>
        </p:spPr>
        <p:txBody>
          <a:bodyPr vert="horz" wrap="square" lIns="0" tIns="15875" rIns="0" bIns="0" rtlCol="0">
            <a:spAutoFit/>
          </a:bodyPr>
          <a:p>
            <a:pPr marL="12700" algn="ctr">
              <a:lnSpc>
                <a:spcPct val="100000"/>
              </a:lnSpc>
              <a:spcBef>
                <a:spcPts val="125"/>
              </a:spcBef>
            </a:pPr>
            <a:r>
              <a:rPr lang="zh-CN" sz="4800" b="1" spc="25" dirty="0"/>
              <a:t>实验步骤</a:t>
            </a:r>
            <a:endParaRPr lang="en-US" sz="4800" b="1" spc="25" dirty="0"/>
          </a:p>
        </p:txBody>
      </p:sp>
      <p:sp>
        <p:nvSpPr>
          <p:cNvPr id="5" name="文本框 4"/>
          <p:cNvSpPr txBox="1"/>
          <p:nvPr/>
        </p:nvSpPr>
        <p:spPr>
          <a:xfrm>
            <a:off x="533400" y="1143000"/>
            <a:ext cx="4164330" cy="2861310"/>
          </a:xfrm>
          <a:prstGeom prst="rect">
            <a:avLst/>
          </a:prstGeom>
          <a:noFill/>
        </p:spPr>
        <p:txBody>
          <a:bodyPr wrap="none" rtlCol="0" anchor="t">
            <a:spAutoFit/>
          </a:bodyPr>
          <a:p>
            <a:pPr algn="l"/>
            <a:r>
              <a:rPr lang="en-US" dirty="0">
                <a:latin typeface="微软雅黑" panose="020B0503020204020204" charset="-122"/>
                <a:ea typeface="微软雅黑" panose="020B0503020204020204" charset="-122"/>
                <a:cs typeface="微软雅黑" panose="020B0503020204020204" charset="-122"/>
                <a:sym typeface="+mn-ea"/>
              </a:rPr>
              <a:t>1. </a:t>
            </a:r>
            <a:r>
              <a:rPr lang="zh-CN" altLang="en-US" dirty="0">
                <a:latin typeface="微软雅黑" panose="020B0503020204020204" charset="-122"/>
                <a:ea typeface="微软雅黑" panose="020B0503020204020204" charset="-122"/>
                <a:cs typeface="微软雅黑" panose="020B0503020204020204" charset="-122"/>
                <a:sym typeface="+mn-ea"/>
              </a:rPr>
              <a:t>导入依赖包</a:t>
            </a:r>
            <a:endParaRPr lang="zh-CN" altLang="en-US" dirty="0">
              <a:latin typeface="微软雅黑" panose="020B0503020204020204" charset="-122"/>
              <a:ea typeface="微软雅黑" panose="020B0503020204020204" charset="-122"/>
              <a:cs typeface="微软雅黑" panose="020B0503020204020204" charset="-122"/>
              <a:sym typeface="+mn-ea"/>
            </a:endParaRPr>
          </a:p>
          <a:p>
            <a:pPr algn="l"/>
            <a:endParaRPr lang="zh-CN" altLang="en-US"/>
          </a:p>
          <a:p>
            <a:pPr algn="l"/>
            <a:r>
              <a:rPr lang="en-US" altLang="zh-CN"/>
              <a:t>2. </a:t>
            </a:r>
            <a:r>
              <a:rPr lang="zh-CN" altLang="en-US" dirty="0">
                <a:latin typeface="微软雅黑" panose="020B0503020204020204" charset="-122"/>
                <a:ea typeface="微软雅黑" panose="020B0503020204020204" charset="-122"/>
                <a:cs typeface="微软雅黑" panose="020B0503020204020204" charset="-122"/>
              </a:rPr>
              <a:t>导入数据集</a:t>
            </a:r>
            <a:endParaRPr lang="zh-CN" altLang="en-US"/>
          </a:p>
          <a:p>
            <a:pPr algn="l"/>
            <a:endParaRPr lang="zh-CN" altLang="en-US"/>
          </a:p>
          <a:p>
            <a:pPr algn="l"/>
            <a:r>
              <a:rPr lang="zh-CN" altLang="en-US" dirty="0">
                <a:latin typeface="微软雅黑" panose="020B0503020204020204" charset="-122"/>
                <a:ea typeface="微软雅黑" panose="020B0503020204020204" charset="-122"/>
                <a:cs typeface="微软雅黑" panose="020B0503020204020204" charset="-122"/>
              </a:rPr>
              <a:t>3. 划分训练集和验证集</a:t>
            </a:r>
            <a:endParaRPr lang="zh-CN" altLang="en-US" dirty="0">
              <a:latin typeface="微软雅黑" panose="020B0503020204020204" charset="-122"/>
              <a:ea typeface="微软雅黑" panose="020B0503020204020204" charset="-122"/>
              <a:cs typeface="微软雅黑" panose="020B0503020204020204" charset="-122"/>
            </a:endParaRPr>
          </a:p>
          <a:p>
            <a:pPr algn="l"/>
            <a:endParaRPr lang="zh-CN" altLang="en-US" dirty="0">
              <a:latin typeface="微软雅黑" panose="020B0503020204020204" charset="-122"/>
              <a:ea typeface="微软雅黑" panose="020B0503020204020204" charset="-122"/>
              <a:cs typeface="微软雅黑" panose="020B0503020204020204" charset="-122"/>
            </a:endParaRPr>
          </a:p>
          <a:p>
            <a:pPr algn="l"/>
            <a:r>
              <a:rPr lang="zh-CN" altLang="en-US" dirty="0">
                <a:latin typeface="微软雅黑" panose="020B0503020204020204" charset="-122"/>
                <a:ea typeface="微软雅黑" panose="020B0503020204020204" charset="-122"/>
                <a:cs typeface="微软雅黑" panose="020B0503020204020204" charset="-122"/>
              </a:rPr>
              <a:t>4. </a:t>
            </a:r>
            <a:r>
              <a:rPr lang="zh-CN" altLang="en-US" dirty="0">
                <a:latin typeface="微软雅黑" panose="020B0503020204020204" charset="-122"/>
                <a:ea typeface="微软雅黑" panose="020B0503020204020204" charset="-122"/>
                <a:cs typeface="微软雅黑" panose="020B0503020204020204" charset="-122"/>
                <a:sym typeface="+mn-ea"/>
              </a:rPr>
              <a:t>使用线性回归对训练集进行训练</a:t>
            </a:r>
            <a:endParaRPr lang="zh-CN" altLang="en-US" dirty="0">
              <a:latin typeface="微软雅黑" panose="020B0503020204020204" charset="-122"/>
              <a:ea typeface="微软雅黑" panose="020B0503020204020204" charset="-122"/>
              <a:cs typeface="微软雅黑" panose="020B0503020204020204" charset="-122"/>
              <a:sym typeface="+mn-ea"/>
            </a:endParaRPr>
          </a:p>
          <a:p>
            <a:pPr algn="l"/>
            <a:endParaRPr lang="zh-CN" altLang="en-US" dirty="0">
              <a:latin typeface="微软雅黑" panose="020B0503020204020204" charset="-122"/>
              <a:ea typeface="微软雅黑" panose="020B0503020204020204" charset="-122"/>
              <a:cs typeface="微软雅黑" panose="020B0503020204020204" charset="-122"/>
            </a:endParaRPr>
          </a:p>
          <a:p>
            <a:pPr algn="l"/>
            <a:r>
              <a:rPr lang="zh-CN" altLang="en-US" dirty="0">
                <a:latin typeface="微软雅黑" panose="020B0503020204020204" charset="-122"/>
                <a:ea typeface="微软雅黑" panose="020B0503020204020204" charset="-122"/>
                <a:cs typeface="微软雅黑" panose="020B0503020204020204" charset="-122"/>
              </a:rPr>
              <a:t>5. 预测结果与验证集的label进行对比，</a:t>
            </a:r>
            <a:endParaRPr lang="zh-CN" altLang="en-US" dirty="0">
              <a:latin typeface="微软雅黑" panose="020B0503020204020204" charset="-122"/>
              <a:ea typeface="微软雅黑" panose="020B0503020204020204" charset="-122"/>
              <a:cs typeface="微软雅黑" panose="020B0503020204020204" charset="-122"/>
            </a:endParaRPr>
          </a:p>
          <a:p>
            <a:pPr algn="l"/>
            <a:r>
              <a:rPr lang="en-US" altLang="zh-CN" dirty="0">
                <a:latin typeface="微软雅黑" panose="020B0503020204020204" charset="-122"/>
                <a:ea typeface="微软雅黑" panose="020B0503020204020204" charset="-122"/>
                <a:cs typeface="微软雅黑" panose="020B0503020204020204" charset="-122"/>
              </a:rPr>
              <a:t>    </a:t>
            </a:r>
            <a:r>
              <a:rPr lang="zh-CN" altLang="en-US" dirty="0">
                <a:latin typeface="微软雅黑" panose="020B0503020204020204" charset="-122"/>
                <a:ea typeface="微软雅黑" panose="020B0503020204020204" charset="-122"/>
                <a:cs typeface="微软雅黑" panose="020B0503020204020204" charset="-122"/>
              </a:rPr>
              <a:t>计算其评价指标</a:t>
            </a:r>
            <a:endParaRPr lang="zh-CN" altLang="en-US" dirty="0">
              <a:latin typeface="微软雅黑" panose="020B0503020204020204" charset="-122"/>
              <a:ea typeface="微软雅黑" panose="020B0503020204020204" charset="-122"/>
              <a:cs typeface="微软雅黑" panose="020B0503020204020204" charset="-122"/>
            </a:endParaRPr>
          </a:p>
        </p:txBody>
      </p:sp>
      <p:pic>
        <p:nvPicPr>
          <p:cNvPr id="7" name="图片 6"/>
          <p:cNvPicPr>
            <a:picLocks noChangeAspect="1"/>
          </p:cNvPicPr>
          <p:nvPr/>
        </p:nvPicPr>
        <p:blipFill>
          <a:blip r:embed="rId1"/>
          <a:stretch>
            <a:fillRect/>
          </a:stretch>
        </p:blipFill>
        <p:spPr>
          <a:xfrm>
            <a:off x="5410200" y="152400"/>
            <a:ext cx="5819775" cy="2066925"/>
          </a:xfrm>
          <a:prstGeom prst="rect">
            <a:avLst/>
          </a:prstGeom>
        </p:spPr>
      </p:pic>
      <p:pic>
        <p:nvPicPr>
          <p:cNvPr id="8" name="图片 7"/>
          <p:cNvPicPr>
            <a:picLocks noChangeAspect="1"/>
          </p:cNvPicPr>
          <p:nvPr/>
        </p:nvPicPr>
        <p:blipFill>
          <a:blip r:embed="rId2"/>
          <a:stretch>
            <a:fillRect/>
          </a:stretch>
        </p:blipFill>
        <p:spPr>
          <a:xfrm>
            <a:off x="5486400" y="2362200"/>
            <a:ext cx="3075940" cy="4476115"/>
          </a:xfrm>
          <a:prstGeom prst="rect">
            <a:avLst/>
          </a:prstGeom>
        </p:spPr>
      </p:pic>
      <p:sp>
        <p:nvSpPr>
          <p:cNvPr id="9" name="文本框 8"/>
          <p:cNvSpPr txBox="1"/>
          <p:nvPr/>
        </p:nvSpPr>
        <p:spPr>
          <a:xfrm>
            <a:off x="3903345" y="228600"/>
            <a:ext cx="1583055" cy="368300"/>
          </a:xfrm>
          <a:prstGeom prst="rect">
            <a:avLst/>
          </a:prstGeom>
          <a:noFill/>
        </p:spPr>
        <p:txBody>
          <a:bodyPr wrap="none" rtlCol="0" anchor="t">
            <a:spAutoFit/>
          </a:bodyPr>
          <a:p>
            <a:pPr algn="l"/>
            <a:r>
              <a:rPr lang="en-US" dirty="0">
                <a:latin typeface="微软雅黑" panose="020B0503020204020204" charset="-122"/>
                <a:ea typeface="微软雅黑" panose="020B0503020204020204" charset="-122"/>
                <a:cs typeface="微软雅黑" panose="020B0503020204020204" charset="-122"/>
                <a:sym typeface="+mn-ea"/>
              </a:rPr>
              <a:t>1. </a:t>
            </a:r>
            <a:r>
              <a:rPr lang="zh-CN" altLang="en-US" dirty="0">
                <a:latin typeface="微软雅黑" panose="020B0503020204020204" charset="-122"/>
                <a:ea typeface="微软雅黑" panose="020B0503020204020204" charset="-122"/>
                <a:cs typeface="微软雅黑" panose="020B0503020204020204" charset="-122"/>
                <a:sym typeface="+mn-ea"/>
              </a:rPr>
              <a:t>导入依赖包</a:t>
            </a:r>
            <a:endParaRPr lang="zh-CN" altLang="en-US"/>
          </a:p>
        </p:txBody>
      </p:sp>
      <p:sp>
        <p:nvSpPr>
          <p:cNvPr id="10" name="文本框 9"/>
          <p:cNvSpPr txBox="1"/>
          <p:nvPr/>
        </p:nvSpPr>
        <p:spPr>
          <a:xfrm>
            <a:off x="8610600" y="2389505"/>
            <a:ext cx="1583055" cy="368300"/>
          </a:xfrm>
          <a:prstGeom prst="rect">
            <a:avLst/>
          </a:prstGeom>
          <a:noFill/>
        </p:spPr>
        <p:txBody>
          <a:bodyPr wrap="none" rtlCol="0" anchor="t">
            <a:spAutoFit/>
          </a:bodyPr>
          <a:p>
            <a:pPr algn="l"/>
            <a:r>
              <a:rPr lang="en-US" dirty="0">
                <a:latin typeface="微软雅黑" panose="020B0503020204020204" charset="-122"/>
                <a:ea typeface="微软雅黑" panose="020B0503020204020204" charset="-122"/>
                <a:cs typeface="微软雅黑" panose="020B0503020204020204" charset="-122"/>
                <a:sym typeface="+mn-ea"/>
              </a:rPr>
              <a:t>2. </a:t>
            </a:r>
            <a:r>
              <a:rPr lang="zh-CN" altLang="en-US" dirty="0">
                <a:latin typeface="微软雅黑" panose="020B0503020204020204" charset="-122"/>
                <a:ea typeface="微软雅黑" panose="020B0503020204020204" charset="-122"/>
                <a:cs typeface="微软雅黑" panose="020B0503020204020204" charset="-122"/>
                <a:sym typeface="+mn-ea"/>
              </a:rPr>
              <a:t>导入</a:t>
            </a:r>
            <a:r>
              <a:rPr lang="zh-CN" altLang="en-US" dirty="0">
                <a:latin typeface="微软雅黑" panose="020B0503020204020204" charset="-122"/>
                <a:ea typeface="微软雅黑" panose="020B0503020204020204" charset="-122"/>
                <a:cs typeface="微软雅黑" panose="020B0503020204020204" charset="-122"/>
                <a:sym typeface="+mn-ea"/>
              </a:rPr>
              <a:t>数据集</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7"/>
          </p:nvPr>
        </p:nvSpPr>
        <p:spPr/>
        <p:txBody>
          <a:bodyPr/>
          <a:p>
            <a:fld id="{B6F15528-21DE-4FAA-801E-634DDDAF4B2B}" type="slidenum">
              <a:rPr/>
            </a:fld>
            <a:endParaRPr/>
          </a:p>
        </p:txBody>
      </p:sp>
      <p:sp>
        <p:nvSpPr>
          <p:cNvPr id="6" name="object 2"/>
          <p:cNvSpPr txBox="1">
            <a:spLocks noGrp="1"/>
          </p:cNvSpPr>
          <p:nvPr>
            <p:ph type="title"/>
          </p:nvPr>
        </p:nvSpPr>
        <p:spPr>
          <a:xfrm>
            <a:off x="76200" y="304800"/>
            <a:ext cx="3431540" cy="754380"/>
          </a:xfrm>
          <a:prstGeom prst="rect">
            <a:avLst/>
          </a:prstGeom>
        </p:spPr>
        <p:txBody>
          <a:bodyPr vert="horz" wrap="square" lIns="0" tIns="15875" rIns="0" bIns="0" rtlCol="0">
            <a:spAutoFit/>
          </a:bodyPr>
          <a:p>
            <a:pPr marL="12700" algn="ctr">
              <a:lnSpc>
                <a:spcPct val="100000"/>
              </a:lnSpc>
              <a:spcBef>
                <a:spcPts val="125"/>
              </a:spcBef>
            </a:pPr>
            <a:r>
              <a:rPr lang="zh-CN" sz="4800" b="1" spc="25" dirty="0"/>
              <a:t>实验步骤</a:t>
            </a:r>
            <a:endParaRPr lang="en-US" sz="4800" b="1" spc="25" dirty="0"/>
          </a:p>
        </p:txBody>
      </p:sp>
      <p:pic>
        <p:nvPicPr>
          <p:cNvPr id="2" name="图片 1"/>
          <p:cNvPicPr>
            <a:picLocks noChangeAspect="1"/>
          </p:cNvPicPr>
          <p:nvPr/>
        </p:nvPicPr>
        <p:blipFill>
          <a:blip r:embed="rId1"/>
          <a:stretch>
            <a:fillRect/>
          </a:stretch>
        </p:blipFill>
        <p:spPr>
          <a:xfrm>
            <a:off x="4038600" y="914400"/>
            <a:ext cx="8002270" cy="2581275"/>
          </a:xfrm>
          <a:prstGeom prst="rect">
            <a:avLst/>
          </a:prstGeom>
        </p:spPr>
      </p:pic>
      <p:sp>
        <p:nvSpPr>
          <p:cNvPr id="5" name="文本框 4"/>
          <p:cNvSpPr txBox="1"/>
          <p:nvPr/>
        </p:nvSpPr>
        <p:spPr>
          <a:xfrm>
            <a:off x="457200" y="1143000"/>
            <a:ext cx="4164330" cy="2861310"/>
          </a:xfrm>
          <a:prstGeom prst="rect">
            <a:avLst/>
          </a:prstGeom>
          <a:noFill/>
        </p:spPr>
        <p:txBody>
          <a:bodyPr wrap="none" rtlCol="0" anchor="t">
            <a:spAutoFit/>
          </a:bodyPr>
          <a:p>
            <a:pPr algn="l"/>
            <a:r>
              <a:rPr lang="en-US" dirty="0">
                <a:latin typeface="微软雅黑" panose="020B0503020204020204" charset="-122"/>
                <a:ea typeface="微软雅黑" panose="020B0503020204020204" charset="-122"/>
                <a:cs typeface="微软雅黑" panose="020B0503020204020204" charset="-122"/>
                <a:sym typeface="+mn-ea"/>
              </a:rPr>
              <a:t>1. </a:t>
            </a:r>
            <a:r>
              <a:rPr lang="zh-CN" altLang="en-US" dirty="0">
                <a:latin typeface="微软雅黑" panose="020B0503020204020204" charset="-122"/>
                <a:ea typeface="微软雅黑" panose="020B0503020204020204" charset="-122"/>
                <a:cs typeface="微软雅黑" panose="020B0503020204020204" charset="-122"/>
                <a:sym typeface="+mn-ea"/>
              </a:rPr>
              <a:t>导入依赖包</a:t>
            </a:r>
            <a:endParaRPr lang="zh-CN" altLang="en-US" dirty="0">
              <a:latin typeface="微软雅黑" panose="020B0503020204020204" charset="-122"/>
              <a:ea typeface="微软雅黑" panose="020B0503020204020204" charset="-122"/>
              <a:cs typeface="微软雅黑" panose="020B0503020204020204" charset="-122"/>
              <a:sym typeface="+mn-ea"/>
            </a:endParaRPr>
          </a:p>
          <a:p>
            <a:pPr algn="l"/>
            <a:endParaRPr lang="zh-CN" altLang="en-US"/>
          </a:p>
          <a:p>
            <a:pPr algn="l"/>
            <a:r>
              <a:rPr lang="en-US" altLang="zh-CN"/>
              <a:t>2. </a:t>
            </a:r>
            <a:r>
              <a:rPr lang="zh-CN" altLang="en-US" dirty="0">
                <a:latin typeface="微软雅黑" panose="020B0503020204020204" charset="-122"/>
                <a:ea typeface="微软雅黑" panose="020B0503020204020204" charset="-122"/>
                <a:cs typeface="微软雅黑" panose="020B0503020204020204" charset="-122"/>
              </a:rPr>
              <a:t>导入数据集</a:t>
            </a:r>
            <a:endParaRPr lang="zh-CN" altLang="en-US"/>
          </a:p>
          <a:p>
            <a:pPr algn="l"/>
            <a:endParaRPr lang="zh-CN" altLang="en-US"/>
          </a:p>
          <a:p>
            <a:pPr algn="l"/>
            <a:r>
              <a:rPr lang="zh-CN" altLang="en-US" dirty="0">
                <a:latin typeface="微软雅黑" panose="020B0503020204020204" charset="-122"/>
                <a:ea typeface="微软雅黑" panose="020B0503020204020204" charset="-122"/>
                <a:cs typeface="微软雅黑" panose="020B0503020204020204" charset="-122"/>
              </a:rPr>
              <a:t>3. 划分训练集和验证集</a:t>
            </a:r>
            <a:endParaRPr lang="zh-CN" altLang="en-US" dirty="0">
              <a:latin typeface="微软雅黑" panose="020B0503020204020204" charset="-122"/>
              <a:ea typeface="微软雅黑" panose="020B0503020204020204" charset="-122"/>
              <a:cs typeface="微软雅黑" panose="020B0503020204020204" charset="-122"/>
            </a:endParaRPr>
          </a:p>
          <a:p>
            <a:pPr algn="l"/>
            <a:endParaRPr lang="zh-CN" altLang="en-US" dirty="0">
              <a:latin typeface="微软雅黑" panose="020B0503020204020204" charset="-122"/>
              <a:ea typeface="微软雅黑" panose="020B0503020204020204" charset="-122"/>
              <a:cs typeface="微软雅黑" panose="020B0503020204020204" charset="-122"/>
            </a:endParaRPr>
          </a:p>
          <a:p>
            <a:pPr algn="l"/>
            <a:r>
              <a:rPr lang="zh-CN" altLang="en-US" dirty="0">
                <a:latin typeface="微软雅黑" panose="020B0503020204020204" charset="-122"/>
                <a:ea typeface="微软雅黑" panose="020B0503020204020204" charset="-122"/>
                <a:cs typeface="微软雅黑" panose="020B0503020204020204" charset="-122"/>
              </a:rPr>
              <a:t>4. </a:t>
            </a:r>
            <a:r>
              <a:rPr lang="zh-CN" altLang="en-US" dirty="0">
                <a:latin typeface="微软雅黑" panose="020B0503020204020204" charset="-122"/>
                <a:ea typeface="微软雅黑" panose="020B0503020204020204" charset="-122"/>
                <a:cs typeface="微软雅黑" panose="020B0503020204020204" charset="-122"/>
                <a:sym typeface="+mn-ea"/>
              </a:rPr>
              <a:t>使用线性回归对训练集进行训练</a:t>
            </a:r>
            <a:endParaRPr lang="zh-CN" altLang="en-US" dirty="0">
              <a:latin typeface="微软雅黑" panose="020B0503020204020204" charset="-122"/>
              <a:ea typeface="微软雅黑" panose="020B0503020204020204" charset="-122"/>
              <a:cs typeface="微软雅黑" panose="020B0503020204020204" charset="-122"/>
              <a:sym typeface="+mn-ea"/>
            </a:endParaRPr>
          </a:p>
          <a:p>
            <a:pPr algn="l"/>
            <a:endParaRPr lang="zh-CN" altLang="en-US" dirty="0">
              <a:latin typeface="微软雅黑" panose="020B0503020204020204" charset="-122"/>
              <a:ea typeface="微软雅黑" panose="020B0503020204020204" charset="-122"/>
              <a:cs typeface="微软雅黑" panose="020B0503020204020204" charset="-122"/>
            </a:endParaRPr>
          </a:p>
          <a:p>
            <a:pPr algn="l"/>
            <a:r>
              <a:rPr lang="zh-CN" altLang="en-US" dirty="0">
                <a:latin typeface="微软雅黑" panose="020B0503020204020204" charset="-122"/>
                <a:ea typeface="微软雅黑" panose="020B0503020204020204" charset="-122"/>
                <a:cs typeface="微软雅黑" panose="020B0503020204020204" charset="-122"/>
              </a:rPr>
              <a:t>5. 预测结果与验证集的label进行对比，</a:t>
            </a:r>
            <a:endParaRPr lang="zh-CN" altLang="en-US" dirty="0">
              <a:latin typeface="微软雅黑" panose="020B0503020204020204" charset="-122"/>
              <a:ea typeface="微软雅黑" panose="020B0503020204020204" charset="-122"/>
              <a:cs typeface="微软雅黑" panose="020B0503020204020204" charset="-122"/>
            </a:endParaRPr>
          </a:p>
          <a:p>
            <a:pPr algn="l"/>
            <a:r>
              <a:rPr lang="en-US" altLang="zh-CN" dirty="0">
                <a:latin typeface="微软雅黑" panose="020B0503020204020204" charset="-122"/>
                <a:ea typeface="微软雅黑" panose="020B0503020204020204" charset="-122"/>
                <a:cs typeface="微软雅黑" panose="020B0503020204020204" charset="-122"/>
              </a:rPr>
              <a:t>    </a:t>
            </a:r>
            <a:r>
              <a:rPr lang="zh-CN" altLang="en-US" dirty="0">
                <a:latin typeface="微软雅黑" panose="020B0503020204020204" charset="-122"/>
                <a:ea typeface="微软雅黑" panose="020B0503020204020204" charset="-122"/>
                <a:cs typeface="微软雅黑" panose="020B0503020204020204" charset="-122"/>
              </a:rPr>
              <a:t>计算其评价指标</a:t>
            </a:r>
            <a:endParaRPr lang="zh-CN" altLang="en-US" dirty="0">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2"/>
          <a:stretch>
            <a:fillRect/>
          </a:stretch>
        </p:blipFill>
        <p:spPr>
          <a:xfrm>
            <a:off x="5867400" y="2590800"/>
            <a:ext cx="5414010" cy="4205605"/>
          </a:xfrm>
          <a:prstGeom prst="rect">
            <a:avLst/>
          </a:prstGeom>
        </p:spPr>
      </p:pic>
      <p:sp>
        <p:nvSpPr>
          <p:cNvPr id="10" name="文本框 9"/>
          <p:cNvSpPr txBox="1"/>
          <p:nvPr/>
        </p:nvSpPr>
        <p:spPr>
          <a:xfrm>
            <a:off x="4876800" y="546100"/>
            <a:ext cx="2497455" cy="368300"/>
          </a:xfrm>
          <a:prstGeom prst="rect">
            <a:avLst/>
          </a:prstGeom>
          <a:noFill/>
        </p:spPr>
        <p:txBody>
          <a:bodyPr wrap="none" rtlCol="0" anchor="t">
            <a:spAutoFit/>
          </a:bodyPr>
          <a:p>
            <a:pPr algn="l"/>
            <a:r>
              <a:rPr lang="en-US" dirty="0">
                <a:latin typeface="微软雅黑" panose="020B0503020204020204" charset="-122"/>
                <a:ea typeface="微软雅黑" panose="020B0503020204020204" charset="-122"/>
                <a:cs typeface="微软雅黑" panose="020B0503020204020204" charset="-122"/>
                <a:sym typeface="+mn-ea"/>
              </a:rPr>
              <a:t>3. </a:t>
            </a:r>
            <a:r>
              <a:rPr lang="zh-CN" altLang="en-US" dirty="0">
                <a:latin typeface="微软雅黑" panose="020B0503020204020204" charset="-122"/>
                <a:ea typeface="微软雅黑" panose="020B0503020204020204" charset="-122"/>
                <a:cs typeface="微软雅黑" panose="020B0503020204020204" charset="-122"/>
                <a:sym typeface="+mn-ea"/>
              </a:rPr>
              <a:t>划分训练集和验证集</a:t>
            </a:r>
            <a:endParaRPr lang="zh-CN" altLang="en-US"/>
          </a:p>
        </p:txBody>
      </p:sp>
      <p:sp>
        <p:nvSpPr>
          <p:cNvPr id="9" name="文本框 8"/>
          <p:cNvSpPr txBox="1"/>
          <p:nvPr/>
        </p:nvSpPr>
        <p:spPr>
          <a:xfrm>
            <a:off x="9220200" y="2667000"/>
            <a:ext cx="897255" cy="368300"/>
          </a:xfrm>
          <a:prstGeom prst="rect">
            <a:avLst/>
          </a:prstGeom>
          <a:noFill/>
        </p:spPr>
        <p:txBody>
          <a:bodyPr wrap="none" rtlCol="0" anchor="t">
            <a:spAutoFit/>
          </a:bodyPr>
          <a:p>
            <a:pPr algn="l"/>
            <a:r>
              <a:rPr lang="en-US" dirty="0">
                <a:latin typeface="微软雅黑" panose="020B0503020204020204" charset="-122"/>
                <a:ea typeface="微软雅黑" panose="020B0503020204020204" charset="-122"/>
                <a:cs typeface="微软雅黑" panose="020B0503020204020204" charset="-122"/>
                <a:sym typeface="+mn-ea"/>
              </a:rPr>
              <a:t>4. </a:t>
            </a:r>
            <a:r>
              <a:rPr lang="zh-CN" altLang="en-US" dirty="0">
                <a:latin typeface="微软雅黑" panose="020B0503020204020204" charset="-122"/>
                <a:ea typeface="微软雅黑" panose="020B0503020204020204" charset="-122"/>
                <a:cs typeface="微软雅黑" panose="020B0503020204020204" charset="-122"/>
                <a:sym typeface="+mn-ea"/>
              </a:rPr>
              <a:t>训练</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7"/>
          </p:nvPr>
        </p:nvSpPr>
        <p:spPr/>
        <p:txBody>
          <a:bodyPr/>
          <a:p>
            <a:fld id="{B6F15528-21DE-4FAA-801E-634DDDAF4B2B}" type="slidenum">
              <a:rPr/>
            </a:fld>
            <a:endParaRPr/>
          </a:p>
        </p:txBody>
      </p:sp>
      <p:sp>
        <p:nvSpPr>
          <p:cNvPr id="6" name="object 2"/>
          <p:cNvSpPr txBox="1">
            <a:spLocks noGrp="1"/>
          </p:cNvSpPr>
          <p:nvPr>
            <p:ph type="title"/>
          </p:nvPr>
        </p:nvSpPr>
        <p:spPr>
          <a:xfrm>
            <a:off x="76200" y="304800"/>
            <a:ext cx="3431540" cy="754380"/>
          </a:xfrm>
          <a:prstGeom prst="rect">
            <a:avLst/>
          </a:prstGeom>
        </p:spPr>
        <p:txBody>
          <a:bodyPr vert="horz" wrap="square" lIns="0" tIns="15875" rIns="0" bIns="0" rtlCol="0">
            <a:spAutoFit/>
          </a:bodyPr>
          <a:p>
            <a:pPr marL="12700" algn="ctr">
              <a:lnSpc>
                <a:spcPct val="100000"/>
              </a:lnSpc>
              <a:spcBef>
                <a:spcPts val="125"/>
              </a:spcBef>
            </a:pPr>
            <a:r>
              <a:rPr lang="zh-CN" sz="4800" b="1" spc="25" dirty="0"/>
              <a:t>实验步骤</a:t>
            </a:r>
            <a:endParaRPr lang="en-US" sz="4800" b="1" spc="25" dirty="0"/>
          </a:p>
        </p:txBody>
      </p:sp>
      <p:sp>
        <p:nvSpPr>
          <p:cNvPr id="5" name="文本框 4"/>
          <p:cNvSpPr txBox="1"/>
          <p:nvPr/>
        </p:nvSpPr>
        <p:spPr>
          <a:xfrm>
            <a:off x="457200" y="1143000"/>
            <a:ext cx="4164330" cy="3969385"/>
          </a:xfrm>
          <a:prstGeom prst="rect">
            <a:avLst/>
          </a:prstGeom>
          <a:noFill/>
        </p:spPr>
        <p:txBody>
          <a:bodyPr wrap="none" rtlCol="0" anchor="t">
            <a:spAutoFit/>
          </a:bodyPr>
          <a:p>
            <a:pPr algn="l"/>
            <a:r>
              <a:rPr lang="en-US" dirty="0">
                <a:latin typeface="微软雅黑" panose="020B0503020204020204" charset="-122"/>
                <a:ea typeface="微软雅黑" panose="020B0503020204020204" charset="-122"/>
                <a:cs typeface="微软雅黑" panose="020B0503020204020204" charset="-122"/>
                <a:sym typeface="+mn-ea"/>
              </a:rPr>
              <a:t>1. </a:t>
            </a:r>
            <a:r>
              <a:rPr lang="zh-CN" altLang="en-US" dirty="0">
                <a:latin typeface="微软雅黑" panose="020B0503020204020204" charset="-122"/>
                <a:ea typeface="微软雅黑" panose="020B0503020204020204" charset="-122"/>
                <a:cs typeface="微软雅黑" panose="020B0503020204020204" charset="-122"/>
                <a:sym typeface="+mn-ea"/>
              </a:rPr>
              <a:t>导入依赖包</a:t>
            </a:r>
            <a:endParaRPr lang="zh-CN" altLang="en-US" dirty="0">
              <a:latin typeface="微软雅黑" panose="020B0503020204020204" charset="-122"/>
              <a:ea typeface="微软雅黑" panose="020B0503020204020204" charset="-122"/>
              <a:cs typeface="微软雅黑" panose="020B0503020204020204" charset="-122"/>
              <a:sym typeface="+mn-ea"/>
            </a:endParaRPr>
          </a:p>
          <a:p>
            <a:pPr algn="l"/>
            <a:endParaRPr lang="zh-CN" altLang="en-US"/>
          </a:p>
          <a:p>
            <a:pPr algn="l"/>
            <a:r>
              <a:rPr lang="en-US" altLang="zh-CN"/>
              <a:t>2. </a:t>
            </a:r>
            <a:r>
              <a:rPr lang="zh-CN" altLang="en-US" dirty="0">
                <a:latin typeface="微软雅黑" panose="020B0503020204020204" charset="-122"/>
                <a:ea typeface="微软雅黑" panose="020B0503020204020204" charset="-122"/>
                <a:cs typeface="微软雅黑" panose="020B0503020204020204" charset="-122"/>
              </a:rPr>
              <a:t>导入数据集</a:t>
            </a:r>
            <a:endParaRPr lang="zh-CN" altLang="en-US"/>
          </a:p>
          <a:p>
            <a:pPr algn="l"/>
            <a:endParaRPr lang="zh-CN" altLang="en-US"/>
          </a:p>
          <a:p>
            <a:pPr algn="l"/>
            <a:r>
              <a:rPr lang="zh-CN" altLang="en-US" dirty="0">
                <a:latin typeface="微软雅黑" panose="020B0503020204020204" charset="-122"/>
                <a:ea typeface="微软雅黑" panose="020B0503020204020204" charset="-122"/>
                <a:cs typeface="微软雅黑" panose="020B0503020204020204" charset="-122"/>
              </a:rPr>
              <a:t>3. 划分训练集和验证集</a:t>
            </a:r>
            <a:endParaRPr lang="zh-CN" altLang="en-US" dirty="0">
              <a:latin typeface="微软雅黑" panose="020B0503020204020204" charset="-122"/>
              <a:ea typeface="微软雅黑" panose="020B0503020204020204" charset="-122"/>
              <a:cs typeface="微软雅黑" panose="020B0503020204020204" charset="-122"/>
            </a:endParaRPr>
          </a:p>
          <a:p>
            <a:pPr algn="l"/>
            <a:endParaRPr lang="zh-CN" altLang="en-US" dirty="0">
              <a:latin typeface="微软雅黑" panose="020B0503020204020204" charset="-122"/>
              <a:ea typeface="微软雅黑" panose="020B0503020204020204" charset="-122"/>
              <a:cs typeface="微软雅黑" panose="020B0503020204020204" charset="-122"/>
            </a:endParaRPr>
          </a:p>
          <a:p>
            <a:pPr algn="l"/>
            <a:r>
              <a:rPr lang="zh-CN" altLang="en-US" dirty="0">
                <a:latin typeface="微软雅黑" panose="020B0503020204020204" charset="-122"/>
                <a:ea typeface="微软雅黑" panose="020B0503020204020204" charset="-122"/>
                <a:cs typeface="微软雅黑" panose="020B0503020204020204" charset="-122"/>
              </a:rPr>
              <a:t>4. </a:t>
            </a:r>
            <a:r>
              <a:rPr lang="zh-CN" altLang="en-US" dirty="0">
                <a:latin typeface="微软雅黑" panose="020B0503020204020204" charset="-122"/>
                <a:ea typeface="微软雅黑" panose="020B0503020204020204" charset="-122"/>
                <a:cs typeface="微软雅黑" panose="020B0503020204020204" charset="-122"/>
                <a:sym typeface="+mn-ea"/>
              </a:rPr>
              <a:t>使用线性回归对训练集进行训练</a:t>
            </a:r>
            <a:endParaRPr lang="zh-CN" altLang="en-US" dirty="0">
              <a:latin typeface="微软雅黑" panose="020B0503020204020204" charset="-122"/>
              <a:ea typeface="微软雅黑" panose="020B0503020204020204" charset="-122"/>
              <a:cs typeface="微软雅黑" panose="020B0503020204020204" charset="-122"/>
              <a:sym typeface="+mn-ea"/>
            </a:endParaRPr>
          </a:p>
          <a:p>
            <a:pPr algn="l"/>
            <a:endParaRPr lang="zh-CN" altLang="en-US" dirty="0">
              <a:latin typeface="微软雅黑" panose="020B0503020204020204" charset="-122"/>
              <a:ea typeface="微软雅黑" panose="020B0503020204020204" charset="-122"/>
              <a:cs typeface="微软雅黑" panose="020B0503020204020204" charset="-122"/>
            </a:endParaRPr>
          </a:p>
          <a:p>
            <a:pPr algn="l"/>
            <a:r>
              <a:rPr lang="zh-CN" altLang="en-US" dirty="0">
                <a:latin typeface="微软雅黑" panose="020B0503020204020204" charset="-122"/>
                <a:ea typeface="微软雅黑" panose="020B0503020204020204" charset="-122"/>
                <a:cs typeface="微软雅黑" panose="020B0503020204020204" charset="-122"/>
              </a:rPr>
              <a:t>5. 对验证集进行预测</a:t>
            </a:r>
            <a:endParaRPr lang="zh-CN" altLang="en-US" dirty="0">
              <a:latin typeface="微软雅黑" panose="020B0503020204020204" charset="-122"/>
              <a:ea typeface="微软雅黑" panose="020B0503020204020204" charset="-122"/>
              <a:cs typeface="微软雅黑" panose="020B0503020204020204" charset="-122"/>
            </a:endParaRPr>
          </a:p>
          <a:p>
            <a:pPr algn="l"/>
            <a:endParaRPr lang="zh-CN" altLang="en-US" dirty="0">
              <a:latin typeface="微软雅黑" panose="020B0503020204020204" charset="-122"/>
              <a:ea typeface="微软雅黑" panose="020B0503020204020204" charset="-122"/>
              <a:cs typeface="微软雅黑" panose="020B0503020204020204" charset="-122"/>
            </a:endParaRPr>
          </a:p>
          <a:p>
            <a:pPr algn="l"/>
            <a:r>
              <a:rPr lang="en-US" altLang="zh-CN" dirty="0">
                <a:latin typeface="微软雅黑" panose="020B0503020204020204" charset="-122"/>
                <a:ea typeface="微软雅黑" panose="020B0503020204020204" charset="-122"/>
                <a:cs typeface="微软雅黑" panose="020B0503020204020204" charset="-122"/>
              </a:rPr>
              <a:t>6. </a:t>
            </a:r>
            <a:r>
              <a:rPr lang="zh-CN" altLang="en-US" dirty="0">
                <a:latin typeface="微软雅黑" panose="020B0503020204020204" charset="-122"/>
                <a:ea typeface="微软雅黑" panose="020B0503020204020204" charset="-122"/>
                <a:cs typeface="微软雅黑" panose="020B0503020204020204" charset="-122"/>
              </a:rPr>
              <a:t>预测结果与验证集的label进行对比，</a:t>
            </a:r>
            <a:endParaRPr lang="zh-CN" altLang="en-US" dirty="0">
              <a:latin typeface="微软雅黑" panose="020B0503020204020204" charset="-122"/>
              <a:ea typeface="微软雅黑" panose="020B0503020204020204" charset="-122"/>
              <a:cs typeface="微软雅黑" panose="020B0503020204020204" charset="-122"/>
            </a:endParaRPr>
          </a:p>
          <a:p>
            <a:pPr algn="l"/>
            <a:r>
              <a:rPr lang="en-US" altLang="zh-CN" dirty="0">
                <a:latin typeface="微软雅黑" panose="020B0503020204020204" charset="-122"/>
                <a:ea typeface="微软雅黑" panose="020B0503020204020204" charset="-122"/>
                <a:cs typeface="微软雅黑" panose="020B0503020204020204" charset="-122"/>
              </a:rPr>
              <a:t>    </a:t>
            </a:r>
            <a:r>
              <a:rPr lang="zh-CN" altLang="en-US" dirty="0">
                <a:latin typeface="微软雅黑" panose="020B0503020204020204" charset="-122"/>
                <a:ea typeface="微软雅黑" panose="020B0503020204020204" charset="-122"/>
                <a:cs typeface="微软雅黑" panose="020B0503020204020204" charset="-122"/>
              </a:rPr>
              <a:t>计算其评价指标</a:t>
            </a:r>
            <a:endParaRPr lang="zh-CN" altLang="en-US" dirty="0">
              <a:latin typeface="微软雅黑" panose="020B0503020204020204" charset="-122"/>
              <a:ea typeface="微软雅黑" panose="020B0503020204020204" charset="-122"/>
              <a:cs typeface="微软雅黑" panose="020B0503020204020204" charset="-122"/>
            </a:endParaRPr>
          </a:p>
          <a:p>
            <a:pPr algn="l"/>
            <a:endParaRPr lang="zh-CN" altLang="en-US" dirty="0">
              <a:latin typeface="微软雅黑" panose="020B0503020204020204" charset="-122"/>
              <a:ea typeface="微软雅黑" panose="020B0503020204020204" charset="-122"/>
              <a:cs typeface="微软雅黑" panose="020B0503020204020204" charset="-122"/>
            </a:endParaRPr>
          </a:p>
          <a:p>
            <a:pPr algn="l"/>
            <a:r>
              <a:rPr lang="en-US" altLang="zh-CN" dirty="0">
                <a:latin typeface="微软雅黑" panose="020B0503020204020204" charset="-122"/>
                <a:ea typeface="微软雅黑" panose="020B0503020204020204" charset="-122"/>
                <a:cs typeface="微软雅黑" panose="020B0503020204020204" charset="-122"/>
              </a:rPr>
              <a:t>7. </a:t>
            </a:r>
            <a:r>
              <a:rPr lang="zh-CN" kern="0" spc="25" dirty="0">
                <a:latin typeface="微软雅黑" panose="020B0503020204020204" charset="-122"/>
                <a:ea typeface="微软雅黑" panose="020B0503020204020204" charset="-122"/>
                <a:cs typeface="微软雅黑" panose="020B0503020204020204" charset="-122"/>
                <a:sym typeface="+mn-ea"/>
              </a:rPr>
              <a:t>密度跟含糖量哪个指标更重要？</a:t>
            </a:r>
            <a:endParaRPr lang="en-US" altLang="zh-CN" dirty="0">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76800" y="546100"/>
            <a:ext cx="897255" cy="368300"/>
          </a:xfrm>
          <a:prstGeom prst="rect">
            <a:avLst/>
          </a:prstGeom>
          <a:noFill/>
        </p:spPr>
        <p:txBody>
          <a:bodyPr wrap="none" rtlCol="0" anchor="t">
            <a:spAutoFit/>
          </a:bodyPr>
          <a:p>
            <a:pPr algn="l"/>
            <a:r>
              <a:rPr lang="en-US" dirty="0">
                <a:latin typeface="微软雅黑" panose="020B0503020204020204" charset="-122"/>
                <a:ea typeface="微软雅黑" panose="020B0503020204020204" charset="-122"/>
                <a:cs typeface="微软雅黑" panose="020B0503020204020204" charset="-122"/>
                <a:sym typeface="+mn-ea"/>
              </a:rPr>
              <a:t>5. </a:t>
            </a:r>
            <a:r>
              <a:rPr lang="zh-CN" altLang="en-US" dirty="0">
                <a:latin typeface="微软雅黑" panose="020B0503020204020204" charset="-122"/>
                <a:ea typeface="微软雅黑" panose="020B0503020204020204" charset="-122"/>
                <a:cs typeface="微软雅黑" panose="020B0503020204020204" charset="-122"/>
                <a:sym typeface="+mn-ea"/>
              </a:rPr>
              <a:t>预测</a:t>
            </a:r>
            <a:endParaRPr lang="zh-CN" altLang="en-US"/>
          </a:p>
        </p:txBody>
      </p:sp>
      <p:pic>
        <p:nvPicPr>
          <p:cNvPr id="7" name="图片 6"/>
          <p:cNvPicPr>
            <a:picLocks noChangeAspect="1"/>
          </p:cNvPicPr>
          <p:nvPr/>
        </p:nvPicPr>
        <p:blipFill>
          <a:blip r:embed="rId1"/>
          <a:stretch>
            <a:fillRect/>
          </a:stretch>
        </p:blipFill>
        <p:spPr>
          <a:xfrm>
            <a:off x="4953000" y="914400"/>
            <a:ext cx="4419600" cy="2124075"/>
          </a:xfrm>
          <a:prstGeom prst="rect">
            <a:avLst/>
          </a:prstGeom>
        </p:spPr>
      </p:pic>
      <p:sp>
        <p:nvSpPr>
          <p:cNvPr id="12" name="文本框 11"/>
          <p:cNvSpPr txBox="1"/>
          <p:nvPr/>
        </p:nvSpPr>
        <p:spPr>
          <a:xfrm>
            <a:off x="4953000" y="3213100"/>
            <a:ext cx="897255" cy="368300"/>
          </a:xfrm>
          <a:prstGeom prst="rect">
            <a:avLst/>
          </a:prstGeom>
          <a:noFill/>
        </p:spPr>
        <p:txBody>
          <a:bodyPr wrap="none" rtlCol="0" anchor="t">
            <a:spAutoFit/>
          </a:bodyPr>
          <a:p>
            <a:pPr algn="l"/>
            <a:r>
              <a:rPr lang="en-US" dirty="0">
                <a:latin typeface="微软雅黑" panose="020B0503020204020204" charset="-122"/>
                <a:ea typeface="微软雅黑" panose="020B0503020204020204" charset="-122"/>
                <a:cs typeface="微软雅黑" panose="020B0503020204020204" charset="-122"/>
                <a:sym typeface="+mn-ea"/>
              </a:rPr>
              <a:t>6. </a:t>
            </a:r>
            <a:r>
              <a:rPr lang="zh-CN" altLang="en-US" dirty="0">
                <a:latin typeface="微软雅黑" panose="020B0503020204020204" charset="-122"/>
                <a:ea typeface="微软雅黑" panose="020B0503020204020204" charset="-122"/>
                <a:cs typeface="微软雅黑" panose="020B0503020204020204" charset="-122"/>
                <a:sym typeface="+mn-ea"/>
              </a:rPr>
              <a:t>评估</a:t>
            </a: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pic>
        <p:nvPicPr>
          <p:cNvPr id="14" name="图片 13"/>
          <p:cNvPicPr>
            <a:picLocks noChangeAspect="1"/>
          </p:cNvPicPr>
          <p:nvPr/>
        </p:nvPicPr>
        <p:blipFill>
          <a:blip r:embed="rId2"/>
          <a:stretch>
            <a:fillRect/>
          </a:stretch>
        </p:blipFill>
        <p:spPr>
          <a:xfrm>
            <a:off x="5257800" y="3657600"/>
            <a:ext cx="5419725" cy="1143000"/>
          </a:xfrm>
          <a:prstGeom prst="rect">
            <a:avLst/>
          </a:prstGeom>
        </p:spPr>
      </p:pic>
      <p:pic>
        <p:nvPicPr>
          <p:cNvPr id="15" name="图片 14"/>
          <p:cNvPicPr>
            <a:picLocks noChangeAspect="1"/>
          </p:cNvPicPr>
          <p:nvPr/>
        </p:nvPicPr>
        <p:blipFill>
          <a:blip r:embed="rId3"/>
          <a:stretch>
            <a:fillRect/>
          </a:stretch>
        </p:blipFill>
        <p:spPr>
          <a:xfrm>
            <a:off x="5124450" y="5419725"/>
            <a:ext cx="4076700" cy="962025"/>
          </a:xfrm>
          <a:prstGeom prst="rect">
            <a:avLst/>
          </a:prstGeom>
        </p:spPr>
      </p:pic>
      <p:sp>
        <p:nvSpPr>
          <p:cNvPr id="16" name="文本框 15"/>
          <p:cNvSpPr txBox="1"/>
          <p:nvPr/>
        </p:nvSpPr>
        <p:spPr>
          <a:xfrm>
            <a:off x="5124450" y="5105400"/>
            <a:ext cx="995045" cy="368300"/>
          </a:xfrm>
          <a:prstGeom prst="rect">
            <a:avLst/>
          </a:prstGeom>
          <a:noFill/>
        </p:spPr>
        <p:txBody>
          <a:bodyPr wrap="square" rtlCol="0" anchor="t">
            <a:spAutoFit/>
          </a:bodyPr>
          <a:p>
            <a:pPr algn="l"/>
            <a:r>
              <a:rPr lang="en-US" dirty="0">
                <a:latin typeface="微软雅黑" panose="020B0503020204020204" charset="-122"/>
                <a:ea typeface="微软雅黑" panose="020B0503020204020204" charset="-122"/>
                <a:cs typeface="微软雅黑" panose="020B0503020204020204" charset="-122"/>
                <a:sym typeface="+mn-ea"/>
              </a:rPr>
              <a:t>7. </a:t>
            </a:r>
            <a:r>
              <a:rPr lang="zh-CN" altLang="en-US" dirty="0">
                <a:latin typeface="微软雅黑" panose="020B0503020204020204" charset="-122"/>
                <a:ea typeface="微软雅黑" panose="020B0503020204020204" charset="-122"/>
                <a:cs typeface="微软雅黑" panose="020B0503020204020204" charset="-122"/>
                <a:sym typeface="+mn-ea"/>
              </a:rPr>
              <a:t>答案：</a:t>
            </a: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17" name="文本框 16"/>
          <p:cNvSpPr txBox="1"/>
          <p:nvPr/>
        </p:nvSpPr>
        <p:spPr>
          <a:xfrm>
            <a:off x="6019800" y="5105400"/>
            <a:ext cx="737870" cy="368300"/>
          </a:xfrm>
          <a:prstGeom prst="rect">
            <a:avLst/>
          </a:prstGeom>
          <a:noFill/>
        </p:spPr>
        <p:txBody>
          <a:bodyPr wrap="square" rtlCol="0" anchor="t">
            <a:spAutoFit/>
          </a:bodyPr>
          <a:p>
            <a:pPr algn="l"/>
            <a:r>
              <a:rPr lang="zh-CN" altLang="en-US" dirty="0">
                <a:solidFill>
                  <a:schemeClr val="accent6"/>
                </a:solidFill>
                <a:latin typeface="微软雅黑" panose="020B0503020204020204" charset="-122"/>
                <a:ea typeface="微软雅黑" panose="020B0503020204020204" charset="-122"/>
                <a:cs typeface="微软雅黑" panose="020B0503020204020204" charset="-122"/>
                <a:sym typeface="+mn-ea"/>
              </a:rPr>
              <a:t>？</a:t>
            </a:r>
            <a:endParaRPr lang="zh-CN" altLang="en-US" dirty="0">
              <a:solidFill>
                <a:schemeClr val="accent6"/>
              </a:solidFill>
              <a:latin typeface="微软雅黑" panose="020B0503020204020204" charset="-122"/>
              <a:ea typeface="微软雅黑" panose="020B0503020204020204" charset="-122"/>
              <a:cs typeface="微软雅黑" panose="020B0503020204020204" charset="-122"/>
              <a:sym typeface="+mn-ea"/>
            </a:endParaRPr>
          </a:p>
        </p:txBody>
      </p:sp>
      <p:cxnSp>
        <p:nvCxnSpPr>
          <p:cNvPr id="18" name="直接箭头连接符 17"/>
          <p:cNvCxnSpPr/>
          <p:nvPr/>
        </p:nvCxnSpPr>
        <p:spPr>
          <a:xfrm flipV="1">
            <a:off x="2819400" y="1447800"/>
            <a:ext cx="2971800" cy="2057400"/>
          </a:xfrm>
          <a:prstGeom prst="straightConnector1">
            <a:avLst/>
          </a:prstGeom>
          <a:ln>
            <a:tailEnd type="arrow" w="med" len="med"/>
          </a:ln>
        </p:spPr>
        <p:style>
          <a:lnRef idx="3">
            <a:schemeClr val="accent6"/>
          </a:lnRef>
          <a:fillRef idx="0">
            <a:schemeClr val="accent6"/>
          </a:fillRef>
          <a:effectRef idx="2">
            <a:schemeClr val="accent6"/>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blinds(horizontal)">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linds(horizontal)">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52800" y="3051810"/>
            <a:ext cx="5842635" cy="754380"/>
          </a:xfrm>
          <a:prstGeom prst="rect">
            <a:avLst/>
          </a:prstGeom>
        </p:spPr>
        <p:txBody>
          <a:bodyPr vert="horz" wrap="square" lIns="0" tIns="15875" rIns="0" bIns="0" rtlCol="0">
            <a:spAutoFit/>
          </a:bodyPr>
          <a:lstStyle/>
          <a:p>
            <a:pPr marL="12700" algn="ctr">
              <a:lnSpc>
                <a:spcPct val="100000"/>
              </a:lnSpc>
              <a:spcBef>
                <a:spcPts val="125"/>
              </a:spcBef>
            </a:pPr>
            <a:r>
              <a:rPr lang="zh-CN" sz="4800" b="1" spc="25" dirty="0"/>
              <a:t>对西瓜好坏进行分类</a:t>
            </a:r>
            <a:endParaRPr lang="zh-CN" sz="4800" b="1" spc="25" dirty="0"/>
          </a:p>
        </p:txBody>
      </p:sp>
      <p:sp>
        <p:nvSpPr>
          <p:cNvPr id="3" name="灯片编号占位符 2"/>
          <p:cNvSpPr>
            <a:spLocks noGrp="1"/>
          </p:cNvSpPr>
          <p:nvPr>
            <p:ph type="sldNum" sz="quarter" idx="7"/>
          </p:nvPr>
        </p:nvSpPr>
        <p:spPr/>
        <p:txBody>
          <a:bodyPr/>
          <a:p>
            <a:fld id="{B6F15528-21DE-4FAA-801E-634DDDAF4B2B}" type="slidenum">
              <a:rPr/>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7"/>
          </p:nvPr>
        </p:nvSpPr>
        <p:spPr/>
        <p:txBody>
          <a:bodyPr/>
          <a:p>
            <a:fld id="{B6F15528-21DE-4FAA-801E-634DDDAF4B2B}" type="slidenum">
              <a:rPr/>
            </a:fld>
            <a:endParaRPr/>
          </a:p>
        </p:txBody>
      </p:sp>
      <p:sp>
        <p:nvSpPr>
          <p:cNvPr id="6" name="object 2"/>
          <p:cNvSpPr txBox="1">
            <a:spLocks noGrp="1"/>
          </p:cNvSpPr>
          <p:nvPr>
            <p:ph type="title"/>
          </p:nvPr>
        </p:nvSpPr>
        <p:spPr>
          <a:xfrm>
            <a:off x="76200" y="304800"/>
            <a:ext cx="3431540" cy="754380"/>
          </a:xfrm>
          <a:prstGeom prst="rect">
            <a:avLst/>
          </a:prstGeom>
        </p:spPr>
        <p:txBody>
          <a:bodyPr vert="horz" wrap="square" lIns="0" tIns="15875" rIns="0" bIns="0" rtlCol="0">
            <a:spAutoFit/>
          </a:bodyPr>
          <a:p>
            <a:pPr marL="12700" algn="ctr">
              <a:lnSpc>
                <a:spcPct val="100000"/>
              </a:lnSpc>
              <a:spcBef>
                <a:spcPts val="125"/>
              </a:spcBef>
            </a:pPr>
            <a:r>
              <a:rPr lang="zh-CN" sz="4800" b="1" spc="25" dirty="0"/>
              <a:t>实验步骤</a:t>
            </a:r>
            <a:endParaRPr lang="en-US" sz="4800" b="1" spc="25" dirty="0"/>
          </a:p>
        </p:txBody>
      </p:sp>
      <p:sp>
        <p:nvSpPr>
          <p:cNvPr id="5" name="文本框 4"/>
          <p:cNvSpPr txBox="1"/>
          <p:nvPr/>
        </p:nvSpPr>
        <p:spPr>
          <a:xfrm>
            <a:off x="533400" y="1143000"/>
            <a:ext cx="3640455" cy="2861310"/>
          </a:xfrm>
          <a:prstGeom prst="rect">
            <a:avLst/>
          </a:prstGeom>
          <a:noFill/>
        </p:spPr>
        <p:txBody>
          <a:bodyPr wrap="none" rtlCol="0" anchor="t">
            <a:spAutoFit/>
          </a:bodyPr>
          <a:p>
            <a:pPr algn="l"/>
            <a:r>
              <a:rPr lang="en-US" dirty="0">
                <a:latin typeface="微软雅黑" panose="020B0503020204020204" charset="-122"/>
                <a:ea typeface="微软雅黑" panose="020B0503020204020204" charset="-122"/>
                <a:cs typeface="微软雅黑" panose="020B0503020204020204" charset="-122"/>
                <a:sym typeface="+mn-ea"/>
              </a:rPr>
              <a:t>1. </a:t>
            </a:r>
            <a:r>
              <a:rPr lang="zh-CN" altLang="en-US" dirty="0">
                <a:latin typeface="微软雅黑" panose="020B0503020204020204" charset="-122"/>
                <a:ea typeface="微软雅黑" panose="020B0503020204020204" charset="-122"/>
                <a:cs typeface="微软雅黑" panose="020B0503020204020204" charset="-122"/>
                <a:sym typeface="+mn-ea"/>
              </a:rPr>
              <a:t>导入依赖包</a:t>
            </a:r>
            <a:endParaRPr lang="zh-CN" altLang="en-US" dirty="0">
              <a:latin typeface="微软雅黑" panose="020B0503020204020204" charset="-122"/>
              <a:ea typeface="微软雅黑" panose="020B0503020204020204" charset="-122"/>
              <a:cs typeface="微软雅黑" panose="020B0503020204020204" charset="-122"/>
              <a:sym typeface="+mn-ea"/>
            </a:endParaRPr>
          </a:p>
          <a:p>
            <a:pPr algn="l"/>
            <a:endParaRPr lang="zh-CN" altLang="en-US"/>
          </a:p>
          <a:p>
            <a:pPr algn="l"/>
            <a:r>
              <a:rPr lang="en-US" altLang="zh-CN"/>
              <a:t>2. </a:t>
            </a:r>
            <a:r>
              <a:rPr lang="zh-CN" altLang="en-US" dirty="0">
                <a:latin typeface="微软雅黑" panose="020B0503020204020204" charset="-122"/>
                <a:ea typeface="微软雅黑" panose="020B0503020204020204" charset="-122"/>
                <a:cs typeface="微软雅黑" panose="020B0503020204020204" charset="-122"/>
              </a:rPr>
              <a:t>导入数据集</a:t>
            </a:r>
            <a:endParaRPr lang="zh-CN" altLang="en-US"/>
          </a:p>
          <a:p>
            <a:pPr algn="l"/>
            <a:endParaRPr lang="zh-CN" altLang="en-US"/>
          </a:p>
          <a:p>
            <a:pPr algn="l"/>
            <a:r>
              <a:rPr lang="zh-CN" altLang="en-US" dirty="0">
                <a:latin typeface="微软雅黑" panose="020B0503020204020204" charset="-122"/>
                <a:ea typeface="微软雅黑" panose="020B0503020204020204" charset="-122"/>
                <a:cs typeface="微软雅黑" panose="020B0503020204020204" charset="-122"/>
              </a:rPr>
              <a:t>3. 划分训练集和验证集</a:t>
            </a:r>
            <a:endParaRPr lang="zh-CN" altLang="en-US" dirty="0">
              <a:latin typeface="微软雅黑" panose="020B0503020204020204" charset="-122"/>
              <a:ea typeface="微软雅黑" panose="020B0503020204020204" charset="-122"/>
              <a:cs typeface="微软雅黑" panose="020B0503020204020204" charset="-122"/>
            </a:endParaRPr>
          </a:p>
          <a:p>
            <a:pPr algn="l"/>
            <a:endParaRPr lang="zh-CN" altLang="en-US" dirty="0">
              <a:latin typeface="微软雅黑" panose="020B0503020204020204" charset="-122"/>
              <a:ea typeface="微软雅黑" panose="020B0503020204020204" charset="-122"/>
              <a:cs typeface="微软雅黑" panose="020B0503020204020204" charset="-122"/>
            </a:endParaRPr>
          </a:p>
          <a:p>
            <a:pPr algn="l"/>
            <a:r>
              <a:rPr lang="zh-CN" altLang="en-US" dirty="0">
                <a:latin typeface="微软雅黑" panose="020B0503020204020204" charset="-122"/>
                <a:ea typeface="微软雅黑" panose="020B0503020204020204" charset="-122"/>
                <a:cs typeface="微软雅黑" panose="020B0503020204020204" charset="-122"/>
                <a:sym typeface="+mn-ea"/>
              </a:rPr>
              <a:t>4. </a:t>
            </a:r>
            <a:r>
              <a:rPr lang="zh-CN" altLang="en-US" dirty="0">
                <a:latin typeface="微软雅黑" panose="020B0503020204020204" charset="-122"/>
                <a:ea typeface="微软雅黑" panose="020B0503020204020204" charset="-122"/>
                <a:cs typeface="微软雅黑" panose="020B0503020204020204" charset="-122"/>
                <a:sym typeface="+mn-ea"/>
              </a:rPr>
              <a:t>使用逻辑回归对训练集进行训练</a:t>
            </a:r>
            <a:endParaRPr lang="zh-CN" altLang="en-US" dirty="0">
              <a:latin typeface="微软雅黑" panose="020B0503020204020204" charset="-122"/>
              <a:ea typeface="微软雅黑" panose="020B0503020204020204" charset="-122"/>
              <a:cs typeface="微软雅黑" panose="020B0503020204020204" charset="-122"/>
            </a:endParaRPr>
          </a:p>
          <a:p>
            <a:pPr algn="l"/>
            <a:endParaRPr lang="zh-CN" altLang="en-US" dirty="0">
              <a:latin typeface="微软雅黑" panose="020B0503020204020204" charset="-122"/>
              <a:ea typeface="微软雅黑" panose="020B0503020204020204" charset="-122"/>
              <a:cs typeface="微软雅黑" panose="020B0503020204020204" charset="-122"/>
            </a:endParaRPr>
          </a:p>
          <a:p>
            <a:pPr algn="l"/>
            <a:r>
              <a:rPr lang="zh-CN" altLang="en-US" dirty="0">
                <a:latin typeface="微软雅黑" panose="020B0503020204020204" charset="-122"/>
                <a:ea typeface="微软雅黑" panose="020B0503020204020204" charset="-122"/>
                <a:cs typeface="微软雅黑" panose="020B0503020204020204" charset="-122"/>
                <a:sym typeface="+mn-ea"/>
              </a:rPr>
              <a:t>5. 对验证集进行预测</a:t>
            </a:r>
            <a:endParaRPr lang="zh-CN" altLang="en-US" dirty="0">
              <a:latin typeface="微软雅黑" panose="020B0503020204020204" charset="-122"/>
              <a:ea typeface="微软雅黑" panose="020B0503020204020204" charset="-122"/>
              <a:cs typeface="微软雅黑" panose="020B0503020204020204" charset="-122"/>
            </a:endParaRPr>
          </a:p>
          <a:p>
            <a:pPr algn="l"/>
            <a:endParaRPr lang="zh-CN" altLang="en-US" dirty="0">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5029200" y="457200"/>
            <a:ext cx="6753225" cy="3352800"/>
          </a:xfrm>
          <a:prstGeom prst="rect">
            <a:avLst/>
          </a:prstGeom>
        </p:spPr>
      </p:pic>
      <p:pic>
        <p:nvPicPr>
          <p:cNvPr id="3" name="图片 2"/>
          <p:cNvPicPr>
            <a:picLocks noChangeAspect="1"/>
          </p:cNvPicPr>
          <p:nvPr/>
        </p:nvPicPr>
        <p:blipFill>
          <a:blip r:embed="rId2"/>
          <a:stretch>
            <a:fillRect/>
          </a:stretch>
        </p:blipFill>
        <p:spPr>
          <a:xfrm>
            <a:off x="8305800" y="3886200"/>
            <a:ext cx="3360420" cy="2299970"/>
          </a:xfrm>
          <a:prstGeom prst="rect">
            <a:avLst/>
          </a:prstGeom>
        </p:spPr>
      </p:pic>
      <p:pic>
        <p:nvPicPr>
          <p:cNvPr id="7" name="图片 6"/>
          <p:cNvPicPr>
            <a:picLocks noChangeAspect="1"/>
          </p:cNvPicPr>
          <p:nvPr/>
        </p:nvPicPr>
        <p:blipFill>
          <a:blip r:embed="rId3"/>
          <a:stretch>
            <a:fillRect/>
          </a:stretch>
        </p:blipFill>
        <p:spPr>
          <a:xfrm>
            <a:off x="5181600" y="3828415"/>
            <a:ext cx="2985770" cy="302958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7"/>
          </p:nvPr>
        </p:nvSpPr>
        <p:spPr/>
        <p:txBody>
          <a:bodyPr/>
          <a:p>
            <a:fld id="{B6F15528-21DE-4FAA-801E-634DDDAF4B2B}" type="slidenum">
              <a:rPr/>
            </a:fld>
            <a:endParaRPr/>
          </a:p>
        </p:txBody>
      </p:sp>
      <p:sp>
        <p:nvSpPr>
          <p:cNvPr id="6" name="object 2"/>
          <p:cNvSpPr txBox="1">
            <a:spLocks noGrp="1"/>
          </p:cNvSpPr>
          <p:nvPr>
            <p:ph type="title"/>
          </p:nvPr>
        </p:nvSpPr>
        <p:spPr>
          <a:xfrm>
            <a:off x="76200" y="304800"/>
            <a:ext cx="3431540" cy="754380"/>
          </a:xfrm>
          <a:prstGeom prst="rect">
            <a:avLst/>
          </a:prstGeom>
        </p:spPr>
        <p:txBody>
          <a:bodyPr vert="horz" wrap="square" lIns="0" tIns="15875" rIns="0" bIns="0" rtlCol="0">
            <a:spAutoFit/>
          </a:bodyPr>
          <a:p>
            <a:pPr marL="12700" algn="ctr">
              <a:lnSpc>
                <a:spcPct val="100000"/>
              </a:lnSpc>
              <a:spcBef>
                <a:spcPts val="125"/>
              </a:spcBef>
            </a:pPr>
            <a:r>
              <a:rPr lang="zh-CN" sz="4800" b="1" spc="25" dirty="0"/>
              <a:t>实验步骤</a:t>
            </a:r>
            <a:endParaRPr lang="en-US" sz="4800" b="1" spc="25" dirty="0"/>
          </a:p>
        </p:txBody>
      </p:sp>
      <p:sp>
        <p:nvSpPr>
          <p:cNvPr id="5" name="文本框 4"/>
          <p:cNvSpPr txBox="1"/>
          <p:nvPr/>
        </p:nvSpPr>
        <p:spPr>
          <a:xfrm>
            <a:off x="533400" y="1143000"/>
            <a:ext cx="3640455" cy="2584450"/>
          </a:xfrm>
          <a:prstGeom prst="rect">
            <a:avLst/>
          </a:prstGeom>
          <a:noFill/>
        </p:spPr>
        <p:txBody>
          <a:bodyPr wrap="none" rtlCol="0" anchor="t">
            <a:spAutoFit/>
          </a:bodyPr>
          <a:p>
            <a:pPr algn="l"/>
            <a:r>
              <a:rPr lang="en-US" dirty="0">
                <a:latin typeface="微软雅黑" panose="020B0503020204020204" charset="-122"/>
                <a:ea typeface="微软雅黑" panose="020B0503020204020204" charset="-122"/>
                <a:cs typeface="微软雅黑" panose="020B0503020204020204" charset="-122"/>
                <a:sym typeface="+mn-ea"/>
              </a:rPr>
              <a:t>1. </a:t>
            </a:r>
            <a:r>
              <a:rPr lang="zh-CN" altLang="en-US" dirty="0">
                <a:latin typeface="微软雅黑" panose="020B0503020204020204" charset="-122"/>
                <a:ea typeface="微软雅黑" panose="020B0503020204020204" charset="-122"/>
                <a:cs typeface="微软雅黑" panose="020B0503020204020204" charset="-122"/>
                <a:sym typeface="+mn-ea"/>
              </a:rPr>
              <a:t>导入依赖包</a:t>
            </a:r>
            <a:endParaRPr lang="zh-CN" altLang="en-US" dirty="0">
              <a:latin typeface="微软雅黑" panose="020B0503020204020204" charset="-122"/>
              <a:ea typeface="微软雅黑" panose="020B0503020204020204" charset="-122"/>
              <a:cs typeface="微软雅黑" panose="020B0503020204020204" charset="-122"/>
              <a:sym typeface="+mn-ea"/>
            </a:endParaRPr>
          </a:p>
          <a:p>
            <a:pPr algn="l"/>
            <a:endParaRPr lang="zh-CN" altLang="en-US"/>
          </a:p>
          <a:p>
            <a:pPr algn="l"/>
            <a:r>
              <a:rPr lang="en-US" altLang="zh-CN"/>
              <a:t>2. </a:t>
            </a:r>
            <a:r>
              <a:rPr lang="zh-CN" altLang="en-US" dirty="0">
                <a:latin typeface="微软雅黑" panose="020B0503020204020204" charset="-122"/>
                <a:ea typeface="微软雅黑" panose="020B0503020204020204" charset="-122"/>
                <a:cs typeface="微软雅黑" panose="020B0503020204020204" charset="-122"/>
              </a:rPr>
              <a:t>导入数据集</a:t>
            </a:r>
            <a:endParaRPr lang="zh-CN" altLang="en-US"/>
          </a:p>
          <a:p>
            <a:pPr algn="l"/>
            <a:endParaRPr lang="zh-CN" altLang="en-US"/>
          </a:p>
          <a:p>
            <a:pPr algn="l"/>
            <a:r>
              <a:rPr lang="zh-CN" altLang="en-US" dirty="0">
                <a:latin typeface="微软雅黑" panose="020B0503020204020204" charset="-122"/>
                <a:ea typeface="微软雅黑" panose="020B0503020204020204" charset="-122"/>
                <a:cs typeface="微软雅黑" panose="020B0503020204020204" charset="-122"/>
              </a:rPr>
              <a:t>3. 划分训练集和验证集</a:t>
            </a:r>
            <a:endParaRPr lang="zh-CN" altLang="en-US" dirty="0">
              <a:latin typeface="微软雅黑" panose="020B0503020204020204" charset="-122"/>
              <a:ea typeface="微软雅黑" panose="020B0503020204020204" charset="-122"/>
              <a:cs typeface="微软雅黑" panose="020B0503020204020204" charset="-122"/>
            </a:endParaRPr>
          </a:p>
          <a:p>
            <a:pPr algn="l"/>
            <a:endParaRPr lang="zh-CN" altLang="en-US" dirty="0">
              <a:latin typeface="微软雅黑" panose="020B0503020204020204" charset="-122"/>
              <a:ea typeface="微软雅黑" panose="020B0503020204020204" charset="-122"/>
              <a:cs typeface="微软雅黑" panose="020B0503020204020204" charset="-122"/>
            </a:endParaRPr>
          </a:p>
          <a:p>
            <a:pPr algn="l"/>
            <a:r>
              <a:rPr lang="zh-CN" altLang="en-US" dirty="0">
                <a:latin typeface="微软雅黑" panose="020B0503020204020204" charset="-122"/>
                <a:ea typeface="微软雅黑" panose="020B0503020204020204" charset="-122"/>
                <a:cs typeface="微软雅黑" panose="020B0503020204020204" charset="-122"/>
                <a:sym typeface="+mn-ea"/>
              </a:rPr>
              <a:t>4. </a:t>
            </a:r>
            <a:r>
              <a:rPr lang="zh-CN" altLang="en-US" dirty="0">
                <a:latin typeface="微软雅黑" panose="020B0503020204020204" charset="-122"/>
                <a:ea typeface="微软雅黑" panose="020B0503020204020204" charset="-122"/>
                <a:cs typeface="微软雅黑" panose="020B0503020204020204" charset="-122"/>
                <a:sym typeface="+mn-ea"/>
              </a:rPr>
              <a:t>使用逻辑回归对训练集进行训练</a:t>
            </a:r>
            <a:endParaRPr lang="zh-CN" altLang="en-US" dirty="0">
              <a:latin typeface="微软雅黑" panose="020B0503020204020204" charset="-122"/>
              <a:ea typeface="微软雅黑" panose="020B0503020204020204" charset="-122"/>
              <a:cs typeface="微软雅黑" panose="020B0503020204020204" charset="-122"/>
            </a:endParaRPr>
          </a:p>
          <a:p>
            <a:pPr algn="l"/>
            <a:endParaRPr lang="zh-CN" altLang="en-US" dirty="0">
              <a:latin typeface="微软雅黑" panose="020B0503020204020204" charset="-122"/>
              <a:ea typeface="微软雅黑" panose="020B0503020204020204" charset="-122"/>
              <a:cs typeface="微软雅黑" panose="020B0503020204020204" charset="-122"/>
            </a:endParaRPr>
          </a:p>
          <a:p>
            <a:pPr algn="l"/>
            <a:r>
              <a:rPr lang="zh-CN" altLang="en-US" dirty="0">
                <a:latin typeface="微软雅黑" panose="020B0503020204020204" charset="-122"/>
                <a:ea typeface="微软雅黑" panose="020B0503020204020204" charset="-122"/>
                <a:cs typeface="微软雅黑" panose="020B0503020204020204" charset="-122"/>
                <a:sym typeface="+mn-ea"/>
              </a:rPr>
              <a:t>5. 对验证集进行预测</a:t>
            </a:r>
            <a:endParaRPr lang="zh-CN" altLang="en-US" dirty="0">
              <a:latin typeface="微软雅黑" panose="020B0503020204020204" charset="-122"/>
              <a:ea typeface="微软雅黑" panose="020B0503020204020204" charset="-122"/>
              <a:cs typeface="微软雅黑" panose="020B0503020204020204" charset="-122"/>
            </a:endParaRPr>
          </a:p>
        </p:txBody>
      </p:sp>
      <p:pic>
        <p:nvPicPr>
          <p:cNvPr id="8" name="图片 7"/>
          <p:cNvPicPr>
            <a:picLocks noChangeAspect="1"/>
          </p:cNvPicPr>
          <p:nvPr/>
        </p:nvPicPr>
        <p:blipFill>
          <a:blip r:embed="rId1"/>
          <a:stretch>
            <a:fillRect/>
          </a:stretch>
        </p:blipFill>
        <p:spPr>
          <a:xfrm>
            <a:off x="5257800" y="4038600"/>
            <a:ext cx="3752215" cy="1402080"/>
          </a:xfrm>
          <a:prstGeom prst="rect">
            <a:avLst/>
          </a:prstGeom>
        </p:spPr>
      </p:pic>
      <p:cxnSp>
        <p:nvCxnSpPr>
          <p:cNvPr id="9" name="直接箭头连接符 8"/>
          <p:cNvCxnSpPr/>
          <p:nvPr/>
        </p:nvCxnSpPr>
        <p:spPr>
          <a:xfrm>
            <a:off x="2819400" y="3505200"/>
            <a:ext cx="2438400" cy="762000"/>
          </a:xfrm>
          <a:prstGeom prst="straightConnector1">
            <a:avLst/>
          </a:prstGeom>
          <a:ln>
            <a:tailEnd type="arrow" w="med" len="med"/>
          </a:ln>
        </p:spPr>
        <p:style>
          <a:lnRef idx="3">
            <a:schemeClr val="accent6"/>
          </a:lnRef>
          <a:fillRef idx="0">
            <a:schemeClr val="accent6"/>
          </a:fillRef>
          <a:effectRef idx="2">
            <a:schemeClr val="accent6"/>
          </a:effectRef>
          <a:fontRef idx="minor">
            <a:schemeClr val="tx1"/>
          </a:fontRef>
        </p:style>
      </p:cxnSp>
      <p:pic>
        <p:nvPicPr>
          <p:cNvPr id="10" name="图片 9"/>
          <p:cNvPicPr>
            <a:picLocks noChangeAspect="1"/>
          </p:cNvPicPr>
          <p:nvPr/>
        </p:nvPicPr>
        <p:blipFill>
          <a:blip r:embed="rId2"/>
          <a:stretch>
            <a:fillRect/>
          </a:stretch>
        </p:blipFill>
        <p:spPr>
          <a:xfrm>
            <a:off x="5029200" y="304800"/>
            <a:ext cx="6924040" cy="2263140"/>
          </a:xfrm>
          <a:prstGeom prst="rect">
            <a:avLst/>
          </a:prstGeom>
        </p:spPr>
      </p:pic>
      <p:pic>
        <p:nvPicPr>
          <p:cNvPr id="11" name="图片 10"/>
          <p:cNvPicPr>
            <a:picLocks noChangeAspect="1"/>
          </p:cNvPicPr>
          <p:nvPr/>
        </p:nvPicPr>
        <p:blipFill>
          <a:blip r:embed="rId3"/>
          <a:stretch>
            <a:fillRect/>
          </a:stretch>
        </p:blipFill>
        <p:spPr>
          <a:xfrm>
            <a:off x="5105400" y="2743200"/>
            <a:ext cx="4457700" cy="9048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7" name="任意多边形 26"/>
          <p:cNvSpPr>
            <a:spLocks noChangeArrowheads="1"/>
          </p:cNvSpPr>
          <p:nvPr>
            <p:custDataLst>
              <p:tags r:id="rId1"/>
            </p:custDataLst>
          </p:nvPr>
        </p:nvSpPr>
        <p:spPr bwMode="auto">
          <a:xfrm>
            <a:off x="-1" y="76412"/>
            <a:ext cx="12204701" cy="347616"/>
          </a:xfrm>
          <a:custGeom>
            <a:avLst/>
            <a:gdLst>
              <a:gd name="connsiteX0" fmla="*/ 0 w 9153526"/>
              <a:gd name="connsiteY0" fmla="*/ 0 h 260712"/>
              <a:gd name="connsiteX1" fmla="*/ 9153526 w 9153526"/>
              <a:gd name="connsiteY1" fmla="*/ 0 h 260712"/>
              <a:gd name="connsiteX2" fmla="*/ 9153526 w 9153526"/>
              <a:gd name="connsiteY2" fmla="*/ 60325 h 260712"/>
              <a:gd name="connsiteX3" fmla="*/ 5009013 w 9153526"/>
              <a:gd name="connsiteY3" fmla="*/ 60325 h 260712"/>
              <a:gd name="connsiteX4" fmla="*/ 4576763 w 9153526"/>
              <a:gd name="connsiteY4" fmla="*/ 260712 h 260712"/>
              <a:gd name="connsiteX5" fmla="*/ 4144513 w 9153526"/>
              <a:gd name="connsiteY5" fmla="*/ 60325 h 260712"/>
              <a:gd name="connsiteX6" fmla="*/ 0 w 9153526"/>
              <a:gd name="connsiteY6" fmla="*/ 60325 h 260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53526" h="260712">
                <a:moveTo>
                  <a:pt x="0" y="0"/>
                </a:moveTo>
                <a:lnTo>
                  <a:pt x="9153526" y="0"/>
                </a:lnTo>
                <a:lnTo>
                  <a:pt x="9153526" y="60325"/>
                </a:lnTo>
                <a:lnTo>
                  <a:pt x="5009013" y="60325"/>
                </a:lnTo>
                <a:cubicBezTo>
                  <a:pt x="4904129" y="181194"/>
                  <a:pt x="4748392" y="260712"/>
                  <a:pt x="4576763" y="260712"/>
                </a:cubicBezTo>
                <a:cubicBezTo>
                  <a:pt x="4405136" y="260712"/>
                  <a:pt x="4249399" y="181194"/>
                  <a:pt x="4144513" y="60325"/>
                </a:cubicBezTo>
                <a:cubicBezTo>
                  <a:pt x="0" y="60325"/>
                  <a:pt x="0" y="60325"/>
                  <a:pt x="0" y="60325"/>
                </a:cubicBezTo>
                <a:close/>
              </a:path>
            </a:pathLst>
          </a:cu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endParaRPr lang="zh-CN" altLang="en-US"/>
          </a:p>
        </p:txBody>
      </p:sp>
      <p:sp>
        <p:nvSpPr>
          <p:cNvPr id="97" name="Rectangle 5"/>
          <p:cNvSpPr>
            <a:spLocks noChangeArrowheads="1"/>
          </p:cNvSpPr>
          <p:nvPr/>
        </p:nvSpPr>
        <p:spPr bwMode="auto">
          <a:xfrm>
            <a:off x="5098120" y="5465199"/>
            <a:ext cx="209550" cy="209550"/>
          </a:xfrm>
          <a:prstGeom prst="rect">
            <a:avLst/>
          </a:prstGeom>
          <a:noFill/>
          <a:ln w="0">
            <a:no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2000">
              <a:solidFill>
                <a:srgbClr val="44546A"/>
              </a:solidFill>
              <a:latin typeface="方正宋刻本秀楷简体" panose="02000000000000000000" pitchFamily="2" charset="-122"/>
              <a:ea typeface="方正宋刻本秀楷简体" panose="02000000000000000000" pitchFamily="2" charset="-122"/>
            </a:endParaRPr>
          </a:p>
        </p:txBody>
      </p:sp>
      <p:sp>
        <p:nvSpPr>
          <p:cNvPr id="6" name="灯片编号占位符 5"/>
          <p:cNvSpPr>
            <a:spLocks noGrp="1"/>
          </p:cNvSpPr>
          <p:nvPr>
            <p:ph type="sldNum" sz="quarter" idx="12"/>
          </p:nvPr>
        </p:nvSpPr>
        <p:spPr/>
        <p:txBody>
          <a:bodyPr/>
          <a:p>
            <a:pPr>
              <a:defRPr/>
            </a:pPr>
            <a:fld id="{EF3F989F-8D12-475D-9C50-23F49E8F4161}" type="slidenum">
              <a:rPr lang="zh-CN" altLang="en-US"/>
            </a:fld>
            <a:endParaRPr lang="zh-CN" altLang="en-US"/>
          </a:p>
        </p:txBody>
      </p:sp>
      <p:sp>
        <p:nvSpPr>
          <p:cNvPr id="2" name="任意多边形 1"/>
          <p:cNvSpPr>
            <a:spLocks noChangeArrowheads="1"/>
          </p:cNvSpPr>
          <p:nvPr>
            <p:custDataLst>
              <p:tags r:id="rId2"/>
            </p:custDataLst>
          </p:nvPr>
        </p:nvSpPr>
        <p:spPr bwMode="auto">
          <a:xfrm rot="10800000">
            <a:off x="43814" y="6401012"/>
            <a:ext cx="12204701" cy="347616"/>
          </a:xfrm>
          <a:custGeom>
            <a:avLst/>
            <a:gdLst>
              <a:gd name="connsiteX0" fmla="*/ 0 w 9153526"/>
              <a:gd name="connsiteY0" fmla="*/ 0 h 260712"/>
              <a:gd name="connsiteX1" fmla="*/ 9153526 w 9153526"/>
              <a:gd name="connsiteY1" fmla="*/ 0 h 260712"/>
              <a:gd name="connsiteX2" fmla="*/ 9153526 w 9153526"/>
              <a:gd name="connsiteY2" fmla="*/ 60325 h 260712"/>
              <a:gd name="connsiteX3" fmla="*/ 5009013 w 9153526"/>
              <a:gd name="connsiteY3" fmla="*/ 60325 h 260712"/>
              <a:gd name="connsiteX4" fmla="*/ 4576763 w 9153526"/>
              <a:gd name="connsiteY4" fmla="*/ 260712 h 260712"/>
              <a:gd name="connsiteX5" fmla="*/ 4144513 w 9153526"/>
              <a:gd name="connsiteY5" fmla="*/ 60325 h 260712"/>
              <a:gd name="connsiteX6" fmla="*/ 0 w 9153526"/>
              <a:gd name="connsiteY6" fmla="*/ 60325 h 260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53526" h="260712">
                <a:moveTo>
                  <a:pt x="0" y="0"/>
                </a:moveTo>
                <a:lnTo>
                  <a:pt x="9153526" y="0"/>
                </a:lnTo>
                <a:lnTo>
                  <a:pt x="9153526" y="60325"/>
                </a:lnTo>
                <a:lnTo>
                  <a:pt x="5009013" y="60325"/>
                </a:lnTo>
                <a:cubicBezTo>
                  <a:pt x="4904129" y="181194"/>
                  <a:pt x="4748392" y="260712"/>
                  <a:pt x="4576763" y="260712"/>
                </a:cubicBezTo>
                <a:cubicBezTo>
                  <a:pt x="4405136" y="260712"/>
                  <a:pt x="4249399" y="181194"/>
                  <a:pt x="4144513" y="60325"/>
                </a:cubicBezTo>
                <a:cubicBezTo>
                  <a:pt x="0" y="60325"/>
                  <a:pt x="0" y="60325"/>
                  <a:pt x="0" y="60325"/>
                </a:cubicBezTo>
                <a:close/>
              </a:path>
            </a:pathLst>
          </a:cu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endParaRPr lang="zh-CN" altLang="en-US"/>
          </a:p>
        </p:txBody>
      </p:sp>
      <p:pic>
        <p:nvPicPr>
          <p:cNvPr id="3" name="图片 2"/>
          <p:cNvPicPr>
            <a:picLocks noChangeAspect="1"/>
          </p:cNvPicPr>
          <p:nvPr/>
        </p:nvPicPr>
        <p:blipFill>
          <a:blip r:embed="rId3"/>
          <a:stretch>
            <a:fillRect/>
          </a:stretch>
        </p:blipFill>
        <p:spPr>
          <a:xfrm>
            <a:off x="2890520" y="1467485"/>
            <a:ext cx="6410325" cy="38671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10" presetClass="entr" presetSubtype="0" fill="hold" grpId="0" nodeType="withEffect" nodePh="1">
                                  <p:stCondLst>
                                    <p:cond delay="0"/>
                                  </p:stCondLst>
                                  <p:endCondLst>
                                    <p:cond evt="begin" delay="0">
                                      <p:tn val="8"/>
                                    </p:cond>
                                  </p:endCondLst>
                                  <p:childTnLst>
                                    <p:set>
                                      <p:cBhvr>
                                        <p:cTn id="9" dur="1" fill="hold">
                                          <p:stCondLst>
                                            <p:cond delay="0"/>
                                          </p:stCondLst>
                                        </p:cTn>
                                        <p:tgtEl>
                                          <p:spTgt spid="97"/>
                                        </p:tgtEl>
                                        <p:attrNameLst>
                                          <p:attrName>style.visibility</p:attrName>
                                        </p:attrNameLst>
                                      </p:cBhvr>
                                      <p:to>
                                        <p:strVal val="visible"/>
                                      </p:to>
                                    </p:set>
                                    <p:animEffect transition="in" filter="fade">
                                      <p:cBhvr>
                                        <p:cTn id="10" dur="500"/>
                                        <p:tgtEl>
                                          <p:spTgt spid="9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ldLvl="0" animBg="1"/>
      <p:bldP spid="97" grpId="0"/>
      <p:bldP spid="2"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object 2"/>
          <p:cNvSpPr txBox="1">
            <a:spLocks noGrp="1"/>
          </p:cNvSpPr>
          <p:nvPr>
            <p:ph type="title"/>
          </p:nvPr>
        </p:nvSpPr>
        <p:spPr>
          <a:xfrm>
            <a:off x="457200" y="152400"/>
            <a:ext cx="3431540" cy="754380"/>
          </a:xfrm>
          <a:prstGeom prst="rect">
            <a:avLst/>
          </a:prstGeom>
        </p:spPr>
        <p:txBody>
          <a:bodyPr vert="horz" wrap="square" lIns="0" tIns="15875" rIns="0" bIns="0" rtlCol="0">
            <a:spAutoFit/>
          </a:bodyPr>
          <a:p>
            <a:pPr marL="12700" algn="ctr">
              <a:lnSpc>
                <a:spcPct val="100000"/>
              </a:lnSpc>
              <a:spcBef>
                <a:spcPts val="125"/>
              </a:spcBef>
            </a:pPr>
            <a:r>
              <a:rPr sz="4800" b="1" spc="25" dirty="0">
                <a:sym typeface="+mn-ea"/>
              </a:rPr>
              <a:t>损失函数</a:t>
            </a:r>
            <a:endParaRPr sz="4800" b="1" spc="25" dirty="0"/>
          </a:p>
        </p:txBody>
      </p:sp>
      <p:sp>
        <p:nvSpPr>
          <p:cNvPr id="11" name="文本框 10"/>
          <p:cNvSpPr txBox="1"/>
          <p:nvPr/>
        </p:nvSpPr>
        <p:spPr>
          <a:xfrm>
            <a:off x="914400" y="990600"/>
            <a:ext cx="10668000" cy="700405"/>
          </a:xfrm>
          <a:prstGeom prst="rect">
            <a:avLst/>
          </a:prstGeom>
          <a:noFill/>
        </p:spPr>
        <p:txBody>
          <a:bodyPr wrap="square" rtlCol="0" anchor="t">
            <a:spAutoFit/>
          </a:bodyPr>
          <a:p>
            <a:pPr>
              <a:lnSpc>
                <a:spcPct val="110000"/>
              </a:lnSpc>
            </a:pPr>
            <a:r>
              <a:rPr lang="zh-CN" altLang="en-US" dirty="0">
                <a:latin typeface="微软雅黑" panose="020B0503020204020204" charset="-122"/>
                <a:ea typeface="微软雅黑" panose="020B0503020204020204" charset="-122"/>
                <a:cs typeface="微软雅黑" panose="020B0503020204020204" charset="-122"/>
              </a:rPr>
              <a:t>它是一个函数，用于衡量模型对任何给定数据的性能。损失函数将</a:t>
            </a:r>
            <a:r>
              <a:rPr lang="zh-CN" altLang="en-US" dirty="0">
                <a:solidFill>
                  <a:schemeClr val="accent6"/>
                </a:solidFill>
                <a:latin typeface="微软雅黑" panose="020B0503020204020204" charset="-122"/>
                <a:ea typeface="微软雅黑" panose="020B0503020204020204" charset="-122"/>
                <a:cs typeface="微软雅黑" panose="020B0503020204020204" charset="-122"/>
              </a:rPr>
              <a:t>预测值</a:t>
            </a:r>
            <a:r>
              <a:rPr lang="zh-CN" altLang="en-US" dirty="0">
                <a:latin typeface="微软雅黑" panose="020B0503020204020204" charset="-122"/>
                <a:ea typeface="微软雅黑" panose="020B0503020204020204" charset="-122"/>
                <a:cs typeface="微软雅黑" panose="020B0503020204020204" charset="-122"/>
              </a:rPr>
              <a:t>与</a:t>
            </a:r>
            <a:r>
              <a:rPr lang="zh-CN" altLang="en-US" dirty="0">
                <a:solidFill>
                  <a:schemeClr val="accent6"/>
                </a:solidFill>
                <a:latin typeface="微软雅黑" panose="020B0503020204020204" charset="-122"/>
                <a:ea typeface="微软雅黑" panose="020B0503020204020204" charset="-122"/>
                <a:cs typeface="微软雅黑" panose="020B0503020204020204" charset="-122"/>
              </a:rPr>
              <a:t>期望值</a:t>
            </a:r>
            <a:r>
              <a:rPr lang="zh-CN" altLang="en-US" dirty="0">
                <a:latin typeface="微软雅黑" panose="020B0503020204020204" charset="-122"/>
                <a:ea typeface="微软雅黑" panose="020B0503020204020204" charset="-122"/>
                <a:cs typeface="微软雅黑" panose="020B0503020204020204" charset="-122"/>
              </a:rPr>
              <a:t>之间的误差进行量化，并以单个实数的形式表示出来。</a:t>
            </a:r>
            <a:endParaRPr lang="zh-CN" altLang="en-US" dirty="0">
              <a:latin typeface="微软雅黑" panose="020B0503020204020204" charset="-122"/>
              <a:ea typeface="微软雅黑" panose="020B0503020204020204" charset="-122"/>
              <a:cs typeface="微软雅黑" panose="020B0503020204020204" charset="-122"/>
            </a:endParaRPr>
          </a:p>
        </p:txBody>
      </p:sp>
      <p:pic>
        <p:nvPicPr>
          <p:cNvPr id="12" name="图片 11"/>
          <p:cNvPicPr>
            <a:picLocks noChangeAspect="1"/>
          </p:cNvPicPr>
          <p:nvPr/>
        </p:nvPicPr>
        <p:blipFill>
          <a:blip r:embed="rId1"/>
          <a:stretch>
            <a:fillRect/>
          </a:stretch>
        </p:blipFill>
        <p:spPr>
          <a:xfrm>
            <a:off x="990600" y="1774825"/>
            <a:ext cx="6086475" cy="2628900"/>
          </a:xfrm>
          <a:prstGeom prst="rect">
            <a:avLst/>
          </a:prstGeom>
        </p:spPr>
      </p:pic>
      <p:sp>
        <p:nvSpPr>
          <p:cNvPr id="13" name="灯片编号占位符 12"/>
          <p:cNvSpPr>
            <a:spLocks noGrp="1"/>
          </p:cNvSpPr>
          <p:nvPr>
            <p:ph type="sldNum" sz="quarter" idx="7"/>
          </p:nvPr>
        </p:nvSpPr>
        <p:spPr/>
        <p:txBody>
          <a:bodyPr/>
          <a:p>
            <a:fld id="{B6F15528-21DE-4FAA-801E-634DDDAF4B2B}" type="slidenum">
              <a:rPr/>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object 2"/>
          <p:cNvSpPr txBox="1">
            <a:spLocks noGrp="1"/>
          </p:cNvSpPr>
          <p:nvPr>
            <p:ph type="title"/>
          </p:nvPr>
        </p:nvSpPr>
        <p:spPr>
          <a:xfrm>
            <a:off x="457200" y="152400"/>
            <a:ext cx="3431540" cy="754380"/>
          </a:xfrm>
          <a:prstGeom prst="rect">
            <a:avLst/>
          </a:prstGeom>
        </p:spPr>
        <p:txBody>
          <a:bodyPr vert="horz" wrap="square" lIns="0" tIns="15875" rIns="0" bIns="0" rtlCol="0">
            <a:spAutoFit/>
          </a:bodyPr>
          <a:p>
            <a:pPr marL="12700" algn="ctr">
              <a:lnSpc>
                <a:spcPct val="100000"/>
              </a:lnSpc>
              <a:spcBef>
                <a:spcPts val="125"/>
              </a:spcBef>
            </a:pPr>
            <a:r>
              <a:rPr sz="4800" b="1" spc="25" dirty="0">
                <a:sym typeface="+mn-ea"/>
              </a:rPr>
              <a:t>梯度下降</a:t>
            </a:r>
            <a:endParaRPr sz="4800" b="1" spc="25" dirty="0">
              <a:sym typeface="+mn-ea"/>
            </a:endParaRPr>
          </a:p>
        </p:txBody>
      </p:sp>
      <p:sp>
        <p:nvSpPr>
          <p:cNvPr id="11" name="文本框 10"/>
          <p:cNvSpPr txBox="1"/>
          <p:nvPr/>
        </p:nvSpPr>
        <p:spPr>
          <a:xfrm>
            <a:off x="914400" y="990600"/>
            <a:ext cx="10668000" cy="395605"/>
          </a:xfrm>
          <a:prstGeom prst="rect">
            <a:avLst/>
          </a:prstGeom>
          <a:noFill/>
        </p:spPr>
        <p:txBody>
          <a:bodyPr wrap="square" rtlCol="0" anchor="t">
            <a:spAutoFit/>
          </a:bodyPr>
          <a:p>
            <a:pPr>
              <a:lnSpc>
                <a:spcPct val="110000"/>
              </a:lnSpc>
            </a:pPr>
            <a:r>
              <a:rPr lang="zh-CN" altLang="en-US" dirty="0">
                <a:latin typeface="微软雅黑" panose="020B0503020204020204" charset="-122"/>
                <a:ea typeface="微软雅黑" panose="020B0503020204020204" charset="-122"/>
                <a:cs typeface="微软雅黑" panose="020B0503020204020204" charset="-122"/>
              </a:rPr>
              <a:t>梯度下降法是一种求解函数</a:t>
            </a:r>
            <a:r>
              <a:rPr lang="zh-CN" altLang="en-US" dirty="0">
                <a:solidFill>
                  <a:schemeClr val="accent6"/>
                </a:solidFill>
                <a:latin typeface="微软雅黑" panose="020B0503020204020204" charset="-122"/>
                <a:ea typeface="微软雅黑" panose="020B0503020204020204" charset="-122"/>
                <a:cs typeface="微软雅黑" panose="020B0503020204020204" charset="-122"/>
              </a:rPr>
              <a:t>局部极小值</a:t>
            </a:r>
            <a:r>
              <a:rPr lang="zh-CN" altLang="en-US" dirty="0">
                <a:latin typeface="微软雅黑" panose="020B0503020204020204" charset="-122"/>
                <a:ea typeface="微软雅黑" panose="020B0503020204020204" charset="-122"/>
                <a:cs typeface="微软雅黑" panose="020B0503020204020204" charset="-122"/>
              </a:rPr>
              <a:t>的</a:t>
            </a:r>
            <a:r>
              <a:rPr lang="zh-CN" altLang="en-US" dirty="0">
                <a:solidFill>
                  <a:schemeClr val="accent6"/>
                </a:solidFill>
                <a:latin typeface="微软雅黑" panose="020B0503020204020204" charset="-122"/>
                <a:ea typeface="微软雅黑" panose="020B0503020204020204" charset="-122"/>
                <a:cs typeface="微软雅黑" panose="020B0503020204020204" charset="-122"/>
              </a:rPr>
              <a:t>迭代优化</a:t>
            </a:r>
            <a:r>
              <a:rPr lang="zh-CN" altLang="en-US" dirty="0">
                <a:latin typeface="微软雅黑" panose="020B0503020204020204" charset="-122"/>
                <a:ea typeface="微软雅黑" panose="020B0503020204020204" charset="-122"/>
                <a:cs typeface="微软雅黑" panose="020B0503020204020204" charset="-122"/>
              </a:rPr>
              <a:t>算法。</a:t>
            </a:r>
            <a:endParaRPr lang="zh-CN" altLang="en-US" dirty="0">
              <a:latin typeface="微软雅黑" panose="020B0503020204020204" charset="-122"/>
              <a:ea typeface="微软雅黑" panose="020B0503020204020204" charset="-122"/>
              <a:cs typeface="微软雅黑" panose="020B0503020204020204" charset="-122"/>
            </a:endParaRPr>
          </a:p>
        </p:txBody>
      </p:sp>
      <p:pic>
        <p:nvPicPr>
          <p:cNvPr id="12" name="图片 11"/>
          <p:cNvPicPr>
            <a:picLocks noChangeAspect="1"/>
          </p:cNvPicPr>
          <p:nvPr/>
        </p:nvPicPr>
        <p:blipFill>
          <a:blip r:embed="rId1"/>
          <a:stretch>
            <a:fillRect/>
          </a:stretch>
        </p:blipFill>
        <p:spPr>
          <a:xfrm>
            <a:off x="990600" y="1421130"/>
            <a:ext cx="3474720" cy="1501140"/>
          </a:xfrm>
          <a:prstGeom prst="rect">
            <a:avLst/>
          </a:prstGeom>
        </p:spPr>
      </p:pic>
      <p:pic>
        <p:nvPicPr>
          <p:cNvPr id="2" name="图片 1" descr="640"/>
          <p:cNvPicPr>
            <a:picLocks noChangeAspect="1"/>
          </p:cNvPicPr>
          <p:nvPr/>
        </p:nvPicPr>
        <p:blipFill>
          <a:blip r:embed="rId2"/>
          <a:stretch>
            <a:fillRect/>
          </a:stretch>
        </p:blipFill>
        <p:spPr>
          <a:xfrm>
            <a:off x="7848600" y="93980"/>
            <a:ext cx="2265045" cy="1505585"/>
          </a:xfrm>
          <a:prstGeom prst="rect">
            <a:avLst/>
          </a:prstGeom>
        </p:spPr>
      </p:pic>
      <p:pic>
        <p:nvPicPr>
          <p:cNvPr id="3" name="图片 2" descr="641"/>
          <p:cNvPicPr>
            <a:picLocks noChangeAspect="1"/>
          </p:cNvPicPr>
          <p:nvPr/>
        </p:nvPicPr>
        <p:blipFill>
          <a:blip r:embed="rId3"/>
          <a:stretch>
            <a:fillRect/>
          </a:stretch>
        </p:blipFill>
        <p:spPr>
          <a:xfrm>
            <a:off x="7544435" y="1981200"/>
            <a:ext cx="4171950" cy="2590165"/>
          </a:xfrm>
          <a:prstGeom prst="rect">
            <a:avLst/>
          </a:prstGeom>
        </p:spPr>
      </p:pic>
      <p:sp>
        <p:nvSpPr>
          <p:cNvPr id="4" name="文本框 3"/>
          <p:cNvSpPr txBox="1"/>
          <p:nvPr/>
        </p:nvSpPr>
        <p:spPr>
          <a:xfrm>
            <a:off x="914400" y="3124200"/>
            <a:ext cx="6630035" cy="1753235"/>
          </a:xfrm>
          <a:prstGeom prst="rect">
            <a:avLst/>
          </a:prstGeom>
          <a:noFill/>
        </p:spPr>
        <p:txBody>
          <a:bodyPr wrap="square" rtlCol="0" anchor="t">
            <a:spAutoFit/>
          </a:bodyPr>
          <a:p>
            <a:r>
              <a:rPr lang="zh-CN" altLang="en-US" dirty="0">
                <a:latin typeface="微软雅黑" panose="020B0503020204020204" charset="-122"/>
                <a:ea typeface="微软雅黑" panose="020B0503020204020204" charset="-122"/>
                <a:cs typeface="微软雅黑" panose="020B0503020204020204" charset="-122"/>
              </a:rPr>
              <a:t>梯度下降算法的目标是最小化给定函数（比如损失函数）。为了实现这一目标，它迭代地执行两个步骤：</a:t>
            </a:r>
            <a:endParaRPr lang="zh-CN" altLang="en-US" dirty="0">
              <a:latin typeface="微软雅黑" panose="020B0503020204020204" charset="-122"/>
              <a:ea typeface="微软雅黑" panose="020B0503020204020204" charset="-122"/>
              <a:cs typeface="微软雅黑" panose="020B0503020204020204" charset="-122"/>
            </a:endParaRPr>
          </a:p>
          <a:p>
            <a:endParaRPr lang="zh-CN" altLang="en-US" dirty="0">
              <a:latin typeface="微软雅黑" panose="020B0503020204020204" charset="-122"/>
              <a:ea typeface="微软雅黑" panose="020B0503020204020204" charset="-122"/>
              <a:cs typeface="微软雅黑" panose="020B0503020204020204" charset="-122"/>
            </a:endParaRPr>
          </a:p>
          <a:p>
            <a:r>
              <a:rPr lang="zh-CN" altLang="en-US" dirty="0">
                <a:latin typeface="微软雅黑" panose="020B0503020204020204" charset="-122"/>
                <a:ea typeface="微软雅黑" panose="020B0503020204020204" charset="-122"/>
                <a:cs typeface="微软雅黑" panose="020B0503020204020204" charset="-122"/>
              </a:rPr>
              <a:t>    </a:t>
            </a:r>
            <a:r>
              <a:rPr lang="en-US" altLang="zh-CN" dirty="0">
                <a:latin typeface="微软雅黑" panose="020B0503020204020204" charset="-122"/>
                <a:ea typeface="微软雅黑" panose="020B0503020204020204" charset="-122"/>
                <a:cs typeface="微软雅黑" panose="020B0503020204020204" charset="-122"/>
              </a:rPr>
              <a:t>1. </a:t>
            </a:r>
            <a:r>
              <a:rPr lang="zh-CN" altLang="en-US" dirty="0">
                <a:latin typeface="微软雅黑" panose="020B0503020204020204" charset="-122"/>
                <a:ea typeface="微软雅黑" panose="020B0503020204020204" charset="-122"/>
                <a:cs typeface="微软雅黑" panose="020B0503020204020204" charset="-122"/>
              </a:rPr>
              <a:t>计算梯度（斜率），函数在该点的一阶导数；</a:t>
            </a:r>
            <a:endParaRPr lang="zh-CN" altLang="en-US" dirty="0">
              <a:latin typeface="微软雅黑" panose="020B0503020204020204" charset="-122"/>
              <a:ea typeface="微软雅黑" panose="020B0503020204020204" charset="-122"/>
              <a:cs typeface="微软雅黑" panose="020B0503020204020204" charset="-122"/>
            </a:endParaRPr>
          </a:p>
          <a:p>
            <a:endParaRPr lang="zh-CN" altLang="en-US" dirty="0">
              <a:latin typeface="微软雅黑" panose="020B0503020204020204" charset="-122"/>
              <a:ea typeface="微软雅黑" panose="020B0503020204020204" charset="-122"/>
              <a:cs typeface="微软雅黑" panose="020B0503020204020204" charset="-122"/>
            </a:endParaRPr>
          </a:p>
          <a:p>
            <a:r>
              <a:rPr lang="zh-CN" altLang="en-US" dirty="0">
                <a:latin typeface="微软雅黑" panose="020B0503020204020204" charset="-122"/>
                <a:ea typeface="微软雅黑" panose="020B0503020204020204" charset="-122"/>
                <a:cs typeface="微软雅黑" panose="020B0503020204020204" charset="-122"/>
              </a:rPr>
              <a:t>    </a:t>
            </a:r>
            <a:r>
              <a:rPr lang="en-US" altLang="zh-CN" dirty="0">
                <a:latin typeface="微软雅黑" panose="020B0503020204020204" charset="-122"/>
                <a:ea typeface="微软雅黑" panose="020B0503020204020204" charset="-122"/>
                <a:cs typeface="微软雅黑" panose="020B0503020204020204" charset="-122"/>
              </a:rPr>
              <a:t>2. </a:t>
            </a:r>
            <a:r>
              <a:rPr lang="zh-CN" altLang="en-US" dirty="0">
                <a:latin typeface="微软雅黑" panose="020B0503020204020204" charset="-122"/>
                <a:ea typeface="微软雅黑" panose="020B0503020204020204" charset="-122"/>
                <a:cs typeface="微软雅黑" panose="020B0503020204020204" charset="-122"/>
              </a:rPr>
              <a:t>在与梯度相反的方向上移动一步（移动）</a:t>
            </a:r>
            <a:endParaRPr lang="zh-CN" altLang="en-US" dirty="0">
              <a:latin typeface="微软雅黑" panose="020B0503020204020204" charset="-122"/>
              <a:ea typeface="微软雅黑" panose="020B0503020204020204" charset="-122"/>
              <a:cs typeface="微软雅黑" panose="020B0503020204020204" charset="-122"/>
            </a:endParaRPr>
          </a:p>
        </p:txBody>
      </p:sp>
      <p:pic>
        <p:nvPicPr>
          <p:cNvPr id="6" name="图片 5" descr="640"/>
          <p:cNvPicPr>
            <a:picLocks noChangeAspect="1"/>
          </p:cNvPicPr>
          <p:nvPr/>
        </p:nvPicPr>
        <p:blipFill>
          <a:blip r:embed="rId4"/>
          <a:stretch>
            <a:fillRect/>
          </a:stretch>
        </p:blipFill>
        <p:spPr>
          <a:xfrm>
            <a:off x="5562600" y="4461510"/>
            <a:ext cx="3588385" cy="2396490"/>
          </a:xfrm>
          <a:prstGeom prst="rect">
            <a:avLst/>
          </a:prstGeom>
        </p:spPr>
      </p:pic>
      <p:sp>
        <p:nvSpPr>
          <p:cNvPr id="8" name="灯片编号占位符 7"/>
          <p:cNvSpPr>
            <a:spLocks noGrp="1"/>
          </p:cNvSpPr>
          <p:nvPr>
            <p:ph type="sldNum" sz="quarter" idx="7"/>
          </p:nvPr>
        </p:nvSpPr>
        <p:spPr/>
        <p:txBody>
          <a:bodyPr/>
          <a:p>
            <a:fld id="{B6F15528-21DE-4FAA-801E-634DDDAF4B2B}" type="slidenum">
              <a:rPr/>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object 2"/>
          <p:cNvSpPr txBox="1">
            <a:spLocks noGrp="1"/>
          </p:cNvSpPr>
          <p:nvPr>
            <p:ph type="title"/>
          </p:nvPr>
        </p:nvSpPr>
        <p:spPr>
          <a:xfrm>
            <a:off x="457200" y="152400"/>
            <a:ext cx="3431540" cy="754380"/>
          </a:xfrm>
          <a:prstGeom prst="rect">
            <a:avLst/>
          </a:prstGeom>
        </p:spPr>
        <p:txBody>
          <a:bodyPr vert="horz" wrap="square" lIns="0" tIns="15875" rIns="0" bIns="0" rtlCol="0">
            <a:spAutoFit/>
          </a:bodyPr>
          <a:p>
            <a:pPr marL="12700" algn="ctr">
              <a:lnSpc>
                <a:spcPct val="100000"/>
              </a:lnSpc>
              <a:spcBef>
                <a:spcPts val="125"/>
              </a:spcBef>
            </a:pPr>
            <a:r>
              <a:rPr sz="4800" b="1" spc="25" dirty="0">
                <a:sym typeface="+mn-ea"/>
              </a:rPr>
              <a:t>梯度下降</a:t>
            </a:r>
            <a:endParaRPr sz="4800" b="1" spc="25" dirty="0">
              <a:sym typeface="+mn-ea"/>
            </a:endParaRPr>
          </a:p>
        </p:txBody>
      </p:sp>
      <p:sp>
        <p:nvSpPr>
          <p:cNvPr id="5" name="文本框 4"/>
          <p:cNvSpPr txBox="1"/>
          <p:nvPr/>
        </p:nvSpPr>
        <p:spPr>
          <a:xfrm>
            <a:off x="914400" y="990600"/>
            <a:ext cx="7547610" cy="2368550"/>
          </a:xfrm>
          <a:prstGeom prst="rect">
            <a:avLst/>
          </a:prstGeom>
          <a:noFill/>
        </p:spPr>
        <p:txBody>
          <a:bodyPr wrap="square" rtlCol="0" anchor="t">
            <a:spAutoFit/>
          </a:bodyPr>
          <a:p>
            <a:r>
              <a:rPr lang="zh-CN" altLang="en-US" dirty="0">
                <a:latin typeface="微软雅黑" panose="020B0503020204020204" charset="-122"/>
                <a:ea typeface="微软雅黑" panose="020B0503020204020204" charset="-122"/>
                <a:cs typeface="微软雅黑" panose="020B0503020204020204" charset="-122"/>
              </a:rPr>
              <a:t>必须谨慎选择，以达到局部最小值。</a:t>
            </a:r>
            <a:endParaRPr lang="zh-CN" altLang="en-US" dirty="0">
              <a:latin typeface="微软雅黑" panose="020B0503020204020204" charset="-122"/>
              <a:ea typeface="微软雅黑" panose="020B0503020204020204" charset="-122"/>
              <a:cs typeface="微软雅黑" panose="020B0503020204020204" charset="-122"/>
            </a:endParaRPr>
          </a:p>
          <a:p>
            <a:endParaRPr lang="zh-CN" altLang="en-US" dirty="0">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zh-CN" altLang="en-US" sz="1600" dirty="0">
                <a:latin typeface="微软雅黑" panose="020B0503020204020204" charset="-122"/>
                <a:ea typeface="微软雅黑" panose="020B0503020204020204" charset="-122"/>
                <a:cs typeface="微软雅黑" panose="020B0503020204020204" charset="-122"/>
              </a:rPr>
              <a:t>如果学习率太高，我们可能会超过最小值，而不会达到最小值</a:t>
            </a:r>
            <a:endParaRPr lang="zh-CN" altLang="en-US" sz="1600" dirty="0">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endParaRPr lang="zh-CN" altLang="en-US" sz="1600" dirty="0">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zh-CN" altLang="en-US" sz="1600" dirty="0">
                <a:latin typeface="微软雅黑" panose="020B0503020204020204" charset="-122"/>
                <a:ea typeface="微软雅黑" panose="020B0503020204020204" charset="-122"/>
                <a:cs typeface="微软雅黑" panose="020B0503020204020204" charset="-122"/>
              </a:rPr>
              <a:t>如果学习率太低，训练时间可能会太长</a:t>
            </a:r>
            <a:endParaRPr lang="zh-CN" altLang="en-US" sz="1600" dirty="0">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endParaRPr lang="zh-CN" altLang="en-US" sz="1600" dirty="0">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zh-CN" altLang="en-US" sz="1600" dirty="0">
                <a:latin typeface="微软雅黑" panose="020B0503020204020204" charset="-122"/>
                <a:ea typeface="微软雅黑" panose="020B0503020204020204" charset="-122"/>
                <a:cs typeface="微软雅黑" panose="020B0503020204020204" charset="-122"/>
              </a:rPr>
              <a:t>学习率最优，模型收敛到最小</a:t>
            </a:r>
            <a:endParaRPr lang="zh-CN" altLang="en-US" sz="1600" dirty="0">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endParaRPr lang="zh-CN" altLang="en-US" sz="1600" dirty="0">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zh-CN" altLang="en-US" sz="1600" dirty="0">
                <a:latin typeface="微软雅黑" panose="020B0503020204020204" charset="-122"/>
                <a:ea typeface="微软雅黑" panose="020B0503020204020204" charset="-122"/>
                <a:cs typeface="微软雅黑" panose="020B0503020204020204" charset="-122"/>
              </a:rPr>
              <a:t>学习速度太小，需要更多的时间，但会收敛到最小值</a:t>
            </a:r>
            <a:endParaRPr lang="zh-CN" altLang="en-US" sz="1600" dirty="0">
              <a:latin typeface="微软雅黑" panose="020B0503020204020204" charset="-122"/>
              <a:ea typeface="微软雅黑" panose="020B0503020204020204" charset="-122"/>
              <a:cs typeface="微软雅黑" panose="020B0503020204020204" charset="-122"/>
            </a:endParaRPr>
          </a:p>
        </p:txBody>
      </p:sp>
      <p:pic>
        <p:nvPicPr>
          <p:cNvPr id="7" name="图片 6" descr="640"/>
          <p:cNvPicPr>
            <a:picLocks noChangeAspect="1"/>
          </p:cNvPicPr>
          <p:nvPr/>
        </p:nvPicPr>
        <p:blipFill>
          <a:blip r:embed="rId1"/>
          <a:stretch>
            <a:fillRect/>
          </a:stretch>
        </p:blipFill>
        <p:spPr>
          <a:xfrm>
            <a:off x="1143000" y="3810000"/>
            <a:ext cx="9291320" cy="2516505"/>
          </a:xfrm>
          <a:prstGeom prst="rect">
            <a:avLst/>
          </a:prstGeom>
        </p:spPr>
      </p:pic>
      <p:sp>
        <p:nvSpPr>
          <p:cNvPr id="8" name="文本框 7"/>
          <p:cNvSpPr txBox="1"/>
          <p:nvPr/>
        </p:nvSpPr>
        <p:spPr>
          <a:xfrm>
            <a:off x="8001000" y="838200"/>
            <a:ext cx="3224530" cy="1753235"/>
          </a:xfrm>
          <a:prstGeom prst="rect">
            <a:avLst/>
          </a:prstGeom>
          <a:noFill/>
        </p:spPr>
        <p:txBody>
          <a:bodyPr wrap="square" rtlCol="0" anchor="t">
            <a:spAutoFit/>
          </a:bodyPr>
          <a:p>
            <a:r>
              <a:rPr lang="zh-CN" altLang="en-US" dirty="0">
                <a:latin typeface="微软雅黑" panose="020B0503020204020204" charset="-122"/>
                <a:ea typeface="微软雅黑" panose="020B0503020204020204" charset="-122"/>
                <a:cs typeface="微软雅黑" panose="020B0503020204020204" charset="-122"/>
              </a:rPr>
              <a:t>代码实现：</a:t>
            </a:r>
            <a:endParaRPr lang="zh-CN" altLang="en-US" dirty="0">
              <a:latin typeface="微软雅黑" panose="020B0503020204020204" charset="-122"/>
              <a:ea typeface="微软雅黑" panose="020B0503020204020204" charset="-122"/>
              <a:cs typeface="微软雅黑" panose="020B0503020204020204" charset="-122"/>
              <a:hlinkClick r:id="rId2" action="ppaction://hlinkfile"/>
            </a:endParaRPr>
          </a:p>
          <a:p>
            <a:endParaRPr lang="zh-CN" altLang="en-US">
              <a:hlinkClick r:id="rId2" action="ppaction://hlinkfile"/>
            </a:endParaRPr>
          </a:p>
          <a:p>
            <a:r>
              <a:rPr lang="zh-CN" altLang="en-US">
                <a:hlinkClick r:id="rId2" action="ppaction://hlinkfile"/>
              </a:rPr>
              <a:t>参考链接1</a:t>
            </a:r>
            <a:endParaRPr lang="zh-CN" altLang="en-US">
              <a:hlinkClick r:id="rId2" action="ppaction://hlinkfile"/>
            </a:endParaRPr>
          </a:p>
          <a:p>
            <a:endParaRPr lang="zh-CN" altLang="en-US"/>
          </a:p>
          <a:p>
            <a:r>
              <a:rPr lang="zh-CN" altLang="en-US">
                <a:hlinkClick r:id="rId3" action="ppaction://hlinkfile"/>
              </a:rPr>
              <a:t>参考链接2</a:t>
            </a:r>
            <a:endParaRPr lang="zh-CN" altLang="en-US">
              <a:hlinkClick r:id="rId3" action="ppaction://hlinkfile"/>
            </a:endParaRPr>
          </a:p>
          <a:p>
            <a:endParaRPr lang="zh-CN" altLang="en-US"/>
          </a:p>
        </p:txBody>
      </p:sp>
      <p:sp>
        <p:nvSpPr>
          <p:cNvPr id="9" name="灯片编号占位符 8"/>
          <p:cNvSpPr>
            <a:spLocks noGrp="1"/>
          </p:cNvSpPr>
          <p:nvPr>
            <p:ph type="sldNum" sz="quarter" idx="7"/>
          </p:nvPr>
        </p:nvSpPr>
        <p:spPr/>
        <p:txBody>
          <a:bodyPr/>
          <a:p>
            <a:fld id="{B6F15528-21DE-4FAA-801E-634DDDAF4B2B}" type="slidenum">
              <a:rPr/>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UNIT_PLACING_PICTURE_USER_VIEWPORT" val="{&quot;height&quot;:7230,&quot;width&quot;:9600}"/>
</p:tagLst>
</file>

<file path=ppt/tags/tag3.xml><?xml version="1.0" encoding="utf-8"?>
<p:tagLst xmlns:p="http://schemas.openxmlformats.org/presentationml/2006/main">
  <p:tag name="KSO_WM_UNIT_PLACING_PICTURE_USER_VIEWPORT" val="{&quot;height&quot;:7230,&quot;width&quot;:9600}"/>
</p:tagLst>
</file>

<file path=ppt/tags/tag4.xml><?xml version="1.0" encoding="utf-8"?>
<p:tagLst xmlns:p="http://schemas.openxmlformats.org/presentationml/2006/main">
  <p:tag name="KSO_WM_UNIT_PLACING_PICTURE_USER_VIEWPORT" val="{&quot;height&quot;:3315,&quot;width&quot;:10605}"/>
</p:tagLst>
</file>

<file path=ppt/tags/tag5.xml><?xml version="1.0" encoding="utf-8"?>
<p:tagLst xmlns:p="http://schemas.openxmlformats.org/presentationml/2006/main">
  <p:tag name="PA" val="v3.0.1"/>
</p:tagLst>
</file>

<file path=ppt/tags/tag6.xml><?xml version="1.0" encoding="utf-8"?>
<p:tagLst xmlns:p="http://schemas.openxmlformats.org/presentationml/2006/main">
  <p:tag name="PA" val="v3.0.1"/>
</p:tagLst>
</file>

<file path=ppt/tags/tag8.xml><?xml version="1.0" encoding="utf-8"?>
<p:tagLst xmlns:p="http://schemas.openxmlformats.org/presentationml/2006/main">
  <p:tag name="KSO_WPP_MARK_KEY" val="1315e79a-e56b-4161-af65-a3e0e131f26f"/>
  <p:tag name="COMMONDATA" val="eyJoZGlkIjoiZmM5MzI1YTRjNGNiNTEyMDQ5OTAwYmFmMmE0NWM1Zjg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C9F754DE-2CAD-44b6-B708-469DEB6407EB-1">
      <extobjdata type="C9F754DE-2CAD-44b6-B708-469DEB6407EB" data="ewoJIkZpbGVJZCIgOiAiMTYwMjkzNjQ0MjI0IiwKCSJHcm91cElkIiA6ICI1NzU2ODI1NjUiLAoJIkltYWdlIiA6ICJpVkJPUncwS0dnb0FBQUFOU1VoRVVnQUFBcEFBQUFHMUNBWUFBQUJPUE1SSUFBQUFDWEJJV1hNQUFBc1RBQUFMRXdFQW1wd1lBQUFnQUVsRVFWUjRuT3pkZDNoVDllSS84SGQyVjBwM2FRc3RiVzJCcXpJTEl2T0NnZ2dvb0F4RlFRU1Y2VlVSOEFLQ0tDaERjQ0JjdU1BUEhBZ29seVZZaHFnTUFWbUN6RnFnZSsrUmp1emZILzJlWTlPa0k2eVU5djE2SGg2YW5KSFBTWnJUOS9tc0l6R2J6V1lRRVJFUkVkVkFJcEZJaEorbGppd0lFUkVSRWQxL0dDQ0ppSWlJeUM0TWtFUkVSRVJrRndaSUlpSWlJcklMQXlRUkVSRVIyWVVCa29pSWlJanN3Z0JKUkVSRVJIWmhnQ1FpSWlJaXV6QkFFaEVSRVpGZEdDQ0ppSWlJeUM0TWtFUkVSRVJrRndaSUlpSWlJcklMQXlRUkVSRVIyWVVCa29pSWlJanN3Z0JKUkVSRVJIWmhnQ1FpSWlJaXV6QkFFaEVSRVpGZEdDQ0ppSWlJeUM0TWtFUkVSRVJrRndaSUlpSWlJcklMQXlRUkVSRVIyWVVCa29pSWlJanN3Z0JKUkVSRVJIWmhnQ1FpSWlJaXV6QkFFaEVSRVpGZEdDQ0ppSWlJeUM0TWtFUkVSRVJrRndaSUlpSWlJcklMQXlRUkVSRVIyWVVCa29pSWlJanN3Z0JKUkVSRVJIWmhnQ1FpSWlJaXV6QkFFaEVSRVpGZEdDQ0ppSWlJeUM0TWtFUkVSRVJrRndaSUlpSWlJcklMQXlRUkVSRVIyWVVCa29pSWlJanN3Z0JKUkVSRVJIWmhnQ1FpSWlJaXV6QkFFaEVSRVpGZEdDQ0ppSWlJeUM0TWtFUkVSRVJrRndaSUlpSWlJcklMQXlRUkVSRVIyVVh1NkFJUUVWSDFOTVZGS01ndlFJbEdBNzFlQjVQSjVPZ2lFVkV0cEZJcEZBb2xYTjNjNE9IcEFUZTF1Nk9MZE1kSnpHYXoyZEdGSUNJaVMxcXRGaWxKaVRBYWpmRHk5b1phN1E2RlVnbXBsQTFIUlBXZHlXU0NYcWREY1hFUjhuSnpJWlBKMEN3NEJDcVZ5dEZGdXkwU2lVUWkvc3dBU1VSVXY1Um9ORWlNajROL1FBQzhmWHdkWFJ3aXVrMjVPZG5JVEU5SFNHZ1lYTjNjSEYyY1c4WUFTVVJVVDJtMVd0eU0vUXZCb2FGd2MxTTd1amhFZElkb05NVklpbzlIZUdUTCs3WW1zbktBWkZzSUVWRTlrcEtVQ1ArQUFJWkhvZ2JHelUwTi80QUFwQ1FsT3Jvb2R3UURKQkZSUGFFcExvTFJhR1N6TlZFRDVlM2pDNlBSQ0UxeGthT0xjdHNZSUltSTZvbUMvQUo0ZVhzN3VoaEVkQmQ1ZVh1aklML0EwY1c0YlF5UVJFVDFSSWxHQTNVRG5PNkRpUDZtVnJ1alJLTnhkREZ1R3dNa0VWRTlvZGZyb0ZBcUhWME1JcnFMRkVvbDlIcWRvNHR4MnhnZ2lZanFDWlBKeEhrZWlSbzRxVlRhSUc0SXdETVZFUkVSRWRtRkFaS0lpSWlJN01JQVNVUkVSRVIyWVlBa0lpSWlJcnN3UUJJUkVSR1JYUmdnaVlpSWlNZ3VESkJFUkVSVm1NMW1sSmFXUXEvWE83b28xVXBQVDBkT1RrNmQxemVaVENnb0tFQjVlYm5ONWZic3kxNWFyZmFXdHhVK0M2UFJlQWRMWk51Wk0yZFFVbEp5MTErbklXQ0FKQ0pxNElxTGkzSG8wS0ZxbHlja0pDQXpNOVBtc3JLeU1oZ01CcGpOWnJ0ZjEydzJRNi9YMzFaNDBHZzArTzIzMzdCNjllcHFBMFJPVGc1S1Mwc0JBTWVQSDhlQ0JRdFFYbDRPczltTW1KZ1ljYjFmZi8wVmh3OGZybE1vTENzcnd5dXZ2SUtmZi83NWxzdGVHNFBCZ05kZWV3M0xseSsvcGUyUEhEbUNOOTU0QTZkT25ZSldxN1g0ak14bXMxVlExR2cwbUR4NU12YnQyMmR6ZjB1WExzWGl4WXV0M3VlOHZEd2tKaVlpTlRVVmFXbHBWdjhLQ3Y2K0xaOWVyMGRCUVFFU0V4Tngvdng1N04yN0Y1OS8vamttVDU2TVk4ZU9JU2NucDhaOTVlYm1XcFZMcDlQaGxWZGV3ZFdyVjZ0OUwwd21rOVY3SUpUSFlEQlUveVpXY3VIQ0JYejY2YWVZUG4wNmRMcjdmNkx2dTAzdTZBSVFFZEhkOWUyMzMrTG8wYU13bTgzbzI3ZXYxZktEQncvaThPSERHRDE2Tko1ODhrbnhlYVBSaVBIang5LzI2M2ZyMWcxVHBreXBkcm5KWkVKcGFTbnk4L09SbTV1THRMUTBKQ1VsSVQ0K0hpa3BLVENielpCS3BRZ1BEMGUvZnYwc3RqV2J6ZmppaXk4Z2s4a3daODRjRkJZVzR0cTFhNURKWkxoMjdSb1dMbHlJRHovOEVLR2hvVGgrL0RneU1qTFFzMmZQV3N1cy9MODdBaWtyM1Jub2hSZGVxRk9RL3VxcnI2QlFLQ3llS3kwdHhjcVZLL0gwMDAralZhdFc0bkZyYnVPV2R1ZlBuNGU3dXp2Q3c4UHg4c3N2MjF4bjgrYk40czh1TGk0QUFGZFhWNnYxL3Z6elQ2U2twQ0FxS3NyaVlzTGIyeHUvL3ZvcnRtL2ZYbTA1K3ZYcmg3Rmp4d0lBUHY3NFkxeStmTmxpK1FNUFBJQisvZnJCeThzTDBkSFIyTDkvZjdYN2V1YVpaekJzMkRDTDU0VFB3TjI5NGphZk4yL2V4Tnk1Y3kzV1diQmdnZFZ6Z3RkZmZ4MlBQdnBvdGE4SkFKbVptZmpQZi80REx5OHZGQlFVSURvNkdrT0dES2x4bThhT0FaS0lxSUhac1dNSDh2UHpNV2JNR0NnVUNyejAwa3VJajQvSFYxOTloWUNBQUR6MDBFTVc2d3MxVHFHaG9SYlB5MlF5ZlBEQkIxQXFsWkRKWkpCSUpPS3k2ZE9uWThxVUtlSTI4K2JOdzVOUFBtbnhoOXBzTnNOb05GcUVNTUhYWDMrTm8wZVBRcS9YVzlRSUtwVktlSHQ3dzhmSEIwRkJRVWhPVHNhOGVmTVFHaG9LbFVwbHRSK0pSSUtwVTZkaTl1eloyTHQzTDV5ZG5jV3k3OTI3RiszYXRVTm9hQ2lNUmlQaTR1TFFwMCtmT3QzdFJ6ald5c2VzVUNqdzFGTlBWUnRHNHVQanNXclZLc2psMW45YUN3b0tFQjhmanlWTGxtRG16SmxvM2JxMVdNdmw2K3RiYTNtcVNrNU9Sbkp5TWdZT0hJZ21UWnBnd1lJRitPMjMzM0RvMENFc1diSUVScU1SR28wR2VyMGV5Y25KOFBEd2dKZVhGd0JZSGIvQllNQzMzMzRMQU5pMWF4ZDI3ZG9GQUdqZXZEa1dMbHlJcDU5K0drODk5UlJLU2tvd1pjb1VQUDMwMDNqdXVlY0FBQys5OUJMYzNOekVmUTBaTWdRdFc3WkU4K2JOa1ppWWlKMDdkK0s5OTk2RFhxK0hTcVhDZ3c4K0NFOVBUK3pac3dlclZxMFNnL2JHalJ0eDlPaFJQUDc0NDFiSEtud0d3cnJDNzhHeVpjdVFsWldGcFV1WElpZ29DTXVXTFFOUUVRYVhMVnVHanovK0dBREU0NjVPWGw0ZUZpMWFCQ2NuSjh5Yk53OVhyMTdGZi8vN1g1ak5aZ3dkT3JTdUgwbWp3d0JKUk5UQW5EdDNEdkh4OFJnM2Jod0F3Tm5aR2RPbVRjTzc3NzZMRlN0VzRLT1BQb0tQajQrNGZsbFpHUUFnTUREUWFsOFBQUEJBdGEvajQrTWpiaU9WU3RHa1NST2IrNmhPYVdrcDVzeVpBMjl2YnpnNU9XSEdqQmtZTkdnUUJnOGVES0FpQ1B6KysrL1Zoa2NBS0NvcWdrYWp3ZWpSb3hFU0VvSXpaODRBcU9nZkdCRVJBVzl2YjZTbXBxSzB0QlRsNWVXSWlvcXkyTjVzTm9zMW5BQlFYbDV1Vlh0b05CcWgxK3NobDh0clBNYmk0bUlBbHFGVEVCZ1lpTm16WjJQQmdnWDQrT09QTVdmT0hMRkd6Y1BEbzY1dm1lamd3WU1BZ0s1ZHUwS2hVQ0E4UEJ6SGp4KzNLbDkyZGpiZWZmZGRQUC84ODNqcXFhZHM3dXVycjc1Q2JtNHVWcXhZQVI4Zkh4dzdkZ3hyMTY3RnhJa1RMZDZMRXlkT0FBQTZkZW9Fb0tKZm8xNnZGNDhEQUpvMmJZcTR1RGkwYTlmT29pL2gxMTkvamV2WHIyUEpraVhvMmJNbmR1ellnZWpvYUF3ZVBCZzNiOTdFTDcvOGdpRkRobGk4RjJhekdZbUppV0laTWpNem9kVnF4WUJlK1RoVktwWDRXS2ZUUVNhVDFlbDNNVDA5SFV1V0xJSEJZTURjdVhOUlZsYUduajE3d21ReVlkMjZkY2pPenNiTEw3OXM5VHRCREpCRVJBMk84TWV1Y3BEeDkvZkh4SWtUc1h6NWNxeFlzUUx2dmZjZVpESVpnSW9RcGxLcExJTEEzU2FFZ05EUVVMRnBGWUJZSnVEdjR5Z3RMYTAyUUo0N2R3N3IxcTJ6ZW43R2pCbml6NjFidDBiTGxpMEJBQjk4OElIVnV2Mzc5OGVZTVdNQUFHKzk5UllLQ3d2RlpldldyY082ZGVzUUVoSUNxVlNLd3NKQ3BLV2wyU3lMTUFqRmJEYmJESkhObXpmSFcyKzloUysrK0FKbXMxbHN2clkzUUJZVkZlRzMzMzREWUZscm5KR1JZVlhiSnRUSUN2OVh0V3ZYTHZ6ODg4OFlQSGd3ZERvZFVsTlRzWDM3ZG5UdTNCa3FsUXBwYVdudzgvT0R5V1RDM3IxN0VSWVdodkR3Y0FBUSt6NTZlbnFLK3lzb0tNRG16WnZoNys5djhUb1hMMTVFbHk1ZHhBdU5ZY09HWWV2V3JYQjJkc1lQUC95QUZpMWFXRFVaR3d3R3pKNDlXM3dzMUNpKzk5NTdBSUMwdERSa1pXVUJxQWpLYjc3NUpyNzQ0Z3NZREFhYnRkNVZYYmh3QWF0V3JZS25weWZtelp1SG5Kd2N6SjgvSDFPbVRNRS8vL2xQdUxpNFlOV3FWVWhJU01Da1NaUFF2SG56V3ZmWm1EQkFFbEdqbEo5WGdzc1hVL0RYdFhUazVXbFFWRmdHcmJadW5lM3ZsdEZqVzk3Vi9YZnMyQkc5ZS9kR1FVRUJkRHFkR0NvS0Nnb3NRb0F0NmVucFZ2My9jbkp5b0ZhckFWVDA1N01WcmdJQ0FteUdLZUc1eXMycFpyUFpJa0FLd1ZLajBWUmJ2dTdkdTZOcjE2NHdHbzM0NktPUGtKR1JnZExTVWl4ZnZoeVptWmxvMDZZTnpHWXpwazJiaGs2ZE9tSGt5SkVBZ0pTVUZIejIyV2VZT25VcUlpTWp4ZjE5OE1FSGtNdmxrRWdrbUR4NU1sNTg4VVU4K3Vpak1KbE1tRFZyRnJadjMxNWpmMENnSXZoVXJySEt6czZHUnFPQlFxRkFreVpOTUdQR0RLaFVLbkdBajhsa3FqYVVBaFg5RUNzSDZEMTc5dGdjbUJRWEY0Y1dMVnFJKzFJb0ZHSTRyZnkrQ2twTFMzSDY5R2wwN05nUnUzZnZ4dTdkdThWbFdWbFpPSG55SkFCZytmTGwyTHAxcXhpd0FPRFFvVU9Jam82R2s1TVRJaUlpeE8zQ3dzTGc0ZUdCUzVjdWllRzJwS1FFSVNFaDZOQ2hnN2plZ0FFRGNQWHFWWHo1NVplUVNxV1lPWE9tVlJubGNqbldyRm1EcEtRa2ZQVFJSMWkwYUJIVWFyVTRZR3I2OU9uaXVrSmc5UER3UUhwNnVzVkZTVlZhclJiZmZmY2REaHc0Z0RadDJtRHExS2x3ZFhXRmw1Y1hldlRvZ2ErKytnb2RPM1pFNTg2ZDRlUGpnODgvL3h5elo4OUd2Mzc5TUhqdzRIdDZvVldmTVVBU1VhT1NrMU9NZlh2K3hNVUx5UUNBWnNGZWFCN3NEYlhhQ1VxVm8wK0pkMy9LbURGanhrQ3BWSW9Cem13Mkl6YzNGNjFidDY1eHU1a3paMXFOemwyMWFwWEZZMXZoYXVQR2pkWFdIZ0t3Q0ZvbWs4a2lSRGc1T2NISnlRbDVlWG5WMXY0b0ZBcGtabWJpODg4L2gxd3V4K0RCZzdGbHl4YjgvdnZ2MkwxN04vNzk3MzhEcUFoeG5UcDFFcHMxaGRHK1lXRmhGczM1UW45RTRWaWRuWjNoNmVrcGh1ZHg0OFpaOU5ONzZhV1hNR0xFQ0F3Y09MRGFZL3p4eHgvRkptZGIxcTVkVysweUFGaTRjQ0hDd3NJQVZEVGpIang0RUJLSnhDTFF4OGZIbzZpb0NCY3ZYaFNEVmF0V3JUQm56cHhxOSt2aTRvTDU4K2NqUHo4ZjU4NmR3M3Z2dlFlMVdvM3AwNmRqOCtiTlNFdEx3L1RwMDZGU3FSQWNISXcrZmZxZ1JZc1cwR3ExVUNxVjZOdTNMenAzN214UmczcnAwaVVNSGp3WVBqNCs0bUNhMk5oWTlPelpVM3dmWTJKaWNPREFBVnk0Y0FGdDI3WkZRa0lDM252dlBVUkZSYUZObXpabzBhSUZtalZyQm9sRUFuZDNkNlNrcEFDbytLeTl2THpFMGVXVnl5aGNpTWhrTWhRV0Z0b2NLRlJlWG83RGh3OWp6NTQ5S0Nnb3dKQWhROUMzYjE5SUpCSnhuOE9HRFJNSG1wV1hseU13TUJEdnZmY2V0bTdkaW4zNzl1SFFvVU1ZTUdDQWVDSFNtRG42YkVsRWRFK1l6Y0RSWDJNUXZlY0NYRjFWZUhwb0I3VHRFQXgzZDl0TmU0NXc4ZndmZC8wMXFvYTVyS3dzR0kxR3F5YkhxcFJLSlFZTkdvU2hRNGRDcTlYaTVaZGZ4cUpGaXhBU0VnSUFlTzIxMXpCaXhBZ3hYQWwvMkt2ck82Ylg2eUdUeVN3Q284bGtzaHFBNHV2cmk1U1VGTFJ0MjlacUgyYXpXYXc1YTlteUpkNTg4MDM4OHNzdkFDcHF1QklTRXJCNTgyYXg5aklwS1VuY05pOHZEeEtKcE5ZQkZqcWREanQzN3JRNXZZend2bFJ1TGpXWlRPS0FFY0h6enorUDU1OS9Ibks1SEZLcFZBenZ5NVl0UTB4TUROYXVYV3R6WU0vWFgzK04vZnYzaTJYVTYvVll0V29WREFZRHVuZnZqbVBIam9uckN0TU5MVnUyRElHQmdWaThlSEdkbW5HRkFWSkFSZE80eVdRUzN4K2hLZC9UMHhQUFB2c3NZbUppWURhYmtaNmVqalZyMW1ERGhnMXdjbkt5Mk4rdVhidHc3ZG8xaStjKytlUVRBTUJ6enoySFk4ZU9JVFUxRlY1ZVhwZzhlVEk2ZHV5SXNySXlSRWRINDlkZmY4WHg0OGZSc1dOSFRKczJUZHoreG8wYkFDcEdYMWRXZVlvZVlVQlNXbG9hVWxKU29GQW9rSmFXQm9QQkFHOXZiN2k2dW9wTjhuSzVISFBuemtXclZxM3cxbHR2VlR1RmxTQXFLZ3B2dmZVV2V2VG9nVjkrK2FYR2k0WEdoQUdTaUJvOG85R0ViVnRPNGR5WkJQVHEzUXA5bjN3WUtvZlhOdFlQd2gvbnFpT3dxNm9jOUlTK2Z0N2Uzclh1djdvUnoyVmxaVmExUkVhajBhb1pzMW16Wm9pUGo3ZTVENGxFZ2padDJzQm9OR0xJa0NFb0xDeEVWbFlXUm80Y0NabE1oa21USmlFMk5oWkxsaXhCU0VnSTR1TGl4UDZKMmRuWjhQTHlxalprQ1FOQU5tM2FCRjlmWDR3ZE94WW5UNTdFaGcwYnNHSERCb3QxTjI3Y2lJMGJONHFQL2YzOThlbW5uNHFQYmRYQUdnd0dYTDE2RmYvNHh6K3FmWS95OHZJZ2s4bkVKbE9aVElhSEgzNFlMVnEwUUhCd3NCZ2dNekl5Y09USUVUejAwRU5pRFd0NmVybzQyS1UyUW1pc1hPYXBVNmVLUDBza0V1VG41MlBCZ2dYbzI3ZXZXRU5uNjdqZWV1c3RTS1ZTcEtXbFlkNjhlUUNBLy9mLy9wL1lQU0VrSkFTWm1abm8zYnUzT0VQQVk0ODloakZqeG1ENDhPRzRjdVdLUmJjSHM5bU1LMWV1QUtoNG55TWpJOFgrcWkrOTlKTDR1c0xuVmJsWlcvaDUyclJwaUlxS2drUWl3VXN2dlFTOVhpOEczemZmZkJNcWxjcm03OEhxMWF1Um5aMk5pUk1uUWlLUjRPR0hIOGJERHo5Y3AvZTBNZUFabElnYXZOM2J6K0hDSDBrWU5hWXIybmNNY1hSeEhPTGF0V3RRcTlWbzFxeVp4Zk1YTDE0RWdGcWJzQ3U3ZnYwNlBEdzhMS1p2c1ZkUlVSR2FOR2tpUGpZYWpUWURaSGg0T0hidjNsM3R3SlNnb0NBMGI5NGNVcWtVNTgrZngwOC8vWVQ1OCtkRExwZERMcGZEeGNVRmJkdTJ4WkFoUXpCLy9uekV4Y1VoUER3Y3ljbkpWdThGVUZHcmRmandZV3pidGcxQVJSL0xjZVBHUWFGUVFLL1hZOXk0Y2ZqSFAvNGhybDkxK2lLajBWaW5pYXZQbkRtRDh2SnlkT25TQmNuSnlVaEtTa0szYnQwczFzbkx5NE9ucDZjWU1LVlNLWVlQSHc2ejJTeldPQm9NQnF4WnN3WW1rd205ZXZYQ2hRc1hFQjRlanV6czdEcVBpQmVhNjk5OTkxMDRPenRqenB3NTJMQmhBOUxUMDhVbThGOSsrUVZtc3hrSER4NFVtK05mZU9FRkFFQkVSQVRlZi85OUFCQi9KNFNhWUFENDQ0OC9rSitmajBHREJxRlZxMVlvTEN6RTJiTm5JWlZLSVpQSmtKK2ZqMU9uVHNGb05FSXVsNk5wMDZiaXR0ZXVYVU5SVVJFQW9IZnYzdGkzYjU5NDBmUDU1NStMNi9uNCtHRHo1czNRNi9WNDVaVlhNSFBtVER6NDRJTlcvWGFyMW5vTE5laUE1ZUNuM2J0M0l5WW1CdlBuejYreFAyVmp4Z0JKUkEzYXFaTTNjZkw0RFF4L3ZuT2pEWS94OGZGWXZudzVQRDA5c1dqUklyR1pXQmhFRVJRVWhJQ0FnRHJ2NytqUm96WnJZb1NhckxySXljbXg2SHNvOUVHcjJ1VDk0SU1QWXRPbVRZaUppYkVaY29YNUF5c1RSdWtDRllGaHpabzFjSEZ4Z1llSEI4NmNPWU93c0RERXhNUllUYXB1TUJnd2ZmcDBaR2RuNCtHSEg4YWxTNWNRR1JrSmhVSWgzcEVuT0RqWUlwamR5dlJGWnJNWjBkSFJjSE56UTZkT25jUmorTzIzM3pCKy9IanhmY25QejdkWnkxczVTQnNNQmpSdDJoUmhZV0ZJVEV6RWp6LytLTDVQbFFjSDFVUUl2R3ExV2d4WFRrNU9ZZzFqVGs0Tzl1M2JoeWVlZUFKOSsvWVY1MTVjdG13WmREcWQxVjFia3BLU2NQVG9VYlJxMVFveE1USEl5c3JDdG0zYjRPVGtoQTRkT21ETm1qVVc2NTg2ZFFxblRwMENVREhvcW5Qbnp1S3lBd2NPSUNJaUFyR3hzZWpXclJ1dVhMa2lCa3BiODJmZXZIa1RNcGxNbkt6ZDFrV0hzSjVVS2hWcjNrMG1FejcrK0dQNCtmbWhSNDhlMkw1OU8wYU1HQ0dPT0M4dExXV1FySUlCa29nYXJOSVNMZmJ1UG8rb3pxSG8zQ1hjMGNWeGlQajRlQ3hhdEFnQU1HclVLSXMraGp0MjdJQldxNjNUblZrRVo4NmNRVXhNakRpUnRFQ2xVbUhidG0wNGN1UUlTa3RMYmQ3eFJtQTBHcEdWbFdVUlFvVXBiYXIra1E0SkNZR1BqdzhPSGp4b00wQSsvL3p6R0Q1OE9LNWZ2NDRWSzFaZzl1elpZcTNTM0xsekVSUVVKRGFWZCt2V0RZY1BIMGJMbGkxUlhGeHMxYTlTTHBlamRldlc2TldyRndZUEhvelJvMGVMeS9MeThnQlUxTEJWdm5VZlVORWNYL2s1ZDNmM0dpY3IvKzIzMzNEejVrMk1IRGtTS3BVSzQ4YU5nNHVMQ3c0Y09JQ1pNMmRpN05peDZOR2pCd29LQ21vTmdVNU9UcGc0Y2FKWWV4c1lHSWdOR3piQXc4TURRVUZCNGlUdE5kMUJSNWdIOUoxMzNoR2ZHelZxbFBpelZDcEZodzRkTUhqd1lJc0JNN1pDczlGb3hILy8rMS80K2ZtaGE5ZXVpSW1Kd2ROUFB3MnRWb3NmZi93UjNidDN4NFlORzZCUUtDQ1ZTakZod2dROCtlU1RHREpraUZYdGJYeDhQTTZlUFlzeFk4WWdOallXVGs1T1dMUm9FZExUMDhVNzdFUkhSNk8wdEZTOGU4MlpNMmZRc1dOSGpCNDlHaDk4OEVHMTg1aHUyN1lONWVYbG1EVnJGaFl0V29TK2ZmdGk2TkNoV0xSb0VYUTZIVmF1WENuT01IRHExQ21zWDc4ZTc3Nzdya1dOWldQSGUyRVRVWVAxODhFck1CaE02RC9JZWdCR1l4QWJHNHNQUC93UVRrNU9tRDkvUHRxM2J5OHV1M3o1TWc0Y09BQ2dvcFluSXlPajF2MFpEQVpzM2JvVm5UdDN0Z28ybzBlUFJzdVdMZUhzN0F4Zlg5OGFhK1NTa3BLZzFXb1JIQndzUHBlZm53K2dJbndWRlJVaE9qb2FmLzMxRndDZ1o4K2VPSDM2TkJJU0VxejIxYVJKRTNoN2UrUEFnUU1JQ1FsQldGZ1kxR28xWW1OamtaV1ZoVUdEQm9ucjl1dlhEeVVsSlZpNWNpWDgvZjF0aG90eDQ4YmhtV2Vlc1hvK1BUMWQ3STg0ZWZKazhaOUdvOEdXTFZzc25xdHV3QTFRTVJwY3VDUFFnQUVEQUZRTVpCa3paZ3plZXVzdGkvZkFhRFRXcVo4cDhIY2ZWYUhadGt1WExwQklKT0tVTnpVMXF3dmhkOUdpUlpnNWN5YUFpc0U0d3M4QU1IRGdRSlNVbEZqTXZaaVdsb2JVMUZRa0pDUWdPenNiQVBEZGQ5OGhQajRlbzBlUHRtZ3FmdTY1NThSbWJpRThWcTRkbEVna2tNbGtrTXZsWW0yMHdXQ0FwNmNuZXZUb1liRmVWVC8rK0NNS0NncWcxK3R4L1BoeGRPL2VIUUJzM2hFSXFQZ3NMMTI2aEg3OStrRXVseU0yTmhZbEpTV0lqSXpFeElrVGNlVElFUnc2ZEVoOHJRNGRPcUJaczJaWXNtU0oyUCtYV0FOSlJBMlUwV2pDbVZQeDZQUklHSm8wcVQ4anJlK2xqejc2Q0w2K3ZwZzllN2JGUElxeHNiSDQ3TFBQb0Zhck1YRGdRR3pkdWhVTEZ5N0UzTGx6YXh5TkxZeGV0VFd5dW5QbnpoWk5qelhOYXlpTTBoV2FHWUcvcDlYeDl2YUdUcWZEZDk5OWg0Y2VlZ2d6WnN4QTM3NTlzWGZ2WHF4YnR3N3Z2LysrVlRBb0tpcUNyNjh2TGwrK2pGZGZmUlhCd2NFb0tDaEFhR2lveFd2NCt2cWlRNGNPT0hQbURKNTk5bG1iWWFTNlFUWHg4Zkh3OC9NVGF6T0YwYzZWVlo3MnhoYU5Sb01sUzVaQXI5ZGp5cFFwVnU5alZGUVVQdm5rRTNoNGVJZ0RoK29hSUFWYnRteUIyV3dXN3htdVZxdXhjdVhLR3B0Zk16SXk0Tzd1anBDUUVMRk1sWTlObVBwR21COVQ2S293Zi81OG1Fd21HSTFHOU9qUkF3TUhEc1MrZmZ2UXZYdDN0Ry9mSHIvKytxdkY2N2k3dStQbGwxKzJtc055MjdadFlwOVQ0TzlCU0JFUkVWaTRjS0ZWMllYYTFJc1hMMkx2M3IzUTZYVDQzLy8raDVDUUVEZzdPNk5ObXpZQWJNOTlDUUQvKzkvLzBMUnBVM0ZpYytEdndWNlBQUElJeG93Wkk0YlExTlJVTkczYUZOT25UOGVzV2JPd2ZQbHl6SjgvdjhhcHFSb0xCa2dpYXBEaWJtU2hyRXlIaDlzMnJydEhHSTFHY1ZxU29LQWcvUHZmL3hhYjRvVEJGOTk4OHcxY1hWM3g3cnZ2SWpBd0VINStmbGl4WWdVKy9QQkR6SjgvdjhhcGJXN2x0bnRWL2Y3NzcvRDM5NGVmbjUvNFhFcEtDcHljbk9EcTZvcmMzRnlFaElUZ3dvVUx5TXJLZ3ArZkh3WU9ISWlkTzNkaS9mcjFtREJoZ2tYNEUyb0ZnWXB3dkhqeFlnQkFRa0lDM25qakRieisrdXVJaUlqQW1UTm5jT0hDQmNqbGN1emZ2eCtkT25XcTgzMm9yMTI3aG9pSWlHcjcxRlZtYTUzYzNGd3NYcndZNmVucG1EUnBraml2WTFYQysydlBTSGZCNGNPSDhmdnZ2Nk5Qbno3aVFCU1pURmJyVkVXeHNiRm8wYUpGdGN1ZmVlWVppMXBaSVNqYm1yOXkyclJwTlE3SVdycDBLZVJ5dVJqdTNuNzdiVHorK09ONDhza254WHVuVis1TGErdjNUWmpPWjhtU0pYajY2YWZGL3ByYnQyL0htREZqckNhcHJ6dzQ1dXpac3poNThxUTRXbHhZci9Kcjl1L2ZYL3g1NjlhdHVISGpCajcvL0hOTW1qUUp5NWN2eDgyYk55MEdValZXREpCRTFDRGR2SkVGdVZ5S3NQQzZCWVNHSWlNakErWGw1UWdORGNYczJiUEZHck8vL3ZvTDMzMzNIV0ppWWhBV0ZvWnAwNmFKd2FKVHAwNTQ5ZFZYc1diTkdpeGV2TmpteUZPVHlXUlZVMVFYVlVkUHg4VEU0TWFOR3hnNmRLajRuRWFqd2ZIang2SFg2ekYrL0hob3RWb0VCZ1pDSnBQaHdJRURHRDE2TklZTUdZSno1ODdoNk5Hak1CcU5lUFhWVnkxcUN3MEdBMDZjT0lIdnYvOGV2cjYrNGhRdUJ3OGVoSmVYRnpaczJJQ2ZmLzRaM2J0M3g2QkJnL0QrKys5ajNyeDVtRHg1c3MwQlFVS1RyMFFpUVc1dUx2NzY2eS8wN3QxYlhDNDA0MVptNnptZ29sL2Urdlhyb2RGbzhOSkxMNG0xVzVVSjgwZks1WEtVbEpTSXRYZlZCVndoOEFqdjc4OC8vNHlOR3pjaUlDQUFMNzc0b3NXNldxMFdXcTFXSEh4U3VRYTNwS1FFbHk1ZHdvZ1JJeXkyMGV2MTFSNVBUZjBwSzNlVHFGeEdRZFhqTVp2TlVDZ1VOZDdkUmRoZStQL3k1Y3RRcVZTWVBIa3lPblhxQkxQWmpFOC8vUlNSa1pIbzJyV3IxZmF6WjgvRzFLbFRFUlFVaE9EZ1lEenp6RE1XVXh5cFZDckV4Y1ZCcjlkYjFBcG5abWJpeXBVckNBc0xnMUtwUk92V3JmSHBwNStLRjJTTkhRTWtFVFZJaFlWbGNHL2lBcG1zY1hYMURnb0t3cXhaczhUQkk1Y3ZYOGFXTFZzUUh4OFBxVlNLZ1FNSFlzU0lFVmJOcHoxNzlrUjZlanAyNzk2TkV5ZE9XTnh0QmFpbzJlemZ2Ny9WODlVUlJ1b0tVN01BRlVGbTQ4YU5rRXFsNk5Xcmw3aXVYQzZIeVdTQ3I2OHZCZzRjaUVjZWVRUnVibTdZc0dFRHpwOC9qeGRmZkJFS2hRTFRwMC9IdkhuemNPN2NPZlRwMHdldFc3ZEdYRndjZnZycEo1dzdkdzRta3dtREJnM0N3SUVEeGVQejhQREE3Tm16b2RmcjhkSkxMNGxOdTdObno4YlNwVXV4YU5FaWpCdzVFb01IRHhhUGMrdldyVWhOVFFWUTBjZHkxNjVka0VxbGFOKyt2UmhpbGk1ZFdxZjM0ZkRodzFpN2RpM2tjamttVFpwa016d0NGV0ZyeG93WkZuM3Nnb09ETGZxSlZsMGZxQWk2TzNic3dPN2R1K0hqNDROWnMyWlpUZTZ0MSt2eCt1dXZpd05xS28rNDM3Tm5Ed3dHQXg1NTVCRUFnSmVYRjZaTm00Wno1ODVoeFlvVkZyWEVBbUhhSDF2VExsVW1oSENEd1ZCdGYwU2hDYndtUXJtRi9ZMGZQeDU5Ky9aRlJFUUV6R1l6dnZubUcrVG01bUx1M0xuaU5qS1pERC8vL0RQOC9QeVFsSlFrVGkvazUrY25EcmdSUkVSRTRPalJvMWFqK1lHS2NGazVYRE04L28wQmtvZ2FwS0xDVXFqVlRyV3YyQUJWSHVBU0hoNk8wdEpTdEduVEJpTkhqcXh4d3ZEaHc0Y2pNakxTb2haSm9OZnJvVmFyNnp4ZGpWUXFoWXVMaTFpckp1aldyWnZZTEMxd2NuTENuRGx6NE8vdmJ6RjZlZGl3WVJnMWFwUllnK25qNDRPNWMrY2lQejlmYkNZTkNncENVVkVSbm4zMldmVHMyVk84djdjZ0pDUUU3ZHUzeDRnUkl5eWFjc1BDd3ZEUlJ4OWg3d2F4dVA4QUFDQUFTVVJCVk42OTRtQVdvQ0o0M0x4NUV5a3BLZWpkdXpmYXRHa0RaMmRuY2Q1TG9mOWVUWDBnS3dlaWYvN3puK0trM3RXTkNBWXFRblMvZnYxdyt2UnArUHI2SWlJaUFqMTc5cXkyeVZ3dWw4UEh4d2NHZ3dHREJ3OUdZV0Vobm52dU9aczFlVzV1YnVqVnE1ZjRlOUN5NWQvM1hCODRjQ0NhTjI4dVRoM2s1T1NFcUtnb2FMVmFUSmt5eGVZZGdQUjZQYVJTcWNYOTFHM3g4UEFRNzBWZW5RY2VlS0RXKzdBRHdKQWhROFFRcUZLcHhQdHZYN2x5QlZsWldWYkIrWmxubnNGdnYvMG1YdmhVbm5PMHFuZmVlUWZaMmRrMkJ4cDVlSGh3K3A1cVNNdzFmYkpFUlBlcDFWOVVUTFE4NmZYSEhGeVN1cnQ0L2crMGFkL2hqdSszdkx6Y3FsYktYa2FqMFdya2JFTlZXbG9LWjJkbm04ZHFOQnB4NDhZTmhJYUdXZzI0TVJnTXlNcktncisvZjQwMWMwUjM2N3QrdDBrcWZTbFlBMGxFVkU4SW5mbHJta1B3VnR4dWVBU3FIOUhhRU5WVTR5U1R5U3hxOENxVHkrVjJUU2hPamRQZCtJNDd3djEvQkVSRURZUkNvWVMreWwwOWlLaGgwZXQwVUNoc1R4ZDFQMkdBSkNLcUoxemQzRkJjWE9Ub1loRFJYVlJjWEFUWDI3aVBmSDNCQUVsRVZFOTRlSG9ncjRhN21CRFIvUzh2SnhjZW5yYy9uNnFqTVVBU0VkVVRibXAzeUdReTVPWmtPN29vUkhRWDVPWmtReWFYd1UxZC9ieVg5d3NHU0NLaWVxUlpjQWd5MDlPaDBSUTd1aWhFZEFkcGlvdVJtWjZPWnNFaGppN0tIY0VBU1VSVWo2aFVLb1NFaGlFcFBwNDFrVVFOUkc1T05wSVM0aEVTR3RaZzdxUE5hWHlJaU9vWlZ6YzNoRWUyUkVwU0luSnpjdURsN1EyMTJoMEtwYkpCVFA5QjFOQ1pUQ2JvZFRvVUZ4Y2hMemNYTXBrTTRaRXRHMHg0QkJnZ2lZanFKWlZLaGZDSVNHaUtpMUNRWDREYzdCem85VHJ4Rm5aRVZIOUpwVklvRkVxNHVya2hNQ2lvUWZSNXJJb0Jrb2lvSG5OVHV6ZklQejVFZEg5ald3Z1JFUkVSMllVQmtvaUlpSWpzd2dCSlJFUkVSSFpoZ0NRaUlpSWl1ekJBRWhFUkVaRmRHQ0NKaUlpSXlDNE1rRVJFUkVSa0Z3WklJaUlpSXJJTEF5UVJFUkVSMllVQmtvaUlpSWpzd2dCSlJFUkVSSFpoZ0NRaUlpSWl1ekJBRWhFUkVaRmRHQ0NKaUlpSXlDNE1rRVJFUkVSa0Z3WklJaUlpSXJJTEF5UVJFUkVSMllVQmtvaUlpSWpzd2dCSlJFUkVSSFpoZ0NRaUlpSWl1ekJBRWhFUkVaRmRHQ0NKaUlpSXlDNE1rRVJFUkVSa0Z3WklJaUlpSXJJTEF5UVJFUkVSMllVQmtvaUlpSWpzd2dCSlJFUkVSSFpoZ0NRaUlpSWl1ekJBRWhFUkVaRmQ1STR1QUJFUlZVOVRYSVNDL0FLVWFEVFE2M1V3bVV5T0xsS2pKSlZLb1ZBbzRlcm1CZzlQRDdpcDNSMWRKQ0tIWW9Ba0lxcUh0Rm90VXBJU1lUUWE0ZVh0RFY4L1B5aVVTa2lsYkRoeUJKUEpCTDFPaCtMaUlxU2xwa0lteTBDejRCQ29WQ3BIRjQzSUlSZ2dpWWpxbVJLTkJvbnhjZkFQQ0lDM2o2K2ppME9vcUlGVU9UbEI1ZVFFSDE4LzVPWms0MmJzWHdnSkRZT3JtNXVqaTBkMHovRlNsb2lvSHRGcXRVaU1qME53YUNqRFl6M203ZU9MNE5CUUpNYkhRYXZWT3JvNFJQY2NBeVFSVVQyU2twUUkvNEFBdUxtcEhWMFVxb1dibXhyK0FRRklTVXAwZEZHSTdqa0dTQ0tpZWtKVFhBU2owY2lheC91SXQ0OHZqRVlqTk1WRmppNEswVDNGQUVsRVZFOFU1QmZBeTl2YjBjVWdPM2w1ZTZNZ3Y4RFJ4U0M2cHhnZ2lZanFpUktOQm1wT0QzUGZVYXZkVWFMUk9Mb1lSUGNVQXlRUlVUMmgxK3VnVUNvZFhReXlrMEtwaEY2dmMzUXhpTzRwQmtnaW9uckNaREp4bnNmN2tGUXE1UVR2MU9qd1RFVkVSRVJFZG1HQUpDSWlJaUs3TUVBU0VSRVJrVjBZSUltSWlJaklMZ3lRUkVSRVJHUVhCa2dpSWlJaXNnc0RKQkZSQTJVMm0rL1l2Z3dHQThyTHkrL1kvdTRtbzlGNFI0K2RpS3d4UUJJUk5VQkdveEd6Wjg5R2RIUzBWWmc2Y3VRSUprMmFoUDM3OXdNQVNrdExhdzFjMzMvL1BjYU5HNGV5c3JKcTE5bTFheGVtVHAxYWE5QXNMUzI5NVg5NnZiN0dmYWVtcG1MMDZOSFl2bjE3amVzUjBlMlJPN29BUkVSMDU1MDZkUXFKaVlubzJiTW5KQktKeFRKUFQwOFVGaGJDeGNVRkJRVUZtREZqQnZyMTY0Zmh3NGRYdXovbC85MGhSMW5wVGprbWt3bDc5dXhCaHc0ZDBMeDVjeGlOUnVUbDVVR2hVTlJZdHRkZWUrMldKOTUrNFlVWE1IRGd3R3FYQzYrdFVDZ1FIeCtQbXpkdlFpNlgxemhCZTlldVhTR1g4ODhoa1QzNGpTRWlhbURNWmpQMjdObURoeDU2Q0U4KythVFZjaWNuSndDQWk0c0xQRHc4MEw5L2YremN1Uk5SVVZFSURRMjF1VThoZ0ZVT1lwbVptZmp1dSsvZzZ1cUs1czJiaTh0a01sbU41WlBMNWVqZXZUdUdEUnRXNTJNcUxpN0dPKys4WXhWTzE2NWRpOE9IRDJQRGhnMXdjbklTZzZCTUpzT1ZLMWV3WmN1V2FnT2t3V0NBMFdqRUk0ODh3Z0JKWkNkK1k0aUlHcGdUSjA0Z05UVVZpeGN2QmdEczM3OGZIVHQyaEsrdkw0Qy9RNkJRTXpsMDZGQkVSVVhCMDlNVDE2OWZSMFJFaExpdjB0SlNPRHM3aSt1ZVBuMGF1Ym01R0RCZ0FKS1NrZ0FBclZ1M3Rsa09vOUVJdlY0dkJsYUJYQzZIVXFtRWg0ZUgzY2RXTlp4V3JSa1Zsa3NrRWd3WU1BQ0RCZzJxZGwrclZxM0M4ZVBITFdwVmlhaHVHQ0NKaUJxUXdzSkNiTnEwQ1U4OTlSUUNBd09SbVptSmI3NzVCcWRQbjhhNzc3NXJVUk4zNDhZTlpHZG5JeWtwQ1RkdTNFQnFhaXFhTm0ySzVjdVhpK3VzWGJzV3BhV2xZa2pNeXNyQ3pwMDcwYWRQSHlRbUpnSUFac3lZWVZHR1VhTkdpVDlMcFZKczJyVEpZbm5WSm5WN1ZOMjJhczJvc0Z3cWxkYjVkVzZuUEVTTkZRTWtFVFZLK1hrbHVId3hCWDlkUzBkZW5nWkZoV1hRYWcwT0xkUG9zUzF2YS92aTRtSXNXN1lNU3FVU3ZYdjNSbloyTnJadTNRbzNOemVNSGowYTI3WnRRM3A2T3VMaTRnQUFlL2Z1UmJObXpSQWFHb3JISG5zTUFRRUI4UGYzdDlobmRuWTJXclJvSVQ3dTBhTUh0bTdkaXRPblQrUHExYXVJaUlqQWdBRURBRlRVVHA0OGVSSnZ2UEVHZ0lvK2tyWUd2VlFOYkdQR2pJSEJZUHU5bno1OU9qcDA2RkR0dGxVSmZTdHJhMFlub3R2REFFbEVqVXBPVGpIMjdma1RGeThrQXdDYUJYdWhlYkEzMUdvbktGV09QaVhXUE1LNE5scXRGZ2tKQ1RBYWpmalh2LzRsUGo5NThtVDQrZm5oMkxGamFOV3FGZnIxNjRmTm16ZGoxS2hSTnZ0STZ2VjZLQlFLbU0xbXBLZW40OUZISHhXRG9JZUhCN3AwNllMQ3drSmN2MzRkbzBlUHhpT1BQQUlBU0V0TEF3RHhjVjBwbFVvOC92amplUHp4eDhYbjR1UGpzV3JWS3FoVUtydjJKUVJSTmtzVDNWMk9QbHNTRWQwVFpqTnc5TmNZUk8rNUFGZFhGWjRlMmdGdE93VEQzZDNaMFVVVFhUei94MjF0NytQamc3Rmp4OExmM3g4QkFRSDQ4c3N2b2RWcTBiMTdkd0RBeXBVckFWUU1zdG15WlF0S1MwdGhNcG1Ra1pHQnhNUkUzTGh4QTFldVhJR3ZyeS9lZnZ0dFpHVmxvYnk4SE0yYU5VTjhmTHo0T3ErLy9qcSsrKzQ3U0NRU2RPblM1YmJLREZRME42dlZhZ1FHQm9yUEZSY1hBN0MvZWJta3BBUUF4T0FaRXhPRHVMZzRtd05wTWpJeWJxZllSSTBhQXlRUk5YaEdvd25idHB6Q3VUTUo2Tlc3RmZvKytUQlVEcTl0dkRzZWUrd3hBTURGaXhkeDZkSWxMRm15QkVCRmFNekl5RUJXVmhhU2s1TWhsOHV4Yjk4KzdObXpCenFkRGs1T1RnZ09Ea2FyVnEzUXFsVXJBQkNidW9PRGd5MENKRkFSMExwMzczNUxBMkh1SmlGNHVycTZBZ0F1WGJxRUgzLzgwV2FBMUdxMTk3eDhSQTFGd3p5REVoRlZzbnY3T1Z6NEl3bWp4blJGKzQ0aGppN09YVmRVVklTMWE5ZGk2TkNoWXA5R2c4RWdEbllKQ0FpQWg0Y0h5c3ZMTVdIQ0JBUUhCOFBiMnh1SmlZa0lEdzhYOS9Qb280OGlMQ3dNWGw1ZVZxOHhaTWdRbEphVzRzS0ZDMUFvRkpCSUpNak96Z1lBWEwxNkZVREZLR3lWU29YSXlNZ2F5MXZUbkpEMjNsRW1LeXNMQU1RUjU4T0hENjkyZmt0aEZEWVIyWThCa29nYXRGTW5iK0xrOFJzWS9uem5SaEVlcjErL2pyVnIxMEt2MXlNd01CQkhqeDVGWVdFaDJyUnBnM256NWlFa0pBUXFsUXJSMGRIWXNtVUwycmR2RDdsY2prMmJObUgvL3YxNDdybm5MS2ErcVRxb3ByS01qQXdzWGJyVTZ2bUZDeGVLUDdkdTNScHo1ODZ0c2N4NnZSN2J0bTNEdG0zYnJKYnBkTG9hdHhYQ3A4bGtnbFFxUld4c0xKeWRuZEcwYWRNYXR5T2kyOE1BU1VRTmxzbG93dDdkNXhIVk9SU2R1NFRYdmtFRGNQNzhlYVNtcGdJQVB2dnNNNmpWYWpScDBnVHQycld6cUFtTWpJeUUwV2pFNWN1WGtaaVlpT2pvYUxScjF3NjlldldxODJzMWI5NGNuMy8rT1pSS0phUlNLYUtqbzdGNzkyNzg5Ny8vQlZEM2UxSXZYcnk0MnZWczFYNVdKZ1JNblU0SHVWeU9QLzc0QTIzYnR1WFVQRVIzR1FNa0VUVlkrZmtsTUJoTTZEK29yYU9MY3MvMDZORURZV0ZoYU42OE9YeDhmS3FkemlZOFBCeWVucDVZczJZTmlvcUswTFZyVjB5YU5NbXU2VzhVQ29YWVZBejhQZkpaclZiYlZlYUFnQUM3MXE5c3hJZ1JHRFJvRUZRcUZZNGRPd2FOUm9PZVBYdmU4djZJcUc0WUlJbW9RVEtielNndTB1S1JydUZvMHFUK2pMUysyd0lDQXNSQVpqYWJrWnljakpzM2IrTDY5ZXNZTjI2Y0dCREx5c3JRcEVrVEpDUWtvRjI3ZHBneVpjcDlVV3RYdGFiU3c4TURIaDRlS0NzcncvZmZmNC9nNEdDMGJkc1dPcDBPQnc0Y2dGS3ByRFlVY3hRMjBhMWpnQ1NpQnFtOFRBK1R5WVNIMnpaM2RGSHVHYTFXaTIzYnRpRTdPeHRaV1ZsSVQwK0hUcWVEV3EyMkdCd1RHeHVMLy96blB5Z3NMSVN2cnkvaTR1SlFXRmdJRHc4UG5EcDFDbWxwYVhqaWlTZmc0dUp5VjhwcE1wbFFVbElpemh0WkY4TG9hbHROM1VhakVTdFhya1IrZmo2bVRwMEtpVVFDclZhTDc3Ly9YbXhldHhXT2hWSFlaclA1dmdqUFJQVUpBeVFSTlVobFpYcElKRUJZdUcvdEt6Y1FLcFVLZVhsNXVITGxDdHEyYllzbm5uZ0NMVnUyRkdza2s1T1RzWHYzYnB3OGVSS0JnWUg0NElNUElKZkxNWGZ1WEN4WnNnVGp4NC9IenovL2pLdFhyNko3OSs0V0FWSUlia0xZMG1xMWtNbGtrTWxrMVlZdnM5a01vOUVvanNZV0dJMUdIRHQyRE1lT0hiUDdHSTFHbzhYajB0SlNyRnk1RWhjdVhNQ0lFU1BFS1lqVWFqVysrZWFiR3ZjbGpNSTJHQXhRS0JSMmw0V29NV09BSktJR3lXQTBRU2FYUVNhVDFyNXlBekp1M0RnNE96dGJOZHNlTzNZTXExZXZobFFxUmYvKy9URnk1RWl4eitMTW1UT3hkT2xTekpzM0R3RFFwMDhmaTc2TndOL0J6V2cwUWk2WFk4V0tGVGgvL3J6Tk1sUytGellBZE96WUVXKy8vYmI0V0svWFkvanc0Umc2ZEdpZGo2dWdvQUNUSjArMnVEV2kyV3pHc21YTEVCTVRnMzc5K21ISWtDRjEzaDlRRWJoZFhGd1lJSWx1Z2NSczd5UmJSRVQzZ1htenRzTnNNbVBCa21HT0xrcWRYVHovQjlxMDcxRDdpcmRveDQ0ZDZOeTVNNW8xYTJhMUxETXpVMnp5SFR0MnJOVXRCRGR2M295OWUvZGkvZnIxY0hGeFFVRkJBVXdtRStSeWVhMDFrQktKeEdMQzhZS0NBamc3Tzl0MW0wS3oyWXpDd2tLcjdUUWFEWTRlUFNyZWo5dFI3dlpuUjFRZlNDcDkyUmtnaWFoQm12dnYvd0VBRml4bWdLUzdqNThkTlFhVkEyVGphdHNoSXFySHBGSnBqWGRsb2ZwSm1NU2NxREhoYnp3UlVUMmhVQ2locitYT0sxVC82SFU2S0JSS1J4ZUQ2SjVpZ0NRaXFpZGMzZHhRWEZ6azZHS1FuWXFMaStEcTV1Ym9ZaERkVXd5UVJFVDFoSWVuQi9KeWN4MWRETEpUWGs0dVBEdzlhbCtScUFGaGdDUWlxaWZjMU82UXlXVEl6Y2wyZEZHb2puSnpzaUdUeStDbWRuZDBVWWp1S1FaSUlxSjZwRmx3Q0RMVDA2SFJGRHU2S0ZRTFRYRXhNdFBUMFN3NHhORkZJYnJuR0NDSmlPb1JsVXFGa05Bd0pNWEhzeWF5SHN2TnlVWlNRanhDUXNQc21zK1NxS0hnbldpSWlPb1pWemMzaEVlMlJFcFNJbkp6Y3VEbDdRMjEyaDJLLzd1dk05MTdKcE1KZXAwT3hjVkZ5TXZOaFV3bVEzaGtTNFpIYXJRWUlJbUk2aUdWU29Yd2lFaG9pb3RRa0YrQTNPd2M2UFU2emhQcElGS3BGQXFGRXE1dWJnZ01DbUtmUjJyMEdDQ0ppT294TjdVN3d3b1IxVHRzQ3lFaUlpSWl1ekJBRWhFUkVaRmRHQ0NKaUlpSXlDNE1rRVJFUkVSa0Z3WklJaUlpSXJJTEF5UVJFUkVSMllVQmtvaUlpSWpzd2dCSlJFUkVSSFpoZ0NRaUlpSWl1ekJBRWhFUkVaRmRHQ0NKaUlpSXlDNE1rRVJFUkVSa0Z3WklJaUlpSXJJTEF5UVJFUkVSMllVQmtvaUlpSWpzd2dCSlJFUkVSSFpoZ0NRaUlpSWl1ekJBRWhFUkVaRmRHQ0NKaUlpSXlDNE1rRVJFUkVSa0Z3WklJaUlpSXJJTEF5UVJFUkVSMllVQmtvaUlpSWpzSW5kMEFlNms3S3dzcEtXbUlDODNGK1hsWlRBWURJNHVFdEY5UVM2WHc4bkpHVjdlM2dnTWFnWmZQejlIRjRtSWlPcXhCaEVnU3pRYVhEai9Cd3g2SFlKRFFoSCtRQVNjWFp3aGt6V0l3eU82NjR4R0E4cEt5NUNkbFlXcmx5OUNybENpWGZzT2NIVnpjM1RSaUlpb0hycnZFMVplYmc3T25qNkZ5RmF0MFNJMHpOSEZJYm92eVdSeXVLblZjRk9yRVJvZWpvVDRPQncvZGdSUm5SK0JsN2VQbzR0SFJFVDF6SDNkQjdKRW84SFowNmZRb1ZObmhrZWlPNmhGYUJnNmRPcU1zNmRQb1VTamNYUnhpSWlvbnJtdkErU0Y4Mzhnc2xWcitQajRPcm9vUkEyT2o0OHZJbHUxeG9YemZ6aTZLRVJFVk0vY3R3RXlPeXNMQnIyT05ZOUVkMUdMMERBWTlEcGtaMlU1dWloRVJGU1AzTGQ5SU5OU1V4QWNFdXJvWWhBMWVNMURXaUF0TFlVanN4MUVVMXlFZ3Z3Q2xHZzAwT3QxTUpsTWppNVNveVNWU3FGUUtPSHE1Z1lQVHcrNHFkMGRYU1FpaDdwdkEyUmViaTdDSDRod2RER0lHancvUDM4a3hzYzd1aGlOamxhclJVcFNJb3hHSTd5OHZlSHI1d2VGVWdtcDlMNXRPTHF2bVV3bTZIVTZGQmNYSVMwMUZUSlpCcG9GaDBDbFVqbTZhRVFPY2Q4R3lQTHlNamk3T0R1NkdFUU5uck9MTThyTHl4eGRqRWFsUktOQllud2MvQU1DNE0wKzN2V0NWQ3FGeXNrSktpY24rUGo2SVRjbkd6ZGovMEpJYUJpbnU2Skc2YjY5bERVWURKem5rZWdla01ua25KVC9IdEpxdFVpTWowTndhQ2pEWXozbTdlT0w0TkJRSk1iSFFhdlZPcm80UlBmY2ZSc2dpWWdhb3BTa1JQZ0hCTUROVGUzb29sQXQzTnpVOEE4SVFFcFNvcU9MUW5UUE1VQVNFZFVUbXVJaUdJMUcxanplUjd4OWZHRTBHcUVwTG5KMFVZanVLUVpJSXFKNm9pQy9BRjdlM280dUJ0bkp5OXNiQmZrRmppNEcwVDNGQUVsRVZFK1VhRFJRYzNxWSs0NWE3YzQ3TmxHand3QkpSRlJQNlBVNktKUktSeGVEN0tSUUtxSFg2eHhkREtKN2lnR1NpS2llTUpsTW5PZnhQaVNWU2puQk96VTZQRk1SRVJFUmtWMFlJSW1JaUlqSUxneVFSRVJFUkdRWEJrZ2lJaUlpc2dzREpCRVJFUkhaaFFHUzdwcjdZVlNpaG5PM0VSRVIyWTBCOHY4a0pDU2dwS1RFNXJJTEZ5N2d6ei8vdER0c2pCbzFDa3VXTEtseG5lKy8veDR6WnN4QWFXbXBYZnUrRzI3ZXZJazMzM3dUZS9mdXZTUDdlL0hGRi9IbW0yL2UxajdNWmpOKy9mVlgvUFRUVCtKeitmbjVTRWxKcWZPLy9QejhhdmUvY2VOR3ZQcnFxOURwN284NTNPNzBaMFFOVTN4OFBLNWR1M2JIOTF0Y1hBeXoyWHpIOTN1bkdZM0crNktjUlBjenVhTUxVRitzVzdjT2NYRngrUERERHhFV0ZtYXhiTisrZmZqOTk5K3hkT2xTaElhRzRzaVJJK2pSb3dlY25KeHEzS2ZKWklKRUlyRjRycXlzREtXbHBmRCt2OXVWNWVmbkl6WTJGZ3FGb3NaOWJkaXdBYnQzNzc2Rkk2dlFwMDhmdlBIR0c3V1dOejQrSGlVbEpkRHBkTWpOellWU3FheHhYanFwVklvbVRacFlQVzh3R0ZCU1VnSlBUODliTGpNQVNDUVM3Tm16QjVtWm1lalRwdzlrTWhrMmJkcUVRNGNPMVhrZlR6enhCQ1pQbm14ejJmWHIxeEVTRWdKbGxjbWJodzhmWG1Pb2ZPKzk5OUNoUXdlTDUrNjN6NGdhcnBVclYwSXVsNHNYc0pzM2I3YnJvbVBEaGcwMnoyK2JObTFDYkd3c1B2bmtFL0hjWmphYmE3eTRkbkZ4Z1V3bXMzanVkaTZZRlFwRmplZkwxTlJVekpneEE4ODg4d3lHRFJ0Mnk2OURSRFZqZ0VURjFmcmx5NWZ4NUpOUFdvVkhBR0lJQ2dnSVFHSmlJbGF2WG8yelo4L2kzLy8rdDFWQXJFd21rMW1kT0M5ZHVvUVBQL3dRTTJmT1JMZHUzU0NYVjN3RXd2L1ZFWmEvL1BMTHRRYlhxbGF2WG0zemhQdnh4eC9EeWNrSnI3LytPZ0NJSVVvcWxTSXBLUWx2di8xMnJmdjI5UFRFbDE5K2FmVzhVT3ZYckZtek90ZnVtVXdtNlBWNk9EazVXWlMzZCsvZVdMOStQUzVkdW9SMjdkcEJwVklCZ0JqVzl1L2ZqOVdyVjJQMzd0MjRmUGt5NXN5Wmd6VnIxaUFnSUFDREJ3KzJPdmFFaEFTb1ZDcm9kRG9rSlNXaGQrL2V5TW5KZ2RGb2hGNnZoNnVySzVSS0pVYU9ISWx1M2JwWmJKdVJrWUg1OCtlTFphanNmdnVNcU9GcTM3NDlvcU9qa1plWEJ5OHZML0YzYTlteVpRQ0E2ZE9uWStiTW1mRHo4N1A0K2RDaFE5aS9mNy9WQlpYZ3hvMGJpSXlNdERqdmxaZVhZOEtFQ2RXV1plSENoVmJuMWRkZWUrMld1N2k4OE1JTEdEaHdZTFhMaFdOVktCU0lqNC9IelpzM0laZkxhN3pJNnRxMWE2M25ZQ0t5eEc4TUtwcVJ2YjI5TVhic1dKdkxoYkNnVkNvUkVSR0JNV1BHWVAvKy9VaExTME5RVUZDMSs1VklKSkJJSkdLQVVpcVZTRXBLQWdCRVJFUUFnSGhTcXltSUFuK0hrejU5K3NEZDNiNTc1VllYVHM2ZE93ZTFXaTArRnNLdVZDcUZ2NzgvM243N2JiRjJ5MWI1Rmk1Y2FETklBVUJPVGc0QTRJY2Zmc0FQUC94Z1Yzay8rT0FEdEczYlZuemN1WE5uckYrL0hoY3VYRUM3ZHUxcWZhK3FxcnIrRzIrOElSNnIyV3pHNXMyYjhlMjMzOEpvTk1Ka011SFpaNStGMld4R2t5Wk5FQkFRWUxHdDBXaTB1VS9nL3Z1TXFPRnEwNllOb3FPamNlblNKZlRxMVV2OHZRa01EQlRYOGZQekV4OExQd3UvYTVYRDFvMGJONkJVS2xGZVhvNzA5SFQwNmRNSHFhbXA0Z1dYY0E1Y3UzWXRuSjJkTGNveGV2VG9haSsydW5mdmJsY05ZWEZ4TWQ1NTV4MnI3OG5hdFd0eCtQQmhzZFpVK0I3S1pESmN1WElGVzdac3FUWkFHZ3dHR0kxR1BQTElJd3lRUkhacTlOK1lhOWV1NGNTSkUzam5uWGZnNU9TRUV5ZE80TXFWS3hneVpBaDhmWDB0MWhYNjFBd2VQQmk5ZXZYQ2pSczNjT1hLRmZUcjEwOWNwNmlvQ0tkUG4wYW5UcDBBVkFTT3laTW5ZOGlRSVJnMGFCRGk0K09oVkNvUkZ4ZUh1TGc0cEtlbkF3QisvLzEzQUJXMWNEcWREbEZSVVhCemN4UDNlN3UzTjdPMXZVd21zemhwQ3V0SXBWS28xV3IwN05tejF2MVdyV0VWWkdSa0FBQ2VmZlpaQkFjSDE2bU1ScU1SV3EzVzRvOGNBUGo3KytPamp6N0NQLzd4RHdCL0Q4NFJham1GNXJEOC9Id1VGeGNEcVBnY2hGckFxbjJodG0vZkRybGNqazgvL1JTNXVibFl1SENodU14a01zRnNObVBQbmoxWXVYSWxWcTVjYWJPc3RtcFY3N2ZQaUJxdXlNaEl1TGk0M0pGOXZmLysrMUFvRkdLWG5GMjdkbUhuenAxaWdQejQ0NDhCUUx3QXF3dTVYQTZsVWdrUER3Kzd5MVAxOTFtb0xSWCtGNVpMSkJJTUdEQUFnd1lOcW5aZnExYXR3dkhqeDZ1dGNTV2k2alhxQUZsV1ZvWVZLMVlnS2lvS1hidDJCUURzMkxFRGlZbUorT2MvL3lrR1NPR2t1R1BIRG1SbVppSWhJUUhKeWNrd21Venc5dmEyQ0pEeDhmSDQ0b3N2c0hqeFlnQVZKN09JaUFqczI3Y1Bnd1lOd28wYk42RFQ2YkJvMFNLTHNsUjkvTmxubjlVYUlGTlRVNnZ0S0I0VUZHUlJJMlZyZTZHR1ZDRHM2MDRFRGlFWVAvYllZelhXMHRiVmd3OCtLUDZzMVdvQndLckd1UExqbVRObmlqOVhEWHR5dVJ3bWt3bC8vUEVIUm8wYVpiRk1lSjgrKyt5ekdqdmgrL2o0V0QxM3YzMUcxSEE1T1RsWm5FT0Vtdk8wdERSeG5heXNMS3VmaFF1d3l2ZmsvdWFiYndBQW4zLytPYlJhcmNWM0M0QTQrSERTcEVrMnl5SjhYeXV6dHhXaHBtMHJYMVJWWGw1ZHJYeGQ5a2xFdFd1MEFiSzh2QndMRml4QVptWW14bzhmajVpWUdGeS9maDNYcjEvSHBFbVRjUDM2ZFd6WnNnWEp5Y25peWZYSWtTTjQ0SUVIMEt0WEw3Um8wUUpCUVVGV3RaUkN6VnZsME5TclZ5OHNXclFJdi8zMkd6SXlNdkQ4ODgvamlTZWVBQUI4OTkxMzJMZHZuOWhIeldReVFhdlYyZ3dvVmIzMTFsczJUODdDZnUzdGh5Y0U1VHZSbEpPZW5nNkpSQUovZi85YjNrZEdSZ2JPbmowTHVWd09tVXlHa0pBUVJFWkdZc0tFQ1JnL2ZyeTQzdGRmZncyejJZd1hYM3pSWnJDeWRUd1hMMTZFUnFOQjE2NWRNV3JVS0F3YU5BaWpSbzFDZG5ZMjlIbzk1SEo1alg5VTh2UHpZVGFicldwTHE2clBuNUc5WnJ5eDVaNi81cDF3UDVWNzlOaVd0N1c5MEk5WUxwZGJYSURxOVhvQUZYMGZCVXVYTHJYNU0xQngwVlg1ZDFPdjErUFBQLy9FeXkrL2JMR2VWcXVGVXFuRXVuWHJxdjIrMlBvZHI3cnVtREZqWURBWWJHNC9mZnAwaXdGcnRZVTk0VHZDaXl5aXU2dlJCa2lGUW9IczdHd1lqVVlzV0xBQVNxVVNPcDBPRHozMEVQcjM3NCtkTzNkQ0pwT2hmLy8rS0Nnb3dBOC8vSUJaczJZaE5EVFVhbC81K2ZuaVFKdms1R1M0dTd0YjlJSHIwS0VEaGd3Wmdnc1hMZ0FBZXZic0thNHY5QSs2bGRIS0twVUsvZnIxd3l1dnZDSSt0Mzc5ZXV6WnMrZVcrcjBKVGNIQ0NWOW9vbElvRkhaZHpRTVZOVzgrUGo2M0ZYUlNVbEx3MVZkZlFhbFVRcVBSWVBqdzRZaU1qSVJLcFJLUDcvVHAwemh3NEFDYU5XdUc0dUxpT3RkMkhqeDRFRzNidGtXVEprMWdOcHZGWS92bW0yOXc1TWlST3UyamZmdjJtRDkvZm8zcjFPZlB5RjV5K2YwMTY1ZkJZSUpFS3NIai9SNnNmZVY2UTM5Yld5Y25KMlBXckZuaTQrZWZmeDVQUGZVVVJvMGFKZGEySnlRa1lPblNwUmczYmh5aW9xTHF0Tit6WjgvQ2FEUWlLaW9LTDcvOE1wNTc3ams4OGNRVFdMdDJMVTZlUEZucjlpRWhJVmF0TEpVcGxVbzgvdmpqZVB6eHg4WG40dVBqc1dyVktydS9KMElRWmJNMDBkM1ZhQU9rVENiRHhJa1Q0ZXpzakpDUUVKdytmUnFyVnEzQ2xDbFRBQUJEaHc3RjBLRkRBVlQwVC96aGh4OVFVbEtDMHRKU0pDUWtJQ0VoQVRFeE1iaDgrVEw4L1B6RUp1dWJOMjhpSkNURTRyV1VTaVZHang2TlYxNTVCUzFidHF5MTFxcXVhdXB6ZHl0QlFwaUtRK2dJZitQR0Rhdm1xcm93bTgxSVRVMUZlWGs1Qmc4ZWJOZTJMVnUyRkd0RG9xS2lzRzNiTmdBVi9VNnIva0U0Zi80OFB2NzRZNWpOWmlRbko5dWNxc2ZWMVJYcjE2KzM2QTkyK2ZKbG5EaHhRaHpaTEpWS3hkcUtpUk1uWXZMa3lSZzVjaVFtVFpxRVBuMzZXT3p2bDE5K3dlclZxL0g5OTkrTHpZSTFxYStmMGExWXRIemtQWG1kTzJYdXYvOEhBT2ozNU1NT0xrbmRYVHoveDIxdEh4Z1lpQlVyVmtDcFZHTGl4SWxXMzVueThuTDg1ei8vZ1ZRcWhhK3ZyMFdUdHNERnhjV3FiK0xCZ3dmUm9VTUg4ZmRPdURCODl0bG44ZGhqajJIaHdvVllzR0NCeFNDYXJLd3NMRjI2Rk5PbVRiTnFxYWxLNk5OYitkd29OS2ZiK3owUm10U0Y0QmtURTRPNHVEaWJBMm1FRmlNaXNsK2pEWkFBMExGalJ3QVZmNVMvK3VvcmpCZ3hRanlCYVRRYVpHUmtJQ1VsQlgvOFVYRlMvK2lqajhTVGs0dUxDMEpEUTlHdFd6ZTBiUGwzczVOZXI3ZDRMREFZREJnMmJCajgvUHp1OW1IZE1tRlFpakJub0srdkw4YVBIeS9XYmxVOStWWTN3QVFBbGk5ZmJ0ZHJsNVNVWU9iTW1UV0c2OG9qcDMvNGRpTzVIUUFBSUFCSlJFRlU0UWQ4K2VXWFVLdlZlUGZkZDhWNU5RVkhqaHpCOTk5L2oyZWVlY1pxTU1HMzMzNExzOW1NRlN0V1lNV0tGZUp6MzM3N0xieTl2YkZod3dZQUZiOER1Ym01RnRzS0FjNVJJNXZ2NUdkRURZOUNvYkRvL2xLNUdWZXIxZUtUVHo1QlNrb0tBRmpVVkZiMit1dXY0OUZISHhVZi8vampqL2pycjc4d2V2Um9wS1dsUVNLUm9LaW9DR2xwYVhCeWNoSy9zd0VCQVRZSDd2ajcrNk41OCtaMzVQanFRZ2llcnE2dUFDcW1UdnZ4eHg5dEJzanF1cGNRVWUwYWRZQVVyRnExQ3U3dTduajIyV2ZGNS9idTNZc3RXN1pBSnBPaGVmUG1VQ3FWQ0F3TXhJZ1JJOUNpUlF0NGVIZ2dQVDNkcXJaUm1HZXRLaWNuSnd3YU5BZ3hNVEhZdW5XcjJNY3VOallXUU1YSVlPRHZPeWlNSEZsN2JVOU5JeDRyTjh2V3RFN2xBUjdKeWNrQUlFNWQ0K1hsaGFlZmZycmE3YXNMSnhLSkJNMmFOYXZ4dGF0S1RFd0VnRnI3VEpyTlppeGN1QkJuejU1RlVGQVE1czJiaCt2WHIrUFFvVU40L2ZYWG9WUXFVVmhZaUFNSERxQnAwNlkyeS8vQ0N5L0FaRExCeThzTFFNV0FtejU5K3FCLy8vNFdUZTdmZlBPTk9JRGdWdFhYejRnYWw2eXNMS3hZc1FMeDhmRVlPM1lzZXZUb1lWRmJlTzdjT1N4ZnZoemg0ZUhvMHFXTHhiYkMxR09WdncvYnRtM0R0bTNiMEw1OWU3ejY2cXNBWU5GTncxNjFmVS9zSWZSWkYybzlodzhmanVIRGg5dGNWeGlGVFVUMmE5UUJzcUNnQUY5OTlSVk9uRGlCS1ZPbTROcTFheWdvS0lCZXIwZVBIajNRcmwwN1BQREFBNURMNVpnelp3Nk1SaU02ZCs0TW9HTGV2bDkrK1FWang0NnRjVkxicXVMaTRyQmp4dzd4YWxpNEF0NjVjeWVBaWdDcFVDanFGQ0IxT2gzMjdObURQWHYyV0MzVDYvVzE5Z0V5bVV3V0orNUxseTdCejgvdnR1OGVjeXZ5OHZJQTJCN2RYSmxFSXNFTEw3d0FOemMzVEpnd0FjN096bGkvZmozT25EbUQ5UFIwekp3NUU4dVhMNGRHbzhHc1diTnN2Z2NQUGZTUXhXT3BWQXAzZDNlcjBEdDE2bFQwN2R2WDRybWZmdnJKcmxEV2tENGp1bjl0M2JvVmlZbUplUFhWVnhFU0VvSi8vZXRmZU82NTUvRFlZNDhoT3pzYjY5YXRnMEtod0t1dnZtcDFVVE5od2dSTW1EQkJyTDE3NVpWWDhNSUxMNkIzNzk0QUtzNmpRRVdyUStWUW1wbVppZmZmZjc5TzVkUHI5V0lvcmFxMkd4RUkzdzloNUhoc2JDeWNuWjNSdEduVE9yMDJFZDJhUmgwZy8venpUL3p5eXk4QUtxNUVnWXFBMHFWTEYvSGtLR2pac3FYWUQzTHYzcjNZdjM4L0lpSWkwTDU5ZTd0ZWM4Q0FBUmd3WUlENGVPUEdqZGkxYXhjMmJkcGtkL2xydXVLdnk1eUVXcTBXWldWbEFDb0d2ZHk4ZWJQR09kTnFVMVQwLzl1Nzk3Z295N3gvNEorWllRN0FEQXdNaUNDQ0p6eWdJbUZwYW14V1pwbWFsZG42MFA2MkxKOHlUMldwYVk5cm10YVd0cHR0cHJzZExPbGdtWWR3czlRVURMV3kwcElPS2lxSWdvUU1CK2ZFbk9mM0J6djNNZ0xDN1lFWmg4Lzc5ZktsTTNQUFBkOXhFRDljOTNWOUw0T3c2S1UxQ3pxOGZSOW56cHdwTkI1dmFhNFVBSFRyMWcyelpzMFNiaTlZc0FBYk4yN0VlKys5aHlsVHBzRHRkbVBHakJubzA2ZVA2UGRRVVZFaC9QbmN1WE5DTzZLRzk0a1JhSjhSdFUvVHAwOUhTVWtKdW5idENvdkZnajU5K3VEdHQ5L0dzV1BIOE50dnY4Rm9OR0xLbENsTjlteTkwTmRwU1VuSlpka204OFVYWDJ4MnBORjdwYUE1M29CcHQ5c1JFaEtDZ3djUFlzQ0FBV3pOUTNTRnRlc0FtWjZlanJ2dnZodGR1M1pGZkh3OFltSmlvTlZxbS95R2VkMTExMkhqeG8xWXNHQUJpb3FLa0o2ZWp2Lzd2Ly96NjBxLzgwZkh4TnEwYVpQd1orOElhTU5Wa0dKWnJWYms1ZVZCcVZTMktrQjZXeGFKRFpEbnE2cXFna1FpRWVZOHpabzFxMVdyU3owZUQwcEtTdUIwT3ZIMTExL2pxNisrUW1scEtaNTQ0Z2tBbCtjU2RxQjlSdFErU2FWU29ZTkVXRmdZcGsrZmpzV0xGeU0vUHg4S2hRSlRwMDV0dEczbitUd2VEMHBMUytGeXVaQ1hsNGRQUC8wVUJvTUJyN3p5Q2dDMGFsdk41cHkvNDVNWTk5MTNIOGFNR1FPbFVvazllL2JBWkRLMXFzRStFVjJhZGgwZ0l5TWpHeldqdGxnc0tDd3NSRWhJaU0rbHp1VGtaS2hVS2hRVkZlRzY2NjVyY2t1dEswbnNQQ0F4enk4c0xNVE9uVHR4M1hYWENmL0piTnk0RVZhcnRjVitpQTExNk5EQkovQ0ljZjY4cFFzcExDekV0OTkraTdLeU1wU1VsQWlqaEVPSERzWGt5Wk1iTGFocHlPUHg0S09QUHNMeDQ4ZHg1TWdSWVZHTTIrM0dpQkVqa0pHUmdlVGtaS3hZc2FMRlM5amU5amtOejMwcDJ1SXpvdmJKWUREZzVNbVR3aWkydHc5cTc5NjlNWG55NUdZWHIzazhIcXhmdng3RnhjVTRmdnk0MEVaS0pwUGgzbnZ2UlhwNnV0Q040UHh1QjJmT25CSDZUdGJWMVVHbFVsMldyOVB6LzUxb3RWcG90VnJVMWRWaC9mcjFTRXBLd29BQkEyQzMyN0Y5KzNZb0ZJb1dkOHdpSXZIYWRZQXNLQ2hBWldVbEtpb3FVRlpXSm13dDZQRjRNR0hDQkNGQUZoY1hZL255NWJEYjdjTE9JTjdnNE4xWnhydk4zcFhpbmVkVFhsNE9nOEZ3MGM4L24xNnZ4NHN2dmdpbFV1bHp1WFhYcmwyb3FhbUJUQ2E3WUVQZTFtNWQxcEx5OG5Kb05Kb21SM1M5QzBkeWNuTFFzV05IOU92WEQ5dTJiWVBaYkVhSERoMHdkdXhZakJneEFsMjZkR254ZFNRU0NRb0tDbEJYVjRkUm8wYmgybXV2eFpJbFN6QnMyRENoYlpPWHpXWkRXVmtaOUhvOTlIbzlxcXFxOFBQUFB3T29iL2Rqc1ZpUW5aMHRIQi9zbnhGZFBieGZmM3YzN2tYZnZuMFJFaEtDRlN0V3dHcTFJalEwRk9ucDZSZytmRGo2OTc5d2l5T0pSQ0lzb2hrL2ZqejY5KytQWjU5OUZwbVptY2pNekFUdzM4NEFwYVdsc0Znc3FLcXFRbFZWRmNyS3lnRFU3OGR1TXBsOHB1bTQzVzZZemVZbTJ3ZzF4N3U2dXFrZnRGd3VGMWF1WEltYW1ocE1uejRkRW9rRU5wc042OWV2ditDVUd1OGM5TllzYUNNaVgrMDZRT2JtNWlJdkx3OFNpUVJkdW5UQndJRURrWnFhaWw2OWVrR24wOEZrTW1IanhvM0l5Y21CV3EzRzRzV0w4ZU9QUDJMVHBrMzQ4TU1Qa1pXVmhkemNYR3pkdWhVTEZ5NFUyZ0o1ZWZkVjlpb3RMWVZTcWZSWjZldjlCdWI5Smd6VXQveHhPQncrb3dMZW4vSXZ0dWRmVTdzOEZCVVZZZW5TcGFpdXJzYnMyYk45SnAydldyV3F4WE9PR3pldVZiMFFtNnRISXBIQTZYVGl0OTkrdzdGang1cHMwbjd3NEVFc1g3NGMwZEhSU0VoSXdMSmx5NUNRa0lDdVhidGl5SkFodVBiYWE2SFZhb1cyT2g2UFIyaXU3WjAvYURLWjRIUTZoVG1SaXhjdjlnbXFEVmM2YjkrK0hldlcxZTljOHVhYmJ3ckhLQlFLbndVKzk5eHpUNk5GTjhIMkdkSFZxYmk0R0srODhncWlvcUxnOFhnd1o4NGNwS1dsb1cvZnZ1alRwdyt1di81NlJFUkVDTitIUEI0UG5FNG5uRTZuejcrWnpwMDdRNlZTWWM2Y09UN25iN2l3YTlPbVRVSUhpVVdMRmtFbWswR24weUUyTmxab2RqOWh3Z1NrcHFiNkJEU1h5NFU5ZS9aZ3o1NDlvdC9mK1YvUEZvc0ZLMWV1eEU4Ly9ZVDc3cnNQdlh2M0JnQm9OSm9XcDZCNFYyRTduYzQydmFKRUZBemFkWUM4OTk1N2tacWFpc0dEQi90TUJMZlpiRmk5ZWpWMjc5NE5xOVdLakl3TXpKdzVFMUZSVWVqWHJ4OSsvLzEzZlB6eHgvanFxNjlRV1ZtSmpoMDdJajA5dmRINVhTNlhUeWlZTVdOR3M2TkI1MTlLMTJnMFBqK3hlOCtUazVNaituMk9HemV1MFVyRzA2ZFA0K21ubjRiZGJzZi8vdS8vNG9ZYmJoQjlYcWxVS215Ukp0YW5uMzdhNkp2N3FGR2pmRzZmT25VS3p6Ly9QQ0lqSS9IU1N5OGhOallXQlFVRjJMQmhBMzcrK1dmODhzc3ZQaUh2UXU2Ly8zNGhRSjQveXRud2MwcExTOE9lUFhzd2ZQaHdkTzdjR1FrSkNlallzU08wV2kwa0VnbTJiOStPVmF0V1ljU0lFWTNteWdiYlowUlhINFBCZ0JkZmZCRUtoUUxQUGZjY2REb2REaDA2aE04Kyt3dy8vL3d6RGh3NDBLb0ZlN0d4c2NMY3h2TzVYQzRoeEtXbnA4UGo4ZmhzN2VvZERTOHRMY1dCQXdlUWtwTFM2Qks1dytIQWhBa1RHbzM2WDBodGJTMm1UcDNxOC9YczhYanc4c3N2NDhpUkl4ZzVjaVR1dXV1dVZwOFBxTy9uR2hZV3hnQkpkQkhhZFlCTVRFeHNzbCtoVXFsRVRFd01JaUlpTUgzNmRPRlNEVkQvSC9MczJiT3hkdTFhL1B2Zi8wWklTQWhtenB6WjVDVkV1OTN1ODgzdTJXZWZiWEdGc3NmamdkdnRidlJUOXQxMzMzM1JpeWRlZi8xMVlZR0pWK2ZPbmZIMDAwK2pwcWJtb2hkNmVCZDFYSXhSbzBiaDY2Ky9Sa3hNREpLU2tqQjQ4R0NrcEtUNEhKT1VsSVQ1OCtjTEl4cEFmY0JMUzB0RFhWMGRUcDQ4aWZMeWNsUlhWOE5rTXNGcXRjTGhjQWdqdncxSEZodCtodWR6T0J4QytJdVBqOGZTcFVzdmVLejM5L09iaVFmYlowUlhuNGlJQ015Yk53OXl1VnlZQ3p4Z3dBQmhUbUJwYVNuT25qMkxjK2ZPd1dLeHdHNjNDNzFuRy83cTBhTkhrNHNKRzQ1V0F2VWRFYnAxNjlaa0xkNnJLMDIxNFZtNWNxVlB5NS9XaUl5TXhLcFZxM3llSjVGSThPU1RUeUkvUDkrbnUwVnJUWjQ4K1pMNlZ4SzFaeExQcGM3ODk1Ti9mN29KWSsrNjU0cWQzM3VaNWtKN09aODlleFloSVNFdHRwbWd3TFozNzE1MDZ0U3B5VXZvNXlzcUtzTGh3NGN4Y3VUSWRqVmljYVgvdlYwSjNxME1sN3g0cjU4cmFiMkNIdzhpN1pvTWY1ZHhRVWFqRVVxbHNzVU9GSGE3SFhxOUhqRXhNZTFpWCtxcjRiTWp1bFNTQnFOZjdYb0U4a0thMmhidWZJRzhMU0cxbnBoTHd4Y2FjU0c2VkZLcFZHaUlIYWcwR2sycmp2UHUzdFVlQlBwblJuUWw4Q3VlaUNoQXlPVUtPRnJZZVlVQ2o4TnVoMXdlL0tPc1JBMHhRQklSQllod3RScEdvL2dXVU9SZlJxTUI0V3ExdjhzZ2FsTU1rRVJFQVVJYnBVVjFWWlcveXlDUnF2VlYwRVpwL1YwR1VadGlnQ1FpQ2hCcVRRUmtNaG1xOUpYK0xvVmFxVXBmQ1ZtSURHcE5oTDlMSVdwVFYyMkFEQWtKZ2N2VnVQRXlFVjFlTHBmemd0MEk2UEpLVEVwR1JYazVUQ2FqdjB1aEZwaU1SbFNVbHlNeEtkbmZwUkMxdWFzMlFLcFVvYWl6MVBtN0RLS2dWMmVwZzBvbHJtY2ZYVHlsVW9ua3J0MXdxcmlZSTVFQnJFcGZpVk1uaTVIY3RWdWpuckJFN2NGVk82d1FyZE9oOHV4WnFGdlpVb0tJTHM3WnN4V0lqdEg1dTR4MkpWeXRSdmVldlZCNnFnUlZlajJpZFRwb05CR1EvMmNqQW1wN2JyY2JEcnNkUnFNQjFWVlZrTWxrNk42ekY4TWp0VnRYYllCTTZKU0kzMzRwUU5mdTNmMWRDbEZRTzFWeUVuMzdwZm03akhaSHFWU2llMHBQbUl3RzFOYlVvcXBTRDRmRDN1eDJxSFJsU2FWU3lPVUtoS3ZWU09qVWlYTWVxZDI3YWdOa2JJY09DSkVyY0xLNENGMjZzckV6MFpWd3NyZ0lDcmtDc1d5YTd6ZHFUUVREQ2hFRm5LdjZXa2o2TlJrb1BISVllczRUSXJyczlKV1ZLRHh5R0FPNFBSc1JFWjNucWc2UTRXbzFyaDAwR0FlLy93NG5pNHY4WFE1UjBEaFpYSVNEUDN5SGF3Y05ab05rSWlKcTVLcTloTzBWcll2QnNNd2I4ZE9QQjFGU1hJVE95VjNRb1VNY1FzTkNJWk5kOVcrUHFFMjRYRTdVV2Vwdzltd0ZUcGVjUkloY2dXR1pOekk4RWhGUms0SWlZWVdyMVJpVytRZFVuajJMTTJkS1VWSmNES3UxRGs0biswUVN0VVpJU0FoVXFsQkV4K2lRMmkrTmN4NkppT2lDZ2lKQWVzVjI2TUQvK0lpSWlJaXVzS3Q2RGlRUkVSRVJ0VDBHU0NJaUlpSVNoUUdTaUlpSWlFUmhnQ1FpSWlJaVVSZ2dpWWlJaUVnVUJrZ2lJaUlpRW9VQmtvaUlpSWhFWVlBa0lpSWlJbEVZSUltSWlJaElGQVpJSWlJaUloS0ZBWktJaUlpSVJHR0FKQ0lpSWlKUkdDQ0ppSWlJU0JRR1NDSWlJaUlTaFFHU2lJaUlpRVJoZ0NRaUlpSWlVUmdnaVlpSWlFZ1VCa2dpSWlJaUVvVUJrb2lJaUloRVlZQWtJaUlpSWxFWUlJbUlpSWhJRkFaSUlpSWlJaEtGQVpLSWlJaUlSR0dBSkNJaUlpSlJRdnhkQUJFUk5jOWtOS0MycGhabWt3a09oeDF1dDl2ZkpiVkxVcWtVY3JrQzRXbzF0RkZhcURVUi9pNkp5SzhZSUltSUFwRE5aa1BwcVJLNFhDNUU2M1NJN2RBQmNvVUNVaWt2SFBtRDIrMkd3MjZIMFdqQW1iSXl5R1MvSXpFcEdVcWwwdCtsRWZrRkF5UVJVWUF4bTB3b0tTNUNYSHc4ZERHeC9pNkhVRDhDcVZTcG9GU3BFQlBiQVZYNlNwd29QSXJrcnQwUXJsYjd1enlpTnNjZlpZbUlBb2pOWmtOSmNSR1N1blpsZUF4Z3VwaFlKSFh0aXBMaUl0aHNObitYUTlUbUdDQ0ppQUpJNmFrU3hNWEhRNjNXK0xzVWFvRmFyVUZjZkR4S1Q1WDR1eFNpTnNjQVNVUVVJRXhHQTF3dUYwY2VyeUs2bUZpNFhDNllqQVovbDBMVXBoZ2dpWWdDUkcxTkxhSjFPbitYUVNKRjYzU29yYW4xZHhsRWJZb0Jrb2dvUUpoTkptallIdWFxbzlGRXdHd3krYnNNb2piRkFFbEVGQ0FjRGp2a0NvVy95eUNSNUFvRkhBNjd2OHNnYWxNTWtFUkVBY0x0ZHJQUDQxVklLcFd5d1R1MU8veE9SVVJFUkVTaU1FQVNVVkNTeWFSd3V6MytMb09JS0NneFFCSlJVSkxKcEhBNmVWbVJpT2hLWUlBa29xQ2tVSVRBN1hLanR0Ymk3MUtJaUlJT0F5UVJCYVd3Y0NVQTRMZWZ5L3hjQ1JGUjhHR0FKS0tnRkJJaWhWSWx4M2Zmbm9DSFV5R0ppQzRyQmtnaUNscFIwZUVvSzYzQno0ZE8rYnVVZ1BEYmI3L2hyYmZlZ3NWeStTL3JsNVdWSVRjM0YyVmxIUEVsYWc4WUlJa29hSVdGS2RDelYwZmtiRG9JbzhIcTczTDg3dWpSbzhqTnpVVmVYbDZybjJPMVd1Rnl1Vm84N3F1dnZzSmJiNzJGVHovOTlGSktoTlZxeGZ6NTgvSEZGMSswNm5pSHd3R24wd25QZWNQTTFkWFZxSzZ1Um0xdGJhTmZsWldWc05sc2wxUW5VWHNYNHU4Q2lJaXVwRC9lZnoxZWZYazcxcjY5QjQ5T3V4bHloY3pmSmZuTmpUZmVpQTBiTmlBL1B4K2pSNDl1MVhQbXo1K1Bpb3FLUnZmLzR4Ly9RRXhNRElENkVKZWZuNC91M2J2ajRNR0RNQnFOMEdnMHJUcS93K0dBdytGQWFHZ29KQklKcEZJcFNrcEtXajFLdW43OWVtemR1dFhudnRHalIrUDA2ZE1vS0NobzlubXpaczFDU2tvS0FFQWlrU0F5TXJKVnIwZEU5UmdnaVNpb1JVU0c0c0hKbVZpOWNoZGVmL1ZMUERqNUQ5QkdoZm03ckN2R2FyWGlvWWNldXVBeHAwK2ZSbFpXVnBPUHhjVEU0Qi8vK0lkd2U4R0NCWkRKWkpESjZvUDM1czJic1czYk5wK0FtSmVYaDdxNk9zeWFOUXV2dnZvcXNyT3pNVzNhdEZiVnUzSGpSbXpac2dWcjFxeUJTcVVTWHNkc051UE1tVFBDY1I2UEIzYTdIWEZ4Y1FnTCsrL25OMjdjT0l3YU5Rb2hJU0dRU0NSWXZIZ3hrcE9Ua1pXVkJaUEpoRWNmZlJULyt0ZS9vTkZva0pXVmhaZGZmaGtWRlJWWXZueTVjSTc0K0hqODdXOS9hMVc5UkZTUEFaS0lnbDduWkIybVB6RVM3NzZWajc4dit3SzMzTm9Yd3pKVEVDSVB2dEZJcGJKKzlYbEdSa2F6SWJFNXMyZlBobHd1OTdsUHA5UDUzSFk0SEpETDVjTHIxTlhWWWRPbVRiamxsbHNRSFIyTkJ4NTRBQXNYTGtSS1NncEdqaHpaNG1zcS9yUDN0L2Q4RW9rRVFIMG8zYnQzcjNDYzIrMkcwK25FN05tejBhOWZQK0YrdVZ5T3ZYdjNZc0NBQVlpUGowZGRYUjIwV3Exd0hnQjQ5TkZIZlY0elBEd2NyNy8rT3FLaW92Q1h2L3dGUFh2MmJMRk9JdkxGQUVsRTdVSkNKeTBlZitvMmJOM3lFN1p1K1JGZjVSNUczN1JFcFBidGhOZ09HbWdpVkZBcTVTMmZLTUI1NXl1R2hvWWlJU0VCMWRYVjhIZzhQa0h3eUpFajJMdDNMNFlPSFlyVTFOUW1uKy9sY0Rpd2QrOWVwS1NrSURFeEVXYXpHVkZSVWNMajc3Ly9QcHhPSis2KysyNEFRTGR1M2ZESFAvNFJhOWV1UlUxTkRlNjk5MTVoVkxFcDNxQjMvdTkzM25tbmNNNExNUmdNeU03T3hyeDU4eEFmSHcrejJReTFXdTF6elBMbHl4RWVIbzZwVTZjQ0FMNzk5bHZzMjdjUDQ4YU5RMUZSVWFPQVNVUXRZNEFrb25ZalhLM0VmVm1Ea1RtOEYvYnNQb3FDbjA3ajIzM0gvVjJXNFA4OTJPdVN6K0YydXpGKy9IZ2tKU1VCQU5hc1dZTmZmLzBWOTl4ekQrNjQ0dzdJWkRKWXJWYms1dVlpTmpiV0owRE9tREZER0JIMHFxdXJ3NXR2dm9scDA2WUpBVEk2T2hvQThNVVhYeUF2THc4VEowNEVBQmlOUmdEQThPSEQ4ZnZ2dnlNbkp3Y0hEaHpBdUhIak1IVG9VSjlSd2N2Rk8xY3lKaVlHRG9jRGRyc2Q0ZUhoUHNmTW1UUEg1L2FmLy94bkpDUWtZTTJhTlVoUFQwZGlZdUpscjRzbzJERkFFbEc3RTUrZ3hYMVpnK0YyZTNENlZCVnFxczA0ZDY0T05xdkR6NVZkK3VzckZBcU1IejlldVAzSUk0OWcvZnIxV0xkdUhmTHo4ekZseWhSaHhYSmNYSnpQYzRjTUdkTG9mRzUzL1hhUUVSRVJBT3JuSnNiRnhXSG56cDE0NzczM2tKYVdocHljSEh6MDBVZU5uanRwMGlSa1oyZmoxMTkveGJCaHd3RFV6Nzg4ZlBndzVISTVaRElaVHA0OENRREl6OC8zZWU3Smt5Y2IzZWZ4ZU9CeXVlQjBPb1hMNDk0QUdSRVJBYlBaREFDTlJpQlhyMTRObDh1RjZkT25ZOU9tVGNqS3lrSnBhU25rY2prT0hUcUVmZnYyQ2ZVUlVlc3dRQkpSdXlXVlNwRGNKUWJKWFdMOFhRb0FvT0RIZzVmdFhQLzg1ei9SdDI5ZlpHWm1ZdkxreVJnMGFCRGVlZWNkcU5WcTZQVjZBQkJHRWkvRTZYUUNxTDhrRHRRSFNKMU9oNXR1dWdsNnZSNTMzbmtuQ2dzTGZSYmF1TjF1Mk8xMlpHUmtJQ1VsUlZpdERRREhqeC9IdSsrK0M2bFVLc3kzVkNxVmVPZWRkNFJqbEVvbENnb0tHcTJpOW5nOGNMdmQ4SGc4UW9Dc3E2c0RBSVNGaGFHOHZCeFNxUlFxbFFybDVlWDQ5ZGRmQVFDTEZpMFNWcEtieldaOC92bm4yTEZqQjU1NDRnbDgvLzMzZU9PTk45Q25UNTlXL1gwUVVUMEdTQ0tpSUdNMEdsRldWb2I4L0h6czJiTUhqenp5Q05MUzB2RHl5eTlESnBNSndVcE1nUFNHUGU4Y1NKbE1KbHk2VGs5UGIvYjVYYnAwOGJrOWJOZ3dEQmt5QkNxVnFzbmpIUTRIdG16WmdwU1VGS1NscFRWNWpIZFUxRnVQU3FXQ1ZDcUYyV3hHV0ZnWUpCSUpqaDQ5aXV6c2JLU25weU05UFIzOSsvZkhVMDg5aGZIanh5TTdPeHQzM25rbkJnMGFoTDU5K3lJbEpZWGhrVWdrTmhJbklnb3lHbzBHenozM0hCNTg4RUVVRmhiaXVlZWVnOHZsRWtZSWEycHFJSlBKZkJiRE5NY2JJS3VxcW5EbXpCbFlMQlo0UEI1VVYxY0RxTitCeG1LeG9LS2lBaSsrK0tJdzB2ZkxMNzlnM2JwMXduRmVDb1dpVVhqY3NtVUxEaHc0SU56ZXVIRWpqaHc1MHFnV3ZWNFB1OTBPcWZTLy8zV1p6V1pZclZaa1pXVmgwYUpGTUpsTXlNcktRdWZPbmJGcTFTck1uVHNYSTBlT1JIeDhQT2JQbncrMzI0MlJJMGRDTHBkaitmTGxNQnFOclZvdFRrUytPQUpKUkJSRUxCWUxGQW9GWkRJWlJvNGNpVDU5K3FDNnV0cG5KZlRaczJjUkd4dmJhSFcwMisyR3crR0FUQ1pEU0VqOWZ3L2VIVnRlZnZsbDRiajMzMzhmSjA2Y3dPVEprekYvL253ODlOQkR5TWpJUUVGQkFVNmRPb1c0dURnVUZCUWdOemUzeFpYVSsvZnZ4OGNmZjR4Ky9mb2hQVDFkZUYzdjcxNE9od092dlBJS25FNG41czJiSjRUZkcyNjR3V2VrMG1nMFl2SGl4VkNwVkRoOStqU3lzN05oTnB0eDd0dzVZUUZSang0OWtKR1JnUnR2dkJFR2d3RWRPM1lVKzlkTTFPNHhRQklSQlpISmt5ZTMrdGptK2tUT21ERkRXRkRUdlh0M2ZQamhoejZQUC83NDQ5Qm9OQWdORFVYLy92MVJVRkNBNGNPSEl6bzZHbVZsWmJqdXV1dFFXRmlJZ1FNSE5udXBHcWpmbTN2VnFsWG8zNzgvWnMrZTdSTm9HNjdZOW5nOFdMVnFGWXFMaTNIYmJiZjVqSnlxMVdxbzFXcDRQQjZjT1hOR3VCU3RWQ3JSczJkUDNIYmJiVkFvRkVoTlRZVldxMFZXVmhZaUl5TngxMTEzSVM4dkQ5bloyWGptbVdlUWtKRFE2cjgzSW1LQUpDSUtLbzg4OG9pd3dybXB0amsvL1BBRDl1M2JoNGtUSnpaYWhlMGRnZXpXclZ1ajV6bWRUcHc5ZXhhaG9hR29xNnNURnRVTUhEZ1FIMzMwRVR3ZUQ1S1RrM0htekJrNG5VNFVGeGZqOXR0dmI3Yk9YMzc1QlgvNzI5L1FvMGNQUFBua2s0MUdITDFjTGhmKytjOS9Zdi8rL2JqNTVwdng1ei8vMmVmeGlvb0tmUDMxMThqUHowZGNYSnp3dUhkWG02cXFLbno3N2JmbzI3Y3Z6cDQ5Q3dBNGVQQWdQdjc0WTN6KytlY1lPWElrNXo4U1hRUUdTQ0tpSURKOCtQQm1IenQ2OUNnT0hEaUE5UFIwakJneEFqazVPUmcxYWhTMFdtMlR4Ly8rKys5WXZYbzFhbXBxVUYxZERiZmJqVm16WnNGcXRRcmJDZmJ2M3g5dnZmVVdpb3FLMExkdlg1dzdkdzZGaFlWd3U5M05Mb0xadjM4L1ZxNWNpWjQ5ZTJMdTNMbU5lazk2MWRiVzRyWFhYc1BodzRjeGR1eFlUSnc0c2RISTVOS2xTMkV5bVhEVFRUZGg1TWlSc0ZxdEFPcEhJTDNiSk02ZVBSdnIxcTNEd1lQMXE5elQwOU9SazVPRC8vbWYvOEhZc1dOYi9Ec2xvc1lZSUltSWdwelZhc1hXclZ2eDZhZWZJakV4RWRPblQ4ZnUzYnZ4MldlZlljZU9IUmc5ZWpUR2pCblQ2SEp6WEZ3Y0pCSUpCZzRjaU42OWU2Tjc5KzdRYXJWd09wM0NzYkd4c2JqNTVwc1JFaEtDTys2NEF3Q3didDA2OU9yVnkyZlA2b1lHREJpQU8rKzhFK1BHaldzMlBCNDZkQWlmZi80NW5FNG5IbnZzTVdSbVpqWTZSaUtSNE9HSEgwYTNidDJFUHBYSGpoMkRUQ2JEMXExYnNXWExGano1NUpNd0dBekl6ODlIVmxZV1B2endRd3dmUGh3ZWp3ZmJ0bTFEcjE2OXVKVWgwVVZnZ0NRaUNrSWVqd2ZIamgzRE45OThnNzE3OThKc05tUG8wS0Y0K09HSEVSb2FpanZ1dUFOcGFXbllzR0VETm0vZWpKMDdkK0t1dSs3Q3JiZmVLc3hGbEVna1dMUm9rYzk1YTJ0ckFkVDNoYlJZTEpESlpIamdnUWNBMUM5MEFlcTNDaHd4WWdUc2RqdnNkbnVqeHQ0cWxRb1RKa3p3dWM5Z01PRFlzV1BZdjM4L2dQb2dPR2pRSUdSbFpTRTJOcmJaOTNsK0M2Rmp4NDRoTkRRVVk4YU1RZi8rL2VGd09MQml4UXJjZXV1dEdETm1ERDc4OEVOSUpCTE1tREVEeTVjdngrTEZpekY4K0hCTW5qejVpdXlVUXhTc0dDQ0ppSUxJaVJNbjhNa25uK0Q0OGVPd1dDeVFTQ1JJUzB2RDJMRmpHKzE3blppWWlDZWVlQUxIang5SGRuWTJzck96c1hQblRpeGR1clRSYU9TK2ZmdnczWGZmQ2ZNSW82S2lzR3paTWhRV0ZqWlp4N3AxNjdCdTNUb0E4Rm1FWXphYnNYbnpabGl0VmhpTlJsUlZWYUd5c2xMWUJqRW1KZ1pqeG96QlRUZmRoUGo0K0ZhLzczMzc5dUdOTjk2QXcrRkF2Mzc5SUpWS2NlellNYXhidHc0WkdSbDQ0SUVIaFA2UkhvOEhvYUdobUQ5L1B0NSsrMjNjY01NTkRJOUVJakZBRWhFRmtlN2R1eU01T1JrQWtKR1JnVUdEQmpVN3g5R3JSNDhlV0x4NE1iWnYzdzYzMjkza3ltbWRUb2VmZnZvSkNRa0pHRDE2TlByMDZZTnAwNmJCNC9GY01IeDU1eVI2aFllSHcyUXk0ZnZ2djRkT3AwT0hEaDJRbXBxS3BLUWtwS1NrTkZyWTAxb0RCdzdFd0lFRDBiTm5Ud3diTmd5VmxaWDQ3TFBQTUdqUUlFeVpNZ1ZTcVZUWXRjWnV0d09vYjQ0K1pjcVVpM285b3ZaTzR2RnVpa3BFRkVSV3Y3WUxBUERZakZ2OFhFbnJGZng0RUduWFpQaTdqQ1o1LzZ1NEhDTjFMWVhPeTZXNnV0cG5oYlhINDhHNWMrY1FGaGJXN056TGl4WElueDNSNVNKcDhBK1hJNUJFUkFGQ0twWEM3WGI3N0xRU0tDNW40R3VyeThYbnQrZVJTQ1F0anNaZWpFRDl6SWl1Skg3RkV4RUZDTGxjQWNkL0xxL1MxY05odDBNdXY3d2pta1NCamdHU2lDaEFoS3ZWTUJvTi9pNkRSRElhRFFnL2I2VTVVYkJqZ0NRaUNoRGFLQzJxcTZyOFhRYUpWSzJ2Z2picThsOGFKd3BrREpCRVJBRkNyWWxMOXlSOUFBQVJQMGxFUVZTbzMzNVBYK252VXFpVnF2U1ZrSVhJb05aRStMc1VvamJGQUVsRUZFQVNrNUpSVVY0T2s4bm83MUtvQlNhakVSWGw1VWhNU3ZaM0tVUnRqZ0dTaUNpQUtKVktKSGZ0aGxQRnhSeUpER0JWK2txY09sbU01Szdkb0ZRcS9WME9VWnRqR3g4aW9nQVRybGFqZTg5ZUtEMVZnaXE5SHRFNkhUU2FDTWdWQ3JhTDhSTzMydzJIM1E2ajBZRHFxaXJJWkRKMDc5bUw0WkhhTFFaSUlxSUFwRlFxMFQybEoweEdBMnByYWxGVnFZZkRZUmUyNDZPMkpaVktJWmNyRUs1V0k2RlRKODU1cEhhUEFaS0lLSUNwTlJFTUswUVVjSGd0aElpSWlJaEVZWUFrSWlJaUlsRVlJSW1JaUloSUZBWklJaUlpSWhLRkFaS0lpSWlJUkdHQUpDSWlJaUpSR0NDSmlJaUlTQlFHU0NJaUlpSVNoUUdTaUlpSWlFUmhnQ1FpSWlJaVVSZ2dpWWlJaUVnVUJrZ2lJaUlpRW9VQmtvaUlpSWhFWVlBa0lpSWlJbEVZSUltSWlJaElGQVpJSWlJaUloS0ZBWktJaUlpSVJHR0FKQ0lpSWlKUkdDQ0ppSWlJU0JRR1NDSWlJaUlTaFFHU2lJaUlpRVJoZ0NRaUlpSWlVUmdnaVlpSWlFZ1VCa2dpSWlJaUVvVUJrb2lJaUloRVlZQWtJaUlpSWxFWUlJbUlpSWhJRkFaSUlpSWlJaEtGQVpLSWlJaUlSQW54ZHdGRVJOUThrOUdBMnBwYW1FMG1PQngydU4xdWY1ZlVMa21sVXNqbENvU3IxZEJHYWFIV1JQaTdKQ0svWW9Ba0lncEFOcHNOcGFkSzRISzVFSzNUSWJaREI4Z1ZDa2lsdkhEa0QyNjNHdzY3SFVhakFXZkt5aUNUL1k3RXBHUW9sVXAvbDBia0Z3eVFSRVFCeG13eW9hUzRDSEh4OGRERnhQcTdIRUw5Q0tSU3BZSlNwVUpNYkFkVTZTdHhvdkFva3J0MlE3aGE3ZS95aU5vY2Y1UWxJZ29nTnBzTkpjVkZTT3JhbGVFeGdPbGlZcEhVdFN0S2lvdGdzOW44WFE1Um0yT0FKQ0lLSUtXblNoQVhIdysxV3VQdlVxZ0ZhclVHY2ZIeEtEMVY0dTlTaU5vY0F5UVJVWUF3R1Exd3VWd2NlYnlLNkdKaTRYSzVZRElhL0YwS1VadGlnQ1FpQ2hDMU5iV0kxdW44WFFhSkZLM1RvYmFtMXQ5bEVMVXBCa2dpb2dCaE5wbWdZWHVZcTQ1R0V3R3p5ZVR2TW9qYUZBTWtFVkdBY0Rqc2tDc1UvaTZEUkpJckZIQTQ3UDR1ZzZoTk1VQVNFUVVJdDl2TlBvOVhJYWxVeWdidjFPN3dPeFVSQlMrUHZ3c2dJZ3BPREpCRUZKVEN3NVdvcStObFJTS2lLNEVCa29pQ1VrUmtLQXlHT24rWFFVUVVsQmdnaVNnb2RZaUxnTmxrUTIydHhkK2xFQkVGSFFaSUlncEtxZjA2QVFCKys3bk16NVVRRVFVZkJrZ2lDa3BhYlJpU3U4VGd1MjlQd01QRk5FUkVseFVESkJFRnJWdHY3NGV5MGhyOGZPaVV2MHRwY3dhREFjZVBINGZOWnZPNTMrRndZTWVPSGZBMFNOWDUrZm5ZdjM4L3JGYnJSYjNXbVRObkxxbld0dUJ3T1B4ZEFsRlFZWUFrb3FEVnMzYzhldmJxaUp4TkIyRTBYRnc0dWxyOTlOTlBXTGh3SVF3RzN6MmFyVllyUHZqZ0F4UVVGQWozYmR5NEVXdlhyb1hGSW42KzZDdXZ2SUk1YytiZzlPblRsMXp6eFRDYnpUaHo1a3lqWHczRGNGbFpHYVpObTRadnZ2bkdMelVTQmFNUWZ4ZEFSSFNsU0NUQUgrKy9IcSsrdkIxcjM5NkRSNmZkRExsQzV1K3kya1JJU1AyM2Q0MUc0M08vUnFQQjlkZGZqME9IRG1IQWdBRTRmUGd3S2lzck1YdjJiRVJIUnpkNUxyZmJEYnU5NlpaSUF3Y094UGZmZjQvdDI3ZmpUMy82azNDL3grT0IwK21FeStXQ1Zxc0ZVQi8yUHZqZ0E4amxjc2hrNGo4SHQ5c05wOU9KUVlNR0lTMHREUUN3Yjk4K3ZQdnV1ejdIeVdReXZQYmFhMUNwVkFDQURSczJ3R2F6UWF2Vk5ob3REUXNMRStvam90WmpnQ1Npb0JZUkdZb0hKMmRpOWNwZGVQM1ZML0hnNUQ5QUd4WG03N0t1T08rT05vb0dXeVBxOVhwWUxCWU1IandZTVRFeE9IUG1ETFp1M1lyazVHUjA3TmhSQ0ZmeDhmR1FTQ1RDODQ0Y09ZS2xTNWRlOFBWeWMzT1JtNXZiNlA3bzZHaXNYTGtTQUdDejJiQm56eDRvRklvbUEyUmRYUjFjTGhmVWFuV1RyK0YydStGd09KQ1ltQ2dFU08vN1c3Tm1EVlFxRlpZc1dlSVRDZ3NLQ3JCLy8zNEF3SklsU3hxZDg1bG5ubUdBSkxvSURKQkVGUFE2Sitzdy9ZbVJlUGV0ZlB4OTJSZTQ1ZGErR0phWmdoQjU4STFHMm13MmhJU0VDQUd3NGRhSU8zYnN3TTZkTzRYUlNiUFpESVZDQWJsY2prV0xGc0hoY01CbXMrR2RkOTZCVXFrVW51Yzkvc2tubjhTQUFRTUFBQmFMQlZhckZWcXQxdWMxYW1wcVlEQVkwS2xUSjdqZGJyaGNMdUd4Nk9ob3ZQZmVlODNXdm1qUkloUVdGdUtOTjk1bzlmdHQrTm9XaXdXRmhZV1lPWE1tZ1BwNW9ONXpqUjQ5R3ZmZmY3OXcvL3o1ODlHdlh6LzA2OWV2MWE5RlJQL0ZBRWxFN1VKQ0p5MGVmK28yYk4zeUU3WnUrUkZmNVI1RzM3UkVwUGJ0aE5nT0dtZ2lWRkFxNWY0dTg1SXRXN1lNaHc4ZkZtNW5aV1VCQVA3NjE3OGlLeXRMdUEwQWp6enlDTzY3N3o2TUdERUNBTEJ6NTA2c1diUEdaOVFTK0c5SUN3a0pnVnhlLzNlMGJkczI1T1RrWU8zYXRjSjlBSkNYbDRlY25CeTgrKzY3Q0EwTnZUSnZzb25hQU9ENzc3OUhhR2dvcnJubUdsZ3NGaXhidGd3QThOaGpqK0dOTjk2QVZDckYyTEZqc1d6Wk1xalZha3lhTk9tSzEwY1VyQmdnaWFqZENGY3JjVi9XWUdRTzc0VTl1NCtpNEtmVCtIYmZjWCtYSmZoL0QvYTY1SE5NbWpRSkhvOEhIMzMwRVg3ODhVY3NXN1lNZHJzZEhUdDJiUFU1R2w2K1B0K0pFeWVnVUNpRVJTcVZsWlUrajN2dlAzdjJMRHdlRHh3T0I3cDE2M1lSNzBTODNidDNZOUNnUWNJSTdPREJnNUdSa1lGT25UcEJKcFBoOWRkZng0NGRPeEFaR1ltRkN4Y0tjeVNKU0R3R1NDSnFkK0lUdExndmF6RGNiZzlPbjZwQ1RiVVo1ODdWd1diMWQ2dVhTMy85eE1SRUFFQjVlYm5QYmFCK0RxVDM4cTdYbWpWcnNHYk5HcC83UEI2UFQ0aDB1OTMxMVRrY1dMUm9FUlFLaFhCcGV0R2lSYjd2NEQvdGNwNTc3am00WEM1NFBKNUc1Mit0OCt1NEVMMWVqNk5IandxanFUS1pER1BIamhWcU9ubnlKRHdlRDJReUdXcHFhckJod3daY2UrMjE2TktsQzZLaW9scjlPa1JVandHU2lOb3RxVlNDNUM0eFNPNFM0KzlTQUFBRlB4NjhMT2NwS3l2RDc3Ly9EcUEraEZrc0ZvU0hoOE5vTkFJQW5uLytlU2lWU2l4Y3VCQ2pSbzNDa0NGRGZKNS9mcGp5QmtpMVdpM01ZZHk4ZVRNKytlU1RSdk1WbTd0ZnJFT0hEdUg5OTkvSEUwODhnVTZkT3JWNGZFeE1ESzY1NWhwczJMQUJBd2NPaEVxbGdzbGt3cDQ5ZTdCdDJ6WllMQlpNbVRJRmd3WU53cnAxNjdCcjF5N3MzcjBiUVAxbDhMLys5YS9vM0xuekpkVk0xSjR3UUJJUkJabjgvSHpoenkrODhBTFVhalVlZi94eEdJMUdTQ1FTZE9uU0JSS0pCRktwRkpHUmtVaElTTGpnK1p4T0p3RDR6SFgwamtDZTN4YkhHMUxkYnJmUC9FU3hhbXRyVVY1ZWpzV0xGMlB1M0xubzBhTkhpOCtaUEhreW5ucnFLYXhmdng0dWx3dTdkdTJDVkNyRkgvN3dCMHlZTUFGV3F4Vno1ODdGdEduVE1HYk1HT3pjdVJNLy9QQURwRklwd3lPUlNBeVFSRVJCeEdheklTOHZEOTI3ZDhlSkV5ZWcxV3F4Yjk4K25EaHhBdFhWMVZBb0ZNTGxiYmZialhQbnpqVUtnVEV4TVQ0TGFieTcyVFJjRk9QdEN6bDc5dXdtNjdEYjdaYzB4L0RHRzIrRVNxWEN5cFVyOGNJTEwyRHUzTG5vM2J2M0JaOFRGUldGRVNOR1lQdjI3WGptbVdlZ1ZDcVJtcHFLMk5oWW1NMW0xTmJXUXEvWG82cXFDaHFOQnBtWm1SZzZkS2lvK2FGRVZJOEJrb2dvaU96Y3VSTjFkWFhJek16RWlSTW5NSEhpUk96ZnZ4K2ZmZllaT25mdURKdk41aFA2Tm03Y2lJMGJOL3FjNDRVWFhrQ1hMbDJFMjJhekdVRDlKZXpxNm1yWWJEYmNldXV0dVAzMjI1dXR3Mkt4UUNhVCtZeGFpalY0OEdESTVYS3NXTEVDTDczMEVwNSsrdWtXUTZST3A0UEQ0VUJFUkFTNmQrOHVyTVJ1eU51WEV2RHRVMGxFcmNjQVNVUVVKQ3dXQ3padjNveGh3NFloTWpJU1FIMmdtanAxS3RMVDA2RlNxWERQUGZmZ20yKyt3UWNmZkFDcjFZcUpFeWNLQzArQStyWS81NGUrbXBvYXlPVnlSRVJFNE0wMzM4VHUzYnVGZVpMZUhwRU5PUndPeE1URVlObXlaWmNVSUFFZ0l5TURNMmZPeElvVks3QnMyVEk4Ly96emlJK1BiM1NjM1c2SFhxL0hOOTk4QTdsY2p0RFFVRVJGUmVGZi8vb1gxR28xSkJJSnFxdXJNWDM2ZE15Wk13ZlhYSE9Oc0ZzT0VZbkh2YkNKaUlKRVdGZ1loZzRkaXJ2dnZ0dm4vdXV2djE2NG5Lelg2L0hPTys5Zy9Qanh6YzVSUEg4UlRVVkZCV0ppWWlDUlNQRHd3dy9qZ3c4K3dKUXBVeUNUeWJCZ3dRS3NYYnRXK0RWbXpCaElwVkk4OXRoamw2MU56clhYWG91SEhub0l0OTEyVzdPWG00MUdJK2JObTRmaTRtSk1talFKWldWbFdMUm9FVTZmUHQzc0NtdnZQTkNHKzJZVFVldHdCSktJS0loTW1qUUpFb2tFSjArZWJQU1l3V0RBU3krOWhNVEVSQXdmUGh6cjFxM3plYnpocmpFTm5UaHhRbGhrNHQyQ01ETXpFei84OEFQKy92ZS9ZOEdDQmVqVXFSUHk4dkt3ZWZObVBQREFBK2pUcDg5bGZWODMzM3p6QlIvWDZYUjQ1cGxua0pTVUJMVmFqUysrK0FJQW10eUNjZm55NVQ2M0l5TWpzWHIxNnN0WExGRTd3QUJKUkJSRW1odHRPM255SkY1OTlWVzQzVzdNbkRuVDV6aVh5NFhQUC84Y3g0NGRBMUEva3VtbDErdHgrdlRwSmdQY1k0ODloaVZMbHVEWlo1L0ZrQ0ZEa0p1Yml3a1RKdUMyMjI2N3pPK3FlZDRXUXdDUW1wb3EvSG5Zc0dIQ3RvdGU1ODZkdzVJbFMvRFFRdzhoTlRVVkhvK24wWGFMUk5RNkRKQkVSRUdzcnE0T24zenlDYjc4OGt0MDdOZ1I4K2JOZzFhckJWRGZJOUxiWE52cGRPTEVpUlBJeXNvU0hnZUFYYnQyUVNLUllPREFnWTNPYmJWYTBiOS9meFFYRjJQWHJsMklqbzVHeDQ0ZFlUQVlFQkVSSWJwV2J4Z1UwMEM4WVlCc0tDSWlvbEVOM2t2cU9wMnV4ZFpGUkhSaERKQkVSRUhJdXpna0pDUUVIbzhIQXdZTXdOU3BVMzFHRjEwdWx6RDZObTdjdUVaekordnE2dkRsbDEraWI5KytpSXFLd29FREIxQmJXNHZUcDAranNMQVFKU1VsQ0E4UHgrMjMzNDdPblR0ajM3NTllUDMxMStGMnU2SFZhaEVYRjRmbzZHam9kRHBNbkRpeHhiNlEzbHFjVG1lckY5K0lXUVRqUFpZTFo0Z3VIUU1rRVZFUVVxbFU2TnExSzF3dUYvNzBwejlCS3BVMkd0VkxURXdVQW1WVDRTNDBOQlIvK2N0ZjRIUTZJWlBKY09qUUlYejk5ZGRJU2twQy8vNzljZi85OTZOMzc5N0N2TWliYnJvSkpwTUpSNDRjd2ZIangzSHExQ2tjUDM0Y1NVbEpyV29xUG16WU1QVHIxMC9VKzB4SVNNQXR0OXdpMUhBaGNya2N0OXh5QzZLam8wVzlCaEUxSnZGNFBCNS9GMEZFUlBWYkdhWmRrK0h2TXBwMXFidkxCTE5BLyt5SUxnZEpnNTlDK1oyQWlDaEFTS1hTWnVmMEJRS0d4Nll4V0ZON3hLOTRJcUlBSVpjcjRQalBGb0YwOVhEWTdaRExGUzBmU0JSRUdDQ0ppQUpFdUZvTm85SGc3ekpJSktQUmdIQzEydDlsRUxVcEJrZ2lvZ0NoamRLaXVxckszMldRU05YNkttaWp0QzBmU0JSRUdDQ0ppQUtFV2hNQm1VeUdLbjJsdjB1aFZxclNWMElXSW9OYUk3N3ZKZEhWakFHU2lDaUFKQ1lsbzZLOEhDYVQwZCtsVUF0TVJpTXF5c3VSbUpUczcxS0kyaHpiK0JBUkJSaXp5WVNTNGlMRXhjZERGeFByNzNLb0NWWDZTbFNVbHlPNWF6Zk9mNlIybzJFYkh3WklJcUlBWkxQWlVIcXFCQzZYQzlFNkhUU2FDTWdWQ3JhTDhSTzMydzJIM1E2ajBZRHFxaXJJWkRJa0ppVkRxVlQ2dXpTaU5zTUFTVVIwbFRBWkRhaXRxWVhaWklMRFlRL29QcEhCVENxVlFpNVhJRnl0aGpaS3l6bVAxQzR4UUJJUkVSR1JLTnlKaG9pSWlJZ3VHZ01rRVJFUkVZbkNBRWxFUkVSRW9qQkFFaEVSRVpFb0RKQkVSRVJFSkFvREpCRVJFUkdKd2dCSlJFUkVSS0l3UUJJUkVSR1JLQXlRUkVSRVJDUUtBeVFSRVJFUmljSUFTVVJFUkVTaU1FQVNFUkVSa1NnTWtFUkVSRVFrQ2dNa0VSRVJFWW5DQUVsRVJFUkVvakJBRWhFUkVaRW9ESkJFUkVSRUpBb0RKQkVSRVJHSndnQkpSRVJFUktJd1FCSVJFUkdSS0F5UVJFUkVSQ1FLQXlRUkVSRVJpY0lBU1VSRVJFU2lNRUFTRVJFUmtTZ01rRVJFUkVRa0NnTWtFUkVSRVluQ0FFbEVSRVJFb2pCQUVoRVJFWkVvREpCRVJFUkVKQW9ESkJFUkVSR0p3Z0JKUkVSRVJLSXdRQklSRVJHUktBeVFSRVJFUkNRS0F5UVJFUkVSaWNJQVNVUkVSRVNpTUVBU0VSRVJrU2dNa0VSRVJFUWtDZ01rRVJFUkVZbkNBRWxFUkVSRW9qQkFFaEVSRVpFb0RKQkVSRVJFSkFvREpCRVJFUkdKd2dCSlJFUkVSRVJFUkVSRVJFUkVSRVFCNHY4REZIaXBvOHBJVmJnQUFBQUFTVVZPUks1Q1lJST0iLAoJIlRoZW1lIiA6ICIiLAoJIlR5cGUiIDogIm1pbmQiLAoJIlZlcnNpb24iIDogIjQiCn0K"/>
    </extobj>
  </extobjs>
</s:customData>
</file>

<file path=customXml/itemProps7.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2841</Words>
  <Application>WPS 演示</Application>
  <PresentationFormat>On-screen Show (4:3)</PresentationFormat>
  <Paragraphs>318</Paragraphs>
  <Slides>29</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29</vt:i4>
      </vt:variant>
    </vt:vector>
  </HeadingPairs>
  <TitlesOfParts>
    <vt:vector size="40" baseType="lpstr">
      <vt:lpstr>Arial</vt:lpstr>
      <vt:lpstr>宋体</vt:lpstr>
      <vt:lpstr>Wingdings</vt:lpstr>
      <vt:lpstr>微软雅黑</vt:lpstr>
      <vt:lpstr>Palatino Linotype</vt:lpstr>
      <vt:lpstr>Times New Roman</vt:lpstr>
      <vt:lpstr>Wingdings</vt:lpstr>
      <vt:lpstr>Calibri</vt:lpstr>
      <vt:lpstr>Arial Unicode MS</vt:lpstr>
      <vt:lpstr>方正宋刻本秀楷简体</vt:lpstr>
      <vt:lpstr>Office Theme</vt:lpstr>
      <vt:lpstr>机器学习实验课2</vt:lpstr>
      <vt:lpstr>PowerPoint 演示文稿</vt:lpstr>
      <vt:lpstr>数据相关</vt:lpstr>
      <vt:lpstr>PowerPoint 演示文稿</vt:lpstr>
      <vt:lpstr>PowerPoint 演示文稿</vt:lpstr>
      <vt:lpstr>PowerPoint 演示文稿</vt:lpstr>
      <vt:lpstr>PowerPoint 演示文稿</vt:lpstr>
      <vt:lpstr>线性回归</vt:lpstr>
      <vt:lpstr>线性回归</vt:lpstr>
      <vt:lpstr>PowerPoint 演示文稿</vt:lpstr>
      <vt:lpstr>线性回归的实际用途</vt:lpstr>
      <vt:lpstr>线性回归的应用</vt:lpstr>
      <vt:lpstr>Sklearn中的线性回归</vt:lpstr>
      <vt:lpstr>最小二乘法</vt:lpstr>
      <vt:lpstr>逻辑回归</vt:lpstr>
      <vt:lpstr>逻辑回归——分类问题</vt:lpstr>
      <vt:lpstr>逻辑回归——分类问题</vt:lpstr>
      <vt:lpstr>PowerPoint 演示文稿</vt:lpstr>
      <vt:lpstr>预测西瓜成熟度</vt:lpstr>
      <vt:lpstr>实验步骤</vt:lpstr>
      <vt:lpstr>实验步骤</vt:lpstr>
      <vt:lpstr>实验步骤</vt:lpstr>
      <vt:lpstr>对西瓜好坏进行分类</vt:lpstr>
      <vt:lpstr>实验步骤</vt:lpstr>
      <vt:lpstr>实验步骤</vt:lpstr>
      <vt:lpstr>PowerPoint 演示文稿</vt:lpstr>
      <vt:lpstr>损失函数</vt:lpstr>
      <vt:lpstr>梯度下降</vt:lpstr>
      <vt:lpstr>梯度下降</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sklearn库的安装</dc:title>
  <dc:creator>QW</dc:creator>
  <cp:lastModifiedBy>Bin</cp:lastModifiedBy>
  <cp:revision>68</cp:revision>
  <dcterms:created xsi:type="dcterms:W3CDTF">2022-02-24T06:40:00Z</dcterms:created>
  <dcterms:modified xsi:type="dcterms:W3CDTF">2023-03-16T01:59:25Z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2017-05-18T00:00:00Z</vt:filetime>
  </property>
  <property fmtid="{D5CDD505-2E9C-101B-9397-08002B2CF9AE}" pid="3" name="Creator">
    <vt:lpwstr>Microsoft® PowerPoint® 2016</vt:lpwstr>
  </property>
  <property fmtid="{D5CDD505-2E9C-101B-9397-08002B2CF9AE}" pid="4" name="LastSaved">
    <vt:filetime>2022-02-27T00:00:00Z</vt:filetime>
  </property>
  <property fmtid="{D5CDD505-2E9C-101B-9397-08002B2CF9AE}" pid="5" name="KSOProductBuildVer">
    <vt:lpwstr>2052-11.1.0.13703</vt:lpwstr>
  </property>
  <property fmtid="{D5CDD505-2E9C-101B-9397-08002B2CF9AE}" pid="6" name="ICV">
    <vt:lpwstr>244F929687B14A8CBE0C2874BCF075D5</vt:lpwstr>
  </property>
</Properties>
</file>