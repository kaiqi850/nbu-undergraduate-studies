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460" r:id="rId3"/>
    <p:sldId id="428" r:id="rId4"/>
    <p:sldId id="479" r:id="rId5"/>
    <p:sldId id="512" r:id="rId6"/>
    <p:sldId id="514" r:id="rId7"/>
    <p:sldId id="515" r:id="rId8"/>
    <p:sldId id="501" r:id="rId9"/>
    <p:sldId id="500" r:id="rId10"/>
    <p:sldId id="429" r:id="rId11"/>
    <p:sldId id="516" r:id="rId12"/>
    <p:sldId id="520" r:id="rId13"/>
    <p:sldId id="430" r:id="rId14"/>
    <p:sldId id="517" r:id="rId15"/>
    <p:sldId id="449" r:id="rId16"/>
    <p:sldId id="456" r:id="rId18"/>
  </p:sldIdLst>
  <p:sldSz cx="12192000" cy="6858000"/>
  <p:notesSz cx="12192000" cy="6858000"/>
  <p:custDataLst>
    <p:tags r:id="rId23"/>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90" userDrawn="1">
          <p15:clr>
            <a:srgbClr val="A4A3A4"/>
          </p15:clr>
        </p15:guide>
        <p15:guide id="2" pos="217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990"/>
        <p:guide pos="217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gs" Target="tags/tag5.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3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sz="2000" b="0"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3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543555" y="1412747"/>
            <a:ext cx="6624828" cy="3977640"/>
          </a:xfrm>
          <a:prstGeom prst="rect">
            <a:avLst/>
          </a:prstGeom>
          <a:blipFill>
            <a:blip r:embed="rId2" cstate="print"/>
            <a:stretch>
              <a:fillRect/>
            </a:stretch>
          </a:blipFill>
        </p:spPr>
        <p:txBody>
          <a:bodyPr wrap="square" lIns="0" tIns="0" rIns="0" bIns="0" rtlCol="0"/>
          <a:lstStyle/>
          <a:p/>
        </p:txBody>
      </p:sp>
      <p:sp>
        <p:nvSpPr>
          <p:cNvPr id="2" name="Holder 2"/>
          <p:cNvSpPr>
            <a:spLocks noGrp="1"/>
          </p:cNvSpPr>
          <p:nvPr>
            <p:ph type="title"/>
          </p:nvPr>
        </p:nvSpPr>
        <p:spPr/>
        <p:txBody>
          <a:bodyPr lIns="0" tIns="0" rIns="0" bIns="0"/>
          <a:lstStyle>
            <a:lvl1pPr>
              <a:defRPr sz="53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109216" y="1519427"/>
            <a:ext cx="7973568" cy="4780788"/>
          </a:xfrm>
          <a:prstGeom prst="rect">
            <a:avLst/>
          </a:prstGeom>
          <a:blipFill>
            <a:blip r:embed="rId2" cstate="print"/>
            <a:stretch>
              <a:fillRect/>
            </a:stretch>
          </a:blipFill>
        </p:spPr>
        <p:txBody>
          <a:bodyPr wrap="square" lIns="0" tIns="0" rIns="0" bIns="0" rtlCol="0"/>
          <a:lstStyle/>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标题幻灯片">
    <p:bg>
      <p:bgPr>
        <a:solidFill>
          <a:srgbClr val="F2F2F2"/>
        </a:solidFill>
        <a:effectLst/>
      </p:bgPr>
    </p:bg>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22C0167-E855-4D17-BF35-432B61D5C6E4}"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EF3F989F-8D12-475D-9C50-23F49E8F4161}"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399">
        <p14:doors dir="vert"/>
      </p:transition>
    </mc:Choice>
    <mc:Fallback>
      <p:transition spd="slow">
        <p:fade/>
      </p:transition>
    </mc:Fallback>
  </mc:AlternateContent>
  <p:timing>
    <p:tnLst>
      <p:par>
        <p:cTn id="1" dur="indefinite" restart="never" nodeType="tmRoot"/>
      </p:par>
    </p:tnLst>
  </p:timing>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580129" y="438734"/>
            <a:ext cx="5031740" cy="838200"/>
          </a:xfrm>
          <a:prstGeom prst="rect">
            <a:avLst/>
          </a:prstGeom>
        </p:spPr>
        <p:txBody>
          <a:bodyPr wrap="square" lIns="0" tIns="0" rIns="0" bIns="0">
            <a:spAutoFit/>
          </a:bodyPr>
          <a:lstStyle>
            <a:lvl1pPr>
              <a:defRPr sz="53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1399412" y="1832435"/>
            <a:ext cx="9393174" cy="4598035"/>
          </a:xfrm>
          <a:prstGeom prst="rect">
            <a:avLst/>
          </a:prstGeom>
        </p:spPr>
        <p:txBody>
          <a:bodyPr wrap="square" lIns="0" tIns="0" rIns="0" bIns="0">
            <a:spAutoFit/>
          </a:bodyPr>
          <a:lstStyle>
            <a:lvl1pPr>
              <a:defRPr sz="2000" b="0"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tags" Target="../tags/tag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hyperlink" Target="https://scikit-learn.org/stable/modules/generated/sklearn.decomposition.PCA.html?highlight=decomposition%20pca#sklearn.decomposition.PCA"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43583" y="4036314"/>
            <a:ext cx="9715500" cy="0"/>
          </a:xfrm>
          <a:custGeom>
            <a:avLst/>
            <a:gdLst/>
            <a:ahLst/>
            <a:cxnLst/>
            <a:rect l="l" t="t" r="r" b="b"/>
            <a:pathLst>
              <a:path w="9715500">
                <a:moveTo>
                  <a:pt x="0" y="0"/>
                </a:moveTo>
                <a:lnTo>
                  <a:pt x="9715500" y="0"/>
                </a:lnTo>
              </a:path>
            </a:pathLst>
          </a:custGeom>
          <a:ln w="16763">
            <a:solidFill>
              <a:srgbClr val="C19958"/>
            </a:solidFill>
          </a:ln>
        </p:spPr>
        <p:txBody>
          <a:bodyPr wrap="square" lIns="0" tIns="0" rIns="0" bIns="0" rtlCol="0"/>
          <a:lstStyle/>
          <a:p/>
        </p:txBody>
      </p:sp>
      <p:sp>
        <p:nvSpPr>
          <p:cNvPr id="3" name="object 3"/>
          <p:cNvSpPr txBox="1">
            <a:spLocks noGrp="1"/>
          </p:cNvSpPr>
          <p:nvPr>
            <p:ph type="title"/>
          </p:nvPr>
        </p:nvSpPr>
        <p:spPr>
          <a:xfrm>
            <a:off x="4648200" y="152400"/>
            <a:ext cx="2821305" cy="444500"/>
          </a:xfrm>
          <a:prstGeom prst="rect">
            <a:avLst/>
          </a:prstGeom>
        </p:spPr>
        <p:txBody>
          <a:bodyPr vert="horz" wrap="square" lIns="0" tIns="14604" rIns="0" bIns="0" rtlCol="0">
            <a:spAutoFit/>
          </a:bodyPr>
          <a:lstStyle/>
          <a:p>
            <a:pPr marL="12700">
              <a:lnSpc>
                <a:spcPct val="100000"/>
              </a:lnSpc>
              <a:spcBef>
                <a:spcPts val="115"/>
              </a:spcBef>
            </a:pPr>
            <a:r>
              <a:rPr lang="zh-CN" sz="2800" spc="15" dirty="0">
                <a:ea typeface="微软雅黑" panose="020B0503020204020204" charset="-122"/>
              </a:rPr>
              <a:t>机器学习实验课</a:t>
            </a:r>
            <a:r>
              <a:rPr lang="en-US" altLang="zh-CN" sz="2800" spc="15" dirty="0">
                <a:ea typeface="微软雅黑" panose="020B0503020204020204" charset="-122"/>
              </a:rPr>
              <a:t>7</a:t>
            </a:r>
            <a:endParaRPr lang="en-US" altLang="zh-CN" sz="2800" spc="15" dirty="0">
              <a:ea typeface="微软雅黑" panose="020B0503020204020204" charset="-122"/>
            </a:endParaRPr>
          </a:p>
        </p:txBody>
      </p:sp>
      <p:sp>
        <p:nvSpPr>
          <p:cNvPr id="4" name="object 4"/>
          <p:cNvSpPr txBox="1"/>
          <p:nvPr/>
        </p:nvSpPr>
        <p:spPr>
          <a:xfrm>
            <a:off x="6378955" y="3604971"/>
            <a:ext cx="4503420" cy="1980565"/>
          </a:xfrm>
          <a:prstGeom prst="rect">
            <a:avLst/>
          </a:prstGeom>
        </p:spPr>
        <p:txBody>
          <a:bodyPr vert="horz" wrap="square" lIns="0" tIns="17145" rIns="0" bIns="0" rtlCol="0">
            <a:spAutoFit/>
          </a:bodyPr>
          <a:lstStyle/>
          <a:p>
            <a:pPr marR="5080" algn="r">
              <a:lnSpc>
                <a:spcPct val="100000"/>
              </a:lnSpc>
              <a:spcBef>
                <a:spcPts val="135"/>
              </a:spcBef>
            </a:pPr>
            <a:r>
              <a:rPr sz="2100" b="1" i="1" spc="20" dirty="0">
                <a:solidFill>
                  <a:srgbClr val="585858"/>
                </a:solidFill>
                <a:latin typeface="Palatino Linotype" panose="02040502050505030304"/>
                <a:cs typeface="Palatino Linotype" panose="02040502050505030304"/>
              </a:rPr>
              <a:t>ML0</a:t>
            </a:r>
            <a:r>
              <a:rPr lang="en-US" sz="2100" b="1" i="1" spc="20" dirty="0">
                <a:solidFill>
                  <a:srgbClr val="585858"/>
                </a:solidFill>
                <a:latin typeface="Palatino Linotype" panose="02040502050505030304"/>
                <a:cs typeface="Palatino Linotype" panose="02040502050505030304"/>
              </a:rPr>
              <a:t>7</a:t>
            </a:r>
            <a:endParaRPr sz="2100">
              <a:latin typeface="Palatino Linotype" panose="02040502050505030304"/>
              <a:cs typeface="Palatino Linotype" panose="02040502050505030304"/>
            </a:endParaRPr>
          </a:p>
          <a:p>
            <a:pPr>
              <a:lnSpc>
                <a:spcPct val="100000"/>
              </a:lnSpc>
            </a:pPr>
            <a:endParaRPr sz="2100">
              <a:latin typeface="Times New Roman" panose="02020603050405020304"/>
              <a:cs typeface="Times New Roman" panose="02020603050405020304"/>
            </a:endParaRPr>
          </a:p>
          <a:p>
            <a:pPr>
              <a:lnSpc>
                <a:spcPct val="100000"/>
              </a:lnSpc>
              <a:spcBef>
                <a:spcPts val="40"/>
              </a:spcBef>
            </a:pPr>
            <a:endParaRPr sz="2800">
              <a:latin typeface="Times New Roman" panose="02020603050405020304"/>
              <a:cs typeface="Times New Roman" panose="02020603050405020304"/>
            </a:endParaRPr>
          </a:p>
          <a:p>
            <a:pPr marR="1304290" algn="ctr">
              <a:lnSpc>
                <a:spcPct val="100000"/>
              </a:lnSpc>
            </a:pPr>
            <a:r>
              <a:rPr lang="en-US" altLang="zh-CN" sz="2400" dirty="0">
                <a:latin typeface="微软雅黑" panose="020B0503020204020204" charset="-122"/>
                <a:cs typeface="微软雅黑" panose="020B0503020204020204" charset="-122"/>
              </a:rPr>
              <a:t>    </a:t>
            </a:r>
            <a:r>
              <a:rPr sz="2400" b="1" dirty="0">
                <a:latin typeface="微软雅黑" panose="020B0503020204020204" charset="-122"/>
                <a:ea typeface="微软雅黑" panose="020B0503020204020204" charset="-122"/>
                <a:cs typeface="微软雅黑" panose="020B0503020204020204" charset="-122"/>
              </a:rPr>
              <a:t>助教：梁威鹏</a:t>
            </a:r>
            <a:endParaRPr sz="2400" b="1">
              <a:latin typeface="微软雅黑" panose="020B0503020204020204" charset="-122"/>
              <a:cs typeface="微软雅黑" panose="020B0503020204020204" charset="-122"/>
            </a:endParaRPr>
          </a:p>
          <a:p>
            <a:pPr marR="1217930" algn="ctr">
              <a:lnSpc>
                <a:spcPct val="100000"/>
              </a:lnSpc>
              <a:spcBef>
                <a:spcPts val="1110"/>
              </a:spcBef>
            </a:pPr>
            <a:endParaRPr sz="2400" b="1">
              <a:latin typeface="微软雅黑" panose="020B0503020204020204" charset="-122"/>
              <a:cs typeface="微软雅黑" panose="020B0503020204020204" charset="-122"/>
            </a:endParaRPr>
          </a:p>
        </p:txBody>
      </p:sp>
      <p:sp>
        <p:nvSpPr>
          <p:cNvPr id="5" name="object 5"/>
          <p:cNvSpPr/>
          <p:nvPr/>
        </p:nvSpPr>
        <p:spPr>
          <a:xfrm>
            <a:off x="2712290" y="4835024"/>
            <a:ext cx="2404664" cy="794484"/>
          </a:xfrm>
          <a:prstGeom prst="rect">
            <a:avLst/>
          </a:prstGeom>
          <a:blipFill>
            <a:blip r:embed="rId1" cstate="print"/>
            <a:stretch>
              <a:fillRect/>
            </a:stretch>
          </a:blipFill>
        </p:spPr>
        <p:txBody>
          <a:bodyPr wrap="square" lIns="0" tIns="0" rIns="0" bIns="0" rtlCol="0"/>
          <a:lstStyle/>
          <a:p/>
        </p:txBody>
      </p:sp>
      <p:sp>
        <p:nvSpPr>
          <p:cNvPr id="6" name="灯片编号占位符 5"/>
          <p:cNvSpPr>
            <a:spLocks noGrp="1"/>
          </p:cNvSpPr>
          <p:nvPr>
            <p:ph type="sldNum" sz="quarter" idx="7"/>
          </p:nvPr>
        </p:nvSpPr>
        <p:spPr/>
        <p:txBody>
          <a:bodyPr/>
          <a:p>
            <a:fld id="{B6F15528-21DE-4FAA-801E-634DDDAF4B2B}" type="slidenum">
              <a:rPr/>
            </a:fld>
            <a:endParaRPr/>
          </a:p>
        </p:txBody>
      </p:sp>
      <p:sp>
        <p:nvSpPr>
          <p:cNvPr id="7" name="object 3"/>
          <p:cNvSpPr txBox="1">
            <a:spLocks noGrp="1"/>
          </p:cNvSpPr>
          <p:nvPr/>
        </p:nvSpPr>
        <p:spPr>
          <a:xfrm>
            <a:off x="2712085" y="2971800"/>
            <a:ext cx="7226300" cy="937260"/>
          </a:xfrm>
          <a:prstGeom prst="rect">
            <a:avLst/>
          </a:prstGeom>
        </p:spPr>
        <p:txBody>
          <a:bodyPr vert="horz" wrap="square" lIns="0" tIns="14604" rIns="0" bIns="0" rtlCol="0">
            <a:spAutoFit/>
          </a:bodyPr>
          <a:lstStyle>
            <a:lvl1pPr>
              <a:defRPr sz="5300" b="0" i="0">
                <a:solidFill>
                  <a:schemeClr val="tx1"/>
                </a:solidFill>
                <a:latin typeface="微软雅黑" panose="020B0503020204020204" charset="-122"/>
                <a:ea typeface="+mj-ea"/>
                <a:cs typeface="微软雅黑" panose="020B0503020204020204" charset="-122"/>
              </a:defRPr>
            </a:lvl1pPr>
          </a:lstStyle>
          <a:p>
            <a:pPr marL="12700">
              <a:lnSpc>
                <a:spcPct val="100000"/>
              </a:lnSpc>
              <a:spcBef>
                <a:spcPts val="115"/>
              </a:spcBef>
            </a:pPr>
            <a:r>
              <a:rPr lang="en-US" altLang="zh-CN" sz="6000" b="1" spc="15" dirty="0">
                <a:ea typeface="微软雅黑" panose="020B0503020204020204" charset="-122"/>
              </a:rPr>
              <a:t>    </a:t>
            </a:r>
            <a:r>
              <a:rPr lang="en-US" altLang="zh-CN" sz="6000" b="1" spc="15" dirty="0">
                <a:latin typeface="Arial" panose="020B0604020202020204" pitchFamily="34" charset="0"/>
                <a:ea typeface="微软雅黑" panose="020B0503020204020204" charset="-122"/>
                <a:cs typeface="Arial" panose="020B0604020202020204" pitchFamily="34" charset="0"/>
              </a:rPr>
              <a:t>   PCA</a:t>
            </a:r>
            <a:r>
              <a:rPr lang="zh-CN" altLang="en-US" sz="6000" b="1" spc="15" dirty="0">
                <a:latin typeface="Arial" panose="020B0604020202020204" pitchFamily="34" charset="0"/>
                <a:ea typeface="微软雅黑" panose="020B0503020204020204" charset="-122"/>
                <a:cs typeface="Arial" panose="020B0604020202020204" pitchFamily="34" charset="0"/>
              </a:rPr>
              <a:t>降维</a:t>
            </a:r>
            <a:endParaRPr lang="zh-CN" altLang="en-US" sz="6000" b="1" spc="15" dirty="0">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0" y="3051810"/>
            <a:ext cx="4634230" cy="754380"/>
          </a:xfrm>
          <a:prstGeom prst="rect">
            <a:avLst/>
          </a:prstGeom>
        </p:spPr>
        <p:txBody>
          <a:bodyPr vert="horz" wrap="square" lIns="0" tIns="15875" rIns="0" bIns="0" rtlCol="0">
            <a:spAutoFit/>
          </a:bodyPr>
          <a:lstStyle/>
          <a:p>
            <a:pPr marL="12700" algn="ctr">
              <a:lnSpc>
                <a:spcPct val="100000"/>
              </a:lnSpc>
              <a:spcBef>
                <a:spcPts val="125"/>
              </a:spcBef>
            </a:pPr>
            <a:r>
              <a:rPr lang="en-US" altLang="zh-CN" sz="4800" b="1" spc="15" dirty="0">
                <a:latin typeface="Times New Roman" panose="02020603050405020304" charset="0"/>
                <a:ea typeface="楷体" panose="02010609060101010101" charset="-122"/>
                <a:cs typeface="Times New Roman" panose="02020603050405020304" charset="0"/>
                <a:sym typeface="+mn-ea"/>
              </a:rPr>
              <a:t>PCA</a:t>
            </a:r>
            <a:r>
              <a:rPr lang="zh-CN" altLang="en-US" sz="4800" b="1" spc="15" dirty="0">
                <a:latin typeface="楷体" panose="02010609060101010101" charset="-122"/>
                <a:ea typeface="楷体" panose="02010609060101010101" charset="-122"/>
                <a:cs typeface="楷体" panose="02010609060101010101" charset="-122"/>
                <a:sym typeface="+mn-ea"/>
              </a:rPr>
              <a:t>降维</a:t>
            </a:r>
            <a:endParaRPr lang="zh-CN" altLang="en-US" sz="4800" b="1" spc="15" dirty="0">
              <a:latin typeface="楷体" panose="02010609060101010101" charset="-122"/>
              <a:ea typeface="楷体" panose="02010609060101010101" charset="-122"/>
              <a:cs typeface="楷体" panose="02010609060101010101" charset="-122"/>
              <a:sym typeface="+mn-ea"/>
            </a:endParaRPr>
          </a:p>
        </p:txBody>
      </p:sp>
      <p:sp>
        <p:nvSpPr>
          <p:cNvPr id="3" name="灯片编号占位符 2"/>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533400" y="762000"/>
            <a:ext cx="11290300" cy="2376170"/>
          </a:xfrm>
          <a:prstGeom prst="rect">
            <a:avLst/>
          </a:prstGeom>
          <a:noFill/>
        </p:spPr>
        <p:txBody>
          <a:bodyPr wrap="square" rtlCol="0" anchor="t">
            <a:spAutoFit/>
          </a:bodyPr>
          <a:p>
            <a:pPr marL="342900" indent="-342900">
              <a:lnSpc>
                <a:spcPct val="125000"/>
              </a:lnSpc>
              <a:spcBef>
                <a:spcPts val="0"/>
              </a:spcBef>
              <a:spcAft>
                <a:spcPts val="0"/>
              </a:spcAft>
              <a:buBlip>
                <a:blip r:embed="rId1"/>
              </a:buBlip>
            </a:pPr>
            <a:r>
              <a:rPr>
                <a:latin typeface="微软雅黑" panose="020B0503020204020204" charset="-122"/>
                <a:ea typeface="微软雅黑" panose="020B0503020204020204" charset="-122"/>
                <a:cs typeface="微软雅黑" panose="020B0503020204020204" charset="-122"/>
              </a:rPr>
              <a:t>主成分分析（Principal Component Analysis，PCA）是最常用的一种降维方法，通常用于高维数据集的探索与可视化，还可以用作数据压缩和预处理等。</a:t>
            </a:r>
            <a:endParaRPr>
              <a:latin typeface="微软雅黑" panose="020B0503020204020204" charset="-122"/>
              <a:ea typeface="微软雅黑" panose="020B0503020204020204" charset="-122"/>
              <a:cs typeface="微软雅黑" panose="020B0503020204020204" charset="-122"/>
            </a:endParaRPr>
          </a:p>
          <a:p>
            <a:pPr marL="342900" indent="-342900">
              <a:buNone/>
            </a:pPr>
            <a:endParaRPr lang="zh-CN" altLang="en-US">
              <a:latin typeface="微软雅黑" panose="020B0503020204020204" charset="-122"/>
              <a:ea typeface="微软雅黑" panose="020B0503020204020204" charset="-122"/>
              <a:cs typeface="微软雅黑" panose="020B0503020204020204" charset="-122"/>
            </a:endParaRPr>
          </a:p>
          <a:p>
            <a:pPr>
              <a:buBlip>
                <a:blip r:embed="rId1"/>
              </a:buBlip>
            </a:pPr>
            <a:endParaRPr lang="zh-CN" altLang="en-US">
              <a:latin typeface="微软雅黑" panose="020B0503020204020204" charset="-122"/>
              <a:ea typeface="微软雅黑" panose="020B0503020204020204" charset="-122"/>
              <a:cs typeface="微软雅黑" panose="020B0503020204020204" charset="-122"/>
            </a:endParaRPr>
          </a:p>
          <a:p>
            <a:pPr marL="342265" indent="-342265" fontAlgn="auto">
              <a:lnSpc>
                <a:spcPct val="125000"/>
              </a:lnSpc>
              <a:spcBef>
                <a:spcPts val="0"/>
              </a:spcBef>
              <a:spcAft>
                <a:spcPts val="0"/>
              </a:spcAft>
              <a:buBlip>
                <a:blip r:embed="rId1"/>
              </a:buBlip>
            </a:pPr>
            <a:r>
              <a:rPr lang="zh-CN" altLang="en-US">
                <a:latin typeface="微软雅黑" panose="020B0503020204020204" charset="-122"/>
                <a:ea typeface="微软雅黑" panose="020B0503020204020204" charset="-122"/>
                <a:cs typeface="微软雅黑" panose="020B0503020204020204" charset="-122"/>
                <a:sym typeface="+mn-ea"/>
              </a:rPr>
              <a:t>PCA可以把具有相关性的高维变量合成为线性无关的低维变量，称为主成分。</a:t>
            </a:r>
            <a:r>
              <a:rPr lang="zh-CN" altLang="en-US">
                <a:solidFill>
                  <a:srgbClr val="FF0000"/>
                </a:solidFill>
                <a:latin typeface="微软雅黑" panose="020B0503020204020204" charset="-122"/>
                <a:ea typeface="微软雅黑" panose="020B0503020204020204" charset="-122"/>
                <a:cs typeface="微软雅黑" panose="020B0503020204020204" charset="-122"/>
                <a:sym typeface="+mn-ea"/>
              </a:rPr>
              <a:t>主成分能够尽可能保留原始数据的信息。</a:t>
            </a:r>
            <a:endParaRPr lang="zh-CN" altLang="en-US"/>
          </a:p>
          <a:p>
            <a:pPr indent="0">
              <a:lnSpc>
                <a:spcPct val="125000"/>
              </a:lnSpc>
              <a:spcBef>
                <a:spcPts val="0"/>
              </a:spcBef>
              <a:spcAft>
                <a:spcPts val="0"/>
              </a:spcAft>
              <a:buNone/>
            </a:pPr>
            <a:endParaRPr lang="zh-CN" altLang="en-US">
              <a:latin typeface="微软雅黑" panose="020B0503020204020204" charset="-122"/>
              <a:ea typeface="微软雅黑" panose="020B0503020204020204" charset="-122"/>
              <a:cs typeface="微软雅黑" panose="020B0503020204020204" charset="-122"/>
            </a:endParaRPr>
          </a:p>
        </p:txBody>
      </p:sp>
      <p:sp>
        <p:nvSpPr>
          <p:cNvPr id="12" name="Rectangle 1"/>
          <p:cNvSpPr/>
          <p:nvPr/>
        </p:nvSpPr>
        <p:spPr>
          <a:xfrm>
            <a:off x="271780" y="71755"/>
            <a:ext cx="245427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381000" y="153035"/>
            <a:ext cx="2531110"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sz="2000" spc="15" dirty="0">
                <a:solidFill>
                  <a:schemeClr val="bg1"/>
                </a:solidFill>
                <a:ea typeface="微软雅黑" panose="020B0503020204020204" charset="-122"/>
                <a:sym typeface="+mn-ea"/>
              </a:rPr>
              <a:t>主成分分析（PCA）</a:t>
            </a:r>
            <a:endParaRPr sz="2000" spc="15" dirty="0">
              <a:solidFill>
                <a:schemeClr val="bg1"/>
              </a:solidFill>
              <a:ea typeface="微软雅黑" panose="020B0503020204020204" charset="-122"/>
              <a:sym typeface="+mn-ea"/>
            </a:endParaRPr>
          </a:p>
        </p:txBody>
      </p:sp>
      <p:sp>
        <p:nvSpPr>
          <p:cNvPr id="9" name="灯片编号占位符 8"/>
          <p:cNvSpPr>
            <a:spLocks noGrp="1"/>
          </p:cNvSpPr>
          <p:nvPr>
            <p:ph type="sldNum" sz="quarter" idx="7"/>
          </p:nvPr>
        </p:nvSpPr>
        <p:spPr/>
        <p:txBody>
          <a:bodyPr/>
          <a:p>
            <a:fld id="{B6F15528-21DE-4FAA-801E-634DDDAF4B2B}" type="slidenum">
              <a:rPr/>
            </a:fl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pic>
        <p:nvPicPr>
          <p:cNvPr id="6" name="图片 5"/>
          <p:cNvPicPr>
            <a:picLocks noChangeAspect="1"/>
          </p:cNvPicPr>
          <p:nvPr/>
        </p:nvPicPr>
        <p:blipFill>
          <a:blip r:embed="rId1"/>
          <a:stretch>
            <a:fillRect/>
          </a:stretch>
        </p:blipFill>
        <p:spPr>
          <a:xfrm>
            <a:off x="791210" y="1237615"/>
            <a:ext cx="9973945" cy="4162425"/>
          </a:xfrm>
          <a:prstGeom prst="rect">
            <a:avLst/>
          </a:prstGeom>
        </p:spPr>
      </p:pic>
      <p:sp>
        <p:nvSpPr>
          <p:cNvPr id="5" name="文本框 4"/>
          <p:cNvSpPr txBox="1"/>
          <p:nvPr/>
        </p:nvSpPr>
        <p:spPr>
          <a:xfrm>
            <a:off x="4932680" y="5487035"/>
            <a:ext cx="2326640" cy="306705"/>
          </a:xfrm>
          <a:prstGeom prst="rect">
            <a:avLst/>
          </a:prstGeom>
          <a:noFill/>
        </p:spPr>
        <p:txBody>
          <a:bodyPr wrap="square" rtlCol="0" anchor="t">
            <a:spAutoFit/>
          </a:bodyPr>
          <a:p>
            <a:r>
              <a:rPr lang="zh-CN" altLang="en-US" sz="1400" b="1" dirty="0">
                <a:solidFill>
                  <a:srgbClr val="44546A"/>
                </a:solidFill>
                <a:latin typeface="方正宋刻本秀楷简体" panose="02000000000000000000" pitchFamily="2" charset="-122"/>
                <a:ea typeface="方正宋刻本秀楷简体" panose="02000000000000000000" pitchFamily="2" charset="-122"/>
              </a:rPr>
              <a:t>图：</a:t>
            </a:r>
            <a:r>
              <a:rPr lang="en-US" altLang="zh-CN" sz="1400" b="1" dirty="0">
                <a:solidFill>
                  <a:srgbClr val="44546A"/>
                </a:solidFill>
                <a:latin typeface="方正宋刻本秀楷简体" panose="02000000000000000000" pitchFamily="2" charset="-122"/>
                <a:ea typeface="方正宋刻本秀楷简体" panose="02000000000000000000" pitchFamily="2" charset="-122"/>
              </a:rPr>
              <a:t>PCA</a:t>
            </a:r>
            <a:r>
              <a:rPr lang="zh-CN" altLang="en-US" sz="1400" b="1" dirty="0">
                <a:solidFill>
                  <a:srgbClr val="44546A"/>
                </a:solidFill>
                <a:latin typeface="方正宋刻本秀楷简体" panose="02000000000000000000" pitchFamily="2" charset="-122"/>
                <a:ea typeface="方正宋刻本秀楷简体" panose="02000000000000000000" pitchFamily="2" charset="-122"/>
              </a:rPr>
              <a:t>降维过程</a:t>
            </a:r>
            <a:endParaRPr lang="zh-CN" altLang="en-US" sz="1400" b="1" dirty="0">
              <a:solidFill>
                <a:srgbClr val="44546A"/>
              </a:solidFill>
              <a:latin typeface="方正宋刻本秀楷简体" panose="02000000000000000000" pitchFamily="2" charset="-122"/>
              <a:ea typeface="方正宋刻本秀楷简体" panose="02000000000000000000" pitchFamily="2" charset="-122"/>
            </a:endParaRPr>
          </a:p>
        </p:txBody>
      </p:sp>
      <p:sp>
        <p:nvSpPr>
          <p:cNvPr id="12" name="Rectangle 1"/>
          <p:cNvSpPr/>
          <p:nvPr/>
        </p:nvSpPr>
        <p:spPr>
          <a:xfrm>
            <a:off x="271780" y="71755"/>
            <a:ext cx="362077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228600" y="152083"/>
            <a:ext cx="3597275"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sz="2000" spc="15" dirty="0">
                <a:solidFill>
                  <a:schemeClr val="bg1"/>
                </a:solidFill>
                <a:ea typeface="微软雅黑" panose="020B0503020204020204" charset="-122"/>
                <a:sym typeface="+mn-ea"/>
              </a:rPr>
              <a:t>主成分分析（PCA）过程</a:t>
            </a:r>
            <a:endParaRPr sz="2000" spc="15" dirty="0">
              <a:solidFill>
                <a:schemeClr val="bg1"/>
              </a:solidFill>
              <a:ea typeface="微软雅黑" panose="020B0503020204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12" name="Rectangle 1"/>
          <p:cNvSpPr/>
          <p:nvPr/>
        </p:nvSpPr>
        <p:spPr>
          <a:xfrm>
            <a:off x="271780" y="71755"/>
            <a:ext cx="362077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228600" y="152083"/>
            <a:ext cx="3597275"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sz="2000" spc="15" dirty="0">
                <a:solidFill>
                  <a:schemeClr val="bg1"/>
                </a:solidFill>
                <a:ea typeface="微软雅黑" panose="020B0503020204020204" charset="-122"/>
                <a:sym typeface="+mn-ea"/>
              </a:rPr>
              <a:t>主成分分析（PCA）过程</a:t>
            </a:r>
            <a:endParaRPr sz="2000" spc="15" dirty="0">
              <a:solidFill>
                <a:schemeClr val="bg1"/>
              </a:solidFill>
              <a:ea typeface="微软雅黑" panose="020B0503020204020204" charset="-122"/>
              <a:sym typeface="+mn-ea"/>
            </a:endParaRPr>
          </a:p>
        </p:txBody>
      </p:sp>
      <p:pic>
        <p:nvPicPr>
          <p:cNvPr id="7" name="图片 6"/>
          <p:cNvPicPr>
            <a:picLocks noChangeAspect="1"/>
          </p:cNvPicPr>
          <p:nvPr/>
        </p:nvPicPr>
        <p:blipFill>
          <a:blip r:embed="rId1"/>
          <a:stretch>
            <a:fillRect/>
          </a:stretch>
        </p:blipFill>
        <p:spPr>
          <a:xfrm>
            <a:off x="1143000" y="762000"/>
            <a:ext cx="7319645" cy="4264660"/>
          </a:xfrm>
          <a:prstGeom prst="rect">
            <a:avLst/>
          </a:prstGeom>
        </p:spPr>
      </p:pic>
      <p:sp>
        <p:nvSpPr>
          <p:cNvPr id="2" name="文本框 1"/>
          <p:cNvSpPr txBox="1"/>
          <p:nvPr/>
        </p:nvSpPr>
        <p:spPr>
          <a:xfrm>
            <a:off x="791210" y="4967605"/>
            <a:ext cx="11122660" cy="1822450"/>
          </a:xfrm>
          <a:prstGeom prst="rect">
            <a:avLst/>
          </a:prstGeom>
          <a:noFill/>
        </p:spPr>
        <p:txBody>
          <a:bodyPr wrap="square" rtlCol="0" anchor="t">
            <a:spAutoFit/>
          </a:bodyPr>
          <a:p>
            <a:pPr marL="285750" indent="-285750">
              <a:lnSpc>
                <a:spcPct val="125000"/>
              </a:lnSpc>
              <a:spcBef>
                <a:spcPts val="0"/>
              </a:spcBef>
              <a:spcAft>
                <a:spcPts val="0"/>
              </a:spcAft>
              <a:buFont typeface="Arial" panose="020B0604020202020204" pitchFamily="34" charset="0"/>
              <a:buChar char="•"/>
            </a:pPr>
            <a:r>
              <a:rPr dirty="0">
                <a:solidFill>
                  <a:srgbClr val="44546A"/>
                </a:solidFill>
                <a:latin typeface="微软雅黑" panose="020B0503020204020204" charset="-122"/>
                <a:ea typeface="微软雅黑" panose="020B0503020204020204" charset="-122"/>
                <a:cs typeface="微软雅黑" panose="020B0503020204020204" charset="-122"/>
              </a:rPr>
              <a:t>在步骤3当中，我们用来找出n个新特征向量，让数据能够被压缩到少数特征上并且总信息量不损失太多的技术就是</a:t>
            </a:r>
            <a:r>
              <a:rPr dirty="0">
                <a:solidFill>
                  <a:srgbClr val="FF0000"/>
                </a:solidFill>
                <a:latin typeface="微软雅黑" panose="020B0503020204020204" charset="-122"/>
                <a:ea typeface="微软雅黑" panose="020B0503020204020204" charset="-122"/>
                <a:cs typeface="微软雅黑" panose="020B0503020204020204" charset="-122"/>
              </a:rPr>
              <a:t>矩阵分解</a:t>
            </a:r>
            <a:r>
              <a:rPr dirty="0">
                <a:solidFill>
                  <a:srgbClr val="44546A"/>
                </a:solidFill>
                <a:latin typeface="微软雅黑" panose="020B0503020204020204" charset="-122"/>
                <a:ea typeface="微软雅黑" panose="020B0503020204020204" charset="-122"/>
                <a:cs typeface="微软雅黑" panose="020B0503020204020204" charset="-122"/>
              </a:rPr>
              <a:t>。</a:t>
            </a:r>
            <a:endParaRPr>
              <a:latin typeface="微软雅黑" panose="020B0503020204020204" charset="-122"/>
              <a:ea typeface="微软雅黑" panose="020B0503020204020204" charset="-122"/>
              <a:cs typeface="微软雅黑" panose="020B0503020204020204" charset="-122"/>
            </a:endParaRPr>
          </a:p>
          <a:p>
            <a:pPr marL="285750" indent="-285750">
              <a:lnSpc>
                <a:spcPct val="125000"/>
              </a:lnSpc>
              <a:spcBef>
                <a:spcPts val="0"/>
              </a:spcBef>
              <a:spcAft>
                <a:spcPts val="0"/>
              </a:spcAft>
              <a:buFont typeface="Arial" panose="020B0604020202020204" pitchFamily="34" charset="0"/>
              <a:buChar char="•"/>
            </a:pPr>
            <a:r>
              <a:rPr dirty="0">
                <a:solidFill>
                  <a:srgbClr val="44546A"/>
                </a:solidFill>
                <a:latin typeface="微软雅黑" panose="020B0503020204020204" charset="-122"/>
                <a:ea typeface="微软雅黑" panose="020B0503020204020204" charset="-122"/>
                <a:cs typeface="微软雅黑" panose="020B0503020204020204" charset="-122"/>
              </a:rPr>
              <a:t>PCA使用</a:t>
            </a:r>
            <a:r>
              <a:rPr dirty="0">
                <a:solidFill>
                  <a:srgbClr val="FF0000"/>
                </a:solidFill>
                <a:latin typeface="微软雅黑" panose="020B0503020204020204" charset="-122"/>
                <a:ea typeface="微软雅黑" panose="020B0503020204020204" charset="-122"/>
                <a:cs typeface="微软雅黑" panose="020B0503020204020204" charset="-122"/>
              </a:rPr>
              <a:t>方差</a:t>
            </a:r>
            <a:r>
              <a:rPr dirty="0">
                <a:solidFill>
                  <a:srgbClr val="44546A"/>
                </a:solidFill>
                <a:latin typeface="微软雅黑" panose="020B0503020204020204" charset="-122"/>
                <a:ea typeface="微软雅黑" panose="020B0503020204020204" charset="-122"/>
                <a:cs typeface="微软雅黑" panose="020B0503020204020204" charset="-122"/>
              </a:rPr>
              <a:t>作为信息量的衡量指标，并且特征值分解来找出空间V。降维完成之后，PCA找到的每个新特征向量就叫做“</a:t>
            </a:r>
            <a:r>
              <a:rPr dirty="0">
                <a:solidFill>
                  <a:srgbClr val="FF0000"/>
                </a:solidFill>
                <a:latin typeface="微软雅黑" panose="020B0503020204020204" charset="-122"/>
                <a:ea typeface="微软雅黑" panose="020B0503020204020204" charset="-122"/>
                <a:cs typeface="微软雅黑" panose="020B0503020204020204" charset="-122"/>
              </a:rPr>
              <a:t>主成分</a:t>
            </a:r>
            <a:r>
              <a:rPr dirty="0">
                <a:solidFill>
                  <a:srgbClr val="44546A"/>
                </a:solidFill>
                <a:latin typeface="微软雅黑" panose="020B0503020204020204" charset="-122"/>
                <a:ea typeface="微软雅黑" panose="020B0503020204020204" charset="-122"/>
                <a:cs typeface="微软雅黑" panose="020B0503020204020204" charset="-122"/>
              </a:rPr>
              <a:t>”。</a:t>
            </a:r>
            <a:endParaRPr dirty="0">
              <a:solidFill>
                <a:srgbClr val="44546A"/>
              </a:solidFill>
              <a:latin typeface="微软雅黑" panose="020B0503020204020204" charset="-122"/>
              <a:ea typeface="微软雅黑" panose="020B0503020204020204" charset="-122"/>
              <a:cs typeface="微软雅黑" panose="020B0503020204020204" charset="-122"/>
            </a:endParaRPr>
          </a:p>
          <a:p>
            <a:pPr marL="285750" indent="-285750">
              <a:lnSpc>
                <a:spcPct val="125000"/>
              </a:lnSpc>
              <a:spcBef>
                <a:spcPts val="0"/>
              </a:spcBef>
              <a:spcAft>
                <a:spcPts val="0"/>
              </a:spcAft>
              <a:buFont typeface="Arial" panose="020B0604020202020204" pitchFamily="34" charset="0"/>
              <a:buChar char="•"/>
            </a:pPr>
            <a:r>
              <a:rPr lang="en-US" dirty="0">
                <a:solidFill>
                  <a:srgbClr val="44546A"/>
                </a:solidFill>
                <a:latin typeface="微软雅黑" panose="020B0503020204020204" charset="-122"/>
                <a:ea typeface="微软雅黑" panose="020B0503020204020204" charset="-122"/>
                <a:cs typeface="微软雅黑" panose="020B0503020204020204" charset="-122"/>
              </a:rPr>
              <a:t>PCA</a:t>
            </a:r>
            <a:r>
              <a:rPr lang="zh-CN" altLang="en-US" dirty="0">
                <a:solidFill>
                  <a:srgbClr val="44546A"/>
                </a:solidFill>
                <a:latin typeface="微软雅黑" panose="020B0503020204020204" charset="-122"/>
                <a:ea typeface="微软雅黑" panose="020B0503020204020204" charset="-122"/>
                <a:cs typeface="微软雅黑" panose="020B0503020204020204" charset="-122"/>
              </a:rPr>
              <a:t>只能去除线性相关性，</a:t>
            </a:r>
            <a:r>
              <a:rPr lang="zh-CN" altLang="en-US" dirty="0">
                <a:solidFill>
                  <a:srgbClr val="FF0000"/>
                </a:solidFill>
                <a:latin typeface="微软雅黑" panose="020B0503020204020204" charset="-122"/>
                <a:ea typeface="微软雅黑" panose="020B0503020204020204" charset="-122"/>
                <a:cs typeface="微软雅黑" panose="020B0503020204020204" charset="-122"/>
              </a:rPr>
              <a:t> </a:t>
            </a:r>
            <a:r>
              <a:rPr lang="zh-CN" altLang="en-US" dirty="0">
                <a:solidFill>
                  <a:srgbClr val="44546A"/>
                </a:solidFill>
                <a:latin typeface="微软雅黑" panose="020B0503020204020204" charset="-122"/>
                <a:ea typeface="微软雅黑" panose="020B0503020204020204" charset="-122"/>
                <a:cs typeface="微软雅黑" panose="020B0503020204020204" charset="-122"/>
              </a:rPr>
              <a:t>非线性相关性。</a:t>
            </a:r>
            <a:endParaRPr lang="zh-CN" altLang="en-US" dirty="0">
              <a:solidFill>
                <a:srgbClr val="44546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5" name="文本框 4"/>
          <p:cNvSpPr txBox="1"/>
          <p:nvPr/>
        </p:nvSpPr>
        <p:spPr>
          <a:xfrm>
            <a:off x="685800" y="914400"/>
            <a:ext cx="11298555" cy="3830955"/>
          </a:xfrm>
          <a:prstGeom prst="rect">
            <a:avLst/>
          </a:prstGeom>
          <a:noFill/>
        </p:spPr>
        <p:txBody>
          <a:bodyPr wrap="square" rtlCol="0" anchor="t">
            <a:spAutoFit/>
          </a:bodyPr>
          <a:p>
            <a:pPr marL="285750" indent="-285750" fontAlgn="auto">
              <a:lnSpc>
                <a:spcPct val="125000"/>
              </a:lnSpc>
              <a:spcBef>
                <a:spcPts val="0"/>
              </a:spcBef>
              <a:spcAft>
                <a:spcPts val="0"/>
              </a:spcAft>
              <a:buFont typeface="Arial" panose="020B0604020202020204" pitchFamily="34" charset="0"/>
              <a:buChar char="•"/>
            </a:pPr>
            <a:r>
              <a:rPr dirty="0">
                <a:solidFill>
                  <a:srgbClr val="FF0000"/>
                </a:solidFill>
                <a:latin typeface="微软雅黑" panose="020B0503020204020204" charset="-122"/>
                <a:ea typeface="微软雅黑" panose="020B0503020204020204" charset="-122"/>
                <a:cs typeface="微软雅黑" panose="020B0503020204020204" charset="-122"/>
                <a:sym typeface="+mn-ea"/>
              </a:rPr>
              <a:t>降维算法</a:t>
            </a:r>
            <a:r>
              <a:rPr dirty="0">
                <a:solidFill>
                  <a:srgbClr val="44546A"/>
                </a:solidFill>
                <a:latin typeface="微软雅黑" panose="020B0503020204020204" charset="-122"/>
                <a:ea typeface="微软雅黑" panose="020B0503020204020204" charset="-122"/>
                <a:cs typeface="微软雅黑" panose="020B0503020204020204" charset="-122"/>
                <a:sym typeface="+mn-ea"/>
              </a:rPr>
              <a:t>，是将已存在的特征进行压缩，降维完毕后的特征不是原本的特征矩阵中的任何一个特征，而是通过某些方式组合起来的</a:t>
            </a:r>
            <a:r>
              <a:rPr dirty="0">
                <a:solidFill>
                  <a:srgbClr val="FF0000"/>
                </a:solidFill>
                <a:latin typeface="微软雅黑" panose="020B0503020204020204" charset="-122"/>
                <a:ea typeface="微软雅黑" panose="020B0503020204020204" charset="-122"/>
                <a:cs typeface="微软雅黑" panose="020B0503020204020204" charset="-122"/>
                <a:sym typeface="+mn-ea"/>
              </a:rPr>
              <a:t>新特征</a:t>
            </a:r>
            <a:r>
              <a:rPr dirty="0">
                <a:solidFill>
                  <a:srgbClr val="44546A"/>
                </a:solidFill>
                <a:latin typeface="微软雅黑" panose="020B0503020204020204" charset="-122"/>
                <a:ea typeface="微软雅黑" panose="020B0503020204020204" charset="-122"/>
                <a:cs typeface="微软雅黑" panose="020B0503020204020204" charset="-122"/>
                <a:sym typeface="+mn-ea"/>
              </a:rPr>
              <a:t>。</a:t>
            </a:r>
            <a:endParaRPr lang="en-US" dirty="0">
              <a:solidFill>
                <a:srgbClr val="44546A"/>
              </a:solidFill>
              <a:latin typeface="微软雅黑" panose="020B0503020204020204" charset="-122"/>
              <a:ea typeface="微软雅黑" panose="020B0503020204020204" charset="-122"/>
              <a:cs typeface="微软雅黑" panose="020B0503020204020204" charset="-122"/>
            </a:endParaRPr>
          </a:p>
          <a:p>
            <a:endParaRPr dirty="0">
              <a:solidFill>
                <a:srgbClr val="44546A"/>
              </a:solidFill>
              <a:latin typeface="微软雅黑" panose="020B0503020204020204" charset="-122"/>
              <a:ea typeface="微软雅黑" panose="020B0503020204020204" charset="-122"/>
              <a:cs typeface="微软雅黑" panose="020B0503020204020204" charset="-122"/>
            </a:endParaRPr>
          </a:p>
          <a:p>
            <a:pPr marL="285750" indent="-285750">
              <a:lnSpc>
                <a:spcPct val="125000"/>
              </a:lnSpc>
              <a:spcBef>
                <a:spcPts val="0"/>
              </a:spcBef>
              <a:spcAft>
                <a:spcPts val="0"/>
              </a:spcAft>
              <a:buFont typeface="Arial" panose="020B0604020202020204" pitchFamily="34" charset="0"/>
              <a:buChar char="•"/>
            </a:pPr>
            <a:r>
              <a:rPr dirty="0">
                <a:solidFill>
                  <a:srgbClr val="FF0000"/>
                </a:solidFill>
                <a:latin typeface="微软雅黑" panose="020B0503020204020204" charset="-122"/>
                <a:ea typeface="微软雅黑" panose="020B0503020204020204" charset="-122"/>
                <a:cs typeface="微软雅黑" panose="020B0503020204020204" charset="-122"/>
              </a:rPr>
              <a:t>特征选择</a:t>
            </a:r>
            <a:r>
              <a:rPr dirty="0">
                <a:solidFill>
                  <a:srgbClr val="44546A"/>
                </a:solidFill>
                <a:latin typeface="微软雅黑" panose="020B0503020204020204" charset="-122"/>
                <a:ea typeface="微软雅黑" panose="020B0503020204020204" charset="-122"/>
                <a:cs typeface="微软雅黑" panose="020B0503020204020204" charset="-122"/>
              </a:rPr>
              <a:t>是从已存在的特征中选取携带信息最多的，选完之后的特征依然</a:t>
            </a:r>
            <a:r>
              <a:rPr dirty="0">
                <a:solidFill>
                  <a:srgbClr val="FF0000"/>
                </a:solidFill>
                <a:latin typeface="微软雅黑" panose="020B0503020204020204" charset="-122"/>
                <a:ea typeface="微软雅黑" panose="020B0503020204020204" charset="-122"/>
                <a:cs typeface="微软雅黑" panose="020B0503020204020204" charset="-122"/>
              </a:rPr>
              <a:t>具有可解释性</a:t>
            </a:r>
            <a:r>
              <a:rPr dirty="0">
                <a:solidFill>
                  <a:srgbClr val="44546A"/>
                </a:solidFill>
                <a:latin typeface="微软雅黑" panose="020B0503020204020204" charset="-122"/>
                <a:ea typeface="微软雅黑" panose="020B0503020204020204" charset="-122"/>
                <a:cs typeface="微软雅黑" panose="020B0503020204020204" charset="-122"/>
              </a:rPr>
              <a:t>，我们依然知道这个特征在原数据的哪个位置，代表着原数据上的什么含义。</a:t>
            </a:r>
            <a:endParaRPr dirty="0">
              <a:solidFill>
                <a:srgbClr val="44546A"/>
              </a:solidFill>
              <a:latin typeface="微软雅黑" panose="020B0503020204020204" charset="-122"/>
              <a:ea typeface="微软雅黑" panose="020B0503020204020204" charset="-122"/>
              <a:cs typeface="微软雅黑" panose="020B0503020204020204" charset="-122"/>
            </a:endParaRPr>
          </a:p>
          <a:p>
            <a:pPr marL="285750" indent="-285750">
              <a:lnSpc>
                <a:spcPct val="125000"/>
              </a:lnSpc>
              <a:spcBef>
                <a:spcPts val="0"/>
              </a:spcBef>
              <a:spcAft>
                <a:spcPts val="0"/>
              </a:spcAft>
              <a:buFont typeface="Arial" panose="020B0604020202020204" pitchFamily="34" charset="0"/>
              <a:buChar char="•"/>
            </a:pPr>
            <a:endParaRPr dirty="0">
              <a:solidFill>
                <a:srgbClr val="44546A"/>
              </a:solidFill>
              <a:latin typeface="微软雅黑" panose="020B0503020204020204" charset="-122"/>
              <a:ea typeface="微软雅黑" panose="020B0503020204020204" charset="-122"/>
              <a:cs typeface="微软雅黑" panose="020B0503020204020204" charset="-122"/>
            </a:endParaRPr>
          </a:p>
          <a:p>
            <a:pPr marL="285750" indent="-285750">
              <a:lnSpc>
                <a:spcPct val="125000"/>
              </a:lnSpc>
              <a:spcBef>
                <a:spcPts val="0"/>
              </a:spcBef>
              <a:spcAft>
                <a:spcPts val="0"/>
              </a:spcAft>
              <a:buFont typeface="Arial" panose="020B0604020202020204" pitchFamily="34" charset="0"/>
              <a:buChar char="•"/>
            </a:pPr>
            <a:r>
              <a:rPr lang="zh-CN" dirty="0">
                <a:solidFill>
                  <a:srgbClr val="FF0000"/>
                </a:solidFill>
                <a:latin typeface="微软雅黑" panose="020B0503020204020204" charset="-122"/>
                <a:ea typeface="微软雅黑" panose="020B0503020204020204" charset="-122"/>
                <a:cs typeface="微软雅黑" panose="020B0503020204020204" charset="-122"/>
              </a:rPr>
              <a:t>两</a:t>
            </a:r>
            <a:r>
              <a:rPr dirty="0">
                <a:solidFill>
                  <a:srgbClr val="FF0000"/>
                </a:solidFill>
                <a:latin typeface="微软雅黑" panose="020B0503020204020204" charset="-122"/>
                <a:ea typeface="微软雅黑" panose="020B0503020204020204" charset="-122"/>
                <a:cs typeface="微软雅黑" panose="020B0503020204020204" charset="-122"/>
              </a:rPr>
              <a:t>种</a:t>
            </a:r>
            <a:r>
              <a:rPr dirty="0">
                <a:solidFill>
                  <a:srgbClr val="44546A"/>
                </a:solidFill>
                <a:latin typeface="微软雅黑" panose="020B0503020204020204" charset="-122"/>
                <a:ea typeface="微软雅黑" panose="020B0503020204020204" charset="-122"/>
                <a:cs typeface="微软雅黑" panose="020B0503020204020204" charset="-122"/>
              </a:rPr>
              <a:t>标准的特征选择方法</a:t>
            </a:r>
            <a:r>
              <a:rPr lang="en-US" dirty="0">
                <a:solidFill>
                  <a:srgbClr val="44546A"/>
                </a:solidFill>
                <a:latin typeface="微软雅黑" panose="020B0503020204020204" charset="-122"/>
                <a:ea typeface="微软雅黑" panose="020B0503020204020204" charset="-122"/>
                <a:cs typeface="微软雅黑" panose="020B0503020204020204" charset="-122"/>
              </a:rPr>
              <a:t>:</a:t>
            </a:r>
            <a:endParaRPr lang="en-US" dirty="0">
              <a:solidFill>
                <a:srgbClr val="44546A"/>
              </a:solidFill>
              <a:latin typeface="微软雅黑" panose="020B0503020204020204" charset="-122"/>
              <a:ea typeface="微软雅黑" panose="020B0503020204020204" charset="-122"/>
              <a:cs typeface="微软雅黑" panose="020B0503020204020204" charset="-122"/>
            </a:endParaRPr>
          </a:p>
          <a:p>
            <a:pPr marL="800100" lvl="1" indent="-342900">
              <a:lnSpc>
                <a:spcPct val="125000"/>
              </a:lnSpc>
              <a:spcBef>
                <a:spcPts val="0"/>
              </a:spcBef>
              <a:spcAft>
                <a:spcPts val="0"/>
              </a:spcAft>
              <a:buFont typeface="Arial" panose="020B0604020202020204" pitchFamily="34" charset="0"/>
              <a:buAutoNum type="arabicPeriod"/>
            </a:pPr>
            <a:r>
              <a:rPr lang="en-US" dirty="0">
                <a:solidFill>
                  <a:srgbClr val="44546A"/>
                </a:solidFill>
                <a:latin typeface="微软雅黑" panose="020B0503020204020204" charset="-122"/>
                <a:ea typeface="微软雅黑" panose="020B0503020204020204" charset="-122"/>
                <a:cs typeface="微软雅黑" panose="020B0503020204020204" charset="-122"/>
              </a:rPr>
              <a:t>嵌入方法：即特征选择与算法训练的过程融为一体</a:t>
            </a:r>
            <a:r>
              <a:rPr lang="zh-CN" altLang="en-US" dirty="0">
                <a:solidFill>
                  <a:srgbClr val="44546A"/>
                </a:solidFill>
                <a:latin typeface="微软雅黑" panose="020B0503020204020204" charset="-122"/>
                <a:ea typeface="微软雅黑" panose="020B0503020204020204" charset="-122"/>
                <a:cs typeface="微软雅黑" panose="020B0503020204020204" charset="-122"/>
              </a:rPr>
              <a:t>。比如L1正则、决策树等。</a:t>
            </a:r>
            <a:endParaRPr lang="zh-CN" altLang="en-US" dirty="0">
              <a:solidFill>
                <a:srgbClr val="44546A"/>
              </a:solidFill>
              <a:latin typeface="微软雅黑" panose="020B0503020204020204" charset="-122"/>
              <a:ea typeface="微软雅黑" panose="020B0503020204020204" charset="-122"/>
              <a:cs typeface="微软雅黑" panose="020B0503020204020204" charset="-122"/>
            </a:endParaRPr>
          </a:p>
          <a:p>
            <a:pPr marL="800100" lvl="1" indent="-342900">
              <a:lnSpc>
                <a:spcPct val="125000"/>
              </a:lnSpc>
              <a:spcBef>
                <a:spcPts val="0"/>
              </a:spcBef>
              <a:spcAft>
                <a:spcPts val="0"/>
              </a:spcAft>
              <a:buFont typeface="Arial" panose="020B0604020202020204" pitchFamily="34" charset="0"/>
              <a:buAutoNum type="arabicPeriod"/>
            </a:pPr>
            <a:r>
              <a:rPr lang="en-US" dirty="0">
                <a:solidFill>
                  <a:srgbClr val="44546A"/>
                </a:solidFill>
                <a:latin typeface="微软雅黑" panose="020B0503020204020204" charset="-122"/>
                <a:ea typeface="微软雅黑" panose="020B0503020204020204" charset="-122"/>
                <a:cs typeface="微软雅黑" panose="020B0503020204020204" charset="-122"/>
              </a:rPr>
              <a:t>过滤方法：在算法运行前进行特征选择。常用对特征重要性(指标如：方差、互信息、相关系数)排序选择，也可以用如随机森林、GBDT等进行特征选择，过滤之后再应用于当前算法。</a:t>
            </a:r>
            <a:endParaRPr lang="en-US" dirty="0">
              <a:solidFill>
                <a:srgbClr val="44546A"/>
              </a:solidFill>
              <a:latin typeface="微软雅黑" panose="020B0503020204020204" charset="-122"/>
              <a:ea typeface="微软雅黑" panose="020B0503020204020204" charset="-122"/>
              <a:cs typeface="微软雅黑" panose="020B0503020204020204" charset="-122"/>
            </a:endParaRPr>
          </a:p>
          <a:p>
            <a:pPr marL="285750" indent="-285750">
              <a:lnSpc>
                <a:spcPct val="125000"/>
              </a:lnSpc>
              <a:spcBef>
                <a:spcPts val="0"/>
              </a:spcBef>
              <a:spcAft>
                <a:spcPts val="0"/>
              </a:spcAft>
              <a:buFont typeface="Arial" panose="020B0604020202020204" pitchFamily="34" charset="0"/>
              <a:buChar char="•"/>
            </a:pPr>
            <a:endParaRPr lang="en-US" dirty="0">
              <a:solidFill>
                <a:srgbClr val="44546A"/>
              </a:solidFill>
              <a:latin typeface="微软雅黑" panose="020B0503020204020204" charset="-122"/>
              <a:ea typeface="微软雅黑" panose="020B0503020204020204" charset="-122"/>
              <a:cs typeface="微软雅黑" panose="020B0503020204020204" charset="-122"/>
            </a:endParaRPr>
          </a:p>
        </p:txBody>
      </p:sp>
      <p:sp>
        <p:nvSpPr>
          <p:cNvPr id="12" name="Rectangle 1"/>
          <p:cNvSpPr/>
          <p:nvPr/>
        </p:nvSpPr>
        <p:spPr>
          <a:xfrm>
            <a:off x="271780" y="71755"/>
            <a:ext cx="286385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271780" y="152400"/>
            <a:ext cx="3021330"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sz="2000" spc="15" dirty="0">
                <a:solidFill>
                  <a:schemeClr val="bg1"/>
                </a:solidFill>
                <a:ea typeface="微软雅黑" panose="020B0503020204020204" charset="-122"/>
                <a:sym typeface="+mn-ea"/>
              </a:rPr>
              <a:t>降维算法与</a:t>
            </a:r>
            <a:r>
              <a:rPr sz="2000" spc="15" dirty="0">
                <a:solidFill>
                  <a:schemeClr val="bg1"/>
                </a:solidFill>
                <a:ea typeface="微软雅黑" panose="020B0503020204020204" charset="-122"/>
                <a:sym typeface="+mn-ea"/>
              </a:rPr>
              <a:t>特征选择</a:t>
            </a:r>
            <a:endParaRPr sz="2000" spc="15" dirty="0">
              <a:solidFill>
                <a:schemeClr val="bg1"/>
              </a:solidFill>
              <a:ea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533400" y="762000"/>
            <a:ext cx="11290300" cy="5354320"/>
          </a:xfrm>
          <a:prstGeom prst="rect">
            <a:avLst/>
          </a:prstGeom>
          <a:noFill/>
        </p:spPr>
        <p:txBody>
          <a:bodyPr wrap="square" rtlCol="0" anchor="t">
            <a:spAutoFit/>
          </a:bodyPr>
          <a:p>
            <a:pPr marL="342900" indent="-342900">
              <a:lnSpc>
                <a:spcPct val="125000"/>
              </a:lnSpc>
              <a:spcBef>
                <a:spcPts val="0"/>
              </a:spcBef>
              <a:spcAft>
                <a:spcPts val="0"/>
              </a:spcAft>
              <a:buBlip>
                <a:blip r:embed="rId1"/>
              </a:buBlip>
            </a:pPr>
            <a:r>
              <a:rPr>
                <a:latin typeface="微软雅黑" panose="020B0503020204020204" charset="-122"/>
                <a:ea typeface="微软雅黑" panose="020B0503020204020204" charset="-122"/>
                <a:cs typeface="微软雅黑" panose="020B0503020204020204" charset="-122"/>
                <a:sym typeface="+mn-ea"/>
              </a:rPr>
              <a:t>方差</a:t>
            </a:r>
            <a:r>
              <a:rPr lang="zh-CN">
                <a:latin typeface="微软雅黑" panose="020B0503020204020204" charset="-122"/>
                <a:ea typeface="微软雅黑" panose="020B0503020204020204" charset="-122"/>
                <a:cs typeface="微软雅黑" panose="020B0503020204020204" charset="-122"/>
                <a:sym typeface="+mn-ea"/>
              </a:rPr>
              <a:t>：是各个样本和样本均值的差的平方和的均值，用来度量一组</a:t>
            </a:r>
            <a:r>
              <a:rPr>
                <a:latin typeface="微软雅黑" panose="020B0503020204020204" charset="-122"/>
                <a:ea typeface="微软雅黑" panose="020B0503020204020204" charset="-122"/>
                <a:cs typeface="微软雅黑" panose="020B0503020204020204" charset="-122"/>
              </a:rPr>
              <a:t>数据的分散程度。</a:t>
            </a:r>
            <a:endParaRPr>
              <a:latin typeface="微软雅黑" panose="020B0503020204020204" charset="-122"/>
              <a:ea typeface="微软雅黑" panose="020B0503020204020204" charset="-122"/>
              <a:cs typeface="微软雅黑" panose="020B0503020204020204" charset="-122"/>
            </a:endParaRPr>
          </a:p>
          <a:p>
            <a:pPr marL="342900" indent="-342900">
              <a:buNone/>
            </a:pPr>
            <a:endParaRPr lang="zh-CN" altLang="en-US">
              <a:latin typeface="微软雅黑" panose="020B0503020204020204" charset="-122"/>
              <a:ea typeface="微软雅黑" panose="020B0503020204020204" charset="-122"/>
              <a:cs typeface="微软雅黑" panose="020B0503020204020204" charset="-122"/>
            </a:endParaRPr>
          </a:p>
          <a:p>
            <a:pPr>
              <a:buBlip>
                <a:blip r:embed="rId1"/>
              </a:buBlip>
            </a:pPr>
            <a:endParaRPr lang="zh-CN" altLang="en-US">
              <a:latin typeface="微软雅黑" panose="020B0503020204020204" charset="-122"/>
              <a:ea typeface="微软雅黑" panose="020B0503020204020204" charset="-122"/>
              <a:cs typeface="微软雅黑" panose="020B0503020204020204" charset="-122"/>
            </a:endParaRPr>
          </a:p>
          <a:p>
            <a:pPr>
              <a:buBlip>
                <a:blip r:embed="rId1"/>
              </a:buBlip>
            </a:pPr>
            <a:endParaRPr lang="zh-CN" altLang="en-US">
              <a:latin typeface="微软雅黑" panose="020B0503020204020204" charset="-122"/>
              <a:ea typeface="微软雅黑" panose="020B0503020204020204" charset="-122"/>
              <a:cs typeface="微软雅黑" panose="020B0503020204020204" charset="-122"/>
            </a:endParaRPr>
          </a:p>
          <a:p>
            <a:pPr>
              <a:buBlip>
                <a:blip r:embed="rId1"/>
              </a:buBlip>
            </a:pPr>
            <a:endParaRPr lang="zh-CN" altLang="en-US">
              <a:latin typeface="微软雅黑" panose="020B0503020204020204" charset="-122"/>
              <a:ea typeface="微软雅黑" panose="020B0503020204020204" charset="-122"/>
              <a:cs typeface="微软雅黑" panose="020B0503020204020204" charset="-122"/>
            </a:endParaRPr>
          </a:p>
          <a:p>
            <a:pPr marL="342265" indent="-342265" fontAlgn="auto">
              <a:lnSpc>
                <a:spcPct val="125000"/>
              </a:lnSpc>
              <a:spcBef>
                <a:spcPts val="0"/>
              </a:spcBef>
              <a:spcAft>
                <a:spcPts val="0"/>
              </a:spcAft>
              <a:buBlip>
                <a:blip r:embed="rId1"/>
              </a:buBlip>
            </a:pPr>
            <a:r>
              <a:rPr>
                <a:latin typeface="微软雅黑" panose="020B0503020204020204" charset="-122"/>
                <a:ea typeface="微软雅黑" panose="020B0503020204020204" charset="-122"/>
                <a:cs typeface="微软雅黑" panose="020B0503020204020204" charset="-122"/>
                <a:sym typeface="+mn-ea"/>
              </a:rPr>
              <a:t>协方差</a:t>
            </a:r>
            <a:r>
              <a:rPr lang="zh-CN">
                <a:latin typeface="微软雅黑" panose="020B0503020204020204" charset="-122"/>
                <a:ea typeface="微软雅黑" panose="020B0503020204020204" charset="-122"/>
                <a:cs typeface="微软雅黑" panose="020B0503020204020204" charset="-122"/>
                <a:sym typeface="+mn-ea"/>
              </a:rPr>
              <a:t>：用于度量两个变量之间的线性相关性程度，若两个变量的协方差为0，则可认为二者线性无关。</a:t>
            </a:r>
            <a:endParaRPr lang="zh-CN">
              <a:latin typeface="微软雅黑" panose="020B0503020204020204" charset="-122"/>
              <a:ea typeface="微软雅黑" panose="020B0503020204020204" charset="-122"/>
              <a:cs typeface="微软雅黑" panose="020B0503020204020204" charset="-122"/>
              <a:sym typeface="+mn-ea"/>
            </a:endParaRPr>
          </a:p>
          <a:p>
            <a:pPr marL="342265" indent="-342265" fontAlgn="auto">
              <a:lnSpc>
                <a:spcPct val="125000"/>
              </a:lnSpc>
              <a:spcBef>
                <a:spcPts val="0"/>
              </a:spcBef>
              <a:spcAft>
                <a:spcPts val="0"/>
              </a:spcAft>
              <a:buBlip>
                <a:blip r:embed="rId1"/>
              </a:buBlip>
            </a:pPr>
            <a:r>
              <a:rPr lang="zh-CN">
                <a:latin typeface="微软雅黑" panose="020B0503020204020204" charset="-122"/>
                <a:ea typeface="微软雅黑" panose="020B0503020204020204" charset="-122"/>
                <a:cs typeface="微软雅黑" panose="020B0503020204020204" charset="-122"/>
                <a:sym typeface="+mn-ea"/>
              </a:rPr>
              <a:t>协方差矩阵则是由变量的协方差值构成的矩阵（对称阵）</a:t>
            </a:r>
            <a:endParaRPr lang="zh-CN" altLang="en-US">
              <a:sym typeface="+mn-ea"/>
            </a:endParaRPr>
          </a:p>
          <a:p>
            <a:pPr marL="342265" indent="-342265" fontAlgn="auto">
              <a:lnSpc>
                <a:spcPct val="125000"/>
              </a:lnSpc>
              <a:spcBef>
                <a:spcPts val="0"/>
              </a:spcBef>
              <a:spcAft>
                <a:spcPts val="0"/>
              </a:spcAft>
              <a:buBlip>
                <a:blip r:embed="rId1"/>
              </a:buBlip>
            </a:pPr>
            <a:endParaRPr lang="zh-CN" altLang="en-US">
              <a:sym typeface="+mn-ea"/>
            </a:endParaRPr>
          </a:p>
          <a:p>
            <a:pPr marL="342265" indent="-342265" fontAlgn="auto">
              <a:lnSpc>
                <a:spcPct val="125000"/>
              </a:lnSpc>
              <a:spcBef>
                <a:spcPts val="0"/>
              </a:spcBef>
              <a:spcAft>
                <a:spcPts val="0"/>
              </a:spcAft>
              <a:buBlip>
                <a:blip r:embed="rId1"/>
              </a:buBlip>
            </a:pPr>
            <a:endParaRPr lang="zh-CN" altLang="en-US">
              <a:sym typeface="+mn-ea"/>
            </a:endParaRPr>
          </a:p>
          <a:p>
            <a:pPr marL="342265" indent="-342265" fontAlgn="auto">
              <a:lnSpc>
                <a:spcPct val="125000"/>
              </a:lnSpc>
              <a:spcBef>
                <a:spcPts val="0"/>
              </a:spcBef>
              <a:spcAft>
                <a:spcPts val="0"/>
              </a:spcAft>
              <a:buBlip>
                <a:blip r:embed="rId1"/>
              </a:buBlip>
            </a:pPr>
            <a:endParaRPr lang="zh-CN" altLang="en-US">
              <a:sym typeface="+mn-ea"/>
            </a:endParaRPr>
          </a:p>
          <a:p>
            <a:pPr marL="342265" indent="-342265" fontAlgn="auto">
              <a:lnSpc>
                <a:spcPct val="125000"/>
              </a:lnSpc>
              <a:spcBef>
                <a:spcPts val="0"/>
              </a:spcBef>
              <a:spcAft>
                <a:spcPts val="0"/>
              </a:spcAft>
              <a:buBlip>
                <a:blip r:embed="rId1"/>
              </a:buBlip>
            </a:pPr>
            <a:r>
              <a:rPr>
                <a:latin typeface="微软雅黑" panose="020B0503020204020204" charset="-122"/>
                <a:ea typeface="微软雅黑" panose="020B0503020204020204" charset="-122"/>
                <a:cs typeface="微软雅黑" panose="020B0503020204020204" charset="-122"/>
                <a:sym typeface="+mn-ea"/>
              </a:rPr>
              <a:t>特征向量和特征值</a:t>
            </a:r>
            <a:r>
              <a:rPr lang="zh-CN">
                <a:latin typeface="微软雅黑" panose="020B0503020204020204" charset="-122"/>
                <a:ea typeface="微软雅黑" panose="020B0503020204020204" charset="-122"/>
                <a:cs typeface="微软雅黑" panose="020B0503020204020204" charset="-122"/>
                <a:sym typeface="+mn-ea"/>
              </a:rPr>
              <a:t>：矩阵的特征向量是描述数据集结构的非零向量，并满足</a:t>
            </a:r>
            <a:r>
              <a:rPr lang="zh-CN">
                <a:latin typeface="微软雅黑" panose="020B0503020204020204" charset="-122"/>
                <a:ea typeface="微软雅黑" panose="020B0503020204020204" charset="-122"/>
                <a:cs typeface="微软雅黑" panose="020B0503020204020204" charset="-122"/>
              </a:rPr>
              <a:t>如下公式：</a:t>
            </a:r>
            <a:endParaRPr lang="zh-CN">
              <a:latin typeface="微软雅黑" panose="020B0503020204020204" charset="-122"/>
              <a:ea typeface="微软雅黑" panose="020B0503020204020204" charset="-122"/>
              <a:cs typeface="微软雅黑" panose="020B0503020204020204" charset="-122"/>
            </a:endParaRPr>
          </a:p>
          <a:p>
            <a:pPr marL="342265" indent="-342265" fontAlgn="auto">
              <a:lnSpc>
                <a:spcPct val="125000"/>
              </a:lnSpc>
              <a:spcBef>
                <a:spcPts val="0"/>
              </a:spcBef>
              <a:spcAft>
                <a:spcPts val="0"/>
              </a:spcAft>
              <a:buBlip>
                <a:blip r:embed="rId1"/>
              </a:buBlip>
            </a:pPr>
            <a:endParaRPr lang="zh-CN">
              <a:latin typeface="微软雅黑" panose="020B0503020204020204" charset="-122"/>
              <a:ea typeface="微软雅黑" panose="020B0503020204020204" charset="-122"/>
              <a:cs typeface="微软雅黑" panose="020B0503020204020204" charset="-122"/>
            </a:endParaRPr>
          </a:p>
          <a:p>
            <a:pPr marL="342265" indent="-342265" fontAlgn="auto">
              <a:lnSpc>
                <a:spcPct val="125000"/>
              </a:lnSpc>
              <a:spcBef>
                <a:spcPts val="0"/>
              </a:spcBef>
              <a:spcAft>
                <a:spcPts val="0"/>
              </a:spcAft>
              <a:buBlip>
                <a:blip r:embed="rId1"/>
              </a:buBlip>
            </a:pPr>
            <a:endParaRPr lang="zh-CN">
              <a:latin typeface="微软雅黑" panose="020B0503020204020204" charset="-122"/>
              <a:ea typeface="微软雅黑" panose="020B0503020204020204" charset="-122"/>
              <a:cs typeface="微软雅黑" panose="020B0503020204020204" charset="-122"/>
            </a:endParaRPr>
          </a:p>
          <a:p>
            <a:pPr marL="342265" indent="-342265" fontAlgn="auto">
              <a:lnSpc>
                <a:spcPct val="125000"/>
              </a:lnSpc>
              <a:spcBef>
                <a:spcPts val="0"/>
              </a:spcBef>
              <a:spcAft>
                <a:spcPts val="0"/>
              </a:spcAft>
              <a:buBlip>
                <a:blip r:embed="rId1"/>
              </a:buBlip>
            </a:pPr>
            <a:endParaRPr>
              <a:latin typeface="微软雅黑" panose="020B0503020204020204" charset="-122"/>
              <a:ea typeface="微软雅黑" panose="020B0503020204020204" charset="-122"/>
              <a:cs typeface="微软雅黑" panose="020B0503020204020204" charset="-122"/>
              <a:sym typeface="+mn-ea"/>
            </a:endParaRPr>
          </a:p>
          <a:p>
            <a:pPr marL="342265" indent="-342265" fontAlgn="auto">
              <a:lnSpc>
                <a:spcPct val="125000"/>
              </a:lnSpc>
              <a:spcBef>
                <a:spcPts val="0"/>
              </a:spcBef>
              <a:spcAft>
                <a:spcPts val="0"/>
              </a:spcAft>
              <a:buBlip>
                <a:blip r:embed="rId1"/>
              </a:buBlip>
            </a:pPr>
            <a:r>
              <a:rPr>
                <a:latin typeface="微软雅黑" panose="020B0503020204020204" charset="-122"/>
                <a:ea typeface="微软雅黑" panose="020B0503020204020204" charset="-122"/>
                <a:cs typeface="微软雅黑" panose="020B0503020204020204" charset="-122"/>
                <a:sym typeface="+mn-ea"/>
              </a:rPr>
              <a:t>原理：矩阵的</a:t>
            </a:r>
            <a:r>
              <a:rPr>
                <a:solidFill>
                  <a:srgbClr val="FF0000"/>
                </a:solidFill>
                <a:latin typeface="微软雅黑" panose="020B0503020204020204" charset="-122"/>
                <a:ea typeface="微软雅黑" panose="020B0503020204020204" charset="-122"/>
                <a:cs typeface="微软雅黑" panose="020B0503020204020204" charset="-122"/>
                <a:sym typeface="+mn-ea"/>
              </a:rPr>
              <a:t>主成分</a:t>
            </a:r>
            <a:r>
              <a:rPr>
                <a:latin typeface="微软雅黑" panose="020B0503020204020204" charset="-122"/>
                <a:ea typeface="微软雅黑" panose="020B0503020204020204" charset="-122"/>
                <a:cs typeface="微软雅黑" panose="020B0503020204020204" charset="-122"/>
                <a:sym typeface="+mn-ea"/>
              </a:rPr>
              <a:t>就是其协方差矩阵对应的</a:t>
            </a:r>
            <a:r>
              <a:rPr>
                <a:solidFill>
                  <a:srgbClr val="FF0000"/>
                </a:solidFill>
                <a:latin typeface="微软雅黑" panose="020B0503020204020204" charset="-122"/>
                <a:ea typeface="微软雅黑" panose="020B0503020204020204" charset="-122"/>
                <a:cs typeface="微软雅黑" panose="020B0503020204020204" charset="-122"/>
                <a:sym typeface="+mn-ea"/>
              </a:rPr>
              <a:t>特征向量</a:t>
            </a:r>
            <a:r>
              <a:rPr>
                <a:latin typeface="微软雅黑" panose="020B0503020204020204" charset="-122"/>
                <a:ea typeface="微软雅黑" panose="020B0503020204020204" charset="-122"/>
                <a:cs typeface="微软雅黑" panose="020B0503020204020204" charset="-122"/>
                <a:sym typeface="+mn-ea"/>
              </a:rPr>
              <a:t>，按照对应的特征值大小进行排序，最大的特征值就是第一主成分，其次是第二主成分，以此类推。</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2" name="Rectangle 1"/>
          <p:cNvSpPr/>
          <p:nvPr/>
        </p:nvSpPr>
        <p:spPr>
          <a:xfrm>
            <a:off x="271780" y="71755"/>
            <a:ext cx="362077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381000" y="153353"/>
            <a:ext cx="3597275"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sz="2000" spc="15" dirty="0">
                <a:solidFill>
                  <a:schemeClr val="bg1"/>
                </a:solidFill>
                <a:ea typeface="微软雅黑" panose="020B0503020204020204" charset="-122"/>
                <a:sym typeface="+mn-ea"/>
              </a:rPr>
              <a:t>主成分分析（PCA）</a:t>
            </a:r>
            <a:r>
              <a:rPr lang="en-US" sz="2000" spc="15" dirty="0">
                <a:solidFill>
                  <a:schemeClr val="bg1"/>
                </a:solidFill>
                <a:ea typeface="微软雅黑" panose="020B0503020204020204" charset="-122"/>
                <a:sym typeface="+mn-ea"/>
              </a:rPr>
              <a:t>——</a:t>
            </a:r>
            <a:r>
              <a:rPr sz="2000" spc="15" dirty="0">
                <a:solidFill>
                  <a:schemeClr val="bg1"/>
                </a:solidFill>
                <a:ea typeface="微软雅黑" panose="020B0503020204020204" charset="-122"/>
                <a:sym typeface="+mn-ea"/>
              </a:rPr>
              <a:t>术语</a:t>
            </a:r>
            <a:endParaRPr sz="2000" spc="15" dirty="0">
              <a:solidFill>
                <a:schemeClr val="bg1"/>
              </a:solidFill>
              <a:ea typeface="微软雅黑" panose="020B0503020204020204" charset="-122"/>
              <a:sym typeface="+mn-ea"/>
            </a:endParaRPr>
          </a:p>
        </p:txBody>
      </p:sp>
      <p:sp>
        <p:nvSpPr>
          <p:cNvPr id="9" name="灯片编号占位符 8"/>
          <p:cNvSpPr>
            <a:spLocks noGrp="1"/>
          </p:cNvSpPr>
          <p:nvPr>
            <p:ph type="sldNum" sz="quarter" idx="7"/>
          </p:nvPr>
        </p:nvSpPr>
        <p:spPr/>
        <p:txBody>
          <a:bodyPr/>
          <a:p>
            <a:fld id="{B6F15528-21DE-4FAA-801E-634DDDAF4B2B}" type="slidenum">
              <a:rPr/>
            </a:fld>
            <a:endParaRPr/>
          </a:p>
        </p:txBody>
      </p:sp>
      <p:pic>
        <p:nvPicPr>
          <p:cNvPr id="4" name="图片 3"/>
          <p:cNvPicPr>
            <a:picLocks noChangeAspect="1"/>
          </p:cNvPicPr>
          <p:nvPr>
            <p:custDataLst>
              <p:tags r:id="rId2"/>
            </p:custDataLst>
          </p:nvPr>
        </p:nvPicPr>
        <p:blipFill>
          <a:blip r:embed="rId3"/>
          <a:stretch>
            <a:fillRect/>
          </a:stretch>
        </p:blipFill>
        <p:spPr>
          <a:xfrm>
            <a:off x="3733800" y="1295400"/>
            <a:ext cx="2693035" cy="904875"/>
          </a:xfrm>
          <a:prstGeom prst="rect">
            <a:avLst/>
          </a:prstGeom>
        </p:spPr>
      </p:pic>
      <p:pic>
        <p:nvPicPr>
          <p:cNvPr id="6" name="图片 5"/>
          <p:cNvPicPr>
            <a:picLocks noChangeAspect="1"/>
          </p:cNvPicPr>
          <p:nvPr/>
        </p:nvPicPr>
        <p:blipFill>
          <a:blip r:embed="rId4"/>
          <a:stretch>
            <a:fillRect/>
          </a:stretch>
        </p:blipFill>
        <p:spPr>
          <a:xfrm>
            <a:off x="3352800" y="3048000"/>
            <a:ext cx="5195570" cy="937895"/>
          </a:xfrm>
          <a:prstGeom prst="rect">
            <a:avLst/>
          </a:prstGeom>
        </p:spPr>
      </p:pic>
      <p:pic>
        <p:nvPicPr>
          <p:cNvPr id="7" name="图片 6"/>
          <p:cNvPicPr>
            <a:picLocks noChangeAspect="1"/>
          </p:cNvPicPr>
          <p:nvPr/>
        </p:nvPicPr>
        <p:blipFill>
          <a:blip r:embed="rId5"/>
          <a:stretch>
            <a:fillRect/>
          </a:stretch>
        </p:blipFill>
        <p:spPr>
          <a:xfrm>
            <a:off x="4343400" y="4343400"/>
            <a:ext cx="2101850" cy="68199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12" name="Rectangle 1"/>
          <p:cNvSpPr/>
          <p:nvPr/>
        </p:nvSpPr>
        <p:spPr>
          <a:xfrm>
            <a:off x="271780" y="71755"/>
            <a:ext cx="362077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381000" y="153353"/>
            <a:ext cx="3597275"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sz="2000" spc="15" dirty="0">
                <a:solidFill>
                  <a:schemeClr val="bg1"/>
                </a:solidFill>
                <a:ea typeface="微软雅黑" panose="020B0503020204020204" charset="-122"/>
                <a:sym typeface="+mn-ea"/>
              </a:rPr>
              <a:t>主成分分析（PCA）算法过程</a:t>
            </a:r>
            <a:endParaRPr sz="2000" spc="15" dirty="0">
              <a:solidFill>
                <a:schemeClr val="bg1"/>
              </a:solidFill>
              <a:ea typeface="微软雅黑" panose="020B0503020204020204" charset="-122"/>
              <a:sym typeface="+mn-ea"/>
            </a:endParaRPr>
          </a:p>
        </p:txBody>
      </p:sp>
      <p:pic>
        <p:nvPicPr>
          <p:cNvPr id="6" name="图片 5"/>
          <p:cNvPicPr>
            <a:picLocks noChangeAspect="1"/>
          </p:cNvPicPr>
          <p:nvPr/>
        </p:nvPicPr>
        <p:blipFill>
          <a:blip r:embed="rId1"/>
          <a:stretch>
            <a:fillRect/>
          </a:stretch>
        </p:blipFill>
        <p:spPr>
          <a:xfrm>
            <a:off x="1066800" y="990600"/>
            <a:ext cx="10244455" cy="47212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5800" y="3048000"/>
            <a:ext cx="2909570" cy="754380"/>
          </a:xfrm>
          <a:prstGeom prst="rect">
            <a:avLst/>
          </a:prstGeom>
        </p:spPr>
        <p:txBody>
          <a:bodyPr vert="horz" wrap="square" lIns="0" tIns="15875" rIns="0" bIns="0" rtlCol="0">
            <a:spAutoFit/>
          </a:bodyPr>
          <a:lstStyle/>
          <a:p>
            <a:pPr marL="12700" algn="ctr">
              <a:lnSpc>
                <a:spcPct val="100000"/>
              </a:lnSpc>
              <a:spcBef>
                <a:spcPts val="125"/>
              </a:spcBef>
            </a:pPr>
            <a:r>
              <a:rPr lang="zh-CN" sz="4800" b="1" spc="25" dirty="0">
                <a:latin typeface="楷体" panose="02010609060101010101" charset="-122"/>
                <a:ea typeface="楷体" panose="02010609060101010101" charset="-122"/>
              </a:rPr>
              <a:t>实验任务</a:t>
            </a:r>
            <a:endParaRPr sz="4800" b="1" spc="25" dirty="0">
              <a:latin typeface="楷体" panose="02010609060101010101" charset="-122"/>
              <a:ea typeface="楷体" panose="02010609060101010101" charset="-122"/>
            </a:endParaRPr>
          </a:p>
        </p:txBody>
      </p:sp>
      <p:sp>
        <p:nvSpPr>
          <p:cNvPr id="3" name="灯片编号占位符 2"/>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12" name="Rectangle 1"/>
          <p:cNvSpPr/>
          <p:nvPr/>
        </p:nvSpPr>
        <p:spPr>
          <a:xfrm>
            <a:off x="271780" y="71755"/>
            <a:ext cx="362077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381000" y="153353"/>
            <a:ext cx="3597275"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sz="2000" spc="15" dirty="0">
                <a:solidFill>
                  <a:schemeClr val="bg1"/>
                </a:solidFill>
                <a:ea typeface="微软雅黑" panose="020B0503020204020204" charset="-122"/>
                <a:sym typeface="+mn-ea"/>
              </a:rPr>
              <a:t>主成分分析（PCA）</a:t>
            </a:r>
            <a:r>
              <a:rPr lang="zh-CN" sz="2000" spc="15" dirty="0">
                <a:solidFill>
                  <a:schemeClr val="bg1"/>
                </a:solidFill>
                <a:ea typeface="微软雅黑" panose="020B0503020204020204" charset="-122"/>
                <a:sym typeface="+mn-ea"/>
              </a:rPr>
              <a:t>实验任务</a:t>
            </a:r>
            <a:endParaRPr lang="zh-CN" sz="2000" spc="15" dirty="0">
              <a:solidFill>
                <a:schemeClr val="bg1"/>
              </a:solidFill>
              <a:ea typeface="微软雅黑" panose="020B0503020204020204" charset="-122"/>
              <a:sym typeface="+mn-ea"/>
            </a:endParaRPr>
          </a:p>
        </p:txBody>
      </p:sp>
      <p:sp>
        <p:nvSpPr>
          <p:cNvPr id="6" name="文本框 5"/>
          <p:cNvSpPr txBox="1"/>
          <p:nvPr/>
        </p:nvSpPr>
        <p:spPr>
          <a:xfrm>
            <a:off x="609600" y="762000"/>
            <a:ext cx="11290300" cy="1337945"/>
          </a:xfrm>
          <a:prstGeom prst="rect">
            <a:avLst/>
          </a:prstGeom>
          <a:noFill/>
        </p:spPr>
        <p:txBody>
          <a:bodyPr wrap="square" rtlCol="0" anchor="t">
            <a:spAutoFit/>
          </a:bodyPr>
          <a:p>
            <a:pPr marL="342900" indent="-342900">
              <a:lnSpc>
                <a:spcPct val="150000"/>
              </a:lnSpc>
              <a:spcBef>
                <a:spcPts val="0"/>
              </a:spcBef>
              <a:spcAft>
                <a:spcPts val="0"/>
              </a:spcAft>
              <a:buBlip>
                <a:blip r:embed="rId1"/>
              </a:buBlip>
            </a:pPr>
            <a:r>
              <a:rPr lang="zh-CN">
                <a:latin typeface="微软雅黑" panose="020B0503020204020204" charset="-122"/>
                <a:ea typeface="微软雅黑" panose="020B0503020204020204" charset="-122"/>
                <a:cs typeface="微软雅黑" panose="020B0503020204020204" charset="-122"/>
                <a:sym typeface="+mn-ea"/>
              </a:rPr>
              <a:t>使用PCA算法对sklearn自带的</a:t>
            </a:r>
            <a:r>
              <a:rPr lang="zh-CN">
                <a:latin typeface="微软雅黑" panose="020B0503020204020204" charset="-122"/>
                <a:ea typeface="微软雅黑" panose="020B0503020204020204" charset="-122"/>
                <a:cs typeface="微软雅黑" panose="020B0503020204020204" charset="-122"/>
                <a:sym typeface="+mn-ea"/>
              </a:rPr>
              <a:t>鸢尾花</a:t>
            </a:r>
            <a:r>
              <a:rPr lang="zh-CN">
                <a:latin typeface="微软雅黑" panose="020B0503020204020204" charset="-122"/>
                <a:ea typeface="微软雅黑" panose="020B0503020204020204" charset="-122"/>
                <a:cs typeface="微软雅黑" panose="020B0503020204020204" charset="-122"/>
                <a:sym typeface="+mn-ea"/>
              </a:rPr>
              <a:t>数据集进行降维处理。</a:t>
            </a:r>
            <a:endParaRPr lang="zh-CN">
              <a:latin typeface="微软雅黑" panose="020B0503020204020204" charset="-122"/>
              <a:ea typeface="微软雅黑" panose="020B0503020204020204" charset="-122"/>
              <a:cs typeface="微软雅黑" panose="020B0503020204020204" charset="-122"/>
              <a:sym typeface="+mn-ea"/>
            </a:endParaRPr>
          </a:p>
          <a:p>
            <a:pPr marL="342900" indent="-342900">
              <a:lnSpc>
                <a:spcPct val="150000"/>
              </a:lnSpc>
              <a:spcBef>
                <a:spcPts val="0"/>
              </a:spcBef>
              <a:spcAft>
                <a:spcPts val="0"/>
              </a:spcAft>
              <a:buBlip>
                <a:blip r:embed="rId1"/>
              </a:buBlip>
            </a:pPr>
            <a:r>
              <a:rPr lang="zh-CN" altLang="en-US">
                <a:solidFill>
                  <a:srgbClr val="FF0000"/>
                </a:solidFill>
                <a:latin typeface="微软雅黑" panose="020B0503020204020204" charset="-122"/>
                <a:ea typeface="微软雅黑" panose="020B0503020204020204" charset="-122"/>
                <a:cs typeface="微软雅黑" panose="020B0503020204020204" charset="-122"/>
              </a:rPr>
              <a:t>要求</a:t>
            </a:r>
            <a:r>
              <a:rPr lang="zh-CN" altLang="en-US">
                <a:latin typeface="微软雅黑" panose="020B0503020204020204" charset="-122"/>
                <a:ea typeface="微软雅黑" panose="020B0503020204020204" charset="-122"/>
                <a:cs typeface="微软雅黑" panose="020B0503020204020204" charset="-122"/>
              </a:rPr>
              <a:t>：</a:t>
            </a:r>
            <a:r>
              <a:rPr lang="en-US" altLang="zh-CN">
                <a:latin typeface="微软雅黑" panose="020B0503020204020204" charset="-122"/>
                <a:ea typeface="微软雅黑" panose="020B0503020204020204" charset="-122"/>
                <a:cs typeface="微软雅黑" panose="020B0503020204020204" charset="-122"/>
              </a:rPr>
              <a:t>1. </a:t>
            </a:r>
            <a:r>
              <a:rPr lang="zh-CN" altLang="en-US">
                <a:latin typeface="微软雅黑" panose="020B0503020204020204" charset="-122"/>
                <a:ea typeface="微软雅黑" panose="020B0503020204020204" charset="-122"/>
                <a:cs typeface="微软雅黑" panose="020B0503020204020204" charset="-122"/>
                <a:sym typeface="+mn-ea"/>
              </a:rPr>
              <a:t>并选取最佳的降维维度</a:t>
            </a:r>
            <a:r>
              <a:rPr lang="en-US" altLang="zh-CN">
                <a:latin typeface="微软雅黑" panose="020B0503020204020204" charset="-122"/>
                <a:ea typeface="微软雅黑" panose="020B0503020204020204" charset="-122"/>
                <a:cs typeface="微软雅黑" panose="020B0503020204020204" charset="-122"/>
                <a:sym typeface="+mn-ea"/>
              </a:rPr>
              <a:t>(n_components)</a:t>
            </a:r>
            <a:endParaRPr lang="en-US" altLang="zh-CN">
              <a:latin typeface="微软雅黑" panose="020B0503020204020204" charset="-122"/>
              <a:ea typeface="微软雅黑" panose="020B0503020204020204" charset="-122"/>
              <a:cs typeface="微软雅黑" panose="020B0503020204020204" charset="-122"/>
              <a:sym typeface="+mn-ea"/>
            </a:endParaRPr>
          </a:p>
          <a:p>
            <a:pPr indent="0">
              <a:lnSpc>
                <a:spcPct val="150000"/>
              </a:lnSpc>
              <a:spcBef>
                <a:spcPts val="0"/>
              </a:spcBef>
              <a:spcAft>
                <a:spcPts val="0"/>
              </a:spcAft>
              <a:buNone/>
            </a:pPr>
            <a:r>
              <a:rPr lang="en-US" altLang="zh-CN">
                <a:latin typeface="微软雅黑" panose="020B0503020204020204" charset="-122"/>
                <a:ea typeface="微软雅黑" panose="020B0503020204020204" charset="-122"/>
                <a:cs typeface="微软雅黑" panose="020B0503020204020204" charset="-122"/>
              </a:rPr>
              <a:t> 	  2. </a:t>
            </a:r>
            <a:r>
              <a:rPr lang="zh-CN" altLang="en-US">
                <a:latin typeface="微软雅黑" panose="020B0503020204020204" charset="-122"/>
                <a:ea typeface="微软雅黑" panose="020B0503020204020204" charset="-122"/>
                <a:cs typeface="微软雅黑" panose="020B0503020204020204" charset="-122"/>
              </a:rPr>
              <a:t>自己实现的</a:t>
            </a:r>
            <a:r>
              <a:rPr lang="en-US" altLang="zh-CN">
                <a:latin typeface="微软雅黑" panose="020B0503020204020204" charset="-122"/>
                <a:ea typeface="微软雅黑" panose="020B0503020204020204" charset="-122"/>
                <a:cs typeface="微软雅黑" panose="020B0503020204020204" charset="-122"/>
              </a:rPr>
              <a:t>PCA</a:t>
            </a:r>
            <a:r>
              <a:rPr lang="zh-CN" altLang="en-US">
                <a:latin typeface="微软雅黑" panose="020B0503020204020204" charset="-122"/>
                <a:ea typeface="微软雅黑" panose="020B0503020204020204" charset="-122"/>
                <a:cs typeface="微软雅黑" panose="020B0503020204020204" charset="-122"/>
              </a:rPr>
              <a:t>代码和</a:t>
            </a:r>
            <a:r>
              <a:rPr lang="zh-CN">
                <a:latin typeface="微软雅黑" panose="020B0503020204020204" charset="-122"/>
                <a:ea typeface="微软雅黑" panose="020B0503020204020204" charset="-122"/>
                <a:cs typeface="微软雅黑" panose="020B0503020204020204" charset="-122"/>
                <a:sym typeface="+mn-ea"/>
              </a:rPr>
              <a:t>sklearn中的</a:t>
            </a:r>
            <a:r>
              <a:rPr lang="en-US" altLang="zh-CN">
                <a:latin typeface="微软雅黑" panose="020B0503020204020204" charset="-122"/>
                <a:ea typeface="微软雅黑" panose="020B0503020204020204" charset="-122"/>
                <a:cs typeface="微软雅黑" panose="020B0503020204020204" charset="-122"/>
                <a:sym typeface="+mn-ea"/>
              </a:rPr>
              <a:t>PCA</a:t>
            </a:r>
            <a:r>
              <a:rPr lang="zh-CN" altLang="en-US">
                <a:latin typeface="微软雅黑" panose="020B0503020204020204" charset="-122"/>
                <a:ea typeface="微软雅黑" panose="020B0503020204020204" charset="-122"/>
                <a:cs typeface="微软雅黑" panose="020B0503020204020204" charset="-122"/>
                <a:sym typeface="+mn-ea"/>
              </a:rPr>
              <a:t>作对比；</a:t>
            </a:r>
            <a:endParaRPr lang="en-US" altLang="zh-CN">
              <a:latin typeface="微软雅黑" panose="020B0503020204020204" charset="-122"/>
              <a:ea typeface="微软雅黑" panose="020B0503020204020204" charset="-122"/>
              <a:cs typeface="微软雅黑" panose="020B0503020204020204" charset="-122"/>
              <a:sym typeface="+mn-ea"/>
            </a:endParaRPr>
          </a:p>
        </p:txBody>
      </p:sp>
      <p:pic>
        <p:nvPicPr>
          <p:cNvPr id="7" name="图片 6" descr="Figure_1"/>
          <p:cNvPicPr>
            <a:picLocks noChangeAspect="1"/>
          </p:cNvPicPr>
          <p:nvPr/>
        </p:nvPicPr>
        <p:blipFill>
          <a:blip r:embed="rId2"/>
          <a:srcRect l="36032" r="8963"/>
          <a:stretch>
            <a:fillRect/>
          </a:stretch>
        </p:blipFill>
        <p:spPr>
          <a:xfrm>
            <a:off x="1697990" y="2209800"/>
            <a:ext cx="7080250" cy="34328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12" name="Rectangle 1"/>
          <p:cNvSpPr/>
          <p:nvPr/>
        </p:nvSpPr>
        <p:spPr>
          <a:xfrm>
            <a:off x="271780" y="71755"/>
            <a:ext cx="215011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381000" y="153670"/>
            <a:ext cx="2040890"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zh-CN" sz="2000" spc="15" dirty="0">
                <a:solidFill>
                  <a:schemeClr val="bg1"/>
                </a:solidFill>
                <a:ea typeface="微软雅黑" panose="020B0503020204020204" charset="-122"/>
                <a:sym typeface="+mn-ea"/>
              </a:rPr>
              <a:t>鸢尾花数据集</a:t>
            </a:r>
            <a:endParaRPr lang="zh-CN" sz="2000" spc="15" dirty="0">
              <a:solidFill>
                <a:schemeClr val="bg1"/>
              </a:solidFill>
              <a:ea typeface="微软雅黑" panose="020B0503020204020204" charset="-122"/>
              <a:sym typeface="+mn-ea"/>
            </a:endParaRPr>
          </a:p>
        </p:txBody>
      </p:sp>
      <p:sp>
        <p:nvSpPr>
          <p:cNvPr id="6" name="文本框 5"/>
          <p:cNvSpPr txBox="1"/>
          <p:nvPr/>
        </p:nvSpPr>
        <p:spPr>
          <a:xfrm>
            <a:off x="609600" y="762000"/>
            <a:ext cx="11290300" cy="1753235"/>
          </a:xfrm>
          <a:prstGeom prst="rect">
            <a:avLst/>
          </a:prstGeom>
          <a:noFill/>
        </p:spPr>
        <p:txBody>
          <a:bodyPr wrap="square" rtlCol="0" anchor="t">
            <a:spAutoFit/>
          </a:bodyPr>
          <a:p>
            <a:pPr marL="342900" indent="-342900">
              <a:lnSpc>
                <a:spcPct val="150000"/>
              </a:lnSpc>
              <a:spcBef>
                <a:spcPts val="0"/>
              </a:spcBef>
              <a:spcAft>
                <a:spcPts val="0"/>
              </a:spcAft>
              <a:buBlip>
                <a:blip r:embed="rId1"/>
              </a:buBlip>
            </a:pPr>
            <a:r>
              <a:rPr lang="zh-CN">
                <a:latin typeface="微软雅黑" panose="020B0503020204020204" charset="-122"/>
                <a:ea typeface="微软雅黑" panose="020B0503020204020204" charset="-122"/>
                <a:cs typeface="微软雅黑" panose="020B0503020204020204" charset="-122"/>
                <a:sym typeface="+mn-ea"/>
              </a:rPr>
              <a:t>数据集内包含 3 类共 150 条记录，每类各 50 个数据，每条记录都有 4 项特征：花萼长度、花萼宽度、花瓣长度、花瓣宽度；</a:t>
            </a:r>
            <a:endParaRPr lang="zh-CN">
              <a:latin typeface="微软雅黑" panose="020B0503020204020204" charset="-122"/>
              <a:ea typeface="微软雅黑" panose="020B0503020204020204" charset="-122"/>
              <a:cs typeface="微软雅黑" panose="020B0503020204020204" charset="-122"/>
              <a:sym typeface="+mn-ea"/>
            </a:endParaRPr>
          </a:p>
          <a:p>
            <a:pPr marL="342900" indent="-342900">
              <a:lnSpc>
                <a:spcPct val="150000"/>
              </a:lnSpc>
              <a:spcBef>
                <a:spcPts val="0"/>
              </a:spcBef>
              <a:spcAft>
                <a:spcPts val="0"/>
              </a:spcAft>
              <a:buBlip>
                <a:blip r:embed="rId1"/>
              </a:buBlip>
            </a:pPr>
            <a:r>
              <a:rPr lang="zh-CN">
                <a:latin typeface="微软雅黑" panose="020B0503020204020204" charset="-122"/>
                <a:ea typeface="微软雅黑" panose="020B0503020204020204" charset="-122"/>
                <a:cs typeface="微软雅黑" panose="020B0503020204020204" charset="-122"/>
                <a:sym typeface="+mn-ea"/>
              </a:rPr>
              <a:t>数据集包含150个样本（数据集的行）</a:t>
            </a:r>
            <a:endParaRPr lang="zh-CN">
              <a:latin typeface="微软雅黑" panose="020B0503020204020204" charset="-122"/>
              <a:ea typeface="微软雅黑" panose="020B0503020204020204" charset="-122"/>
              <a:cs typeface="微软雅黑" panose="020B0503020204020204" charset="-122"/>
            </a:endParaRPr>
          </a:p>
          <a:p>
            <a:pPr marL="342900" indent="-342900">
              <a:lnSpc>
                <a:spcPct val="150000"/>
              </a:lnSpc>
              <a:spcBef>
                <a:spcPts val="0"/>
              </a:spcBef>
              <a:spcAft>
                <a:spcPts val="0"/>
              </a:spcAft>
              <a:buBlip>
                <a:blip r:embed="rId1"/>
              </a:buBlip>
            </a:pPr>
            <a:r>
              <a:rPr lang="zh-CN">
                <a:latin typeface="微软雅黑" panose="020B0503020204020204" charset="-122"/>
                <a:ea typeface="微软雅黑" panose="020B0503020204020204" charset="-122"/>
                <a:cs typeface="微软雅黑" panose="020B0503020204020204" charset="-122"/>
                <a:sym typeface="+mn-ea"/>
              </a:rPr>
              <a:t>数据集包含4个属性（数据集的列）</a:t>
            </a:r>
            <a:endParaRPr lang="zh-CN">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2"/>
          <a:stretch>
            <a:fillRect/>
          </a:stretch>
        </p:blipFill>
        <p:spPr>
          <a:xfrm>
            <a:off x="1066800" y="2590800"/>
            <a:ext cx="8239125" cy="42862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5800" y="3048000"/>
            <a:ext cx="2909570" cy="754380"/>
          </a:xfrm>
          <a:prstGeom prst="rect">
            <a:avLst/>
          </a:prstGeom>
        </p:spPr>
        <p:txBody>
          <a:bodyPr vert="horz" wrap="square" lIns="0" tIns="15875" rIns="0" bIns="0" rtlCol="0">
            <a:spAutoFit/>
          </a:bodyPr>
          <a:lstStyle/>
          <a:p>
            <a:pPr marL="12700" algn="ctr">
              <a:lnSpc>
                <a:spcPct val="100000"/>
              </a:lnSpc>
              <a:spcBef>
                <a:spcPts val="125"/>
              </a:spcBef>
            </a:pPr>
            <a:r>
              <a:rPr lang="zh-CN" sz="4800" b="1" spc="25" dirty="0">
                <a:latin typeface="楷体" panose="02010609060101010101" charset="-122"/>
                <a:ea typeface="楷体" panose="02010609060101010101" charset="-122"/>
              </a:rPr>
              <a:t>实验步骤</a:t>
            </a:r>
            <a:endParaRPr lang="zh-CN" sz="4800" b="1" spc="25" dirty="0">
              <a:latin typeface="楷体" panose="02010609060101010101" charset="-122"/>
              <a:ea typeface="楷体" panose="02010609060101010101" charset="-122"/>
            </a:endParaRPr>
          </a:p>
        </p:txBody>
      </p:sp>
      <p:sp>
        <p:nvSpPr>
          <p:cNvPr id="3" name="灯片编号占位符 2"/>
          <p:cNvSpPr>
            <a:spLocks noGrp="1"/>
          </p:cNvSpPr>
          <p:nvPr>
            <p:ph type="sldNum" sz="quarter" idx="7"/>
          </p:nvPr>
        </p:nvSpPr>
        <p:spPr/>
        <p:txBody>
          <a:bodyPr/>
          <a:p>
            <a:fld id="{B6F15528-21DE-4FAA-801E-634DDDAF4B2B}" type="slidenum">
              <a:rPr/>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100" name="文本框 99"/>
          <p:cNvSpPr txBox="1"/>
          <p:nvPr/>
        </p:nvSpPr>
        <p:spPr>
          <a:xfrm>
            <a:off x="6096000" y="4800600"/>
            <a:ext cx="5080000" cy="629920"/>
          </a:xfrm>
          <a:prstGeom prst="rect">
            <a:avLst/>
          </a:prstGeom>
          <a:noFill/>
          <a:ln w="9525">
            <a:noFill/>
          </a:ln>
        </p:spPr>
        <p:txBody>
          <a:bodyPr>
            <a:spAutoFit/>
          </a:bodyPr>
          <a:p>
            <a:pPr indent="0" fontAlgn="auto">
              <a:lnSpc>
                <a:spcPct val="125000"/>
              </a:lnSpc>
            </a:pPr>
            <a:r>
              <a:rPr lang="en-US" sz="1400" b="0">
                <a:solidFill>
                  <a:srgbClr val="383A42"/>
                </a:solidFill>
                <a:latin typeface="JetBrains Mono" panose="020B0509020102050004" charset="0"/>
                <a:ea typeface="宋体" panose="02010600030101010101" pitchFamily="2" charset="-122"/>
              </a:rPr>
              <a:t>    sklearn_pca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PCA</a:t>
            </a:r>
            <a:r>
              <a:rPr lang="en-US" sz="1400" b="0">
                <a:solidFill>
                  <a:srgbClr val="7A82DA"/>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n_components</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2</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data_2d2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sklearn_pca</a:t>
            </a:r>
            <a:r>
              <a:rPr lang="en-US" sz="1400" b="0">
                <a:solidFill>
                  <a:srgbClr val="23974A"/>
                </a:solidFill>
                <a:latin typeface="JetBrains Mono" panose="020B0509020102050004" charset="0"/>
                <a:ea typeface="宋体" panose="02010600030101010101" pitchFamily="2" charset="-122"/>
              </a:rPr>
              <a:t>.fit_transform</a:t>
            </a:r>
            <a:r>
              <a:rPr lang="en-US" sz="1400" b="0">
                <a:solidFill>
                  <a:srgbClr val="7A82DA"/>
                </a:solidFill>
                <a:latin typeface="JetBrains Mono" panose="020B0509020102050004" charset="0"/>
                <a:ea typeface="宋体" panose="02010600030101010101" pitchFamily="2" charset="-122"/>
              </a:rPr>
              <a:t>(</a:t>
            </a:r>
            <a:r>
              <a:rPr lang="en-US" sz="1400" b="0">
                <a:solidFill>
                  <a:srgbClr val="823FF1"/>
                </a:solidFill>
                <a:latin typeface="JetBrains Mono" panose="020B0509020102050004" charset="0"/>
                <a:ea typeface="宋体" panose="02010600030101010101" pitchFamily="2" charset="-122"/>
              </a:rPr>
              <a:t>X</a:t>
            </a:r>
            <a:r>
              <a:rPr lang="en-US" sz="1400" b="0">
                <a:solidFill>
                  <a:srgbClr val="7A82DA"/>
                </a:solidFill>
                <a:latin typeface="JetBrains Mono" panose="020B0509020102050004" charset="0"/>
                <a:ea typeface="宋体" panose="02010600030101010101" pitchFamily="2" charset="-122"/>
              </a:rPr>
              <a:t>)</a:t>
            </a:r>
            <a:endParaRPr lang="en-US" altLang="en-US" sz="1400" b="0">
              <a:solidFill>
                <a:srgbClr val="7A82DA"/>
              </a:solidFill>
              <a:latin typeface="JetBrains Mono" panose="020B0509020102050004" charset="0"/>
              <a:ea typeface="宋体" panose="02010600030101010101" pitchFamily="2" charset="-122"/>
            </a:endParaRPr>
          </a:p>
        </p:txBody>
      </p:sp>
      <p:sp>
        <p:nvSpPr>
          <p:cNvPr id="12" name="Rectangle 1"/>
          <p:cNvSpPr/>
          <p:nvPr/>
        </p:nvSpPr>
        <p:spPr>
          <a:xfrm>
            <a:off x="271780" y="71755"/>
            <a:ext cx="217805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381000" y="153670"/>
            <a:ext cx="1919605"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en-US" sz="2000" spc="15" dirty="0">
                <a:solidFill>
                  <a:schemeClr val="bg1"/>
                </a:solidFill>
                <a:ea typeface="微软雅黑" panose="020B0503020204020204" charset="-122"/>
                <a:sym typeface="+mn-ea"/>
              </a:rPr>
              <a:t>Sklearn—</a:t>
            </a:r>
            <a:r>
              <a:rPr sz="2000" spc="15" dirty="0">
                <a:solidFill>
                  <a:schemeClr val="bg1"/>
                </a:solidFill>
                <a:ea typeface="微软雅黑" panose="020B0503020204020204" charset="-122"/>
                <a:sym typeface="+mn-ea"/>
              </a:rPr>
              <a:t>PCA</a:t>
            </a:r>
            <a:endParaRPr lang="zh-CN" sz="2000" spc="15" dirty="0">
              <a:solidFill>
                <a:schemeClr val="bg1"/>
              </a:solidFill>
              <a:ea typeface="微软雅黑" panose="020B0503020204020204" charset="-122"/>
              <a:sym typeface="+mn-ea"/>
            </a:endParaRPr>
          </a:p>
        </p:txBody>
      </p:sp>
      <p:sp>
        <p:nvSpPr>
          <p:cNvPr id="6" name="文本框 5"/>
          <p:cNvSpPr txBox="1"/>
          <p:nvPr/>
        </p:nvSpPr>
        <p:spPr>
          <a:xfrm>
            <a:off x="685800" y="5571490"/>
            <a:ext cx="10589260" cy="1198880"/>
          </a:xfrm>
          <a:prstGeom prst="rect">
            <a:avLst/>
          </a:prstGeom>
          <a:noFill/>
        </p:spPr>
        <p:txBody>
          <a:bodyPr wrap="square" rtlCol="0" anchor="t">
            <a:spAutoFit/>
          </a:bodyPr>
          <a:p>
            <a:r>
              <a:rPr lang="zh-CN" altLang="en-US"/>
              <a:t>官方文档：</a:t>
            </a:r>
            <a:endParaRPr lang="zh-CN" altLang="en-US"/>
          </a:p>
          <a:p>
            <a:r>
              <a:rPr lang="zh-CN" altLang="en-US">
                <a:hlinkClick r:id="rId1" action="ppaction://hlinkfile"/>
              </a:rPr>
              <a:t>https://scikit</a:t>
            </a:r>
            <a:r>
              <a:rPr lang="en-US" altLang="zh-CN">
                <a:hlinkClick r:id="rId1" action="ppaction://hlinkfile"/>
              </a:rPr>
              <a:t>-</a:t>
            </a:r>
            <a:r>
              <a:rPr lang="zh-CN" altLang="en-US">
                <a:hlinkClick r:id="rId1" action="ppaction://hlinkfile"/>
              </a:rPr>
              <a:t>learn.org/stable/modules/generated/sklearn.decomposition.PCA.html?highlight=decomposition%20pca#sklearn.decomposition.PCA</a:t>
            </a:r>
            <a:endParaRPr lang="zh-CN" altLang="en-US"/>
          </a:p>
        </p:txBody>
      </p:sp>
      <p:pic>
        <p:nvPicPr>
          <p:cNvPr id="7" name="图片 6"/>
          <p:cNvPicPr>
            <a:picLocks noChangeAspect="1"/>
          </p:cNvPicPr>
          <p:nvPr/>
        </p:nvPicPr>
        <p:blipFill>
          <a:blip r:embed="rId2"/>
          <a:stretch>
            <a:fillRect/>
          </a:stretch>
        </p:blipFill>
        <p:spPr>
          <a:xfrm>
            <a:off x="5791200" y="551180"/>
            <a:ext cx="5372100" cy="4010025"/>
          </a:xfrm>
          <a:prstGeom prst="rect">
            <a:avLst/>
          </a:prstGeom>
        </p:spPr>
      </p:pic>
      <p:sp>
        <p:nvSpPr>
          <p:cNvPr id="9" name="文本框 8"/>
          <p:cNvSpPr txBox="1"/>
          <p:nvPr/>
        </p:nvSpPr>
        <p:spPr>
          <a:xfrm>
            <a:off x="324485" y="762000"/>
            <a:ext cx="5466715" cy="2099310"/>
          </a:xfrm>
          <a:prstGeom prst="rect">
            <a:avLst/>
          </a:prstGeom>
          <a:noFill/>
        </p:spPr>
        <p:txBody>
          <a:bodyPr wrap="square" rtlCol="0" anchor="t">
            <a:spAutoFit/>
          </a:bodyPr>
          <a:p>
            <a:pPr marL="342900" indent="-342900">
              <a:lnSpc>
                <a:spcPct val="125000"/>
              </a:lnSpc>
              <a:spcBef>
                <a:spcPts val="0"/>
              </a:spcBef>
              <a:spcAft>
                <a:spcPts val="0"/>
              </a:spcAft>
              <a:buBlip>
                <a:blip r:embed="rId3"/>
              </a:buBlip>
            </a:pPr>
            <a:r>
              <a:rPr lang="zh-CN">
                <a:latin typeface="微软雅黑" panose="020B0503020204020204" charset="-122"/>
                <a:ea typeface="微软雅黑" panose="020B0503020204020204" charset="-122"/>
                <a:cs typeface="微软雅黑" panose="020B0503020204020204" charset="-122"/>
                <a:sym typeface="+mn-ea"/>
              </a:rPr>
              <a:t>累积可解释方差贡献率曲线是一条以降维后保留的特征个数为横坐标，降维后新特征矩阵捕捉到的可解释</a:t>
            </a:r>
            <a:r>
              <a:rPr lang="zh-CN">
                <a:solidFill>
                  <a:srgbClr val="FF0000"/>
                </a:solidFill>
                <a:latin typeface="微软雅黑" panose="020B0503020204020204" charset="-122"/>
                <a:ea typeface="微软雅黑" panose="020B0503020204020204" charset="-122"/>
                <a:cs typeface="微软雅黑" panose="020B0503020204020204" charset="-122"/>
                <a:sym typeface="+mn-ea"/>
              </a:rPr>
              <a:t>方差贡献率</a:t>
            </a:r>
            <a:r>
              <a:rPr lang="zh-CN">
                <a:latin typeface="微软雅黑" panose="020B0503020204020204" charset="-122"/>
                <a:ea typeface="微软雅黑" panose="020B0503020204020204" charset="-122"/>
                <a:cs typeface="微软雅黑" panose="020B0503020204020204" charset="-122"/>
                <a:sym typeface="+mn-ea"/>
              </a:rPr>
              <a:t>为纵坐标的曲线，能够帮助我们决定n_components最好的取值。</a:t>
            </a:r>
            <a:endParaRPr lang="zh-CN">
              <a:latin typeface="微软雅黑" panose="020B0503020204020204" charset="-122"/>
              <a:ea typeface="微软雅黑" panose="020B0503020204020204" charset="-122"/>
              <a:cs typeface="微软雅黑" panose="020B0503020204020204" charset="-122"/>
            </a:endParaRPr>
          </a:p>
          <a:p>
            <a:pPr marL="342900" indent="-342900">
              <a:lnSpc>
                <a:spcPct val="125000"/>
              </a:lnSpc>
              <a:spcBef>
                <a:spcPts val="0"/>
              </a:spcBef>
              <a:spcAft>
                <a:spcPts val="0"/>
              </a:spcAft>
              <a:buBlip>
                <a:blip r:embed="rId3"/>
              </a:buBlip>
            </a:pPr>
            <a:endParaRPr lang="zh-CN" altLang="en-US">
              <a:latin typeface="微软雅黑" panose="020B0503020204020204" charset="-122"/>
              <a:ea typeface="微软雅黑" panose="020B0503020204020204" charset="-122"/>
              <a:cs typeface="微软雅黑" panose="020B0503020204020204" charset="-122"/>
            </a:endParaRPr>
          </a:p>
          <a:p>
            <a:pPr>
              <a:buBlip>
                <a:blip r:embed="rId3"/>
              </a:buBlip>
            </a:pPr>
            <a:endParaRPr lang="zh-CN" altLang="en-US">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685800" y="2438400"/>
            <a:ext cx="5080000" cy="2461260"/>
          </a:xfrm>
          <a:prstGeom prst="rect">
            <a:avLst/>
          </a:prstGeom>
          <a:noFill/>
          <a:ln w="9525">
            <a:noFill/>
          </a:ln>
        </p:spPr>
        <p:txBody>
          <a:bodyPr>
            <a:spAutoFit/>
          </a:bodyPr>
          <a:p>
            <a:pPr indent="0"/>
            <a:r>
              <a:rPr lang="en-US" sz="1400" b="0">
                <a:solidFill>
                  <a:srgbClr val="383A42"/>
                </a:solidFill>
                <a:latin typeface="JetBrains Mono" panose="020B0509020102050004" charset="0"/>
                <a:ea typeface="宋体" panose="02010600030101010101" pitchFamily="2" charset="-122"/>
              </a:rPr>
              <a:t>    pca_line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PCA</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a:t>
            </a:r>
            <a:r>
              <a:rPr lang="en-US" sz="1400" b="0">
                <a:solidFill>
                  <a:srgbClr val="23974A"/>
                </a:solidFill>
                <a:latin typeface="JetBrains Mono" panose="020B0509020102050004" charset="0"/>
                <a:ea typeface="宋体" panose="02010600030101010101" pitchFamily="2" charset="-122"/>
              </a:rPr>
              <a:t>fit</a:t>
            </a:r>
            <a:r>
              <a:rPr lang="en-US" sz="1400" b="0">
                <a:solidFill>
                  <a:srgbClr val="7A82DA"/>
                </a:solidFill>
                <a:latin typeface="JetBrains Mono" panose="020B0509020102050004" charset="0"/>
                <a:ea typeface="宋体" panose="02010600030101010101" pitchFamily="2" charset="-122"/>
              </a:rPr>
              <a:t>(</a:t>
            </a:r>
            <a:r>
              <a:rPr lang="en-US" sz="1400" b="0">
                <a:solidFill>
                  <a:srgbClr val="823FF1"/>
                </a:solidFill>
                <a:latin typeface="JetBrains Mono" panose="020B0509020102050004" charset="0"/>
                <a:ea typeface="宋体" panose="02010600030101010101" pitchFamily="2" charset="-122"/>
              </a:rPr>
              <a:t>X</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plt.plot</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1</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2</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3</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4</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a:t>
            </a:r>
            <a:r>
              <a:rPr lang="en-US" sz="1400" b="0">
                <a:solidFill>
                  <a:srgbClr val="23974A"/>
                </a:solidFill>
                <a:latin typeface="JetBrains Mono" panose="020B0509020102050004" charset="0"/>
                <a:ea typeface="宋体" panose="02010600030101010101" pitchFamily="2" charset="-122"/>
              </a:rPr>
              <a:t>np.cumsum</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pca_line.explained_variance_ratio_</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plt.xticks</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1</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2</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3</a:t>
            </a:r>
            <a:r>
              <a:rPr lang="en-US" sz="1400" b="0">
                <a:solidFill>
                  <a:srgbClr val="7A82DA"/>
                </a:solidFill>
                <a:latin typeface="JetBrains Mono" panose="020B0509020102050004" charset="0"/>
                <a:ea typeface="宋体" panose="02010600030101010101" pitchFamily="2" charset="-122"/>
              </a:rPr>
              <a:t>,</a:t>
            </a:r>
            <a:r>
              <a:rPr lang="en-US" sz="1400" b="0">
                <a:solidFill>
                  <a:srgbClr val="CE33C0"/>
                </a:solidFill>
                <a:latin typeface="JetBrains Mono" panose="020B0509020102050004" charset="0"/>
                <a:ea typeface="宋体" panose="02010600030101010101" pitchFamily="2" charset="-122"/>
              </a:rPr>
              <a:t>4</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zh-CN" sz="1400" b="0">
                <a:solidFill>
                  <a:srgbClr val="A0A1A7"/>
                </a:solidFill>
                <a:ea typeface="宋体" panose="02010600030101010101" pitchFamily="2" charset="-122"/>
              </a:rPr>
              <a:t>#这是为了限制坐标轴显示为整数</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plt.xlabel</a:t>
            </a:r>
            <a:r>
              <a:rPr lang="en-US" sz="1400" b="0">
                <a:solidFill>
                  <a:srgbClr val="7A82DA"/>
                </a:solidFill>
                <a:latin typeface="JetBrains Mono" panose="020B0509020102050004" charset="0"/>
                <a:ea typeface="宋体" panose="02010600030101010101" pitchFamily="2" charset="-122"/>
              </a:rPr>
              <a:t>(</a:t>
            </a:r>
            <a:r>
              <a:rPr lang="en-US" sz="1400" b="0">
                <a:solidFill>
                  <a:srgbClr val="C5A332"/>
                </a:solidFill>
                <a:latin typeface="JetBrains Mono" panose="020B0509020102050004" charset="0"/>
                <a:ea typeface="宋体" panose="02010600030101010101" pitchFamily="2" charset="-122"/>
              </a:rPr>
              <a:t>"number of components after dimension reduction"</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plt.ylabel</a:t>
            </a:r>
            <a:r>
              <a:rPr lang="en-US" sz="1400" b="0">
                <a:solidFill>
                  <a:srgbClr val="7A82DA"/>
                </a:solidFill>
                <a:latin typeface="JetBrains Mono" panose="020B0509020102050004" charset="0"/>
                <a:ea typeface="宋体" panose="02010600030101010101" pitchFamily="2" charset="-122"/>
              </a:rPr>
              <a:t>(</a:t>
            </a:r>
            <a:r>
              <a:rPr lang="en-US" sz="1400" b="0">
                <a:solidFill>
                  <a:srgbClr val="C5A332"/>
                </a:solidFill>
                <a:latin typeface="JetBrains Mono" panose="020B0509020102050004" charset="0"/>
                <a:ea typeface="宋体" panose="02010600030101010101" pitchFamily="2" charset="-122"/>
              </a:rPr>
              <a:t>"cumulative explained variance ratio"</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plt.show</a:t>
            </a:r>
            <a:r>
              <a:rPr lang="en-US" sz="1400" b="0">
                <a:solidFill>
                  <a:srgbClr val="7A82DA"/>
                </a:solidFill>
                <a:latin typeface="JetBrains Mono" panose="020B0509020102050004" charset="0"/>
                <a:ea typeface="宋体" panose="02010600030101010101" pitchFamily="2" charset="-122"/>
              </a:rPr>
              <a:t>()</a:t>
            </a:r>
            <a:endParaRPr lang="en-US" altLang="en-US" sz="1400" b="0">
              <a:solidFill>
                <a:srgbClr val="7A82DA"/>
              </a:solidFill>
              <a:latin typeface="JetBrains Mono" panose="020B0509020102050004" charset="0"/>
              <a:ea typeface="宋体" panose="02010600030101010101" pitchFamily="2" charset="-122"/>
            </a:endParaRPr>
          </a:p>
        </p:txBody>
      </p:sp>
      <p:sp>
        <p:nvSpPr>
          <p:cNvPr id="11" name="圆角矩形 10"/>
          <p:cNvSpPr/>
          <p:nvPr/>
        </p:nvSpPr>
        <p:spPr>
          <a:xfrm>
            <a:off x="685800" y="2438400"/>
            <a:ext cx="5029200" cy="2514600"/>
          </a:xfrm>
          <a:prstGeom prst="roundRect">
            <a:avLst/>
          </a:prstGeom>
          <a:noFill/>
          <a:ln w="28575" cmpd="sng">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圆角矩形 13"/>
          <p:cNvSpPr/>
          <p:nvPr/>
        </p:nvSpPr>
        <p:spPr>
          <a:xfrm>
            <a:off x="6510020" y="4864100"/>
            <a:ext cx="4347845" cy="598170"/>
          </a:xfrm>
          <a:prstGeom prst="roundRect">
            <a:avLst/>
          </a:prstGeom>
          <a:noFill/>
          <a:ln w="28575" cmpd="sng">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7"/>
          </p:nvPr>
        </p:nvSpPr>
        <p:spPr/>
        <p:txBody>
          <a:bodyPr/>
          <a:p>
            <a:fld id="{B6F15528-21DE-4FAA-801E-634DDDAF4B2B}" type="slidenum">
              <a:rPr/>
            </a:fld>
            <a:endParaRPr/>
          </a:p>
        </p:txBody>
      </p:sp>
      <p:sp>
        <p:nvSpPr>
          <p:cNvPr id="12" name="Rectangle 1"/>
          <p:cNvSpPr/>
          <p:nvPr/>
        </p:nvSpPr>
        <p:spPr>
          <a:xfrm>
            <a:off x="271780" y="71755"/>
            <a:ext cx="219519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bject 3"/>
          <p:cNvSpPr txBox="1">
            <a:spLocks noGrp="1"/>
          </p:cNvSpPr>
          <p:nvPr/>
        </p:nvSpPr>
        <p:spPr>
          <a:xfrm>
            <a:off x="381000" y="152718"/>
            <a:ext cx="2086610"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zh-CN" sz="2000" spc="15" dirty="0">
                <a:solidFill>
                  <a:schemeClr val="bg1"/>
                </a:solidFill>
                <a:latin typeface="微软雅黑" panose="020B0503020204020204" charset="-122"/>
                <a:ea typeface="微软雅黑" panose="020B0503020204020204" charset="-122"/>
                <a:cs typeface="微软雅黑" panose="020B0503020204020204" charset="-122"/>
              </a:rPr>
              <a:t>实验步骤</a:t>
            </a:r>
            <a:endParaRPr lang="zh-CN"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rcRect l="1077"/>
          <a:stretch>
            <a:fillRect/>
          </a:stretch>
        </p:blipFill>
        <p:spPr>
          <a:xfrm>
            <a:off x="6239510" y="3276600"/>
            <a:ext cx="6183630" cy="2880995"/>
          </a:xfrm>
          <a:prstGeom prst="rect">
            <a:avLst/>
          </a:prstGeom>
        </p:spPr>
      </p:pic>
      <p:sp>
        <p:nvSpPr>
          <p:cNvPr id="100" name="文本框 99"/>
          <p:cNvSpPr txBox="1"/>
          <p:nvPr/>
        </p:nvSpPr>
        <p:spPr>
          <a:xfrm>
            <a:off x="304800" y="762000"/>
            <a:ext cx="6689090" cy="5477510"/>
          </a:xfrm>
          <a:prstGeom prst="rect">
            <a:avLst/>
          </a:prstGeom>
          <a:noFill/>
          <a:ln w="9525">
            <a:noFill/>
          </a:ln>
        </p:spPr>
        <p:txBody>
          <a:bodyPr wrap="square">
            <a:spAutoFit/>
          </a:bodyPr>
          <a:p>
            <a:pPr indent="0" fontAlgn="auto">
              <a:lnSpc>
                <a:spcPct val="125000"/>
              </a:lnSpc>
            </a:pPr>
            <a:r>
              <a:rPr lang="en-US" sz="1400" b="0">
                <a:solidFill>
                  <a:srgbClr val="0098DD"/>
                </a:solidFill>
                <a:latin typeface="JetBrains Mono" panose="020B0509020102050004" charset="0"/>
                <a:ea typeface="宋体" panose="02010600030101010101" pitchFamily="2" charset="-122"/>
              </a:rPr>
              <a:t>def</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pca</a:t>
            </a:r>
            <a:r>
              <a:rPr lang="en-US" sz="1400" b="0">
                <a:solidFill>
                  <a:srgbClr val="7A82DA"/>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data</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n_components</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C5A332"/>
                </a:solidFill>
                <a:latin typeface="JetBrains Mono" panose="020B0509020102050004" charset="0"/>
                <a:ea typeface="宋体" panose="02010600030101010101" pitchFamily="2" charset="-122"/>
              </a:rPr>
              <a:t>'''    pca is O(D^3)    :param data: (n_samples, n_features(D))    :param n_dim: target dimensions    :return: (n_samples, n_components)    '''</a:t>
            </a:r>
            <a:r>
              <a:rPr lang="en-US" sz="1400" b="0">
                <a:solidFill>
                  <a:srgbClr val="383A42"/>
                </a:solidFill>
                <a:latin typeface="JetBrains Mono" panose="020B0509020102050004" charset="0"/>
                <a:ea typeface="宋体" panose="02010600030101010101" pitchFamily="2" charset="-122"/>
              </a:rPr>
              <a:t>    </a:t>
            </a:r>
            <a:r>
              <a:rPr lang="zh-CN" sz="1400" b="0">
                <a:solidFill>
                  <a:srgbClr val="A0A1A7"/>
                </a:solidFill>
                <a:ea typeface="宋体" panose="02010600030101010101" pitchFamily="2" charset="-122"/>
              </a:rPr>
              <a:t># 减去均值，也可以进行标准化处理（除以方差）</a:t>
            </a: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np.mean</a:t>
            </a:r>
            <a:r>
              <a:rPr lang="en-US" sz="1400" b="0">
                <a:solidFill>
                  <a:srgbClr val="7A82DA"/>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axis</a:t>
            </a:r>
            <a:r>
              <a:rPr lang="en-US" sz="1400" b="0">
                <a:solidFill>
                  <a:srgbClr val="383A42"/>
                </a:solidFill>
                <a:latin typeface="JetBrains Mono" panose="020B0509020102050004" charset="0"/>
                <a:ea typeface="宋体" panose="02010600030101010101" pitchFamily="2" charset="-122"/>
              </a:rPr>
              <a:t>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CE33C0"/>
                </a:solidFill>
                <a:latin typeface="JetBrains Mono" panose="020B0509020102050004" charset="0"/>
                <a:ea typeface="宋体" panose="02010600030101010101" pitchFamily="2" charset="-122"/>
              </a:rPr>
              <a:t>0</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keepdims</a:t>
            </a:r>
            <a:r>
              <a:rPr lang="en-US" sz="1400" b="0">
                <a:solidFill>
                  <a:srgbClr val="383A42"/>
                </a:solidFill>
                <a:latin typeface="JetBrains Mono" panose="020B0509020102050004" charset="0"/>
                <a:ea typeface="宋体" panose="02010600030101010101" pitchFamily="2" charset="-122"/>
              </a:rPr>
              <a:t>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0098DD"/>
                </a:solidFill>
                <a:latin typeface="JetBrains Mono" panose="020B0509020102050004" charset="0"/>
                <a:ea typeface="宋体" panose="02010600030101010101" pitchFamily="2" charset="-122"/>
              </a:rPr>
              <a:t>True</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m,_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.shape    </a:t>
            </a:r>
            <a:r>
              <a:rPr lang="zh-CN" sz="1400" b="0">
                <a:solidFill>
                  <a:srgbClr val="A0A1A7"/>
                </a:solidFill>
                <a:ea typeface="宋体" panose="02010600030101010101" pitchFamily="2" charset="-122"/>
              </a:rPr>
              <a:t># 计算协方差矩阵</a:t>
            </a:r>
            <a:r>
              <a:rPr lang="en-US" sz="1400" b="0">
                <a:solidFill>
                  <a:srgbClr val="383A42"/>
                </a:solidFill>
                <a:latin typeface="JetBrains Mono" panose="020B0509020102050004" charset="0"/>
                <a:ea typeface="宋体" panose="02010600030101010101" pitchFamily="2" charset="-122"/>
              </a:rPr>
              <a:t>    cov_matrix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CE33C0"/>
                </a:solidFill>
                <a:latin typeface="JetBrains Mono" panose="020B0509020102050004" charset="0"/>
                <a:ea typeface="宋体" panose="02010600030101010101" pitchFamily="2" charset="-122"/>
              </a:rPr>
              <a:t>1</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m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np.matmul</a:t>
            </a:r>
            <a:r>
              <a:rPr lang="en-US" sz="1400" b="0">
                <a:solidFill>
                  <a:srgbClr val="7A82DA"/>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.T, </a:t>
            </a:r>
            <a:r>
              <a:rPr lang="en-US" sz="1400" b="0">
                <a:solidFill>
                  <a:srgbClr val="40B8C5"/>
                </a:solidFill>
                <a:latin typeface="JetBrains Mono" panose="020B0509020102050004" charset="0"/>
                <a:ea typeface="宋体" panose="02010600030101010101" pitchFamily="2" charset="-122"/>
              </a:rPr>
              <a:t>data</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zh-CN" sz="1400" b="0">
                <a:solidFill>
                  <a:srgbClr val="A0A1A7"/>
                </a:solidFill>
                <a:ea typeface="宋体" panose="02010600030101010101" pitchFamily="2" charset="-122"/>
              </a:rPr>
              <a:t># 计算协方差矩阵特征值及对于的特征向量</a:t>
            </a:r>
            <a:r>
              <a:rPr lang="en-US" sz="1400" b="0">
                <a:solidFill>
                  <a:srgbClr val="383A42"/>
                </a:solidFill>
                <a:latin typeface="JetBrains Mono" panose="020B0509020102050004" charset="0"/>
                <a:ea typeface="宋体" panose="02010600030101010101" pitchFamily="2" charset="-122"/>
              </a:rPr>
              <a:t>    eig_values, eig_vector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np.linalg.eig</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cov_matrix</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A0A1A7"/>
                </a:solidFill>
                <a:latin typeface="JetBrains Mono" panose="020B0509020102050004" charset="0"/>
                <a:ea typeface="宋体" panose="02010600030101010101" pitchFamily="2" charset="-122"/>
              </a:rPr>
              <a:t># print(eig_values)</a:t>
            </a:r>
            <a:r>
              <a:rPr lang="en-US" sz="1400" b="0">
                <a:solidFill>
                  <a:srgbClr val="383A42"/>
                </a:solidFill>
                <a:latin typeface="JetBrains Mono" panose="020B0509020102050004" charset="0"/>
                <a:ea typeface="宋体" panose="02010600030101010101" pitchFamily="2" charset="-122"/>
              </a:rPr>
              <a:t>    </a:t>
            </a:r>
            <a:r>
              <a:rPr lang="zh-CN" sz="1400" b="0">
                <a:solidFill>
                  <a:srgbClr val="A0A1A7"/>
                </a:solidFill>
                <a:ea typeface="宋体" panose="02010600030101010101" pitchFamily="2" charset="-122"/>
              </a:rPr>
              <a:t># 对特征值进行排序，并取前n_components组</a:t>
            </a:r>
            <a:r>
              <a:rPr lang="en-US" sz="1400" b="0">
                <a:solidFill>
                  <a:srgbClr val="383A42"/>
                </a:solidFill>
                <a:latin typeface="JetBrains Mono" panose="020B0509020102050004" charset="0"/>
                <a:ea typeface="宋体" panose="02010600030101010101" pitchFamily="2" charset="-122"/>
              </a:rPr>
              <a:t>    indexs_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np.argsort</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eig_values</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n_components</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picked_eig_vector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eig_vector</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indexs_</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data_ndim </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23974A"/>
                </a:solidFill>
                <a:latin typeface="JetBrains Mono" panose="020B0509020102050004" charset="0"/>
                <a:ea typeface="宋体" panose="02010600030101010101" pitchFamily="2" charset="-122"/>
              </a:rPr>
              <a:t>np.matmul</a:t>
            </a:r>
            <a:r>
              <a:rPr lang="en-US" sz="1400" b="0">
                <a:solidFill>
                  <a:srgbClr val="7A82DA"/>
                </a:solidFill>
                <a:latin typeface="JetBrains Mono" panose="020B0509020102050004" charset="0"/>
                <a:ea typeface="宋体" panose="02010600030101010101" pitchFamily="2" charset="-122"/>
              </a:rPr>
              <a:t>(</a:t>
            </a:r>
            <a:r>
              <a:rPr lang="en-US" sz="1400" b="0">
                <a:solidFill>
                  <a:srgbClr val="40B8C5"/>
                </a:solidFill>
                <a:latin typeface="JetBrains Mono" panose="020B0509020102050004" charset="0"/>
                <a:ea typeface="宋体" panose="02010600030101010101" pitchFamily="2" charset="-122"/>
              </a:rPr>
              <a:t>data</a:t>
            </a:r>
            <a:r>
              <a:rPr lang="en-US" sz="1400" b="0">
                <a:solidFill>
                  <a:srgbClr val="383A42"/>
                </a:solidFill>
                <a:latin typeface="JetBrains Mono" panose="020B0509020102050004" charset="0"/>
                <a:ea typeface="宋体" panose="02010600030101010101" pitchFamily="2" charset="-122"/>
              </a:rPr>
              <a:t>, picked_eig_vector</a:t>
            </a:r>
            <a:r>
              <a:rPr lang="en-US" sz="1400" b="0">
                <a:solidFill>
                  <a:srgbClr val="7A82DA"/>
                </a:solidFill>
                <a:latin typeface="JetBrains Mono" panose="020B0509020102050004" charset="0"/>
                <a:ea typeface="宋体" panose="02010600030101010101" pitchFamily="2" charset="-122"/>
              </a:rPr>
              <a:t>)</a:t>
            </a:r>
            <a:r>
              <a:rPr lang="en-US" sz="1400" b="0">
                <a:solidFill>
                  <a:srgbClr val="383A42"/>
                </a:solidFill>
                <a:latin typeface="JetBrains Mono" panose="020B0509020102050004" charset="0"/>
                <a:ea typeface="宋体" panose="02010600030101010101" pitchFamily="2" charset="-122"/>
              </a:rPr>
              <a:t>    </a:t>
            </a:r>
            <a:r>
              <a:rPr lang="en-US" sz="1400" b="0">
                <a:solidFill>
                  <a:srgbClr val="0098DD"/>
                </a:solidFill>
                <a:latin typeface="JetBrains Mono" panose="020B0509020102050004" charset="0"/>
                <a:ea typeface="宋体" panose="02010600030101010101" pitchFamily="2" charset="-122"/>
              </a:rPr>
              <a:t>return</a:t>
            </a:r>
            <a:r>
              <a:rPr lang="en-US" sz="1400" b="0">
                <a:solidFill>
                  <a:srgbClr val="383A42"/>
                </a:solidFill>
                <a:latin typeface="JetBrains Mono" panose="020B0509020102050004" charset="0"/>
                <a:ea typeface="宋体" panose="02010600030101010101" pitchFamily="2" charset="-122"/>
              </a:rPr>
              <a:t> data_ndim</a:t>
            </a:r>
            <a:endParaRPr lang="en-US" altLang="en-US" sz="1400" b="0">
              <a:solidFill>
                <a:srgbClr val="383A42"/>
              </a:solidFill>
              <a:latin typeface="JetBrains Mono" panose="020B050902010205000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任意多边形 26"/>
          <p:cNvSpPr>
            <a:spLocks noChangeArrowheads="1"/>
          </p:cNvSpPr>
          <p:nvPr>
            <p:custDataLst>
              <p:tags r:id="rId1"/>
            </p:custDataLst>
          </p:nvPr>
        </p:nvSpPr>
        <p:spPr bwMode="auto">
          <a:xfrm>
            <a:off x="-1" y="76412"/>
            <a:ext cx="12204701" cy="347616"/>
          </a:xfrm>
          <a:custGeom>
            <a:avLst/>
            <a:gdLst>
              <a:gd name="connsiteX0" fmla="*/ 0 w 9153526"/>
              <a:gd name="connsiteY0" fmla="*/ 0 h 260712"/>
              <a:gd name="connsiteX1" fmla="*/ 9153526 w 9153526"/>
              <a:gd name="connsiteY1" fmla="*/ 0 h 260712"/>
              <a:gd name="connsiteX2" fmla="*/ 9153526 w 9153526"/>
              <a:gd name="connsiteY2" fmla="*/ 60325 h 260712"/>
              <a:gd name="connsiteX3" fmla="*/ 5009013 w 9153526"/>
              <a:gd name="connsiteY3" fmla="*/ 60325 h 260712"/>
              <a:gd name="connsiteX4" fmla="*/ 4576763 w 9153526"/>
              <a:gd name="connsiteY4" fmla="*/ 260712 h 260712"/>
              <a:gd name="connsiteX5" fmla="*/ 4144513 w 9153526"/>
              <a:gd name="connsiteY5" fmla="*/ 60325 h 260712"/>
              <a:gd name="connsiteX6" fmla="*/ 0 w 9153526"/>
              <a:gd name="connsiteY6" fmla="*/ 60325 h 26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3526" h="260712">
                <a:moveTo>
                  <a:pt x="0" y="0"/>
                </a:moveTo>
                <a:lnTo>
                  <a:pt x="9153526" y="0"/>
                </a:lnTo>
                <a:lnTo>
                  <a:pt x="9153526" y="60325"/>
                </a:lnTo>
                <a:lnTo>
                  <a:pt x="5009013" y="60325"/>
                </a:lnTo>
                <a:cubicBezTo>
                  <a:pt x="4904129" y="181194"/>
                  <a:pt x="4748392" y="260712"/>
                  <a:pt x="4576763" y="260712"/>
                </a:cubicBezTo>
                <a:cubicBezTo>
                  <a:pt x="4405136" y="260712"/>
                  <a:pt x="4249399" y="181194"/>
                  <a:pt x="4144513" y="60325"/>
                </a:cubicBezTo>
                <a:cubicBezTo>
                  <a:pt x="0" y="60325"/>
                  <a:pt x="0" y="60325"/>
                  <a:pt x="0" y="60325"/>
                </a:cubicBezTo>
                <a:close/>
              </a:path>
            </a:pathLst>
          </a:cu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sp>
        <p:nvSpPr>
          <p:cNvPr id="97" name="Rectangle 5"/>
          <p:cNvSpPr>
            <a:spLocks noChangeArrowheads="1"/>
          </p:cNvSpPr>
          <p:nvPr/>
        </p:nvSpPr>
        <p:spPr bwMode="auto">
          <a:xfrm>
            <a:off x="5098120" y="5465199"/>
            <a:ext cx="209550" cy="209550"/>
          </a:xfrm>
          <a:prstGeom prst="rect">
            <a:avLst/>
          </a:prstGeom>
          <a:noFill/>
          <a:ln w="0">
            <a:no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2000">
              <a:solidFill>
                <a:srgbClr val="44546A"/>
              </a:solidFill>
              <a:latin typeface="方正宋刻本秀楷简体" panose="02000000000000000000" pitchFamily="2" charset="-122"/>
              <a:ea typeface="方正宋刻本秀楷简体" panose="02000000000000000000" pitchFamily="2" charset="-122"/>
            </a:endParaRPr>
          </a:p>
        </p:txBody>
      </p:sp>
      <p:sp>
        <p:nvSpPr>
          <p:cNvPr id="98" name="Freeform 6"/>
          <p:cNvSpPr>
            <a:spLocks noEditPoints="1"/>
          </p:cNvSpPr>
          <p:nvPr/>
        </p:nvSpPr>
        <p:spPr bwMode="auto">
          <a:xfrm>
            <a:off x="5558775" y="5763966"/>
            <a:ext cx="147638" cy="147638"/>
          </a:xfrm>
          <a:custGeom>
            <a:avLst/>
            <a:gdLst>
              <a:gd name="T0" fmla="*/ 2899 w 3290"/>
              <a:gd name="T1" fmla="*/ 2617 h 3421"/>
              <a:gd name="T2" fmla="*/ 2623 w 3290"/>
              <a:gd name="T3" fmla="*/ 2363 h 3421"/>
              <a:gd name="T4" fmla="*/ 2299 w 3290"/>
              <a:gd name="T5" fmla="*/ 2176 h 3421"/>
              <a:gd name="T6" fmla="*/ 2173 w 3290"/>
              <a:gd name="T7" fmla="*/ 2073 h 3421"/>
              <a:gd name="T8" fmla="*/ 2404 w 3290"/>
              <a:gd name="T9" fmla="*/ 1891 h 3421"/>
              <a:gd name="T10" fmla="*/ 2587 w 3290"/>
              <a:gd name="T11" fmla="*/ 1637 h 3421"/>
              <a:gd name="T12" fmla="*/ 2693 w 3290"/>
              <a:gd name="T13" fmla="*/ 1345 h 3421"/>
              <a:gd name="T14" fmla="*/ 2714 w 3290"/>
              <a:gd name="T15" fmla="*/ 1028 h 3421"/>
              <a:gd name="T16" fmla="*/ 2650 w 3290"/>
              <a:gd name="T17" fmla="*/ 720 h 3421"/>
              <a:gd name="T18" fmla="*/ 2505 w 3290"/>
              <a:gd name="T19" fmla="*/ 445 h 3421"/>
              <a:gd name="T20" fmla="*/ 2288 w 3290"/>
              <a:gd name="T21" fmla="*/ 220 h 3421"/>
              <a:gd name="T22" fmla="*/ 2023 w 3290"/>
              <a:gd name="T23" fmla="*/ 69 h 3421"/>
              <a:gd name="T24" fmla="*/ 1727 w 3290"/>
              <a:gd name="T25" fmla="*/ 2 h 3421"/>
              <a:gd name="T26" fmla="*/ 1422 w 3290"/>
              <a:gd name="T27" fmla="*/ 25 h 3421"/>
              <a:gd name="T28" fmla="*/ 1139 w 3290"/>
              <a:gd name="T29" fmla="*/ 134 h 3421"/>
              <a:gd name="T30" fmla="*/ 895 w 3290"/>
              <a:gd name="T31" fmla="*/ 325 h 3421"/>
              <a:gd name="T32" fmla="*/ 712 w 3290"/>
              <a:gd name="T33" fmla="*/ 577 h 3421"/>
              <a:gd name="T34" fmla="*/ 607 w 3290"/>
              <a:gd name="T35" fmla="*/ 871 h 3421"/>
              <a:gd name="T36" fmla="*/ 585 w 3290"/>
              <a:gd name="T37" fmla="*/ 1188 h 3421"/>
              <a:gd name="T38" fmla="*/ 649 w 3290"/>
              <a:gd name="T39" fmla="*/ 1495 h 3421"/>
              <a:gd name="T40" fmla="*/ 794 w 3290"/>
              <a:gd name="T41" fmla="*/ 1770 h 3421"/>
              <a:gd name="T42" fmla="*/ 1004 w 3290"/>
              <a:gd name="T43" fmla="*/ 1990 h 3421"/>
              <a:gd name="T44" fmla="*/ 1132 w 3290"/>
              <a:gd name="T45" fmla="*/ 2123 h 3421"/>
              <a:gd name="T46" fmla="*/ 825 w 3290"/>
              <a:gd name="T47" fmla="*/ 2261 h 3421"/>
              <a:gd name="T48" fmla="*/ 521 w 3290"/>
              <a:gd name="T49" fmla="*/ 2484 h 3421"/>
              <a:gd name="T50" fmla="*/ 275 w 3290"/>
              <a:gd name="T51" fmla="*/ 2767 h 3421"/>
              <a:gd name="T52" fmla="*/ 89 w 3290"/>
              <a:gd name="T53" fmla="*/ 3103 h 3421"/>
              <a:gd name="T54" fmla="*/ 165 w 3290"/>
              <a:gd name="T55" fmla="*/ 3421 h 3421"/>
              <a:gd name="T56" fmla="*/ 294 w 3290"/>
              <a:gd name="T57" fmla="*/ 3068 h 3421"/>
              <a:gd name="T58" fmla="*/ 500 w 3290"/>
              <a:gd name="T59" fmla="*/ 2756 h 3421"/>
              <a:gd name="T60" fmla="*/ 765 w 3290"/>
              <a:gd name="T61" fmla="*/ 2508 h 3421"/>
              <a:gd name="T62" fmla="*/ 1057 w 3290"/>
              <a:gd name="T63" fmla="*/ 2339 h 3421"/>
              <a:gd name="T64" fmla="*/ 1386 w 3290"/>
              <a:gd name="T65" fmla="*/ 2240 h 3421"/>
              <a:gd name="T66" fmla="*/ 1733 w 3290"/>
              <a:gd name="T67" fmla="*/ 2220 h 3421"/>
              <a:gd name="T68" fmla="*/ 2073 w 3290"/>
              <a:gd name="T69" fmla="*/ 2280 h 3421"/>
              <a:gd name="T70" fmla="*/ 2383 w 3290"/>
              <a:gd name="T71" fmla="*/ 2415 h 3421"/>
              <a:gd name="T72" fmla="*/ 2662 w 3290"/>
              <a:gd name="T73" fmla="*/ 2621 h 3421"/>
              <a:gd name="T74" fmla="*/ 2902 w 3290"/>
              <a:gd name="T75" fmla="*/ 2905 h 3421"/>
              <a:gd name="T76" fmla="*/ 3071 w 3290"/>
              <a:gd name="T77" fmla="*/ 3238 h 3421"/>
              <a:gd name="T78" fmla="*/ 3265 w 3290"/>
              <a:gd name="T79" fmla="*/ 3282 h 3421"/>
              <a:gd name="T80" fmla="*/ 3117 w 3290"/>
              <a:gd name="T81" fmla="*/ 2927 h 3421"/>
              <a:gd name="T82" fmla="*/ 764 w 3290"/>
              <a:gd name="T83" fmla="*/ 957 h 3421"/>
              <a:gd name="T84" fmla="*/ 853 w 3290"/>
              <a:gd name="T85" fmla="*/ 680 h 3421"/>
              <a:gd name="T86" fmla="*/ 1016 w 3290"/>
              <a:gd name="T87" fmla="*/ 449 h 3421"/>
              <a:gd name="T88" fmla="*/ 1237 w 3290"/>
              <a:gd name="T89" fmla="*/ 280 h 3421"/>
              <a:gd name="T90" fmla="*/ 1505 w 3290"/>
              <a:gd name="T91" fmla="*/ 188 h 3421"/>
              <a:gd name="T92" fmla="*/ 1795 w 3290"/>
              <a:gd name="T93" fmla="*/ 188 h 3421"/>
              <a:gd name="T94" fmla="*/ 2062 w 3290"/>
              <a:gd name="T95" fmla="*/ 280 h 3421"/>
              <a:gd name="T96" fmla="*/ 2284 w 3290"/>
              <a:gd name="T97" fmla="*/ 449 h 3421"/>
              <a:gd name="T98" fmla="*/ 2446 w 3290"/>
              <a:gd name="T99" fmla="*/ 680 h 3421"/>
              <a:gd name="T100" fmla="*/ 2535 w 3290"/>
              <a:gd name="T101" fmla="*/ 957 h 3421"/>
              <a:gd name="T102" fmla="*/ 2535 w 3290"/>
              <a:gd name="T103" fmla="*/ 1259 h 3421"/>
              <a:gd name="T104" fmla="*/ 2446 w 3290"/>
              <a:gd name="T105" fmla="*/ 1535 h 3421"/>
              <a:gd name="T106" fmla="*/ 2284 w 3290"/>
              <a:gd name="T107" fmla="*/ 1766 h 3421"/>
              <a:gd name="T108" fmla="*/ 2062 w 3290"/>
              <a:gd name="T109" fmla="*/ 1935 h 3421"/>
              <a:gd name="T110" fmla="*/ 1795 w 3290"/>
              <a:gd name="T111" fmla="*/ 2026 h 3421"/>
              <a:gd name="T112" fmla="*/ 1505 w 3290"/>
              <a:gd name="T113" fmla="*/ 2026 h 3421"/>
              <a:gd name="T114" fmla="*/ 1237 w 3290"/>
              <a:gd name="T115" fmla="*/ 1935 h 3421"/>
              <a:gd name="T116" fmla="*/ 1016 w 3290"/>
              <a:gd name="T117" fmla="*/ 1766 h 3421"/>
              <a:gd name="T118" fmla="*/ 853 w 3290"/>
              <a:gd name="T119" fmla="*/ 1535 h 3421"/>
              <a:gd name="T120" fmla="*/ 764 w 3290"/>
              <a:gd name="T121" fmla="*/ 1259 h 3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290" h="3421">
                <a:moveTo>
                  <a:pt x="3068" y="2844"/>
                </a:moveTo>
                <a:lnTo>
                  <a:pt x="3015" y="2765"/>
                </a:lnTo>
                <a:lnTo>
                  <a:pt x="2959" y="2690"/>
                </a:lnTo>
                <a:lnTo>
                  <a:pt x="2899" y="2617"/>
                </a:lnTo>
                <a:lnTo>
                  <a:pt x="2836" y="2548"/>
                </a:lnTo>
                <a:lnTo>
                  <a:pt x="2768" y="2483"/>
                </a:lnTo>
                <a:lnTo>
                  <a:pt x="2698" y="2421"/>
                </a:lnTo>
                <a:lnTo>
                  <a:pt x="2623" y="2363"/>
                </a:lnTo>
                <a:lnTo>
                  <a:pt x="2546" y="2309"/>
                </a:lnTo>
                <a:lnTo>
                  <a:pt x="2465" y="2260"/>
                </a:lnTo>
                <a:lnTo>
                  <a:pt x="2383" y="2216"/>
                </a:lnTo>
                <a:lnTo>
                  <a:pt x="2299" y="2176"/>
                </a:lnTo>
                <a:lnTo>
                  <a:pt x="2212" y="2142"/>
                </a:lnTo>
                <a:lnTo>
                  <a:pt x="2161" y="2124"/>
                </a:lnTo>
                <a:lnTo>
                  <a:pt x="2110" y="2107"/>
                </a:lnTo>
                <a:lnTo>
                  <a:pt x="2173" y="2073"/>
                </a:lnTo>
                <a:lnTo>
                  <a:pt x="2235" y="2034"/>
                </a:lnTo>
                <a:lnTo>
                  <a:pt x="2294" y="1991"/>
                </a:lnTo>
                <a:lnTo>
                  <a:pt x="2350" y="1943"/>
                </a:lnTo>
                <a:lnTo>
                  <a:pt x="2404" y="1891"/>
                </a:lnTo>
                <a:lnTo>
                  <a:pt x="2456" y="1832"/>
                </a:lnTo>
                <a:lnTo>
                  <a:pt x="2506" y="1770"/>
                </a:lnTo>
                <a:lnTo>
                  <a:pt x="2549" y="1705"/>
                </a:lnTo>
                <a:lnTo>
                  <a:pt x="2587" y="1637"/>
                </a:lnTo>
                <a:lnTo>
                  <a:pt x="2621" y="1567"/>
                </a:lnTo>
                <a:lnTo>
                  <a:pt x="2650" y="1495"/>
                </a:lnTo>
                <a:lnTo>
                  <a:pt x="2674" y="1421"/>
                </a:lnTo>
                <a:lnTo>
                  <a:pt x="2693" y="1345"/>
                </a:lnTo>
                <a:lnTo>
                  <a:pt x="2706" y="1267"/>
                </a:lnTo>
                <a:lnTo>
                  <a:pt x="2714" y="1188"/>
                </a:lnTo>
                <a:lnTo>
                  <a:pt x="2717" y="1108"/>
                </a:lnTo>
                <a:lnTo>
                  <a:pt x="2714" y="1028"/>
                </a:lnTo>
                <a:lnTo>
                  <a:pt x="2706" y="948"/>
                </a:lnTo>
                <a:lnTo>
                  <a:pt x="2693" y="871"/>
                </a:lnTo>
                <a:lnTo>
                  <a:pt x="2674" y="794"/>
                </a:lnTo>
                <a:lnTo>
                  <a:pt x="2650" y="720"/>
                </a:lnTo>
                <a:lnTo>
                  <a:pt x="2621" y="647"/>
                </a:lnTo>
                <a:lnTo>
                  <a:pt x="2587" y="577"/>
                </a:lnTo>
                <a:lnTo>
                  <a:pt x="2549" y="510"/>
                </a:lnTo>
                <a:lnTo>
                  <a:pt x="2505" y="445"/>
                </a:lnTo>
                <a:lnTo>
                  <a:pt x="2456" y="383"/>
                </a:lnTo>
                <a:lnTo>
                  <a:pt x="2404" y="325"/>
                </a:lnTo>
                <a:lnTo>
                  <a:pt x="2347" y="270"/>
                </a:lnTo>
                <a:lnTo>
                  <a:pt x="2288" y="220"/>
                </a:lnTo>
                <a:lnTo>
                  <a:pt x="2225" y="174"/>
                </a:lnTo>
                <a:lnTo>
                  <a:pt x="2160" y="134"/>
                </a:lnTo>
                <a:lnTo>
                  <a:pt x="2093" y="99"/>
                </a:lnTo>
                <a:lnTo>
                  <a:pt x="2023" y="69"/>
                </a:lnTo>
                <a:lnTo>
                  <a:pt x="1952" y="44"/>
                </a:lnTo>
                <a:lnTo>
                  <a:pt x="1878" y="25"/>
                </a:lnTo>
                <a:lnTo>
                  <a:pt x="1803" y="11"/>
                </a:lnTo>
                <a:lnTo>
                  <a:pt x="1727" y="2"/>
                </a:lnTo>
                <a:lnTo>
                  <a:pt x="1650" y="0"/>
                </a:lnTo>
                <a:lnTo>
                  <a:pt x="1572" y="2"/>
                </a:lnTo>
                <a:lnTo>
                  <a:pt x="1496" y="11"/>
                </a:lnTo>
                <a:lnTo>
                  <a:pt x="1422" y="25"/>
                </a:lnTo>
                <a:lnTo>
                  <a:pt x="1347" y="44"/>
                </a:lnTo>
                <a:lnTo>
                  <a:pt x="1276" y="69"/>
                </a:lnTo>
                <a:lnTo>
                  <a:pt x="1206" y="99"/>
                </a:lnTo>
                <a:lnTo>
                  <a:pt x="1139" y="134"/>
                </a:lnTo>
                <a:lnTo>
                  <a:pt x="1074" y="174"/>
                </a:lnTo>
                <a:lnTo>
                  <a:pt x="1011" y="220"/>
                </a:lnTo>
                <a:lnTo>
                  <a:pt x="952" y="270"/>
                </a:lnTo>
                <a:lnTo>
                  <a:pt x="895" y="325"/>
                </a:lnTo>
                <a:lnTo>
                  <a:pt x="843" y="383"/>
                </a:lnTo>
                <a:lnTo>
                  <a:pt x="794" y="445"/>
                </a:lnTo>
                <a:lnTo>
                  <a:pt x="750" y="510"/>
                </a:lnTo>
                <a:lnTo>
                  <a:pt x="712" y="577"/>
                </a:lnTo>
                <a:lnTo>
                  <a:pt x="678" y="647"/>
                </a:lnTo>
                <a:lnTo>
                  <a:pt x="649" y="720"/>
                </a:lnTo>
                <a:lnTo>
                  <a:pt x="625" y="794"/>
                </a:lnTo>
                <a:lnTo>
                  <a:pt x="607" y="871"/>
                </a:lnTo>
                <a:lnTo>
                  <a:pt x="593" y="948"/>
                </a:lnTo>
                <a:lnTo>
                  <a:pt x="585" y="1028"/>
                </a:lnTo>
                <a:lnTo>
                  <a:pt x="582" y="1108"/>
                </a:lnTo>
                <a:lnTo>
                  <a:pt x="585" y="1188"/>
                </a:lnTo>
                <a:lnTo>
                  <a:pt x="593" y="1267"/>
                </a:lnTo>
                <a:lnTo>
                  <a:pt x="607" y="1345"/>
                </a:lnTo>
                <a:lnTo>
                  <a:pt x="625" y="1421"/>
                </a:lnTo>
                <a:lnTo>
                  <a:pt x="649" y="1495"/>
                </a:lnTo>
                <a:lnTo>
                  <a:pt x="678" y="1567"/>
                </a:lnTo>
                <a:lnTo>
                  <a:pt x="712" y="1637"/>
                </a:lnTo>
                <a:lnTo>
                  <a:pt x="750" y="1705"/>
                </a:lnTo>
                <a:lnTo>
                  <a:pt x="794" y="1770"/>
                </a:lnTo>
                <a:lnTo>
                  <a:pt x="843" y="1832"/>
                </a:lnTo>
                <a:lnTo>
                  <a:pt x="895" y="1891"/>
                </a:lnTo>
                <a:lnTo>
                  <a:pt x="948" y="1943"/>
                </a:lnTo>
                <a:lnTo>
                  <a:pt x="1004" y="1990"/>
                </a:lnTo>
                <a:lnTo>
                  <a:pt x="1063" y="2033"/>
                </a:lnTo>
                <a:lnTo>
                  <a:pt x="1123" y="2072"/>
                </a:lnTo>
                <a:lnTo>
                  <a:pt x="1186" y="2106"/>
                </a:lnTo>
                <a:lnTo>
                  <a:pt x="1132" y="2123"/>
                </a:lnTo>
                <a:lnTo>
                  <a:pt x="1078" y="2142"/>
                </a:lnTo>
                <a:lnTo>
                  <a:pt x="991" y="2177"/>
                </a:lnTo>
                <a:lnTo>
                  <a:pt x="907" y="2216"/>
                </a:lnTo>
                <a:lnTo>
                  <a:pt x="825" y="2261"/>
                </a:lnTo>
                <a:lnTo>
                  <a:pt x="744" y="2310"/>
                </a:lnTo>
                <a:lnTo>
                  <a:pt x="667" y="2363"/>
                </a:lnTo>
                <a:lnTo>
                  <a:pt x="592" y="2421"/>
                </a:lnTo>
                <a:lnTo>
                  <a:pt x="521" y="2484"/>
                </a:lnTo>
                <a:lnTo>
                  <a:pt x="454" y="2549"/>
                </a:lnTo>
                <a:lnTo>
                  <a:pt x="391" y="2618"/>
                </a:lnTo>
                <a:lnTo>
                  <a:pt x="331" y="2691"/>
                </a:lnTo>
                <a:lnTo>
                  <a:pt x="275" y="2767"/>
                </a:lnTo>
                <a:lnTo>
                  <a:pt x="221" y="2846"/>
                </a:lnTo>
                <a:lnTo>
                  <a:pt x="173" y="2929"/>
                </a:lnTo>
                <a:lnTo>
                  <a:pt x="129" y="3015"/>
                </a:lnTo>
                <a:lnTo>
                  <a:pt x="89" y="3103"/>
                </a:lnTo>
                <a:lnTo>
                  <a:pt x="55" y="3193"/>
                </a:lnTo>
                <a:lnTo>
                  <a:pt x="25" y="3285"/>
                </a:lnTo>
                <a:lnTo>
                  <a:pt x="0" y="3379"/>
                </a:lnTo>
                <a:lnTo>
                  <a:pt x="165" y="3421"/>
                </a:lnTo>
                <a:lnTo>
                  <a:pt x="189" y="3329"/>
                </a:lnTo>
                <a:lnTo>
                  <a:pt x="219" y="3240"/>
                </a:lnTo>
                <a:lnTo>
                  <a:pt x="254" y="3152"/>
                </a:lnTo>
                <a:lnTo>
                  <a:pt x="294" y="3068"/>
                </a:lnTo>
                <a:lnTo>
                  <a:pt x="339" y="2985"/>
                </a:lnTo>
                <a:lnTo>
                  <a:pt x="388" y="2906"/>
                </a:lnTo>
                <a:lnTo>
                  <a:pt x="442" y="2830"/>
                </a:lnTo>
                <a:lnTo>
                  <a:pt x="500" y="2756"/>
                </a:lnTo>
                <a:lnTo>
                  <a:pt x="562" y="2687"/>
                </a:lnTo>
                <a:lnTo>
                  <a:pt x="628" y="2621"/>
                </a:lnTo>
                <a:lnTo>
                  <a:pt x="698" y="2560"/>
                </a:lnTo>
                <a:lnTo>
                  <a:pt x="765" y="2508"/>
                </a:lnTo>
                <a:lnTo>
                  <a:pt x="835" y="2460"/>
                </a:lnTo>
                <a:lnTo>
                  <a:pt x="907" y="2415"/>
                </a:lnTo>
                <a:lnTo>
                  <a:pt x="981" y="2376"/>
                </a:lnTo>
                <a:lnTo>
                  <a:pt x="1057" y="2339"/>
                </a:lnTo>
                <a:lnTo>
                  <a:pt x="1135" y="2308"/>
                </a:lnTo>
                <a:lnTo>
                  <a:pt x="1217" y="2281"/>
                </a:lnTo>
                <a:lnTo>
                  <a:pt x="1301" y="2258"/>
                </a:lnTo>
                <a:lnTo>
                  <a:pt x="1386" y="2240"/>
                </a:lnTo>
                <a:lnTo>
                  <a:pt x="1472" y="2228"/>
                </a:lnTo>
                <a:lnTo>
                  <a:pt x="1558" y="2220"/>
                </a:lnTo>
                <a:lnTo>
                  <a:pt x="1645" y="2217"/>
                </a:lnTo>
                <a:lnTo>
                  <a:pt x="1733" y="2220"/>
                </a:lnTo>
                <a:lnTo>
                  <a:pt x="1819" y="2228"/>
                </a:lnTo>
                <a:lnTo>
                  <a:pt x="1904" y="2240"/>
                </a:lnTo>
                <a:lnTo>
                  <a:pt x="1990" y="2258"/>
                </a:lnTo>
                <a:lnTo>
                  <a:pt x="2073" y="2280"/>
                </a:lnTo>
                <a:lnTo>
                  <a:pt x="2155" y="2308"/>
                </a:lnTo>
                <a:lnTo>
                  <a:pt x="2233" y="2339"/>
                </a:lnTo>
                <a:lnTo>
                  <a:pt x="2309" y="2375"/>
                </a:lnTo>
                <a:lnTo>
                  <a:pt x="2383" y="2415"/>
                </a:lnTo>
                <a:lnTo>
                  <a:pt x="2455" y="2459"/>
                </a:lnTo>
                <a:lnTo>
                  <a:pt x="2525" y="2507"/>
                </a:lnTo>
                <a:lnTo>
                  <a:pt x="2592" y="2560"/>
                </a:lnTo>
                <a:lnTo>
                  <a:pt x="2662" y="2621"/>
                </a:lnTo>
                <a:lnTo>
                  <a:pt x="2728" y="2687"/>
                </a:lnTo>
                <a:lnTo>
                  <a:pt x="2790" y="2755"/>
                </a:lnTo>
                <a:lnTo>
                  <a:pt x="2848" y="2828"/>
                </a:lnTo>
                <a:lnTo>
                  <a:pt x="2902" y="2905"/>
                </a:lnTo>
                <a:lnTo>
                  <a:pt x="2951" y="2984"/>
                </a:lnTo>
                <a:lnTo>
                  <a:pt x="2996" y="3066"/>
                </a:lnTo>
                <a:lnTo>
                  <a:pt x="3036" y="3151"/>
                </a:lnTo>
                <a:lnTo>
                  <a:pt x="3071" y="3238"/>
                </a:lnTo>
                <a:lnTo>
                  <a:pt x="3101" y="3327"/>
                </a:lnTo>
                <a:lnTo>
                  <a:pt x="3125" y="3419"/>
                </a:lnTo>
                <a:lnTo>
                  <a:pt x="3290" y="3376"/>
                </a:lnTo>
                <a:lnTo>
                  <a:pt x="3265" y="3282"/>
                </a:lnTo>
                <a:lnTo>
                  <a:pt x="3235" y="3191"/>
                </a:lnTo>
                <a:lnTo>
                  <a:pt x="3201" y="3100"/>
                </a:lnTo>
                <a:lnTo>
                  <a:pt x="3161" y="3013"/>
                </a:lnTo>
                <a:lnTo>
                  <a:pt x="3117" y="2927"/>
                </a:lnTo>
                <a:lnTo>
                  <a:pt x="3068" y="2844"/>
                </a:lnTo>
                <a:close/>
                <a:moveTo>
                  <a:pt x="752" y="1108"/>
                </a:moveTo>
                <a:lnTo>
                  <a:pt x="755" y="1031"/>
                </a:lnTo>
                <a:lnTo>
                  <a:pt x="764" y="957"/>
                </a:lnTo>
                <a:lnTo>
                  <a:pt x="778" y="884"/>
                </a:lnTo>
                <a:lnTo>
                  <a:pt x="798" y="813"/>
                </a:lnTo>
                <a:lnTo>
                  <a:pt x="824" y="745"/>
                </a:lnTo>
                <a:lnTo>
                  <a:pt x="853" y="680"/>
                </a:lnTo>
                <a:lnTo>
                  <a:pt x="888" y="617"/>
                </a:lnTo>
                <a:lnTo>
                  <a:pt x="926" y="558"/>
                </a:lnTo>
                <a:lnTo>
                  <a:pt x="969" y="501"/>
                </a:lnTo>
                <a:lnTo>
                  <a:pt x="1016" y="449"/>
                </a:lnTo>
                <a:lnTo>
                  <a:pt x="1066" y="401"/>
                </a:lnTo>
                <a:lnTo>
                  <a:pt x="1120" y="356"/>
                </a:lnTo>
                <a:lnTo>
                  <a:pt x="1177" y="316"/>
                </a:lnTo>
                <a:lnTo>
                  <a:pt x="1237" y="280"/>
                </a:lnTo>
                <a:lnTo>
                  <a:pt x="1300" y="250"/>
                </a:lnTo>
                <a:lnTo>
                  <a:pt x="1366" y="224"/>
                </a:lnTo>
                <a:lnTo>
                  <a:pt x="1435" y="203"/>
                </a:lnTo>
                <a:lnTo>
                  <a:pt x="1505" y="188"/>
                </a:lnTo>
                <a:lnTo>
                  <a:pt x="1576" y="179"/>
                </a:lnTo>
                <a:lnTo>
                  <a:pt x="1650" y="176"/>
                </a:lnTo>
                <a:lnTo>
                  <a:pt x="1723" y="179"/>
                </a:lnTo>
                <a:lnTo>
                  <a:pt x="1795" y="188"/>
                </a:lnTo>
                <a:lnTo>
                  <a:pt x="1865" y="203"/>
                </a:lnTo>
                <a:lnTo>
                  <a:pt x="1933" y="224"/>
                </a:lnTo>
                <a:lnTo>
                  <a:pt x="1999" y="250"/>
                </a:lnTo>
                <a:lnTo>
                  <a:pt x="2062" y="280"/>
                </a:lnTo>
                <a:lnTo>
                  <a:pt x="2122" y="316"/>
                </a:lnTo>
                <a:lnTo>
                  <a:pt x="2179" y="356"/>
                </a:lnTo>
                <a:lnTo>
                  <a:pt x="2233" y="401"/>
                </a:lnTo>
                <a:lnTo>
                  <a:pt x="2284" y="449"/>
                </a:lnTo>
                <a:lnTo>
                  <a:pt x="2330" y="501"/>
                </a:lnTo>
                <a:lnTo>
                  <a:pt x="2373" y="558"/>
                </a:lnTo>
                <a:lnTo>
                  <a:pt x="2412" y="617"/>
                </a:lnTo>
                <a:lnTo>
                  <a:pt x="2446" y="680"/>
                </a:lnTo>
                <a:lnTo>
                  <a:pt x="2477" y="745"/>
                </a:lnTo>
                <a:lnTo>
                  <a:pt x="2501" y="813"/>
                </a:lnTo>
                <a:lnTo>
                  <a:pt x="2521" y="884"/>
                </a:lnTo>
                <a:lnTo>
                  <a:pt x="2535" y="957"/>
                </a:lnTo>
                <a:lnTo>
                  <a:pt x="2544" y="1031"/>
                </a:lnTo>
                <a:lnTo>
                  <a:pt x="2547" y="1108"/>
                </a:lnTo>
                <a:lnTo>
                  <a:pt x="2544" y="1184"/>
                </a:lnTo>
                <a:lnTo>
                  <a:pt x="2535" y="1259"/>
                </a:lnTo>
                <a:lnTo>
                  <a:pt x="2521" y="1331"/>
                </a:lnTo>
                <a:lnTo>
                  <a:pt x="2501" y="1401"/>
                </a:lnTo>
                <a:lnTo>
                  <a:pt x="2477" y="1470"/>
                </a:lnTo>
                <a:lnTo>
                  <a:pt x="2446" y="1535"/>
                </a:lnTo>
                <a:lnTo>
                  <a:pt x="2412" y="1598"/>
                </a:lnTo>
                <a:lnTo>
                  <a:pt x="2373" y="1657"/>
                </a:lnTo>
                <a:lnTo>
                  <a:pt x="2330" y="1713"/>
                </a:lnTo>
                <a:lnTo>
                  <a:pt x="2284" y="1766"/>
                </a:lnTo>
                <a:lnTo>
                  <a:pt x="2233" y="1814"/>
                </a:lnTo>
                <a:lnTo>
                  <a:pt x="2179" y="1859"/>
                </a:lnTo>
                <a:lnTo>
                  <a:pt x="2122" y="1899"/>
                </a:lnTo>
                <a:lnTo>
                  <a:pt x="2062" y="1935"/>
                </a:lnTo>
                <a:lnTo>
                  <a:pt x="1999" y="1966"/>
                </a:lnTo>
                <a:lnTo>
                  <a:pt x="1933" y="1991"/>
                </a:lnTo>
                <a:lnTo>
                  <a:pt x="1865" y="2012"/>
                </a:lnTo>
                <a:lnTo>
                  <a:pt x="1795" y="2026"/>
                </a:lnTo>
                <a:lnTo>
                  <a:pt x="1723" y="2035"/>
                </a:lnTo>
                <a:lnTo>
                  <a:pt x="1650" y="2039"/>
                </a:lnTo>
                <a:lnTo>
                  <a:pt x="1576" y="2035"/>
                </a:lnTo>
                <a:lnTo>
                  <a:pt x="1505" y="2026"/>
                </a:lnTo>
                <a:lnTo>
                  <a:pt x="1435" y="2012"/>
                </a:lnTo>
                <a:lnTo>
                  <a:pt x="1366" y="1991"/>
                </a:lnTo>
                <a:lnTo>
                  <a:pt x="1300" y="1966"/>
                </a:lnTo>
                <a:lnTo>
                  <a:pt x="1237" y="1935"/>
                </a:lnTo>
                <a:lnTo>
                  <a:pt x="1177" y="1899"/>
                </a:lnTo>
                <a:lnTo>
                  <a:pt x="1120" y="1859"/>
                </a:lnTo>
                <a:lnTo>
                  <a:pt x="1066" y="1814"/>
                </a:lnTo>
                <a:lnTo>
                  <a:pt x="1016" y="1766"/>
                </a:lnTo>
                <a:lnTo>
                  <a:pt x="969" y="1713"/>
                </a:lnTo>
                <a:lnTo>
                  <a:pt x="926" y="1657"/>
                </a:lnTo>
                <a:lnTo>
                  <a:pt x="888" y="1598"/>
                </a:lnTo>
                <a:lnTo>
                  <a:pt x="853" y="1535"/>
                </a:lnTo>
                <a:lnTo>
                  <a:pt x="824" y="1470"/>
                </a:lnTo>
                <a:lnTo>
                  <a:pt x="798" y="1401"/>
                </a:lnTo>
                <a:lnTo>
                  <a:pt x="778" y="1331"/>
                </a:lnTo>
                <a:lnTo>
                  <a:pt x="764" y="1259"/>
                </a:lnTo>
                <a:lnTo>
                  <a:pt x="755" y="1184"/>
                </a:lnTo>
                <a:lnTo>
                  <a:pt x="752" y="1108"/>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2000">
              <a:solidFill>
                <a:srgbClr val="44546A"/>
              </a:solidFill>
              <a:latin typeface="方正宋刻本秀楷简体" panose="02000000000000000000" pitchFamily="2" charset="-122"/>
              <a:ea typeface="方正宋刻本秀楷简体" panose="02000000000000000000" pitchFamily="2" charset="-122"/>
            </a:endParaRPr>
          </a:p>
        </p:txBody>
      </p:sp>
      <p:sp>
        <p:nvSpPr>
          <p:cNvPr id="103" name="矩形 102"/>
          <p:cNvSpPr/>
          <p:nvPr/>
        </p:nvSpPr>
        <p:spPr>
          <a:xfrm>
            <a:off x="5791200" y="5638800"/>
            <a:ext cx="1107440" cy="398780"/>
          </a:xfrm>
          <a:prstGeom prst="rect">
            <a:avLst/>
          </a:prstGeom>
          <a:noFill/>
        </p:spPr>
        <p:txBody>
          <a:bodyPr wrap="square" rtlCol="0">
            <a:spAutoFit/>
          </a:bodyPr>
          <a:lstStyle/>
          <a:p>
            <a:r>
              <a:rPr lang="zh-CN" altLang="en-US" sz="2000" spc="300" dirty="0">
                <a:solidFill>
                  <a:srgbClr val="44546A"/>
                </a:solidFill>
                <a:latin typeface="方正宋刻本秀楷简体" panose="02000000000000000000" pitchFamily="2" charset="-122"/>
                <a:ea typeface="方正宋刻本秀楷简体" panose="02000000000000000000" pitchFamily="2" charset="-122"/>
                <a:sym typeface="+mn-ea"/>
              </a:rPr>
              <a:t>梁威鹏</a:t>
            </a:r>
            <a:r>
              <a:rPr lang="zh-CN" altLang="en-US" sz="2000" spc="300" dirty="0">
                <a:solidFill>
                  <a:srgbClr val="44546A"/>
                </a:solidFill>
                <a:latin typeface="方正宋刻本秀楷简体" panose="02000000000000000000" pitchFamily="2" charset="-122"/>
                <a:ea typeface="方正宋刻本秀楷简体" panose="02000000000000000000" pitchFamily="2" charset="-122"/>
              </a:rPr>
              <a:t> </a:t>
            </a:r>
            <a:endParaRPr lang="zh-CN" altLang="en-US" sz="2000" spc="300" dirty="0">
              <a:solidFill>
                <a:srgbClr val="44546A"/>
              </a:solidFill>
              <a:latin typeface="方正宋刻本秀楷简体" panose="02000000000000000000" pitchFamily="2" charset="-122"/>
              <a:ea typeface="方正宋刻本秀楷简体" panose="02000000000000000000" pitchFamily="2" charset="-122"/>
            </a:endParaRPr>
          </a:p>
        </p:txBody>
      </p:sp>
      <p:sp>
        <p:nvSpPr>
          <p:cNvPr id="6" name="灯片编号占位符 5"/>
          <p:cNvSpPr>
            <a:spLocks noGrp="1"/>
          </p:cNvSpPr>
          <p:nvPr>
            <p:ph type="sldNum" sz="quarter" idx="12"/>
          </p:nvPr>
        </p:nvSpPr>
        <p:spPr/>
        <p:txBody>
          <a:bodyPr/>
          <a:p>
            <a:pPr>
              <a:defRPr/>
            </a:pPr>
            <a:fld id="{EF3F989F-8D12-475D-9C50-23F49E8F4161}" type="slidenum">
              <a:rPr lang="zh-CN" altLang="en-US"/>
            </a:fld>
            <a:endParaRPr lang="zh-CN" altLang="en-US"/>
          </a:p>
        </p:txBody>
      </p:sp>
      <p:sp>
        <p:nvSpPr>
          <p:cNvPr id="2" name="任意多边形 1"/>
          <p:cNvSpPr>
            <a:spLocks noChangeArrowheads="1"/>
          </p:cNvSpPr>
          <p:nvPr>
            <p:custDataLst>
              <p:tags r:id="rId2"/>
            </p:custDataLst>
          </p:nvPr>
        </p:nvSpPr>
        <p:spPr bwMode="auto">
          <a:xfrm rot="10800000">
            <a:off x="43814" y="6401012"/>
            <a:ext cx="12204701" cy="347616"/>
          </a:xfrm>
          <a:custGeom>
            <a:avLst/>
            <a:gdLst>
              <a:gd name="connsiteX0" fmla="*/ 0 w 9153526"/>
              <a:gd name="connsiteY0" fmla="*/ 0 h 260712"/>
              <a:gd name="connsiteX1" fmla="*/ 9153526 w 9153526"/>
              <a:gd name="connsiteY1" fmla="*/ 0 h 260712"/>
              <a:gd name="connsiteX2" fmla="*/ 9153526 w 9153526"/>
              <a:gd name="connsiteY2" fmla="*/ 60325 h 260712"/>
              <a:gd name="connsiteX3" fmla="*/ 5009013 w 9153526"/>
              <a:gd name="connsiteY3" fmla="*/ 60325 h 260712"/>
              <a:gd name="connsiteX4" fmla="*/ 4576763 w 9153526"/>
              <a:gd name="connsiteY4" fmla="*/ 260712 h 260712"/>
              <a:gd name="connsiteX5" fmla="*/ 4144513 w 9153526"/>
              <a:gd name="connsiteY5" fmla="*/ 60325 h 260712"/>
              <a:gd name="connsiteX6" fmla="*/ 0 w 9153526"/>
              <a:gd name="connsiteY6" fmla="*/ 60325 h 260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3526" h="260712">
                <a:moveTo>
                  <a:pt x="0" y="0"/>
                </a:moveTo>
                <a:lnTo>
                  <a:pt x="9153526" y="0"/>
                </a:lnTo>
                <a:lnTo>
                  <a:pt x="9153526" y="60325"/>
                </a:lnTo>
                <a:lnTo>
                  <a:pt x="5009013" y="60325"/>
                </a:lnTo>
                <a:cubicBezTo>
                  <a:pt x="4904129" y="181194"/>
                  <a:pt x="4748392" y="260712"/>
                  <a:pt x="4576763" y="260712"/>
                </a:cubicBezTo>
                <a:cubicBezTo>
                  <a:pt x="4405136" y="260712"/>
                  <a:pt x="4249399" y="181194"/>
                  <a:pt x="4144513" y="60325"/>
                </a:cubicBezTo>
                <a:cubicBezTo>
                  <a:pt x="0" y="60325"/>
                  <a:pt x="0" y="60325"/>
                  <a:pt x="0" y="60325"/>
                </a:cubicBezTo>
                <a:close/>
              </a:path>
            </a:pathLst>
          </a:cu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a:p>
        </p:txBody>
      </p:sp>
      <p:sp>
        <p:nvSpPr>
          <p:cNvPr id="12" name="PA_圆角矩形 11"/>
          <p:cNvSpPr/>
          <p:nvPr>
            <p:custDataLst>
              <p:tags r:id="rId3"/>
            </p:custDataLst>
          </p:nvPr>
        </p:nvSpPr>
        <p:spPr>
          <a:xfrm>
            <a:off x="1984799" y="3044826"/>
            <a:ext cx="8235951" cy="768349"/>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0">
            <a:spAutoFit/>
          </a:bodyPr>
          <a:p>
            <a:pPr algn="dist" eaLnBrk="1" fontAlgn="auto" hangingPunct="1">
              <a:spcBef>
                <a:spcPts val="0"/>
              </a:spcBef>
              <a:spcAft>
                <a:spcPts val="0"/>
              </a:spcAft>
              <a:defRPr/>
            </a:pPr>
            <a:r>
              <a:rPr lang="en-US" altLang="zh-CN" sz="4400" dirty="0">
                <a:solidFill>
                  <a:schemeClr val="tx1">
                    <a:lumMod val="65000"/>
                    <a:lumOff val="35000"/>
                  </a:schemeClr>
                </a:solidFill>
                <a:latin typeface="微软雅黑" panose="020B0503020204020204" charset="-122"/>
                <a:ea typeface="微软雅黑" panose="020B0503020204020204" charset="-122"/>
              </a:rPr>
              <a:t>THANK YOU FOR WATCHING</a:t>
            </a:r>
            <a:endParaRPr lang="en-US" altLang="zh-CN" sz="4400" dirty="0">
              <a:solidFill>
                <a:schemeClr val="tx1">
                  <a:lumMod val="65000"/>
                  <a:lumOff val="3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9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randombar(horizontal)">
                                      <p:cBhvr>
                                        <p:cTn id="11" dur="500"/>
                                        <p:tgtEl>
                                          <p:spTgt spid="103"/>
                                        </p:tgtEl>
                                      </p:cBhvr>
                                    </p:animEffect>
                                  </p:childTnLst>
                                </p:cTn>
                              </p:par>
                              <p:par>
                                <p:cTn id="12" presetID="10" presetClass="entr" presetSubtype="0" fill="hold" grpId="0" nodeType="withEffect" nodePh="1">
                                  <p:stCondLst>
                                    <p:cond delay="0"/>
                                  </p:stCondLst>
                                  <p:endCondLst>
                                    <p:cond evt="begin" delay="0">
                                      <p:tn val="12"/>
                                    </p:cond>
                                  </p:endCondLst>
                                  <p:childTnLst>
                                    <p:set>
                                      <p:cBhvr>
                                        <p:cTn id="13" dur="1" fill="hold">
                                          <p:stCondLst>
                                            <p:cond delay="0"/>
                                          </p:stCondLst>
                                        </p:cTn>
                                        <p:tgtEl>
                                          <p:spTgt spid="97"/>
                                        </p:tgtEl>
                                        <p:attrNameLst>
                                          <p:attrName>style.visibility</p:attrName>
                                        </p:attrNameLst>
                                      </p:cBhvr>
                                      <p:to>
                                        <p:strVal val="visible"/>
                                      </p:to>
                                    </p:set>
                                    <p:animEffect transition="in" filter="fade">
                                      <p:cBhvr>
                                        <p:cTn id="14" dur="500"/>
                                        <p:tgtEl>
                                          <p:spTgt spid="9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8"/>
                                        </p:tgtEl>
                                        <p:attrNameLst>
                                          <p:attrName>style.visibility</p:attrName>
                                        </p:attrNameLst>
                                      </p:cBhvr>
                                      <p:to>
                                        <p:strVal val="visible"/>
                                      </p:to>
                                    </p:set>
                                    <p:animEffect transition="in" filter="fade">
                                      <p:cBhvr>
                                        <p:cTn id="17" dur="500"/>
                                        <p:tgtEl>
                                          <p:spTgt spid="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par>
                                <p:cTn id="23" presetID="10" presetClass="entr" presetSubtype="0" fill="hold" grpId="0" nodeType="withEffect">
                                  <p:stCondLst>
                                    <p:cond delay="8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0" animBg="1"/>
      <p:bldP spid="97" grpId="0"/>
      <p:bldP spid="98" grpId="0" bldLvl="0" animBg="1"/>
      <p:bldP spid="103" grpId="0"/>
      <p:bldP spid="2" grpId="0" bldLvl="0" animBg="1"/>
      <p:bldP spid="12" grpId="0" bldLvl="0" animBg="1"/>
    </p:bldLst>
  </p:timing>
</p:sld>
</file>

<file path=ppt/tags/tag1.xml><?xml version="1.0" encoding="utf-8"?>
<p:tagLst xmlns:p="http://schemas.openxmlformats.org/presentationml/2006/main">
  <p:tag name="KSO_WM_UNIT_PLACING_PICTURE_USER_VIEWPORT" val="{&quot;height&quot;:2475,&quot;width&quot;:7365}"/>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PA" val="v3.0.1"/>
</p:tagLst>
</file>

<file path=ppt/tags/tag4.xml><?xml version="1.0" encoding="utf-8"?>
<p:tagLst xmlns:p="http://schemas.openxmlformats.org/presentationml/2006/main">
  <p:tag name="PA" val="v3.0.1"/>
</p:tagLst>
</file>

<file path=ppt/tags/tag5.xml><?xml version="1.0" encoding="utf-8"?>
<p:tagLst xmlns:p="http://schemas.openxmlformats.org/presentationml/2006/main">
  <p:tag name="KSO_WPP_MARK_KEY" val="af21efb7-d4bc-44bc-93c4-59a102fc1596"/>
  <p:tag name="COMMONDATA" val="eyJoZGlkIjoiZmM5MzI1YTRjNGNiNTEyMDQ5OTAwYmFmMmE0NWM1Zjg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2360</Words>
  <Application>WPS 演示</Application>
  <PresentationFormat>On-screen Show (4:3)</PresentationFormat>
  <Paragraphs>153</Paragraphs>
  <Slides>15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15</vt:i4>
      </vt:variant>
    </vt:vector>
  </HeadingPairs>
  <TitlesOfParts>
    <vt:vector size="30" baseType="lpstr">
      <vt:lpstr>Arial</vt:lpstr>
      <vt:lpstr>宋体</vt:lpstr>
      <vt:lpstr>Wingdings</vt:lpstr>
      <vt:lpstr>微软雅黑</vt:lpstr>
      <vt:lpstr>Palatino Linotype</vt:lpstr>
      <vt:lpstr>Times New Roman</vt:lpstr>
      <vt:lpstr>Times New Roman</vt:lpstr>
      <vt:lpstr>楷体</vt:lpstr>
      <vt:lpstr>方正宋刻本秀楷简体</vt:lpstr>
      <vt:lpstr>JetBrains Mono</vt:lpstr>
      <vt:lpstr>Bebas Neue</vt:lpstr>
      <vt:lpstr>Calibri</vt:lpstr>
      <vt:lpstr>Malgun Gothic</vt:lpstr>
      <vt:lpstr>Arial Unicode MS</vt:lpstr>
      <vt:lpstr>Office Theme</vt:lpstr>
      <vt:lpstr>机器学习实验课7</vt:lpstr>
      <vt:lpstr>PCA降维</vt:lpstr>
      <vt:lpstr>PowerPoint 演示文稿</vt:lpstr>
      <vt:lpstr>PowerPoint 演示文稿</vt:lpstr>
      <vt:lpstr>PowerPoint 演示文稿</vt:lpstr>
      <vt:lpstr>PowerPoint 演示文稿</vt:lpstr>
      <vt:lpstr>PowerPoint 演示文稿</vt:lpstr>
      <vt:lpstr>PowerPoint 演示文稿</vt:lpstr>
      <vt:lpstr>实验任务</vt:lpstr>
      <vt:lpstr>PowerPoint 演示文稿</vt:lpstr>
      <vt:lpstr>PowerPoint 演示文稿</vt:lpstr>
      <vt:lpstr>实验步骤</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sklearn库的安装</dc:title>
  <dc:creator>QW</dc:creator>
  <cp:lastModifiedBy>Bin</cp:lastModifiedBy>
  <cp:revision>135</cp:revision>
  <dcterms:created xsi:type="dcterms:W3CDTF">2022-02-24T06:40:00Z</dcterms:created>
  <dcterms:modified xsi:type="dcterms:W3CDTF">2023-03-23T02:25:38Z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2017-05-21T00:00:00Z</vt:filetime>
  </property>
  <property fmtid="{D5CDD505-2E9C-101B-9397-08002B2CF9AE}" pid="3" name="Creator">
    <vt:lpwstr>Microsoft® PowerPoint® 2016</vt:lpwstr>
  </property>
  <property fmtid="{D5CDD505-2E9C-101B-9397-08002B2CF9AE}" pid="4" name="LastSaved">
    <vt:filetime>2022-03-02T00:00:00Z</vt:filetime>
  </property>
  <property fmtid="{D5CDD505-2E9C-101B-9397-08002B2CF9AE}" pid="5" name="KSOProductBuildVer">
    <vt:lpwstr>2052-11.1.0.13703</vt:lpwstr>
  </property>
  <property fmtid="{D5CDD505-2E9C-101B-9397-08002B2CF9AE}" pid="6" name="ICV">
    <vt:lpwstr>30EAA01A05464D609DB49A848DAD7CC0</vt:lpwstr>
  </property>
</Properties>
</file>