
<file path=[Content_Types].xml><?xml version="1.0" encoding="utf-8"?>
<Types xmlns="http://schemas.openxmlformats.org/package/2006/content-types">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64" r:id="rId3"/>
    <p:sldId id="281" r:id="rId4"/>
    <p:sldId id="276" r:id="rId5"/>
    <p:sldId id="280" r:id="rId7"/>
    <p:sldId id="272" r:id="rId8"/>
    <p:sldId id="284" r:id="rId9"/>
    <p:sldId id="282" r:id="rId10"/>
    <p:sldId id="270" r:id="rId11"/>
    <p:sldId id="286" r:id="rId12"/>
    <p:sldId id="287" r:id="rId13"/>
    <p:sldId id="266" r:id="rId14"/>
    <p:sldId id="277" r:id="rId15"/>
    <p:sldId id="288" r:id="rId16"/>
    <p:sldId id="300" r:id="rId17"/>
    <p:sldId id="311" r:id="rId18"/>
    <p:sldId id="279" r:id="rId19"/>
    <p:sldId id="298" r:id="rId20"/>
    <p:sldId id="301" r:id="rId21"/>
    <p:sldId id="302" r:id="rId22"/>
    <p:sldId id="303" r:id="rId23"/>
    <p:sldId id="305" r:id="rId24"/>
    <p:sldId id="306" r:id="rId25"/>
    <p:sldId id="304" r:id="rId26"/>
    <p:sldId id="307" r:id="rId27"/>
    <p:sldId id="309" r:id="rId28"/>
    <p:sldId id="310" r:id="rId29"/>
  </p:sldIdLst>
  <p:sldSz cx="9144000" cy="6858000" type="screen4x3"/>
  <p:notesSz cx="6858000" cy="9144000"/>
  <p:custDataLst>
    <p:tags r:id="rId34"/>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0" userDrawn="1">
          <p15:clr>
            <a:srgbClr val="A4A3A4"/>
          </p15:clr>
        </p15:guide>
        <p15:guide id="2" pos="273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clrMru>
    <a:srgbClr val="DB29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00"/>
        <p:guide pos="2733"/>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gs" Target="tags/tag6.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3-30T23:29:06.949"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先不看神经网络的结构与内部组织，把其看成一个函数，函数的输入是一张图像，输出是一个</a:t>
            </a:r>
            <a:r>
              <a:rPr lang="en-US" altLang="zh-CN"/>
              <a:t>one-hot</a:t>
            </a:r>
            <a:r>
              <a:rPr lang="zh-CN" altLang="en-US"/>
              <a:t>向量，这样子就把一个识别的任务转换成一个分类问题了。</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先不看神经网络的结构与内部组织，把其看成一个函数，函数的输入是一张图像，输出是一个</a:t>
            </a:r>
            <a:r>
              <a:rPr lang="en-US" altLang="zh-CN"/>
              <a:t>one-hot</a:t>
            </a:r>
            <a:r>
              <a:rPr lang="zh-CN" altLang="en-US"/>
              <a:t>向量，每个值，这样子就把一个识别的任务转换成一个分类问题了。</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先不看神经网络的结构与内部组织，把其看成一个函数，函数的输入是一张图像，输出是一个</a:t>
            </a:r>
            <a:r>
              <a:rPr lang="en-US" altLang="zh-CN"/>
              <a:t>one-hot</a:t>
            </a:r>
            <a:r>
              <a:rPr lang="zh-CN" altLang="en-US"/>
              <a:t>向量，每个值，这样子就把一个识别的任务转换成一个分类问题了。</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星背景">
    <p:spTree>
      <p:nvGrpSpPr>
        <p:cNvPr id="1" name=""/>
        <p:cNvGrpSpPr/>
        <p:nvPr/>
      </p:nvGrpSpPr>
      <p:grpSpPr>
        <a:xfrm>
          <a:off x="0" y="0"/>
          <a:ext cx="0" cy="0"/>
          <a:chOff x="0" y="0"/>
          <a:chExt cx="0" cy="0"/>
        </a:xfrm>
      </p:grpSpPr>
      <p:pic>
        <p:nvPicPr>
          <p:cNvPr id="3" name="Picture 3"/>
          <p:cNvPicPr>
            <a:picLocks noChangeAspect="1"/>
          </p:cNvPicPr>
          <p:nvPr userDrawn="1"/>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0800000">
            <a:off x="0" y="0"/>
            <a:ext cx="9144000"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tags" Target="../tags/tag2.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1" Type="http://schemas.openxmlformats.org/officeDocument/2006/relationships/notesSlide" Target="../notesSlides/notesSlide1.xml"/><Relationship Id="rId10" Type="http://schemas.openxmlformats.org/officeDocument/2006/relationships/slideLayout" Target="../slideLayouts/slideLayout1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3.xml"/><Relationship Id="rId1" Type="http://schemas.openxmlformats.org/officeDocument/2006/relationships/image" Target="../media/image14.GI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hyperlink" Target="https://space.bilibili.com/88461692/channel/series" TargetMode="External"/><Relationship Id="rId6" Type="http://schemas.openxmlformats.org/officeDocument/2006/relationships/image" Target="../media/image17.png"/><Relationship Id="rId5" Type="http://schemas.openxmlformats.org/officeDocument/2006/relationships/hyperlink" Target="https://talent.huaweiuniversity.com/portal/courses/HuaweiX+EBGTD9063/about" TargetMode="External"/><Relationship Id="rId4" Type="http://schemas.openxmlformats.org/officeDocument/2006/relationships/hyperlink" Target="https://www.bilibili.com/video/BV16x411V7Qg?spm_id_from=333.999.0.0" TargetMode="External"/><Relationship Id="rId3" Type="http://schemas.openxmlformats.org/officeDocument/2006/relationships/hyperlink" Target="https://mindspore.cn/resources/courses/" TargetMode="External"/><Relationship Id="rId2" Type="http://schemas.openxmlformats.org/officeDocument/2006/relationships/hyperlink" Target="https://www.bilibili.com/video/BV1bx411M7Zx?spm_id_from=333.999.0.0" TargetMode="External"/><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hyperlink" Target="https://talent.huaweiuniversity.com/portal/courses/HuaweiX+EBGTD9063/about" TargetMode="External"/><Relationship Id="rId5" Type="http://schemas.openxmlformats.org/officeDocument/2006/relationships/hyperlink" Target="https://www.mindspore.cn/tutorials/zh-CN/master/beginner/quick_start.html" TargetMode="External"/><Relationship Id="rId4" Type="http://schemas.openxmlformats.org/officeDocument/2006/relationships/hyperlink" Target="https://mindspore.cn/tutorials/zh-CN/r1.6/index.html&#13;" TargetMode="External"/><Relationship Id="rId3" Type="http://schemas.openxmlformats.org/officeDocument/2006/relationships/hyperlink" Target="https://mindspore.cn/resources/courses/list?id=47" TargetMode="External"/><Relationship Id="rId2" Type="http://schemas.openxmlformats.org/officeDocument/2006/relationships/hyperlink" Target="https://mindspore.cn/resources/courses/" TargetMode="Externa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7" Type="http://schemas.openxmlformats.org/officeDocument/2006/relationships/comments" Target="../comments/comment1.xml"/><Relationship Id="rId6" Type="http://schemas.openxmlformats.org/officeDocument/2006/relationships/slideLayout" Target="../slideLayouts/slideLayout12.xml"/><Relationship Id="rId5" Type="http://schemas.openxmlformats.org/officeDocument/2006/relationships/hyperlink" Target="https://www.cnblogs.com/lwp-nicol/p/14654970.html" TargetMode="Externa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tags" Target="../tags/tag4.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5.png"/><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hyperlink" Target="https://mindspore.cn/tutorials/zh-CN/r1.6/quick_start.html#%E5%88%9B%E5%BB%BA%E6%A8%A1%E5%9E%8B" TargetMode="Externa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hyperlink" Target="https://www.mindspore.cn/tutorials/zh-CN/r1.6/optimization.html#%E6%8D%9F%E5%A4%B1%E5%87%BD%E6%95%B0" TargetMode="Externa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hyperlink" Target="https://www.mindspore.cn/docs/api/zh-CN/r1.6/api_python/mindspore.nn.html?highlight=nn#optimizer-functions" TargetMode="Externa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hyperlink" Target="https://www.mindspore.cn/docs/api/zh-CN/r1.6/api_python/mindspore/mindspore.Model.html?highlight=model#mindspore.Model.train&#13;" TargetMode="Externa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hyperlink" Target="https://www.mindspore.cn/docs/api/zh-CN/r1.6/api_python/mindspore/mindspore.Model.html?highlight=model#mindspore.Model.train" TargetMode="Externa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hyperlink" Target="https://mindspore.cn/docs/api/zh-CN/r1.6/api_python/mindspore.common.initializer.html?highlight=initializer#mindspore.common.initializer.Unifo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2987675" y="44450"/>
            <a:ext cx="303593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2" name="object 2"/>
          <p:cNvSpPr/>
          <p:nvPr/>
        </p:nvSpPr>
        <p:spPr>
          <a:xfrm>
            <a:off x="932687" y="3884486"/>
            <a:ext cx="7286625" cy="0"/>
          </a:xfrm>
          <a:custGeom>
            <a:avLst/>
            <a:gdLst/>
            <a:ahLst/>
            <a:cxnLst/>
            <a:rect l="l" t="t" r="r" b="b"/>
            <a:pathLst>
              <a:path w="9715500">
                <a:moveTo>
                  <a:pt x="0" y="0"/>
                </a:moveTo>
                <a:lnTo>
                  <a:pt x="9715500" y="0"/>
                </a:lnTo>
              </a:path>
            </a:pathLst>
          </a:custGeom>
          <a:ln w="16763">
            <a:solidFill>
              <a:srgbClr val="C19958"/>
            </a:solidFill>
          </a:ln>
        </p:spPr>
        <p:txBody>
          <a:bodyPr wrap="square" lIns="0" tIns="0" rIns="0" bIns="0" rtlCol="0"/>
          <a:lstStyle/>
          <a:p>
            <a:endParaRPr sz="100">
              <a:solidFill>
                <a:schemeClr val="bg1"/>
              </a:solidFill>
            </a:endParaRPr>
          </a:p>
        </p:txBody>
      </p:sp>
      <p:sp>
        <p:nvSpPr>
          <p:cNvPr id="3" name="object 3"/>
          <p:cNvSpPr txBox="1">
            <a:spLocks noGrp="1"/>
          </p:cNvSpPr>
          <p:nvPr>
            <p:ph type="title"/>
          </p:nvPr>
        </p:nvSpPr>
        <p:spPr>
          <a:xfrm>
            <a:off x="3491865" y="123825"/>
            <a:ext cx="2115979" cy="318135"/>
          </a:xfrm>
          <a:prstGeom prst="rect">
            <a:avLst/>
          </a:prstGeom>
        </p:spPr>
        <p:txBody>
          <a:bodyPr vert="horz" wrap="square" lIns="0" tIns="10953" rIns="0" bIns="0" rtlCol="0">
            <a:spAutoFit/>
          </a:bodyPr>
          <a:lstStyle/>
          <a:p>
            <a:pPr marL="12700">
              <a:lnSpc>
                <a:spcPct val="100000"/>
              </a:lnSpc>
              <a:spcBef>
                <a:spcPts val="115"/>
              </a:spcBef>
            </a:pPr>
            <a:r>
              <a:rPr lang="zh-CN" sz="2000" spc="15" dirty="0">
                <a:solidFill>
                  <a:schemeClr val="bg1"/>
                </a:solidFill>
                <a:latin typeface="微软雅黑" panose="020B0503020204020204" charset="-122"/>
                <a:ea typeface="微软雅黑" panose="020B0503020204020204" charset="-122"/>
                <a:cs typeface="微软雅黑" panose="020B0503020204020204" charset="-122"/>
              </a:rPr>
              <a:t>机器学习实验课</a:t>
            </a: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3</a:t>
            </a:r>
            <a:endParaRPr lang="en-US" altLang="zh-CN"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 name="object 4"/>
          <p:cNvSpPr txBox="1"/>
          <p:nvPr/>
        </p:nvSpPr>
        <p:spPr>
          <a:xfrm>
            <a:off x="4784216" y="3560978"/>
            <a:ext cx="3377565" cy="917575"/>
          </a:xfrm>
          <a:prstGeom prst="rect">
            <a:avLst/>
          </a:prstGeom>
        </p:spPr>
        <p:txBody>
          <a:bodyPr vert="horz" wrap="square" lIns="0" tIns="12858" rIns="0" bIns="0" rtlCol="0">
            <a:spAutoFit/>
          </a:bodyPr>
          <a:lstStyle/>
          <a:p>
            <a:pPr marR="5080" algn="r">
              <a:lnSpc>
                <a:spcPct val="100000"/>
              </a:lnSpc>
              <a:spcBef>
                <a:spcPts val="135"/>
              </a:spcBef>
            </a:pPr>
            <a:r>
              <a:rPr sz="1575" b="1" i="1" spc="20" dirty="0">
                <a:solidFill>
                  <a:schemeClr val="bg1"/>
                </a:solidFill>
                <a:latin typeface="Palatino Linotype" panose="02040502050505030304"/>
                <a:cs typeface="Palatino Linotype" panose="02040502050505030304"/>
              </a:rPr>
              <a:t>ML0</a:t>
            </a:r>
            <a:r>
              <a:rPr lang="en-US" sz="1575" b="1" i="1" spc="20" dirty="0">
                <a:solidFill>
                  <a:schemeClr val="bg1"/>
                </a:solidFill>
                <a:latin typeface="Palatino Linotype" panose="02040502050505030304"/>
                <a:cs typeface="Palatino Linotype" panose="02040502050505030304"/>
              </a:rPr>
              <a:t>2</a:t>
            </a:r>
            <a:endParaRPr sz="1575">
              <a:solidFill>
                <a:schemeClr val="bg1"/>
              </a:solidFill>
              <a:latin typeface="Palatino Linotype" panose="02040502050505030304"/>
              <a:cs typeface="Palatino Linotype" panose="02040502050505030304"/>
            </a:endParaRPr>
          </a:p>
          <a:p>
            <a:pPr>
              <a:lnSpc>
                <a:spcPct val="100000"/>
              </a:lnSpc>
            </a:pPr>
            <a:endParaRPr sz="1575">
              <a:solidFill>
                <a:schemeClr val="bg1"/>
              </a:solidFill>
              <a:latin typeface="Times New Roman" panose="02020603050405020304"/>
              <a:cs typeface="Times New Roman" panose="02020603050405020304"/>
            </a:endParaRPr>
          </a:p>
          <a:p>
            <a:pPr marR="1217930" algn="ctr">
              <a:lnSpc>
                <a:spcPct val="100000"/>
              </a:lnSpc>
              <a:spcBef>
                <a:spcPts val="1110"/>
              </a:spcBef>
            </a:pPr>
            <a:endParaRPr sz="1800" b="1">
              <a:solidFill>
                <a:schemeClr val="bg1"/>
              </a:solidFill>
              <a:latin typeface="微软雅黑" panose="020B0503020204020204" charset="-122"/>
              <a:cs typeface="微软雅黑" panose="020B0503020204020204" charset="-122"/>
            </a:endParaRPr>
          </a:p>
        </p:txBody>
      </p:sp>
      <p:sp>
        <p:nvSpPr>
          <p:cNvPr id="7" name="灯片编号占位符 6"/>
          <p:cNvSpPr>
            <a:spLocks noGrp="1"/>
          </p:cNvSpPr>
          <p:nvPr>
            <p:ph type="sldNum" sz="quarter" idx="7"/>
          </p:nvPr>
        </p:nvSpPr>
        <p:spPr/>
        <p:txBody>
          <a:bodyPr/>
          <a:p>
            <a:fld id="{B6F15528-21DE-4FAA-801E-634DDDAF4B2B}" type="slidenum">
              <a:rPr sz="1050">
                <a:solidFill>
                  <a:schemeClr val="bg1"/>
                </a:solidFill>
              </a:rPr>
            </a:fld>
            <a:endParaRPr sz="1050">
              <a:solidFill>
                <a:schemeClr val="bg1"/>
              </a:solidFill>
            </a:endParaRPr>
          </a:p>
        </p:txBody>
      </p:sp>
      <p:sp>
        <p:nvSpPr>
          <p:cNvPr id="8" name="object 3"/>
          <p:cNvSpPr txBox="1">
            <a:spLocks noGrp="1"/>
          </p:cNvSpPr>
          <p:nvPr/>
        </p:nvSpPr>
        <p:spPr>
          <a:xfrm>
            <a:off x="1764030" y="3068955"/>
            <a:ext cx="5862955" cy="626110"/>
          </a:xfrm>
          <a:prstGeom prst="rect">
            <a:avLst/>
          </a:prstGeom>
        </p:spPr>
        <p:txBody>
          <a:bodyPr vert="horz" wrap="square" lIns="0" tIns="10953" rIns="0" bIns="0" rtlCol="0">
            <a:spAutoFit/>
          </a:bodyPr>
          <a:lstStyle>
            <a:lvl1pPr>
              <a:defRPr sz="5300" b="0" i="0">
                <a:solidFill>
                  <a:schemeClr val="tx1"/>
                </a:solidFill>
                <a:latin typeface="微软雅黑" panose="020B0503020204020204" charset="-122"/>
                <a:ea typeface="+mj-ea"/>
                <a:cs typeface="微软雅黑" panose="020B0503020204020204" charset="-122"/>
              </a:defRPr>
            </a:lvl1pPr>
          </a:lstStyle>
          <a:p>
            <a:pPr marL="12700">
              <a:lnSpc>
                <a:spcPct val="100000"/>
              </a:lnSpc>
              <a:spcBef>
                <a:spcPts val="115"/>
              </a:spcBef>
            </a:pPr>
            <a:r>
              <a:rPr lang="zh-CN" sz="4000" b="1" spc="15" dirty="0">
                <a:solidFill>
                  <a:schemeClr val="bg1"/>
                </a:solidFill>
                <a:ea typeface="微软雅黑" panose="020B0503020204020204" charset="-122"/>
              </a:rPr>
              <a:t>神经网络与卷积神经网络</a:t>
            </a:r>
            <a:endParaRPr lang="zh-CN" altLang="zh-CN" sz="4000" b="1" spc="15" dirty="0">
              <a:solidFill>
                <a:schemeClr val="bg1"/>
              </a:solidFill>
              <a:ea typeface="微软雅黑" panose="020B0503020204020204" charset="-122"/>
            </a:endParaRPr>
          </a:p>
        </p:txBody>
      </p:sp>
      <p:sp>
        <p:nvSpPr>
          <p:cNvPr id="5" name="文本框 4"/>
          <p:cNvSpPr txBox="1"/>
          <p:nvPr>
            <p:custDataLst>
              <p:tags r:id="rId1"/>
            </p:custDataLst>
          </p:nvPr>
        </p:nvSpPr>
        <p:spPr>
          <a:xfrm>
            <a:off x="3923665" y="6309360"/>
            <a:ext cx="6096000" cy="398780"/>
          </a:xfrm>
          <a:prstGeom prst="rect">
            <a:avLst/>
          </a:prstGeom>
          <a:noFill/>
        </p:spPr>
        <p:txBody>
          <a:bodyPr wrap="square" rtlCol="0" anchor="t">
            <a:spAutoFit/>
          </a:bodyPr>
          <a:p>
            <a:pPr marR="1304290" algn="ctr">
              <a:lnSpc>
                <a:spcPct val="100000"/>
              </a:lnSpc>
              <a:buClrTx/>
              <a:buSzTx/>
              <a:buFontTx/>
            </a:pPr>
            <a:r>
              <a:rPr lang="zh-CN" sz="2000" dirty="0">
                <a:solidFill>
                  <a:schemeClr val="bg1"/>
                </a:solidFill>
                <a:latin typeface="微软雅黑" panose="020B0503020204020204" charset="-122"/>
                <a:cs typeface="微软雅黑" panose="020B0503020204020204" charset="-122"/>
                <a:sym typeface="+mn-ea"/>
              </a:rPr>
              <a:t>  致谢：梁威鹏</a:t>
            </a:r>
            <a:endParaRPr lang="zh-CN" altLang="en-US" sz="2000" dirty="0">
              <a:solidFill>
                <a:schemeClr val="bg1"/>
              </a:solidFill>
              <a:latin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6830" y="0"/>
            <a:ext cx="10015855" cy="6869430"/>
          </a:xfrm>
          <a:prstGeom prst="rect">
            <a:avLst/>
          </a:prstGeom>
        </p:spPr>
      </p:pic>
      <p:sp>
        <p:nvSpPr>
          <p:cNvPr id="15" name="Rectangle 1"/>
          <p:cNvSpPr/>
          <p:nvPr/>
        </p:nvSpPr>
        <p:spPr>
          <a:xfrm>
            <a:off x="-36830" y="44450"/>
            <a:ext cx="4490720" cy="621030"/>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sym typeface="+mn-ea"/>
              </a:rPr>
              <a:t>神经网络中的神经元</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2"/>
          <a:stretch>
            <a:fillRect/>
          </a:stretch>
        </p:blipFill>
        <p:spPr>
          <a:xfrm>
            <a:off x="2627630" y="3213100"/>
            <a:ext cx="2619375" cy="307975"/>
          </a:xfrm>
          <a:prstGeom prst="rect">
            <a:avLst/>
          </a:prstGeom>
        </p:spPr>
      </p:pic>
      <p:cxnSp>
        <p:nvCxnSpPr>
          <p:cNvPr id="4" name="直接箭头连接符 3"/>
          <p:cNvCxnSpPr/>
          <p:nvPr/>
        </p:nvCxnSpPr>
        <p:spPr>
          <a:xfrm flipV="1">
            <a:off x="3388995" y="3573145"/>
            <a:ext cx="318770" cy="732155"/>
          </a:xfrm>
          <a:prstGeom prst="straightConnector1">
            <a:avLst/>
          </a:prstGeom>
          <a:ln w="25400">
            <a:solidFill>
              <a:srgbClr val="DB293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object 3"/>
          <p:cNvSpPr txBox="1"/>
          <p:nvPr/>
        </p:nvSpPr>
        <p:spPr>
          <a:xfrm>
            <a:off x="899160" y="1052830"/>
            <a:ext cx="7938135" cy="843280"/>
          </a:xfrm>
          <a:prstGeom prst="rect">
            <a:avLst/>
          </a:prstGeom>
        </p:spPr>
        <p:txBody>
          <a:bodyPr vert="horz" wrap="square" lIns="0" tIns="12700" rIns="0" bIns="0" rtlCol="0">
            <a:spAutoFit/>
          </a:bodyPr>
          <a:p>
            <a:pPr marL="12700" marR="5080" indent="342900">
              <a:lnSpc>
                <a:spcPct val="150000"/>
              </a:lnSpc>
              <a:spcBef>
                <a:spcPts val="100"/>
              </a:spcBef>
            </a:pPr>
            <a:r>
              <a:rPr sz="1800" dirty="0">
                <a:solidFill>
                  <a:schemeClr val="bg1"/>
                </a:solidFill>
                <a:latin typeface="微软雅黑" panose="020B0503020204020204" charset="-122"/>
                <a:ea typeface="微软雅黑" panose="020B0503020204020204" charset="-122"/>
                <a:cs typeface="微软雅黑" panose="020B0503020204020204" charset="-122"/>
              </a:rPr>
              <a:t>手写数字识别是一个多分类问题，共</a:t>
            </a:r>
            <a:r>
              <a:rPr sz="1800" spc="5" dirty="0">
                <a:solidFill>
                  <a:schemeClr val="bg1"/>
                </a:solidFill>
                <a:latin typeface="微软雅黑" panose="020B0503020204020204" charset="-122"/>
                <a:ea typeface="微软雅黑" panose="020B0503020204020204" charset="-122"/>
                <a:cs typeface="微软雅黑" panose="020B0503020204020204" charset="-122"/>
              </a:rPr>
              <a:t>有</a:t>
            </a:r>
            <a:r>
              <a:rPr sz="1800" dirty="0">
                <a:solidFill>
                  <a:srgbClr val="FF0000"/>
                </a:solidFill>
                <a:latin typeface="微软雅黑" panose="020B0503020204020204" charset="-122"/>
                <a:ea typeface="微软雅黑" panose="020B0503020204020204" charset="-122"/>
                <a:cs typeface="微软雅黑" panose="020B0503020204020204" charset="-122"/>
              </a:rPr>
              <a:t>10</a:t>
            </a:r>
            <a:r>
              <a:rPr sz="1800" dirty="0">
                <a:solidFill>
                  <a:schemeClr val="bg1"/>
                </a:solidFill>
                <a:latin typeface="微软雅黑" panose="020B0503020204020204" charset="-122"/>
                <a:ea typeface="微软雅黑" panose="020B0503020204020204" charset="-122"/>
                <a:cs typeface="微软雅黑" panose="020B0503020204020204" charset="-122"/>
              </a:rPr>
              <a:t>个分类，每个手写数字图像的 类别标签是</a:t>
            </a:r>
            <a:r>
              <a:rPr sz="1800" spc="-5" dirty="0">
                <a:solidFill>
                  <a:schemeClr val="bg1"/>
                </a:solidFill>
                <a:latin typeface="微软雅黑" panose="020B0503020204020204" charset="-122"/>
                <a:ea typeface="微软雅黑" panose="020B0503020204020204" charset="-122"/>
                <a:cs typeface="微软雅黑" panose="020B0503020204020204" charset="-122"/>
              </a:rPr>
              <a:t>0~9</a:t>
            </a:r>
            <a:r>
              <a:rPr sz="1800" dirty="0">
                <a:solidFill>
                  <a:schemeClr val="bg1"/>
                </a:solidFill>
                <a:latin typeface="微软雅黑" panose="020B0503020204020204" charset="-122"/>
                <a:ea typeface="微软雅黑" panose="020B0503020204020204" charset="-122"/>
                <a:cs typeface="微软雅黑" panose="020B0503020204020204" charset="-122"/>
              </a:rPr>
              <a:t>中的其中一个数。例如下面这三张图片的标签分别</a:t>
            </a:r>
            <a:r>
              <a:rPr sz="1800" spc="5" dirty="0">
                <a:solidFill>
                  <a:schemeClr val="bg1"/>
                </a:solidFill>
                <a:latin typeface="微软雅黑" panose="020B0503020204020204" charset="-122"/>
                <a:ea typeface="微软雅黑" panose="020B0503020204020204" charset="-122"/>
                <a:cs typeface="微软雅黑" panose="020B0503020204020204" charset="-122"/>
              </a:rPr>
              <a:t>是</a:t>
            </a:r>
            <a:r>
              <a:rPr sz="1800" dirty="0">
                <a:solidFill>
                  <a:schemeClr val="bg1"/>
                </a:solidFill>
                <a:latin typeface="微软雅黑" panose="020B0503020204020204" charset="-122"/>
                <a:ea typeface="微软雅黑" panose="020B0503020204020204" charset="-122"/>
                <a:cs typeface="微软雅黑" panose="020B0503020204020204" charset="-122"/>
              </a:rPr>
              <a:t>0</a:t>
            </a:r>
            <a:r>
              <a:rPr lang="en-US" sz="1800" dirty="0">
                <a:solidFill>
                  <a:schemeClr val="bg1"/>
                </a:solidFill>
                <a:latin typeface="微软雅黑" panose="020B0503020204020204" charset="-122"/>
                <a:ea typeface="微软雅黑" panose="020B0503020204020204" charset="-122"/>
                <a:cs typeface="微软雅黑" panose="020B0503020204020204" charset="-122"/>
              </a:rPr>
              <a:t>,</a:t>
            </a:r>
            <a:r>
              <a:rPr sz="1800" dirty="0">
                <a:solidFill>
                  <a:schemeClr val="bg1"/>
                </a:solidFill>
                <a:latin typeface="微软雅黑" panose="020B0503020204020204" charset="-122"/>
                <a:ea typeface="微软雅黑" panose="020B0503020204020204" charset="-122"/>
                <a:cs typeface="微软雅黑" panose="020B0503020204020204" charset="-122"/>
              </a:rPr>
              <a:t>1 </a:t>
            </a:r>
            <a:r>
              <a:rPr sz="1800" spc="-5" dirty="0">
                <a:solidFill>
                  <a:schemeClr val="bg1"/>
                </a:solidFill>
                <a:latin typeface="微软雅黑" panose="020B0503020204020204" charset="-122"/>
                <a:ea typeface="微软雅黑" panose="020B0503020204020204" charset="-122"/>
                <a:cs typeface="微软雅黑" panose="020B0503020204020204" charset="-122"/>
              </a:rPr>
              <a:t>2</a:t>
            </a:r>
            <a:r>
              <a:rPr sz="1800" dirty="0">
                <a:solidFill>
                  <a:schemeClr val="bg1"/>
                </a:solidFill>
                <a:latin typeface="微软雅黑" panose="020B0503020204020204" charset="-122"/>
                <a:ea typeface="微软雅黑" panose="020B0503020204020204" charset="-122"/>
                <a:cs typeface="微软雅黑" panose="020B0503020204020204" charset="-122"/>
              </a:rPr>
              <a:t>。</a:t>
            </a:r>
            <a:endParaRPr sz="18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 name="object 4"/>
          <p:cNvSpPr/>
          <p:nvPr/>
        </p:nvSpPr>
        <p:spPr>
          <a:xfrm>
            <a:off x="3234547" y="2137334"/>
            <a:ext cx="894606" cy="1089797"/>
          </a:xfrm>
          <a:prstGeom prst="rect">
            <a:avLst/>
          </a:prstGeom>
          <a:blipFill>
            <a:blip r:embed="rId1" cstate="print"/>
            <a:stretch>
              <a:fillRect/>
            </a:stretch>
          </a:blipFill>
        </p:spPr>
        <p:txBody>
          <a:bodyPr wrap="square" lIns="0" tIns="0" rIns="0" bIns="0" rtlCol="0"/>
          <a:p>
            <a:endParaRPr>
              <a:solidFill>
                <a:schemeClr val="bg1"/>
              </a:solidFill>
              <a:latin typeface="微软雅黑" panose="020B0503020204020204" charset="-122"/>
              <a:ea typeface="微软雅黑" panose="020B0503020204020204" charset="-122"/>
            </a:endParaRPr>
          </a:p>
        </p:txBody>
      </p:sp>
      <p:sp>
        <p:nvSpPr>
          <p:cNvPr id="5" name="object 5"/>
          <p:cNvSpPr/>
          <p:nvPr/>
        </p:nvSpPr>
        <p:spPr>
          <a:xfrm>
            <a:off x="2724785" y="2132965"/>
            <a:ext cx="813815" cy="1008888"/>
          </a:xfrm>
          <a:prstGeom prst="rect">
            <a:avLst/>
          </a:prstGeom>
          <a:blipFill>
            <a:blip r:embed="rId2" cstate="print"/>
            <a:stretch>
              <a:fillRect/>
            </a:stretch>
          </a:blipFill>
        </p:spPr>
        <p:txBody>
          <a:bodyPr wrap="square" lIns="0" tIns="0" rIns="0" bIns="0" rtlCol="0"/>
          <a:p>
            <a:endParaRPr>
              <a:solidFill>
                <a:schemeClr val="bg1"/>
              </a:solidFill>
              <a:latin typeface="微软雅黑" panose="020B0503020204020204" charset="-122"/>
              <a:ea typeface="微软雅黑" panose="020B0503020204020204" charset="-122"/>
            </a:endParaRPr>
          </a:p>
        </p:txBody>
      </p:sp>
      <p:sp>
        <p:nvSpPr>
          <p:cNvPr id="7" name="object 7"/>
          <p:cNvSpPr/>
          <p:nvPr/>
        </p:nvSpPr>
        <p:spPr>
          <a:xfrm>
            <a:off x="4151936" y="2137334"/>
            <a:ext cx="906941" cy="1089797"/>
          </a:xfrm>
          <a:prstGeom prst="rect">
            <a:avLst/>
          </a:prstGeom>
          <a:blipFill>
            <a:blip r:embed="rId3" cstate="print"/>
            <a:stretch>
              <a:fillRect/>
            </a:stretch>
          </a:blipFill>
        </p:spPr>
        <p:txBody>
          <a:bodyPr wrap="square" lIns="0" tIns="0" rIns="0" bIns="0" rtlCol="0"/>
          <a:p>
            <a:endParaRPr>
              <a:solidFill>
                <a:schemeClr val="bg1"/>
              </a:solidFill>
              <a:latin typeface="微软雅黑" panose="020B0503020204020204" charset="-122"/>
              <a:ea typeface="微软雅黑" panose="020B0503020204020204" charset="-122"/>
            </a:endParaRPr>
          </a:p>
        </p:txBody>
      </p:sp>
      <p:sp>
        <p:nvSpPr>
          <p:cNvPr id="8" name="object 8"/>
          <p:cNvSpPr/>
          <p:nvPr/>
        </p:nvSpPr>
        <p:spPr>
          <a:xfrm>
            <a:off x="3642232" y="2132965"/>
            <a:ext cx="826008" cy="1008888"/>
          </a:xfrm>
          <a:prstGeom prst="rect">
            <a:avLst/>
          </a:prstGeom>
          <a:blipFill>
            <a:blip r:embed="rId4" cstate="print"/>
            <a:stretch>
              <a:fillRect/>
            </a:stretch>
          </a:blipFill>
        </p:spPr>
        <p:txBody>
          <a:bodyPr wrap="square" lIns="0" tIns="0" rIns="0" bIns="0" rtlCol="0"/>
          <a:p>
            <a:endParaRPr>
              <a:solidFill>
                <a:schemeClr val="bg1"/>
              </a:solidFill>
              <a:latin typeface="微软雅黑" panose="020B0503020204020204" charset="-122"/>
              <a:ea typeface="微软雅黑" panose="020B0503020204020204" charset="-122"/>
            </a:endParaRPr>
          </a:p>
        </p:txBody>
      </p:sp>
      <p:sp>
        <p:nvSpPr>
          <p:cNvPr id="11" name="object 11"/>
          <p:cNvSpPr/>
          <p:nvPr/>
        </p:nvSpPr>
        <p:spPr>
          <a:xfrm>
            <a:off x="4571873" y="2132965"/>
            <a:ext cx="816863" cy="1008888"/>
          </a:xfrm>
          <a:prstGeom prst="rect">
            <a:avLst/>
          </a:prstGeom>
          <a:blipFill>
            <a:blip r:embed="rId5" cstate="print"/>
            <a:stretch>
              <a:fillRect/>
            </a:stretch>
          </a:blipFill>
        </p:spPr>
        <p:txBody>
          <a:bodyPr wrap="square" lIns="0" tIns="0" rIns="0" bIns="0" rtlCol="0"/>
          <a:p>
            <a:endParaRPr>
              <a:solidFill>
                <a:schemeClr val="bg1"/>
              </a:solidFill>
              <a:latin typeface="微软雅黑" panose="020B0503020204020204" charset="-122"/>
              <a:ea typeface="微软雅黑" panose="020B0503020204020204" charset="-122"/>
            </a:endParaRPr>
          </a:p>
        </p:txBody>
      </p:sp>
      <p:sp>
        <p:nvSpPr>
          <p:cNvPr id="15" name="Rectangle 1"/>
          <p:cNvSpPr/>
          <p:nvPr/>
        </p:nvSpPr>
        <p:spPr>
          <a:xfrm>
            <a:off x="0" y="188595"/>
            <a:ext cx="449834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16" name="object 3"/>
          <p:cNvSpPr txBox="1">
            <a:spLocks noGrp="1"/>
          </p:cNvSpPr>
          <p:nvPr/>
        </p:nvSpPr>
        <p:spPr>
          <a:xfrm>
            <a:off x="109220" y="269240"/>
            <a:ext cx="427990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神经网络学习</a:t>
            </a: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以手写数字为例</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5436235" y="6021070"/>
            <a:ext cx="1706880" cy="337185"/>
          </a:xfrm>
          <a:prstGeom prst="rect">
            <a:avLst/>
          </a:prstGeom>
          <a:noFill/>
        </p:spPr>
        <p:txBody>
          <a:bodyPr wrap="none" rtlCol="0" anchor="t">
            <a:spAutoFit/>
          </a:bodyPr>
          <a:p>
            <a:pPr algn="l">
              <a:buClr>
                <a:srgbClr val="C35954"/>
              </a:buClr>
              <a:buSzPct val="120000"/>
              <a:buFont typeface="Arial" panose="020B0604020202020204" pitchFamily="34" charset="0"/>
            </a:pPr>
            <a:r>
              <a:rPr lang="zh-CN" altLang="en-US" sz="1600" b="1">
                <a:solidFill>
                  <a:srgbClr val="C35954"/>
                </a:solidFill>
                <a:ea typeface="微软雅黑" panose="020B0503020204020204" charset="-122"/>
                <a:cs typeface="Arial" panose="020B0604020202020204" pitchFamily="34" charset="0"/>
                <a:sym typeface="+mn-ea"/>
              </a:rPr>
              <a:t>one-hot vectors</a:t>
            </a:r>
            <a:endParaRPr lang="zh-CN" altLang="en-US" sz="1600" b="1">
              <a:solidFill>
                <a:srgbClr val="C35954"/>
              </a:solidFill>
              <a:ea typeface="微软雅黑" panose="020B0503020204020204" charset="-122"/>
              <a:cs typeface="Arial" panose="020B0604020202020204" pitchFamily="34" charset="0"/>
            </a:endParaRPr>
          </a:p>
        </p:txBody>
      </p:sp>
      <p:sp>
        <p:nvSpPr>
          <p:cNvPr id="20" name="文本框 19"/>
          <p:cNvSpPr txBox="1"/>
          <p:nvPr/>
        </p:nvSpPr>
        <p:spPr>
          <a:xfrm>
            <a:off x="5984240" y="3020060"/>
            <a:ext cx="664210" cy="3046095"/>
          </a:xfrm>
          <a:prstGeom prst="rect">
            <a:avLst/>
          </a:prstGeom>
          <a:noFill/>
        </p:spPr>
        <p:txBody>
          <a:bodyPr wrap="square" rtlCol="0" anchor="t">
            <a:spAutoFit/>
          </a:bodyPr>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0.1</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.1</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.05</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.02</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.05</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.08</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.05</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0.5</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.03</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.07</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1" name="TextBox 14"/>
          <p:cNvSpPr txBox="1"/>
          <p:nvPr/>
        </p:nvSpPr>
        <p:spPr>
          <a:xfrm>
            <a:off x="3491865" y="6216015"/>
            <a:ext cx="1510665" cy="337185"/>
          </a:xfrm>
          <a:prstGeom prst="rect">
            <a:avLst/>
          </a:prstGeom>
        </p:spPr>
        <p:txBody>
          <a:bodyPr wrap="square" rtlCol="0" anchor="t">
            <a:spAutoFit/>
          </a:bodyPr>
          <a:p>
            <a:pPr>
              <a:buClr>
                <a:srgbClr val="C35954"/>
              </a:buClr>
              <a:buSzPct val="120000"/>
              <a:buFont typeface="Arial" panose="020B0604020202020204" pitchFamily="34" charset="0"/>
            </a:pPr>
            <a:r>
              <a:rPr lang="zh-CN" altLang="en-US" sz="1600" b="1">
                <a:solidFill>
                  <a:schemeClr val="bg1"/>
                </a:solidFill>
                <a:latin typeface="微软雅黑" panose="020B0503020204020204" charset="-122"/>
                <a:ea typeface="微软雅黑" panose="020B0503020204020204" charset="-122"/>
              </a:rPr>
              <a:t>神经网络</a:t>
            </a:r>
            <a:r>
              <a:rPr lang="zh-CN" altLang="en-US" sz="1600" b="1">
                <a:solidFill>
                  <a:srgbClr val="C35954"/>
                </a:solidFill>
                <a:latin typeface="微软雅黑" panose="020B0503020204020204" charset="-122"/>
                <a:ea typeface="微软雅黑" panose="020B0503020204020204" charset="-122"/>
              </a:rPr>
              <a:t>模型</a:t>
            </a:r>
            <a:endParaRPr lang="en-US" altLang="zh-CN" sz="1600" b="1">
              <a:solidFill>
                <a:schemeClr val="bg1"/>
              </a:solidFill>
              <a:latin typeface="微软雅黑" panose="020B0503020204020204" charset="-122"/>
              <a:ea typeface="微软雅黑" panose="020B0503020204020204" charset="-122"/>
            </a:endParaRPr>
          </a:p>
        </p:txBody>
      </p:sp>
      <p:sp>
        <p:nvSpPr>
          <p:cNvPr id="22" name="TextBox 14"/>
          <p:cNvSpPr txBox="1"/>
          <p:nvPr/>
        </p:nvSpPr>
        <p:spPr>
          <a:xfrm>
            <a:off x="5652135" y="6309360"/>
            <a:ext cx="1510665" cy="337185"/>
          </a:xfrm>
          <a:prstGeom prst="rect">
            <a:avLst/>
          </a:prstGeom>
        </p:spPr>
        <p:txBody>
          <a:bodyPr wrap="square" rtlCol="0" anchor="t">
            <a:spAutoFit/>
          </a:bodyPr>
          <a:p>
            <a:pPr>
              <a:buClr>
                <a:srgbClr val="C35954"/>
              </a:buClr>
              <a:buSzPct val="120000"/>
              <a:buFont typeface="Arial" panose="020B0604020202020204" pitchFamily="34" charset="0"/>
            </a:pPr>
            <a:r>
              <a:rPr lang="zh-CN" altLang="en-US" sz="1600" b="1">
                <a:solidFill>
                  <a:schemeClr val="bg1"/>
                </a:solidFill>
                <a:latin typeface="微软雅黑" panose="020B0503020204020204" charset="-122"/>
                <a:ea typeface="微软雅黑" panose="020B0503020204020204" charset="-122"/>
              </a:rPr>
              <a:t>神经网络</a:t>
            </a:r>
            <a:r>
              <a:rPr lang="zh-CN" altLang="en-US" sz="1600" b="1">
                <a:solidFill>
                  <a:srgbClr val="C35954"/>
                </a:solidFill>
                <a:latin typeface="微软雅黑" panose="020B0503020204020204" charset="-122"/>
                <a:ea typeface="微软雅黑" panose="020B0503020204020204" charset="-122"/>
              </a:rPr>
              <a:t>输出</a:t>
            </a:r>
            <a:endParaRPr lang="en-US" altLang="zh-CN" sz="1600" b="1">
              <a:solidFill>
                <a:schemeClr val="bg1"/>
              </a:solidFill>
              <a:latin typeface="微软雅黑" panose="020B0503020204020204" charset="-122"/>
              <a:ea typeface="微软雅黑" panose="020B0503020204020204" charset="-122"/>
            </a:endParaRPr>
          </a:p>
        </p:txBody>
      </p:sp>
      <p:sp>
        <p:nvSpPr>
          <p:cNvPr id="23" name="文本框 22"/>
          <p:cNvSpPr txBox="1"/>
          <p:nvPr/>
        </p:nvSpPr>
        <p:spPr>
          <a:xfrm>
            <a:off x="7638415" y="4220845"/>
            <a:ext cx="433705" cy="583565"/>
          </a:xfrm>
          <a:prstGeom prst="rect">
            <a:avLst/>
          </a:prstGeom>
          <a:noFill/>
        </p:spPr>
        <p:txBody>
          <a:bodyPr wrap="none" rtlCol="0">
            <a:spAutoFit/>
          </a:bodyPr>
          <a:p>
            <a:r>
              <a:rPr lang="en-US" altLang="zh-CN" sz="3200" b="1">
                <a:solidFill>
                  <a:srgbClr val="C35954"/>
                </a:solidFill>
                <a:latin typeface="微软雅黑" panose="020B0503020204020204" charset="-122"/>
                <a:ea typeface="微软雅黑" panose="020B0503020204020204" charset="-122"/>
              </a:rPr>
              <a:t>7</a:t>
            </a:r>
            <a:endParaRPr lang="en-US" altLang="zh-CN" sz="3200" b="1">
              <a:solidFill>
                <a:srgbClr val="C35954"/>
              </a:solidFill>
              <a:latin typeface="微软雅黑" panose="020B0503020204020204" charset="-122"/>
              <a:ea typeface="微软雅黑" panose="020B0503020204020204" charset="-122"/>
            </a:endParaRPr>
          </a:p>
        </p:txBody>
      </p:sp>
      <p:cxnSp>
        <p:nvCxnSpPr>
          <p:cNvPr id="24" name="Google Shape;3241;p51"/>
          <p:cNvCxnSpPr/>
          <p:nvPr/>
        </p:nvCxnSpPr>
        <p:spPr>
          <a:xfrm>
            <a:off x="5147945" y="4542790"/>
            <a:ext cx="647700" cy="0"/>
          </a:xfrm>
          <a:prstGeom prst="straightConnector1">
            <a:avLst/>
          </a:prstGeom>
          <a:noFill/>
          <a:ln w="31750" cap="flat" cmpd="sng">
            <a:solidFill>
              <a:schemeClr val="bg1"/>
            </a:solidFill>
            <a:prstDash val="solid"/>
            <a:round/>
            <a:headEnd type="none" w="med" len="med"/>
            <a:tailEnd type="triangle" w="med" len="med"/>
          </a:ln>
        </p:spPr>
      </p:cxnSp>
      <p:pic>
        <p:nvPicPr>
          <p:cNvPr id="27" name="图片 26"/>
          <p:cNvPicPr>
            <a:picLocks noChangeAspect="1"/>
          </p:cNvPicPr>
          <p:nvPr>
            <p:custDataLst>
              <p:tags r:id="rId6"/>
            </p:custDataLst>
          </p:nvPr>
        </p:nvPicPr>
        <p:blipFill>
          <a:blip r:embed="rId7"/>
          <a:stretch>
            <a:fillRect/>
          </a:stretch>
        </p:blipFill>
        <p:spPr>
          <a:xfrm>
            <a:off x="1187450" y="3284855"/>
            <a:ext cx="4329430" cy="2813050"/>
          </a:xfrm>
          <a:prstGeom prst="rect">
            <a:avLst/>
          </a:prstGeom>
        </p:spPr>
      </p:pic>
      <p:sp>
        <p:nvSpPr>
          <p:cNvPr id="18" name="TextBox 14"/>
          <p:cNvSpPr txBox="1"/>
          <p:nvPr/>
        </p:nvSpPr>
        <p:spPr>
          <a:xfrm>
            <a:off x="467360" y="4436745"/>
            <a:ext cx="2025650" cy="829945"/>
          </a:xfrm>
          <a:prstGeom prst="rect">
            <a:avLst/>
          </a:prstGeom>
        </p:spPr>
        <p:txBody>
          <a:bodyPr wrap="square" rtlCol="0" anchor="t">
            <a:spAutoFit/>
          </a:bodyPr>
          <a:p>
            <a:pPr>
              <a:buClr>
                <a:srgbClr val="C35954"/>
              </a:buClr>
              <a:buSzPct val="120000"/>
              <a:buFont typeface="Arial" panose="020B0604020202020204" pitchFamily="34" charset="0"/>
            </a:pPr>
            <a:r>
              <a:rPr lang="zh-CN" altLang="en-US" sz="1600" b="1">
                <a:solidFill>
                  <a:schemeClr val="bg1"/>
                </a:solidFill>
                <a:latin typeface="微软雅黑" panose="020B0503020204020204" charset="-122"/>
                <a:ea typeface="微软雅黑" panose="020B0503020204020204" charset="-122"/>
              </a:rPr>
              <a:t>神经网络的</a:t>
            </a:r>
            <a:r>
              <a:rPr lang="zh-CN" altLang="en-US" sz="1600" b="1">
                <a:solidFill>
                  <a:srgbClr val="C35954"/>
                </a:solidFill>
                <a:latin typeface="微软雅黑" panose="020B0503020204020204" charset="-122"/>
                <a:ea typeface="微软雅黑" panose="020B0503020204020204" charset="-122"/>
              </a:rPr>
              <a:t>输入</a:t>
            </a:r>
            <a:r>
              <a:rPr lang="en-US" altLang="zh-CN" sz="1600" b="1">
                <a:solidFill>
                  <a:schemeClr val="bg1"/>
                </a:solidFill>
                <a:latin typeface="微软雅黑" panose="020B0503020204020204" charset="-122"/>
                <a:ea typeface="微软雅黑" panose="020B0503020204020204" charset="-122"/>
              </a:rPr>
              <a:t>:</a:t>
            </a:r>
            <a:endParaRPr lang="en-US" altLang="zh-CN" sz="1600" b="1">
              <a:solidFill>
                <a:schemeClr val="bg1"/>
              </a:solidFill>
              <a:latin typeface="微软雅黑" panose="020B0503020204020204" charset="-122"/>
              <a:ea typeface="微软雅黑" panose="020B0503020204020204" charset="-122"/>
            </a:endParaRPr>
          </a:p>
          <a:p>
            <a:pPr>
              <a:buClr>
                <a:srgbClr val="C35954"/>
              </a:buClr>
              <a:buSzPct val="120000"/>
              <a:buFont typeface="Arial" panose="020B0604020202020204" pitchFamily="34" charset="0"/>
            </a:pPr>
            <a:endParaRPr lang="en-US" altLang="zh-CN" sz="1600" b="1">
              <a:solidFill>
                <a:schemeClr val="bg1"/>
              </a:solidFill>
              <a:latin typeface="微软雅黑" panose="020B0503020204020204" charset="-122"/>
              <a:ea typeface="微软雅黑" panose="020B0503020204020204" charset="-122"/>
            </a:endParaRPr>
          </a:p>
          <a:p>
            <a:pPr>
              <a:buClr>
                <a:srgbClr val="C35954"/>
              </a:buClr>
              <a:buSzPct val="120000"/>
              <a:buFont typeface="Arial" panose="020B0604020202020204" pitchFamily="34" charset="0"/>
            </a:pPr>
            <a:r>
              <a:rPr lang="en-US" altLang="zh-CN" sz="1600" b="1">
                <a:solidFill>
                  <a:schemeClr val="bg1"/>
                </a:solidFill>
                <a:latin typeface="微软雅黑" panose="020B0503020204020204" charset="-122"/>
                <a:ea typeface="微软雅黑" panose="020B0503020204020204" charset="-122"/>
              </a:rPr>
              <a:t>28x28</a:t>
            </a:r>
            <a:r>
              <a:rPr lang="zh-CN" altLang="en-US" sz="1600" b="1">
                <a:solidFill>
                  <a:schemeClr val="bg1"/>
                </a:solidFill>
                <a:latin typeface="微软雅黑" panose="020B0503020204020204" charset="-122"/>
                <a:ea typeface="微软雅黑" panose="020B0503020204020204" charset="-122"/>
              </a:rPr>
              <a:t>的图像</a:t>
            </a:r>
            <a:endParaRPr lang="zh-CN" altLang="en-US" sz="1600" b="1">
              <a:solidFill>
                <a:schemeClr val="bg1"/>
              </a:solidFill>
              <a:latin typeface="微软雅黑" panose="020B0503020204020204" charset="-122"/>
              <a:ea typeface="微软雅黑" panose="020B0503020204020204" charset="-122"/>
            </a:endParaRPr>
          </a:p>
        </p:txBody>
      </p:sp>
      <p:cxnSp>
        <p:nvCxnSpPr>
          <p:cNvPr id="28" name="Google Shape;3241;p51"/>
          <p:cNvCxnSpPr/>
          <p:nvPr/>
        </p:nvCxnSpPr>
        <p:spPr>
          <a:xfrm flipV="1">
            <a:off x="6819900" y="4509135"/>
            <a:ext cx="704850" cy="6985"/>
          </a:xfrm>
          <a:prstGeom prst="straightConnector1">
            <a:avLst/>
          </a:prstGeom>
          <a:noFill/>
          <a:ln w="31750" cap="flat" cmpd="sng">
            <a:solidFill>
              <a:schemeClr val="bg1"/>
            </a:solidFill>
            <a:prstDash val="solid"/>
            <a:round/>
            <a:headEnd type="none" w="med" len="med"/>
            <a:tailEnd type="triangle" w="med" len="med"/>
          </a:ln>
        </p:spPr>
      </p:cxnSp>
      <p:sp>
        <p:nvSpPr>
          <p:cNvPr id="29" name="文本框 28"/>
          <p:cNvSpPr txBox="1"/>
          <p:nvPr/>
        </p:nvSpPr>
        <p:spPr>
          <a:xfrm>
            <a:off x="8512810" y="3019425"/>
            <a:ext cx="393700" cy="3046095"/>
          </a:xfrm>
          <a:prstGeom prst="rect">
            <a:avLst/>
          </a:prstGeom>
          <a:noFill/>
        </p:spPr>
        <p:txBody>
          <a:bodyPr wrap="square" rtlCol="0" anchor="t">
            <a:spAutoFit/>
          </a:bodyPr>
          <a:p>
            <a:r>
              <a:rPr sz="1600" spc="-5" dirty="0">
                <a:solidFill>
                  <a:schemeClr val="bg1"/>
                </a:solidFill>
                <a:latin typeface="微软雅黑" panose="020B0503020204020204" charset="-122"/>
                <a:cs typeface="微软雅黑" panose="020B0503020204020204" charset="-122"/>
                <a:sym typeface="+mn-ea"/>
              </a:rPr>
              <a:t>[</a:t>
            </a:r>
            <a:endParaRPr sz="1600" spc="-5" dirty="0">
              <a:solidFill>
                <a:schemeClr val="bg1"/>
              </a:solidFill>
              <a:latin typeface="微软雅黑" panose="020B0503020204020204" charset="-122"/>
              <a:cs typeface="微软雅黑" panose="020B0503020204020204" charset="-122"/>
              <a:sym typeface="+mn-ea"/>
            </a:endParaRPr>
          </a:p>
          <a:p>
            <a:r>
              <a:rPr lang="en-US" sz="1600" spc="-5" dirty="0">
                <a:solidFill>
                  <a:schemeClr val="bg1"/>
                </a:solidFill>
                <a:latin typeface="微软雅黑" panose="020B0503020204020204" charset="-122"/>
                <a:cs typeface="微软雅黑" panose="020B0503020204020204" charset="-122"/>
                <a:sym typeface="+mn-ea"/>
              </a:rPr>
              <a:t>0</a:t>
            </a:r>
            <a:r>
              <a:rPr sz="1600" spc="-5" dirty="0">
                <a:solidFill>
                  <a:schemeClr val="bg1"/>
                </a:solidFill>
                <a:latin typeface="微软雅黑" panose="020B0503020204020204" charset="-122"/>
                <a:cs typeface="微软雅黑" panose="020B0503020204020204" charset="-122"/>
                <a:sym typeface="+mn-ea"/>
              </a:rPr>
              <a:t>,0,0,0,0,0,0,</a:t>
            </a:r>
            <a:r>
              <a:rPr lang="en-US" sz="1600" spc="-5" dirty="0">
                <a:solidFill>
                  <a:schemeClr val="bg1"/>
                </a:solidFill>
                <a:latin typeface="微软雅黑" panose="020B0503020204020204" charset="-122"/>
                <a:cs typeface="微软雅黑" panose="020B0503020204020204" charset="-122"/>
                <a:sym typeface="+mn-ea"/>
              </a:rPr>
              <a:t>1</a:t>
            </a:r>
            <a:r>
              <a:rPr sz="1600" spc="-5" dirty="0">
                <a:solidFill>
                  <a:schemeClr val="bg1"/>
                </a:solidFill>
                <a:latin typeface="微软雅黑" panose="020B0503020204020204" charset="-122"/>
                <a:cs typeface="微软雅黑" panose="020B0503020204020204" charset="-122"/>
                <a:sym typeface="+mn-ea"/>
              </a:rPr>
              <a:t>,0,0,</a:t>
            </a:r>
            <a:endParaRPr sz="1600" spc="-5" dirty="0">
              <a:solidFill>
                <a:schemeClr val="bg1"/>
              </a:solidFill>
              <a:latin typeface="微软雅黑" panose="020B0503020204020204" charset="-122"/>
              <a:cs typeface="微软雅黑" panose="020B0503020204020204" charset="-122"/>
              <a:sym typeface="+mn-ea"/>
            </a:endParaRPr>
          </a:p>
          <a:p>
            <a:r>
              <a:rPr sz="1600" spc="-5" dirty="0">
                <a:solidFill>
                  <a:schemeClr val="bg1"/>
                </a:solidFill>
                <a:latin typeface="微软雅黑" panose="020B0503020204020204" charset="-122"/>
                <a:cs typeface="微软雅黑" panose="020B0503020204020204" charset="-122"/>
                <a:sym typeface="+mn-ea"/>
              </a:rPr>
              <a:t>]</a:t>
            </a:r>
            <a:endParaRPr lang="zh-CN" altLang="en-US" sz="1600" spc="-5" dirty="0">
              <a:solidFill>
                <a:schemeClr val="bg1"/>
              </a:solidFill>
              <a:latin typeface="微软雅黑" panose="020B0503020204020204" charset="-122"/>
              <a:cs typeface="微软雅黑" panose="020B0503020204020204" charset="-122"/>
              <a:sym typeface="+mn-ea"/>
            </a:endParaRPr>
          </a:p>
        </p:txBody>
      </p:sp>
      <p:sp>
        <p:nvSpPr>
          <p:cNvPr id="30" name="TextBox 14"/>
          <p:cNvSpPr txBox="1"/>
          <p:nvPr/>
        </p:nvSpPr>
        <p:spPr>
          <a:xfrm>
            <a:off x="8315960" y="6216015"/>
            <a:ext cx="702310" cy="337185"/>
          </a:xfrm>
          <a:prstGeom prst="rect">
            <a:avLst/>
          </a:prstGeom>
        </p:spPr>
        <p:txBody>
          <a:bodyPr wrap="square" rtlCol="0" anchor="t">
            <a:spAutoFit/>
          </a:bodyPr>
          <a:p>
            <a:pPr algn="l">
              <a:buClr>
                <a:srgbClr val="C35954"/>
              </a:buClr>
              <a:buSzPct val="120000"/>
              <a:buFont typeface="Arial" panose="020B0604020202020204" pitchFamily="34" charset="0"/>
            </a:pPr>
            <a:r>
              <a:rPr lang="zh-CN" altLang="en-US" sz="1600" b="1">
                <a:solidFill>
                  <a:srgbClr val="C35954"/>
                </a:solidFill>
                <a:ea typeface="微软雅黑" panose="020B0503020204020204" charset="-122"/>
                <a:cs typeface="Arial" panose="020B0604020202020204" pitchFamily="34" charset="0"/>
              </a:rPr>
              <a:t>label</a:t>
            </a:r>
            <a:endParaRPr lang="zh-CN" altLang="en-US" sz="1600" b="1">
              <a:solidFill>
                <a:srgbClr val="C35954"/>
              </a:solidFill>
              <a:ea typeface="微软雅黑" panose="020B0503020204020204" charset="-122"/>
              <a:cs typeface="Arial" panose="020B0604020202020204" pitchFamily="34" charset="0"/>
            </a:endParaRPr>
          </a:p>
        </p:txBody>
      </p:sp>
      <p:pic>
        <p:nvPicPr>
          <p:cNvPr id="31" name="Picture 3"/>
          <p:cNvPicPr>
            <a:picLocks noChangeAspect="1"/>
          </p:cNvPicPr>
          <p:nvPr/>
        </p:nvPicPr>
        <p:blipFill rotWithShape="1">
          <a:blip r:embed="rId8" cstate="print">
            <a:extLst>
              <a:ext uri="{28A0092B-C50C-407E-A947-70E740481C1C}">
                <a14:useLocalDpi xmlns:a14="http://schemas.microsoft.com/office/drawing/2010/main" val="0"/>
              </a:ext>
            </a:extLst>
          </a:blip>
          <a:srcRect l="23646" t="3889" r="23646" b="3889"/>
          <a:stretch>
            <a:fillRect/>
          </a:stretch>
        </p:blipFill>
        <p:spPr>
          <a:xfrm>
            <a:off x="6939280" y="4650105"/>
            <a:ext cx="408305" cy="402590"/>
          </a:xfrm>
          <a:prstGeom prst="rect">
            <a:avLst/>
          </a:prstGeom>
        </p:spPr>
      </p:pic>
      <p:pic>
        <p:nvPicPr>
          <p:cNvPr id="72" name="Picture 3"/>
          <p:cNvPicPr>
            <a:picLocks noChangeAspect="1"/>
          </p:cNvPicPr>
          <p:nvPr/>
        </p:nvPicPr>
        <p:blipFill rotWithShape="1">
          <a:blip r:embed="rId9" cstate="print">
            <a:extLst>
              <a:ext uri="{28A0092B-C50C-407E-A947-70E740481C1C}">
                <a14:useLocalDpi xmlns:a14="http://schemas.microsoft.com/office/drawing/2010/main" val="0"/>
              </a:ext>
            </a:extLst>
          </a:blip>
          <a:srcRect l="23646" t="3889" r="23646" b="3889"/>
          <a:stretch>
            <a:fillRect/>
          </a:stretch>
        </p:blipFill>
        <p:spPr>
          <a:xfrm flipH="1">
            <a:off x="4532630" y="238760"/>
            <a:ext cx="435610" cy="429260"/>
          </a:xfrm>
          <a:prstGeom prst="rect">
            <a:avLst/>
          </a:prstGeom>
        </p:spPr>
      </p:pic>
      <p:sp>
        <p:nvSpPr>
          <p:cNvPr id="45" name="文本框 44"/>
          <p:cNvSpPr txBox="1"/>
          <p:nvPr/>
        </p:nvSpPr>
        <p:spPr>
          <a:xfrm>
            <a:off x="4932045" y="264795"/>
            <a:ext cx="3762375" cy="337185"/>
          </a:xfrm>
          <a:prstGeom prst="rect">
            <a:avLst/>
          </a:prstGeom>
          <a:noFill/>
        </p:spPr>
        <p:txBody>
          <a:bodyPr wrap="none" rtlCol="0" anchor="t">
            <a:spAutoFit/>
          </a:bodyPr>
          <a:p>
            <a:pPr algn="l">
              <a:buClr>
                <a:srgbClr val="C35954"/>
              </a:buClr>
              <a:buSzPct val="120000"/>
              <a:buFont typeface="Arial" panose="020B0604020202020204" pitchFamily="34" charset="0"/>
            </a:pPr>
            <a:r>
              <a:rPr lang="zh-CN" altLang="en-US" sz="1600" b="1">
                <a:solidFill>
                  <a:srgbClr val="C35954"/>
                </a:solidFill>
                <a:latin typeface="微软雅黑" panose="020B0503020204020204" charset="-122"/>
                <a:ea typeface="微软雅黑" panose="020B0503020204020204" charset="-122"/>
                <a:sym typeface="+mn-ea"/>
              </a:rPr>
              <a:t>提问</a:t>
            </a:r>
            <a:r>
              <a:rPr lang="en-US" altLang="zh-CN" sz="1600" b="1">
                <a:solidFill>
                  <a:srgbClr val="C35954"/>
                </a:solidFill>
                <a:latin typeface="微软雅黑" panose="020B0503020204020204" charset="-122"/>
                <a:ea typeface="微软雅黑" panose="020B0503020204020204" charset="-122"/>
                <a:sym typeface="+mn-ea"/>
              </a:rPr>
              <a:t>1</a:t>
            </a:r>
            <a:r>
              <a:rPr lang="zh-CN" altLang="en-US" sz="1600" b="1">
                <a:solidFill>
                  <a:srgbClr val="C35954"/>
                </a:solidFill>
                <a:latin typeface="微软雅黑" panose="020B0503020204020204" charset="-122"/>
                <a:ea typeface="微软雅黑" panose="020B0503020204020204" charset="-122"/>
                <a:sym typeface="+mn-ea"/>
              </a:rPr>
              <a:t>：神经网络是如何识别出数字的？</a:t>
            </a:r>
            <a:endParaRPr lang="zh-CN" altLang="en-US" sz="1600" b="1">
              <a:solidFill>
                <a:srgbClr val="C35954"/>
              </a:solidFill>
              <a:latin typeface="微软雅黑" panose="020B0503020204020204" charset="-122"/>
              <a:ea typeface="微软雅黑" panose="020B0503020204020204" charset="-122"/>
              <a:sym typeface="+mn-ea"/>
            </a:endParaRPr>
          </a:p>
        </p:txBody>
      </p:sp>
      <p:sp>
        <p:nvSpPr>
          <p:cNvPr id="46" name="文本框 45"/>
          <p:cNvSpPr txBox="1"/>
          <p:nvPr/>
        </p:nvSpPr>
        <p:spPr>
          <a:xfrm>
            <a:off x="4968240" y="658495"/>
            <a:ext cx="4246880" cy="337185"/>
          </a:xfrm>
          <a:prstGeom prst="rect">
            <a:avLst/>
          </a:prstGeom>
          <a:noFill/>
        </p:spPr>
        <p:txBody>
          <a:bodyPr wrap="none" rtlCol="0" anchor="t">
            <a:spAutoFit/>
          </a:bodyPr>
          <a:p>
            <a:pPr algn="l">
              <a:buClr>
                <a:srgbClr val="C35954"/>
              </a:buClr>
              <a:buSzPct val="120000"/>
              <a:buFont typeface="Arial" panose="020B0604020202020204" pitchFamily="34" charset="0"/>
            </a:pPr>
            <a:r>
              <a:rPr lang="zh-CN" altLang="en-US" sz="1600" b="1">
                <a:solidFill>
                  <a:srgbClr val="C35954"/>
                </a:solidFill>
                <a:latin typeface="微软雅黑" panose="020B0503020204020204" charset="-122"/>
                <a:ea typeface="微软雅黑" panose="020B0503020204020204" charset="-122"/>
                <a:sym typeface="+mn-ea"/>
              </a:rPr>
              <a:t>回答：把一个识别任务转换为一个分类任务。</a:t>
            </a:r>
            <a:endParaRPr lang="zh-CN" altLang="en-US" sz="1600" b="1">
              <a:solidFill>
                <a:srgbClr val="C35954"/>
              </a:solidFill>
              <a:latin typeface="微软雅黑" panose="020B0503020204020204" charset="-122"/>
              <a:ea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blinds(horizontal)">
                                      <p:cBhvr>
                                        <p:cTn id="10" dur="500"/>
                                        <p:tgtEl>
                                          <p:spTgt spid="2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blinds(horizontal)">
                                      <p:cBhvr>
                                        <p:cTn id="13" dur="500"/>
                                        <p:tgtEl>
                                          <p:spTgt spid="2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blinds(horizontal)">
                                      <p:cBhvr>
                                        <p:cTn id="16" dur="500"/>
                                        <p:tgtEl>
                                          <p:spTgt spid="23"/>
                                        </p:tgtEl>
                                      </p:cBhvr>
                                    </p:animEffect>
                                  </p:childTnLst>
                                </p:cTn>
                              </p:par>
                              <p:par>
                                <p:cTn id="17" presetID="3" presetClass="entr" presetSubtype="1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linds(horizontal)">
                                      <p:cBhvr>
                                        <p:cTn id="19" dur="500"/>
                                        <p:tgtEl>
                                          <p:spTgt spid="24"/>
                                        </p:tgtEl>
                                      </p:cBhvr>
                                    </p:animEffect>
                                  </p:childTnLst>
                                </p:cTn>
                              </p:par>
                              <p:par>
                                <p:cTn id="20" presetID="3" presetClass="entr" presetSubtype="1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linds(horizontal)">
                                      <p:cBhvr>
                                        <p:cTn id="22" dur="500"/>
                                        <p:tgtEl>
                                          <p:spTgt spid="27"/>
                                        </p:tgtEl>
                                      </p:cBhvr>
                                    </p:animEffect>
                                  </p:childTnLst>
                                </p:cTn>
                              </p:par>
                              <p:par>
                                <p:cTn id="23" presetID="3" presetClass="entr" presetSubtype="1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blinds(horizontal)">
                                      <p:cBhvr>
                                        <p:cTn id="25" dur="500"/>
                                        <p:tgtEl>
                                          <p:spTgt spid="28"/>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blinds(horizontal)">
                                      <p:cBhvr>
                                        <p:cTn id="28" dur="500"/>
                                        <p:tgtEl>
                                          <p:spTgt spid="30"/>
                                        </p:tgtEl>
                                      </p:cBhvr>
                                    </p:animEffect>
                                  </p:childTnLst>
                                </p:cTn>
                              </p:par>
                              <p:par>
                                <p:cTn id="29" presetID="3" presetClass="entr" presetSubtype="1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blinds(horizontal)">
                                      <p:cBhvr>
                                        <p:cTn id="31" dur="500"/>
                                        <p:tgtEl>
                                          <p:spTgt spid="3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blinds(horizontal)">
                                      <p:cBhvr>
                                        <p:cTn id="34" dur="500"/>
                                        <p:tgtEl>
                                          <p:spTgt spid="29"/>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linds(horizontal)">
                                      <p:cBhvr>
                                        <p:cTn id="37" dur="500"/>
                                        <p:tgtEl>
                                          <p:spTgt spid="2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blinds(horizontal)">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46">
                                            <p:txEl>
                                              <p:pRg st="0" end="0"/>
                                            </p:txEl>
                                          </p:spTgt>
                                        </p:tgtEl>
                                        <p:attrNameLst>
                                          <p:attrName>style.visibility</p:attrName>
                                        </p:attrNameLst>
                                      </p:cBhvr>
                                      <p:to>
                                        <p:strVal val="visible"/>
                                      </p:to>
                                    </p:set>
                                    <p:animEffect transition="in" filter="blinds(horizontal)">
                                      <p:cBhvr>
                                        <p:cTn id="45" dur="500"/>
                                        <p:tgtEl>
                                          <p:spTgt spid="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2" grpId="0"/>
      <p:bldP spid="23" grpId="0"/>
      <p:bldP spid="30" grpId="0"/>
      <p:bldP spid="29" grpId="0"/>
      <p:bldP spid="20" grpId="0"/>
      <p:bldP spid="18" grpId="0"/>
      <p:bldP spid="19" grpId="1"/>
      <p:bldP spid="21" grpId="1"/>
      <p:bldP spid="22" grpId="1"/>
      <p:bldP spid="23" grpId="1"/>
      <p:bldP spid="30" grpId="1"/>
      <p:bldP spid="29" grpId="1"/>
      <p:bldP spid="20" grpId="1"/>
      <p:bldP spid="1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idx="1"/>
          </p:nvPr>
        </p:nvPicPr>
        <p:blipFill>
          <a:blip r:embed="rId1"/>
          <a:stretch>
            <a:fillRect/>
          </a:stretch>
        </p:blipFill>
        <p:spPr>
          <a:xfrm>
            <a:off x="2481580" y="2174240"/>
            <a:ext cx="5361305" cy="2310130"/>
          </a:xfrm>
          <a:prstGeom prst="rect">
            <a:avLst/>
          </a:prstGeom>
        </p:spPr>
      </p:pic>
      <p:sp>
        <p:nvSpPr>
          <p:cNvPr id="15" name="Rectangle 1"/>
          <p:cNvSpPr/>
          <p:nvPr/>
        </p:nvSpPr>
        <p:spPr>
          <a:xfrm>
            <a:off x="0" y="188595"/>
            <a:ext cx="449834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12700">
              <a:lnSpc>
                <a:spcPct val="100000"/>
              </a:lnSpc>
              <a:spcBef>
                <a:spcPts val="115"/>
              </a:spcBef>
            </a:pPr>
            <a:r>
              <a:rPr spc="15" dirty="0">
                <a:solidFill>
                  <a:schemeClr val="bg1"/>
                </a:solidFill>
                <a:latin typeface="微软雅黑" panose="020B0503020204020204" charset="-122"/>
                <a:ea typeface="微软雅黑" panose="020B0503020204020204" charset="-122"/>
                <a:cs typeface="微软雅黑" panose="020B0503020204020204" charset="-122"/>
                <a:sym typeface="+mn-ea"/>
              </a:rPr>
              <a:t>Softmax</a:t>
            </a:r>
            <a:r>
              <a:rPr dirty="0">
                <a:solidFill>
                  <a:schemeClr val="bg1"/>
                </a:solidFill>
                <a:latin typeface="微软雅黑" panose="020B0503020204020204" charset="-122"/>
                <a:ea typeface="微软雅黑" panose="020B0503020204020204" charset="-122"/>
                <a:cs typeface="微软雅黑" panose="020B0503020204020204" charset="-122"/>
                <a:sym typeface="+mn-ea"/>
              </a:rPr>
              <a:t>函数</a:t>
            </a:r>
            <a:endParaRPr lang="en-US" spc="15"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647700" y="980440"/>
            <a:ext cx="7848600" cy="1198880"/>
          </a:xfrm>
          <a:prstGeom prst="rect">
            <a:avLst/>
          </a:prstGeom>
          <a:noFill/>
        </p:spPr>
        <p:txBody>
          <a:bodyPr wrap="square" rtlCol="0" anchor="t">
            <a:spAutoFit/>
          </a:bodyPr>
          <a:p>
            <a:r>
              <a:rPr sz="1800" dirty="0">
                <a:solidFill>
                  <a:schemeClr val="tx1"/>
                </a:solidFill>
                <a:latin typeface="微软雅黑" panose="020B0503020204020204" charset="-122"/>
                <a:ea typeface="微软雅黑" panose="020B0503020204020204" charset="-122"/>
                <a:cs typeface="微软雅黑" panose="020B0503020204020204" charset="-122"/>
              </a:rPr>
              <a:t>Softmax函数是深度学习基础中的基础，它是神经网络进行多分类时，默认放在</a:t>
            </a:r>
            <a:r>
              <a:rPr lang="zh-CN" altLang="en-US" sz="1800" b="1">
                <a:solidFill>
                  <a:srgbClr val="C35954"/>
                </a:solidFill>
                <a:latin typeface="微软雅黑" panose="020B0503020204020204" charset="-122"/>
                <a:ea typeface="微软雅黑" panose="020B0503020204020204" charset="-122"/>
              </a:rPr>
              <a:t>输出层</a:t>
            </a:r>
            <a:r>
              <a:rPr sz="1800" dirty="0">
                <a:solidFill>
                  <a:schemeClr val="tx1"/>
                </a:solidFill>
                <a:latin typeface="微软雅黑" panose="020B0503020204020204" charset="-122"/>
                <a:ea typeface="微软雅黑" panose="020B0503020204020204" charset="-122"/>
                <a:cs typeface="微软雅黑" panose="020B0503020204020204" charset="-122"/>
              </a:rPr>
              <a:t>中处理数据的函数。假设现在神经网络是用于三分类数据，且三个分类分别是苹果，柠檬和百香果，序号则分别是分类1、分类2和分类3。则使用softmax函数的神经网络的模型会如下所示：</a:t>
            </a:r>
            <a:endParaRPr sz="1800" dirty="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tretch>
            <a:fillRect/>
          </a:stretch>
        </p:blipFill>
        <p:spPr>
          <a:xfrm>
            <a:off x="2481580" y="4653280"/>
            <a:ext cx="5422265" cy="2115185"/>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123"/>
          <p:cNvPicPr>
            <a:picLocks noChangeAspect="1"/>
          </p:cNvPicPr>
          <p:nvPr/>
        </p:nvPicPr>
        <p:blipFill>
          <a:blip r:embed="rId1"/>
          <a:stretch>
            <a:fillRect/>
          </a:stretch>
        </p:blipFill>
        <p:spPr>
          <a:xfrm>
            <a:off x="3744595" y="250190"/>
            <a:ext cx="5399405" cy="2767965"/>
          </a:xfrm>
          <a:prstGeom prst="rect">
            <a:avLst/>
          </a:prstGeom>
        </p:spPr>
      </p:pic>
      <p:sp>
        <p:nvSpPr>
          <p:cNvPr id="15" name="Rectangle 1"/>
          <p:cNvSpPr/>
          <p:nvPr/>
        </p:nvSpPr>
        <p:spPr>
          <a:xfrm>
            <a:off x="0" y="188595"/>
            <a:ext cx="449834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16" name="object 3"/>
          <p:cNvSpPr txBox="1">
            <a:spLocks noGrp="1"/>
          </p:cNvSpPr>
          <p:nvPr/>
        </p:nvSpPr>
        <p:spPr>
          <a:xfrm>
            <a:off x="109220" y="269240"/>
            <a:ext cx="427990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神经网络学习</a:t>
            </a: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以手写数字为例</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5436235" y="6021070"/>
            <a:ext cx="1706880" cy="337185"/>
          </a:xfrm>
          <a:prstGeom prst="rect">
            <a:avLst/>
          </a:prstGeom>
          <a:noFill/>
        </p:spPr>
        <p:txBody>
          <a:bodyPr wrap="none" rtlCol="0" anchor="t">
            <a:spAutoFit/>
          </a:bodyPr>
          <a:p>
            <a:pPr algn="l">
              <a:buClr>
                <a:srgbClr val="C35954"/>
              </a:buClr>
              <a:buSzPct val="120000"/>
              <a:buFont typeface="Arial" panose="020B0604020202020204" pitchFamily="34" charset="0"/>
            </a:pPr>
            <a:r>
              <a:rPr lang="zh-CN" altLang="en-US" sz="1600" b="1">
                <a:solidFill>
                  <a:srgbClr val="C35954"/>
                </a:solidFill>
                <a:ea typeface="微软雅黑" panose="020B0503020204020204" charset="-122"/>
                <a:cs typeface="Arial" panose="020B0604020202020204" pitchFamily="34" charset="0"/>
                <a:sym typeface="+mn-ea"/>
              </a:rPr>
              <a:t>one-hot vectors</a:t>
            </a:r>
            <a:endParaRPr lang="zh-CN" altLang="en-US" sz="1600" b="1">
              <a:solidFill>
                <a:srgbClr val="C35954"/>
              </a:solidFill>
              <a:ea typeface="微软雅黑" panose="020B0503020204020204" charset="-122"/>
              <a:cs typeface="Arial" panose="020B0604020202020204" pitchFamily="34" charset="0"/>
            </a:endParaRPr>
          </a:p>
        </p:txBody>
      </p:sp>
      <p:sp>
        <p:nvSpPr>
          <p:cNvPr id="20" name="文本框 19"/>
          <p:cNvSpPr txBox="1"/>
          <p:nvPr/>
        </p:nvSpPr>
        <p:spPr>
          <a:xfrm>
            <a:off x="5984240" y="3020060"/>
            <a:ext cx="664210" cy="3046095"/>
          </a:xfrm>
          <a:prstGeom prst="rect">
            <a:avLst/>
          </a:prstGeom>
          <a:noFill/>
        </p:spPr>
        <p:txBody>
          <a:bodyPr wrap="square" rtlCol="0" anchor="t">
            <a:spAutoFit/>
          </a:bodyPr>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0.1</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.1</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.05</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.02</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.05</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.08</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.05</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0.5</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.03</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,0</a:t>
            </a:r>
            <a:r>
              <a:rPr lang="en-US" sz="1600" dirty="0">
                <a:solidFill>
                  <a:schemeClr val="bg1"/>
                </a:solidFill>
                <a:latin typeface="微软雅黑" panose="020B0503020204020204" charset="-122"/>
                <a:ea typeface="微软雅黑" panose="020B0503020204020204" charset="-122"/>
                <a:cs typeface="微软雅黑" panose="020B0503020204020204" charset="-122"/>
                <a:sym typeface="+mn-ea"/>
              </a:rPr>
              <a:t>.07</a:t>
            </a:r>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a:p>
            <a:r>
              <a:rPr sz="1600" dirty="0">
                <a:solidFill>
                  <a:schemeClr val="bg1"/>
                </a:solidFill>
                <a:latin typeface="微软雅黑" panose="020B0503020204020204" charset="-122"/>
                <a:ea typeface="微软雅黑" panose="020B0503020204020204" charset="-122"/>
                <a:cs typeface="微软雅黑" panose="020B0503020204020204" charset="-122"/>
                <a:sym typeface="+mn-ea"/>
              </a:rPr>
              <a:t>]</a:t>
            </a:r>
            <a:endParaRPr sz="16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1" name="TextBox 14"/>
          <p:cNvSpPr txBox="1"/>
          <p:nvPr/>
        </p:nvSpPr>
        <p:spPr>
          <a:xfrm>
            <a:off x="3491865" y="6216015"/>
            <a:ext cx="1510665" cy="337185"/>
          </a:xfrm>
          <a:prstGeom prst="rect">
            <a:avLst/>
          </a:prstGeom>
        </p:spPr>
        <p:txBody>
          <a:bodyPr wrap="square" rtlCol="0" anchor="t">
            <a:spAutoFit/>
          </a:bodyPr>
          <a:p>
            <a:pPr>
              <a:buClr>
                <a:srgbClr val="C35954"/>
              </a:buClr>
              <a:buSzPct val="120000"/>
              <a:buFont typeface="Arial" panose="020B0604020202020204" pitchFamily="34" charset="0"/>
            </a:pPr>
            <a:r>
              <a:rPr lang="zh-CN" altLang="en-US" sz="1600" b="1">
                <a:solidFill>
                  <a:schemeClr val="bg1"/>
                </a:solidFill>
                <a:latin typeface="微软雅黑" panose="020B0503020204020204" charset="-122"/>
                <a:ea typeface="微软雅黑" panose="020B0503020204020204" charset="-122"/>
              </a:rPr>
              <a:t>神经网络</a:t>
            </a:r>
            <a:r>
              <a:rPr lang="zh-CN" altLang="en-US" sz="1600" b="1">
                <a:solidFill>
                  <a:srgbClr val="C35954"/>
                </a:solidFill>
                <a:latin typeface="微软雅黑" panose="020B0503020204020204" charset="-122"/>
                <a:ea typeface="微软雅黑" panose="020B0503020204020204" charset="-122"/>
              </a:rPr>
              <a:t>模型</a:t>
            </a:r>
            <a:endParaRPr lang="en-US" altLang="zh-CN" sz="1600" b="1">
              <a:solidFill>
                <a:schemeClr val="bg1"/>
              </a:solidFill>
              <a:latin typeface="微软雅黑" panose="020B0503020204020204" charset="-122"/>
              <a:ea typeface="微软雅黑" panose="020B0503020204020204" charset="-122"/>
            </a:endParaRPr>
          </a:p>
        </p:txBody>
      </p:sp>
      <p:sp>
        <p:nvSpPr>
          <p:cNvPr id="22" name="TextBox 14"/>
          <p:cNvSpPr txBox="1"/>
          <p:nvPr/>
        </p:nvSpPr>
        <p:spPr>
          <a:xfrm>
            <a:off x="5652135" y="6309360"/>
            <a:ext cx="1510665" cy="337185"/>
          </a:xfrm>
          <a:prstGeom prst="rect">
            <a:avLst/>
          </a:prstGeom>
        </p:spPr>
        <p:txBody>
          <a:bodyPr wrap="square" rtlCol="0" anchor="t">
            <a:spAutoFit/>
          </a:bodyPr>
          <a:p>
            <a:pPr>
              <a:buClr>
                <a:srgbClr val="C35954"/>
              </a:buClr>
              <a:buSzPct val="120000"/>
              <a:buFont typeface="Arial" panose="020B0604020202020204" pitchFamily="34" charset="0"/>
            </a:pPr>
            <a:r>
              <a:rPr lang="zh-CN" altLang="en-US" sz="1600" b="1">
                <a:solidFill>
                  <a:schemeClr val="bg1"/>
                </a:solidFill>
                <a:latin typeface="微软雅黑" panose="020B0503020204020204" charset="-122"/>
                <a:ea typeface="微软雅黑" panose="020B0503020204020204" charset="-122"/>
              </a:rPr>
              <a:t>神经网络</a:t>
            </a:r>
            <a:r>
              <a:rPr lang="zh-CN" altLang="en-US" sz="1600" b="1">
                <a:solidFill>
                  <a:srgbClr val="C35954"/>
                </a:solidFill>
                <a:latin typeface="微软雅黑" panose="020B0503020204020204" charset="-122"/>
                <a:ea typeface="微软雅黑" panose="020B0503020204020204" charset="-122"/>
              </a:rPr>
              <a:t>输出</a:t>
            </a:r>
            <a:endParaRPr lang="en-US" altLang="zh-CN" sz="1600" b="1">
              <a:solidFill>
                <a:schemeClr val="bg1"/>
              </a:solidFill>
              <a:latin typeface="微软雅黑" panose="020B0503020204020204" charset="-122"/>
              <a:ea typeface="微软雅黑" panose="020B0503020204020204" charset="-122"/>
            </a:endParaRPr>
          </a:p>
        </p:txBody>
      </p:sp>
      <p:sp>
        <p:nvSpPr>
          <p:cNvPr id="23" name="文本框 22"/>
          <p:cNvSpPr txBox="1"/>
          <p:nvPr/>
        </p:nvSpPr>
        <p:spPr>
          <a:xfrm>
            <a:off x="7638415" y="4220845"/>
            <a:ext cx="433705" cy="583565"/>
          </a:xfrm>
          <a:prstGeom prst="rect">
            <a:avLst/>
          </a:prstGeom>
          <a:noFill/>
        </p:spPr>
        <p:txBody>
          <a:bodyPr wrap="none" rtlCol="0">
            <a:spAutoFit/>
          </a:bodyPr>
          <a:p>
            <a:r>
              <a:rPr lang="en-US" altLang="zh-CN" sz="3200" b="1">
                <a:solidFill>
                  <a:srgbClr val="C35954"/>
                </a:solidFill>
                <a:latin typeface="微软雅黑" panose="020B0503020204020204" charset="-122"/>
                <a:ea typeface="微软雅黑" panose="020B0503020204020204" charset="-122"/>
              </a:rPr>
              <a:t>7</a:t>
            </a:r>
            <a:endParaRPr lang="en-US" altLang="zh-CN" sz="3200" b="1">
              <a:solidFill>
                <a:srgbClr val="C35954"/>
              </a:solidFill>
              <a:latin typeface="微软雅黑" panose="020B0503020204020204" charset="-122"/>
              <a:ea typeface="微软雅黑" panose="020B0503020204020204" charset="-122"/>
            </a:endParaRPr>
          </a:p>
        </p:txBody>
      </p:sp>
      <p:cxnSp>
        <p:nvCxnSpPr>
          <p:cNvPr id="24" name="Google Shape;3241;p51"/>
          <p:cNvCxnSpPr/>
          <p:nvPr/>
        </p:nvCxnSpPr>
        <p:spPr>
          <a:xfrm>
            <a:off x="5147945" y="4542790"/>
            <a:ext cx="647700" cy="0"/>
          </a:xfrm>
          <a:prstGeom prst="straightConnector1">
            <a:avLst/>
          </a:prstGeom>
          <a:noFill/>
          <a:ln w="31750" cap="flat" cmpd="sng">
            <a:solidFill>
              <a:schemeClr val="bg1"/>
            </a:solidFill>
            <a:prstDash val="solid"/>
            <a:round/>
            <a:headEnd type="none" w="med" len="med"/>
            <a:tailEnd type="triangle" w="med" len="med"/>
          </a:ln>
        </p:spPr>
      </p:cxnSp>
      <p:pic>
        <p:nvPicPr>
          <p:cNvPr id="27" name="图片 26"/>
          <p:cNvPicPr>
            <a:picLocks noChangeAspect="1"/>
          </p:cNvPicPr>
          <p:nvPr>
            <p:custDataLst>
              <p:tags r:id="rId2"/>
            </p:custDataLst>
          </p:nvPr>
        </p:nvPicPr>
        <p:blipFill>
          <a:blip r:embed="rId3"/>
          <a:stretch>
            <a:fillRect/>
          </a:stretch>
        </p:blipFill>
        <p:spPr>
          <a:xfrm>
            <a:off x="1193800" y="3307715"/>
            <a:ext cx="4329430" cy="2813050"/>
          </a:xfrm>
          <a:prstGeom prst="rect">
            <a:avLst/>
          </a:prstGeom>
        </p:spPr>
      </p:pic>
      <p:sp>
        <p:nvSpPr>
          <p:cNvPr id="18" name="TextBox 14"/>
          <p:cNvSpPr txBox="1"/>
          <p:nvPr/>
        </p:nvSpPr>
        <p:spPr>
          <a:xfrm>
            <a:off x="467360" y="4436745"/>
            <a:ext cx="2025650" cy="829945"/>
          </a:xfrm>
          <a:prstGeom prst="rect">
            <a:avLst/>
          </a:prstGeom>
        </p:spPr>
        <p:txBody>
          <a:bodyPr wrap="square" rtlCol="0" anchor="t">
            <a:spAutoFit/>
          </a:bodyPr>
          <a:p>
            <a:pPr>
              <a:buClr>
                <a:srgbClr val="C35954"/>
              </a:buClr>
              <a:buSzPct val="120000"/>
              <a:buFont typeface="Arial" panose="020B0604020202020204" pitchFamily="34" charset="0"/>
            </a:pPr>
            <a:r>
              <a:rPr lang="zh-CN" altLang="en-US" sz="1600" b="1">
                <a:solidFill>
                  <a:schemeClr val="bg1"/>
                </a:solidFill>
                <a:latin typeface="微软雅黑" panose="020B0503020204020204" charset="-122"/>
                <a:ea typeface="微软雅黑" panose="020B0503020204020204" charset="-122"/>
              </a:rPr>
              <a:t>神经网络的</a:t>
            </a:r>
            <a:r>
              <a:rPr lang="zh-CN" altLang="en-US" sz="1600" b="1">
                <a:solidFill>
                  <a:srgbClr val="C35954"/>
                </a:solidFill>
                <a:latin typeface="微软雅黑" panose="020B0503020204020204" charset="-122"/>
                <a:ea typeface="微软雅黑" panose="020B0503020204020204" charset="-122"/>
              </a:rPr>
              <a:t>输入</a:t>
            </a:r>
            <a:r>
              <a:rPr lang="en-US" altLang="zh-CN" sz="1600" b="1">
                <a:solidFill>
                  <a:schemeClr val="bg1"/>
                </a:solidFill>
                <a:latin typeface="微软雅黑" panose="020B0503020204020204" charset="-122"/>
                <a:ea typeface="微软雅黑" panose="020B0503020204020204" charset="-122"/>
              </a:rPr>
              <a:t>:</a:t>
            </a:r>
            <a:endParaRPr lang="en-US" altLang="zh-CN" sz="1600" b="1">
              <a:solidFill>
                <a:schemeClr val="bg1"/>
              </a:solidFill>
              <a:latin typeface="微软雅黑" panose="020B0503020204020204" charset="-122"/>
              <a:ea typeface="微软雅黑" panose="020B0503020204020204" charset="-122"/>
            </a:endParaRPr>
          </a:p>
          <a:p>
            <a:pPr>
              <a:buClr>
                <a:srgbClr val="C35954"/>
              </a:buClr>
              <a:buSzPct val="120000"/>
              <a:buFont typeface="Arial" panose="020B0604020202020204" pitchFamily="34" charset="0"/>
            </a:pPr>
            <a:endParaRPr lang="en-US" altLang="zh-CN" sz="1600" b="1">
              <a:solidFill>
                <a:schemeClr val="bg1"/>
              </a:solidFill>
              <a:latin typeface="微软雅黑" panose="020B0503020204020204" charset="-122"/>
              <a:ea typeface="微软雅黑" panose="020B0503020204020204" charset="-122"/>
            </a:endParaRPr>
          </a:p>
          <a:p>
            <a:pPr>
              <a:buClr>
                <a:srgbClr val="C35954"/>
              </a:buClr>
              <a:buSzPct val="120000"/>
              <a:buFont typeface="Arial" panose="020B0604020202020204" pitchFamily="34" charset="0"/>
            </a:pPr>
            <a:r>
              <a:rPr lang="en-US" altLang="zh-CN" sz="1600" b="1">
                <a:solidFill>
                  <a:schemeClr val="bg1"/>
                </a:solidFill>
                <a:latin typeface="微软雅黑" panose="020B0503020204020204" charset="-122"/>
                <a:ea typeface="微软雅黑" panose="020B0503020204020204" charset="-122"/>
              </a:rPr>
              <a:t>28x28</a:t>
            </a:r>
            <a:r>
              <a:rPr lang="zh-CN" altLang="en-US" sz="1600" b="1">
                <a:solidFill>
                  <a:schemeClr val="bg1"/>
                </a:solidFill>
                <a:latin typeface="微软雅黑" panose="020B0503020204020204" charset="-122"/>
                <a:ea typeface="微软雅黑" panose="020B0503020204020204" charset="-122"/>
              </a:rPr>
              <a:t>的图像</a:t>
            </a:r>
            <a:endParaRPr lang="zh-CN" altLang="en-US" sz="1600" b="1">
              <a:solidFill>
                <a:schemeClr val="bg1"/>
              </a:solidFill>
              <a:latin typeface="微软雅黑" panose="020B0503020204020204" charset="-122"/>
              <a:ea typeface="微软雅黑" panose="020B0503020204020204" charset="-122"/>
            </a:endParaRPr>
          </a:p>
        </p:txBody>
      </p:sp>
      <p:cxnSp>
        <p:nvCxnSpPr>
          <p:cNvPr id="28" name="Google Shape;3241;p51"/>
          <p:cNvCxnSpPr/>
          <p:nvPr/>
        </p:nvCxnSpPr>
        <p:spPr>
          <a:xfrm flipV="1">
            <a:off x="6819900" y="4509135"/>
            <a:ext cx="704850" cy="6985"/>
          </a:xfrm>
          <a:prstGeom prst="straightConnector1">
            <a:avLst/>
          </a:prstGeom>
          <a:noFill/>
          <a:ln w="31750" cap="flat" cmpd="sng">
            <a:solidFill>
              <a:schemeClr val="bg1"/>
            </a:solidFill>
            <a:prstDash val="solid"/>
            <a:round/>
            <a:headEnd type="none" w="med" len="med"/>
            <a:tailEnd type="triangle" w="med" len="med"/>
          </a:ln>
        </p:spPr>
      </p:cxnSp>
      <p:sp>
        <p:nvSpPr>
          <p:cNvPr id="29" name="文本框 28"/>
          <p:cNvSpPr txBox="1"/>
          <p:nvPr/>
        </p:nvSpPr>
        <p:spPr>
          <a:xfrm>
            <a:off x="8512810" y="3019425"/>
            <a:ext cx="393700" cy="3046095"/>
          </a:xfrm>
          <a:prstGeom prst="rect">
            <a:avLst/>
          </a:prstGeom>
          <a:noFill/>
        </p:spPr>
        <p:txBody>
          <a:bodyPr wrap="square" rtlCol="0" anchor="t">
            <a:spAutoFit/>
          </a:bodyPr>
          <a:p>
            <a:r>
              <a:rPr sz="1600" spc="-5" dirty="0">
                <a:solidFill>
                  <a:schemeClr val="bg1"/>
                </a:solidFill>
                <a:latin typeface="微软雅黑" panose="020B0503020204020204" charset="-122"/>
                <a:cs typeface="微软雅黑" panose="020B0503020204020204" charset="-122"/>
                <a:sym typeface="+mn-ea"/>
              </a:rPr>
              <a:t>[</a:t>
            </a:r>
            <a:endParaRPr sz="1600" spc="-5" dirty="0">
              <a:solidFill>
                <a:schemeClr val="bg1"/>
              </a:solidFill>
              <a:latin typeface="微软雅黑" panose="020B0503020204020204" charset="-122"/>
              <a:cs typeface="微软雅黑" panose="020B0503020204020204" charset="-122"/>
              <a:sym typeface="+mn-ea"/>
            </a:endParaRPr>
          </a:p>
          <a:p>
            <a:r>
              <a:rPr lang="en-US" sz="1600" spc="-5" dirty="0">
                <a:solidFill>
                  <a:schemeClr val="bg1"/>
                </a:solidFill>
                <a:latin typeface="微软雅黑" panose="020B0503020204020204" charset="-122"/>
                <a:cs typeface="微软雅黑" panose="020B0503020204020204" charset="-122"/>
                <a:sym typeface="+mn-ea"/>
              </a:rPr>
              <a:t>0</a:t>
            </a:r>
            <a:r>
              <a:rPr sz="1600" spc="-5" dirty="0">
                <a:solidFill>
                  <a:schemeClr val="bg1"/>
                </a:solidFill>
                <a:latin typeface="微软雅黑" panose="020B0503020204020204" charset="-122"/>
                <a:cs typeface="微软雅黑" panose="020B0503020204020204" charset="-122"/>
                <a:sym typeface="+mn-ea"/>
              </a:rPr>
              <a:t>,0,0,0,0,0,0,</a:t>
            </a:r>
            <a:r>
              <a:rPr lang="en-US" sz="1600" spc="-5" dirty="0">
                <a:solidFill>
                  <a:schemeClr val="bg1"/>
                </a:solidFill>
                <a:latin typeface="微软雅黑" panose="020B0503020204020204" charset="-122"/>
                <a:cs typeface="微软雅黑" panose="020B0503020204020204" charset="-122"/>
                <a:sym typeface="+mn-ea"/>
              </a:rPr>
              <a:t>1</a:t>
            </a:r>
            <a:r>
              <a:rPr sz="1600" spc="-5" dirty="0">
                <a:solidFill>
                  <a:schemeClr val="bg1"/>
                </a:solidFill>
                <a:latin typeface="微软雅黑" panose="020B0503020204020204" charset="-122"/>
                <a:cs typeface="微软雅黑" panose="020B0503020204020204" charset="-122"/>
                <a:sym typeface="+mn-ea"/>
              </a:rPr>
              <a:t>,0,0,</a:t>
            </a:r>
            <a:endParaRPr sz="1600" spc="-5" dirty="0">
              <a:solidFill>
                <a:schemeClr val="bg1"/>
              </a:solidFill>
              <a:latin typeface="微软雅黑" panose="020B0503020204020204" charset="-122"/>
              <a:cs typeface="微软雅黑" panose="020B0503020204020204" charset="-122"/>
              <a:sym typeface="+mn-ea"/>
            </a:endParaRPr>
          </a:p>
          <a:p>
            <a:r>
              <a:rPr sz="1600" spc="-5" dirty="0">
                <a:solidFill>
                  <a:schemeClr val="bg1"/>
                </a:solidFill>
                <a:latin typeface="微软雅黑" panose="020B0503020204020204" charset="-122"/>
                <a:cs typeface="微软雅黑" panose="020B0503020204020204" charset="-122"/>
                <a:sym typeface="+mn-ea"/>
              </a:rPr>
              <a:t>]</a:t>
            </a:r>
            <a:endParaRPr lang="zh-CN" altLang="en-US" sz="1600" spc="-5" dirty="0">
              <a:solidFill>
                <a:schemeClr val="bg1"/>
              </a:solidFill>
              <a:latin typeface="微软雅黑" panose="020B0503020204020204" charset="-122"/>
              <a:cs typeface="微软雅黑" panose="020B0503020204020204" charset="-122"/>
              <a:sym typeface="+mn-ea"/>
            </a:endParaRPr>
          </a:p>
        </p:txBody>
      </p:sp>
      <p:sp>
        <p:nvSpPr>
          <p:cNvPr id="30" name="TextBox 14"/>
          <p:cNvSpPr txBox="1"/>
          <p:nvPr/>
        </p:nvSpPr>
        <p:spPr>
          <a:xfrm>
            <a:off x="8315960" y="6216015"/>
            <a:ext cx="702310" cy="337185"/>
          </a:xfrm>
          <a:prstGeom prst="rect">
            <a:avLst/>
          </a:prstGeom>
        </p:spPr>
        <p:txBody>
          <a:bodyPr wrap="square" rtlCol="0" anchor="t">
            <a:spAutoFit/>
          </a:bodyPr>
          <a:p>
            <a:pPr algn="l">
              <a:buClr>
                <a:srgbClr val="C35954"/>
              </a:buClr>
              <a:buSzPct val="120000"/>
              <a:buFont typeface="Arial" panose="020B0604020202020204" pitchFamily="34" charset="0"/>
            </a:pPr>
            <a:r>
              <a:rPr lang="zh-CN" altLang="en-US" sz="1600" b="1">
                <a:solidFill>
                  <a:srgbClr val="C35954"/>
                </a:solidFill>
                <a:ea typeface="微软雅黑" panose="020B0503020204020204" charset="-122"/>
                <a:cs typeface="Arial" panose="020B0604020202020204" pitchFamily="34" charset="0"/>
              </a:rPr>
              <a:t>label</a:t>
            </a:r>
            <a:endParaRPr lang="zh-CN" altLang="en-US" sz="1600" b="1">
              <a:solidFill>
                <a:srgbClr val="C35954"/>
              </a:solidFill>
              <a:ea typeface="微软雅黑" panose="020B0503020204020204" charset="-122"/>
              <a:cs typeface="Arial" panose="020B0604020202020204" pitchFamily="34" charset="0"/>
            </a:endParaRPr>
          </a:p>
        </p:txBody>
      </p:sp>
      <p:pic>
        <p:nvPicPr>
          <p:cNvPr id="31" name="Picture 3"/>
          <p:cNvPicPr>
            <a:picLocks noChangeAspect="1"/>
          </p:cNvPicPr>
          <p:nvPr/>
        </p:nvPicPr>
        <p:blipFill rotWithShape="1">
          <a:blip r:embed="rId4" cstate="print">
            <a:extLst>
              <a:ext uri="{28A0092B-C50C-407E-A947-70E740481C1C}">
                <a14:useLocalDpi xmlns:a14="http://schemas.microsoft.com/office/drawing/2010/main" val="0"/>
              </a:ext>
            </a:extLst>
          </a:blip>
          <a:srcRect l="23646" t="3889" r="23646" b="3889"/>
          <a:stretch>
            <a:fillRect/>
          </a:stretch>
        </p:blipFill>
        <p:spPr>
          <a:xfrm>
            <a:off x="6939280" y="4650105"/>
            <a:ext cx="408305" cy="4025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1000" fill="hold"/>
                                        <p:tgtEl>
                                          <p:spTgt spid="18"/>
                                        </p:tgtEl>
                                        <p:attrNameLst>
                                          <p:attrName>ppt_x</p:attrName>
                                        </p:attrNameLst>
                                      </p:cBhvr>
                                      <p:tavLst>
                                        <p:tav tm="0">
                                          <p:val>
                                            <p:strVal val="1+#ppt_w/2"/>
                                          </p:val>
                                        </p:tav>
                                        <p:tav tm="100000">
                                          <p:val>
                                            <p:strVal val="#ppt_x"/>
                                          </p:val>
                                        </p:tav>
                                      </p:tavLst>
                                    </p:anim>
                                    <p:anim calcmode="lin" valueType="num">
                                      <p:cBhvr additive="base">
                                        <p:cTn id="8" dur="1000" fill="hold"/>
                                        <p:tgtEl>
                                          <p:spTgt spid="18"/>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1000" fill="hold"/>
                                        <p:tgtEl>
                                          <p:spTgt spid="21"/>
                                        </p:tgtEl>
                                        <p:attrNameLst>
                                          <p:attrName>ppt_x</p:attrName>
                                        </p:attrNameLst>
                                      </p:cBhvr>
                                      <p:tavLst>
                                        <p:tav tm="0">
                                          <p:val>
                                            <p:strVal val="1+#ppt_w/2"/>
                                          </p:val>
                                        </p:tav>
                                        <p:tav tm="100000">
                                          <p:val>
                                            <p:strVal val="#ppt_x"/>
                                          </p:val>
                                        </p:tav>
                                      </p:tavLst>
                                    </p:anim>
                                    <p:anim calcmode="lin" valueType="num">
                                      <p:cBhvr additive="base">
                                        <p:cTn id="12" dur="10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1000" fill="hold"/>
                                        <p:tgtEl>
                                          <p:spTgt spid="22"/>
                                        </p:tgtEl>
                                        <p:attrNameLst>
                                          <p:attrName>ppt_x</p:attrName>
                                        </p:attrNameLst>
                                      </p:cBhvr>
                                      <p:tavLst>
                                        <p:tav tm="0">
                                          <p:val>
                                            <p:strVal val="1+#ppt_w/2"/>
                                          </p:val>
                                        </p:tav>
                                        <p:tav tm="100000">
                                          <p:val>
                                            <p:strVal val="#ppt_x"/>
                                          </p:val>
                                        </p:tav>
                                      </p:tavLst>
                                    </p:anim>
                                    <p:anim calcmode="lin" valueType="num">
                                      <p:cBhvr additive="base">
                                        <p:cTn id="16" dur="1000" fill="hold"/>
                                        <p:tgtEl>
                                          <p:spTgt spid="2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1000" fill="hold"/>
                                        <p:tgtEl>
                                          <p:spTgt spid="30"/>
                                        </p:tgtEl>
                                        <p:attrNameLst>
                                          <p:attrName>ppt_x</p:attrName>
                                        </p:attrNameLst>
                                      </p:cBhvr>
                                      <p:tavLst>
                                        <p:tav tm="0">
                                          <p:val>
                                            <p:strVal val="1+#ppt_w/2"/>
                                          </p:val>
                                        </p:tav>
                                        <p:tav tm="100000">
                                          <p:val>
                                            <p:strVal val="#ppt_x"/>
                                          </p:val>
                                        </p:tav>
                                      </p:tavLst>
                                    </p:anim>
                                    <p:anim calcmode="lin" valueType="num">
                                      <p:cBhvr additive="base">
                                        <p:cTn id="20" dur="10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P spid="22"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Rectangle 1"/>
          <p:cNvSpPr/>
          <p:nvPr/>
        </p:nvSpPr>
        <p:spPr>
          <a:xfrm>
            <a:off x="0" y="188595"/>
            <a:ext cx="449834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16" name="object 3"/>
          <p:cNvSpPr txBox="1">
            <a:spLocks noGrp="1"/>
          </p:cNvSpPr>
          <p:nvPr/>
        </p:nvSpPr>
        <p:spPr>
          <a:xfrm>
            <a:off x="109220" y="269240"/>
            <a:ext cx="4279900" cy="318135"/>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神经网络学习</a:t>
            </a: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以手写数字为例</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4" name="内容占位符 3"/>
          <p:cNvPicPr>
            <a:picLocks noChangeAspect="1"/>
          </p:cNvPicPr>
          <p:nvPr>
            <p:ph idx="1"/>
          </p:nvPr>
        </p:nvPicPr>
        <p:blipFill>
          <a:blip r:embed="rId1"/>
          <a:stretch>
            <a:fillRect/>
          </a:stretch>
        </p:blipFill>
        <p:spPr>
          <a:xfrm>
            <a:off x="683260" y="1268730"/>
            <a:ext cx="7571105" cy="4526280"/>
          </a:xfrm>
          <a:prstGeom prst="rect">
            <a:avLst/>
          </a:prstGeom>
        </p:spPr>
      </p:pic>
      <p:sp>
        <p:nvSpPr>
          <p:cNvPr id="45" name="文本框 44"/>
          <p:cNvSpPr txBox="1"/>
          <p:nvPr/>
        </p:nvSpPr>
        <p:spPr>
          <a:xfrm>
            <a:off x="4932045" y="264795"/>
            <a:ext cx="2746375" cy="337185"/>
          </a:xfrm>
          <a:prstGeom prst="rect">
            <a:avLst/>
          </a:prstGeom>
          <a:noFill/>
        </p:spPr>
        <p:txBody>
          <a:bodyPr wrap="none" rtlCol="0" anchor="t">
            <a:spAutoFit/>
          </a:bodyPr>
          <a:p>
            <a:pPr algn="l">
              <a:buClr>
                <a:srgbClr val="C35954"/>
              </a:buClr>
              <a:buSzPct val="120000"/>
              <a:buFont typeface="Arial" panose="020B0604020202020204" pitchFamily="34" charset="0"/>
            </a:pPr>
            <a:r>
              <a:rPr lang="zh-CN" altLang="en-US" sz="1600" b="1">
                <a:solidFill>
                  <a:srgbClr val="C35954"/>
                </a:solidFill>
                <a:latin typeface="微软雅黑" panose="020B0503020204020204" charset="-122"/>
                <a:ea typeface="微软雅黑" panose="020B0503020204020204" charset="-122"/>
                <a:sym typeface="+mn-ea"/>
              </a:rPr>
              <a:t>提问</a:t>
            </a:r>
            <a:r>
              <a:rPr lang="en-US" altLang="zh-CN" sz="1600" b="1">
                <a:solidFill>
                  <a:srgbClr val="C35954"/>
                </a:solidFill>
                <a:latin typeface="微软雅黑" panose="020B0503020204020204" charset="-122"/>
                <a:ea typeface="微软雅黑" panose="020B0503020204020204" charset="-122"/>
                <a:sym typeface="+mn-ea"/>
              </a:rPr>
              <a:t>2</a:t>
            </a:r>
            <a:r>
              <a:rPr lang="zh-CN" altLang="en-US" sz="1600" b="1">
                <a:solidFill>
                  <a:srgbClr val="C35954"/>
                </a:solidFill>
                <a:latin typeface="微软雅黑" panose="020B0503020204020204" charset="-122"/>
                <a:ea typeface="微软雅黑" panose="020B0503020204020204" charset="-122"/>
                <a:sym typeface="+mn-ea"/>
              </a:rPr>
              <a:t>：为什么需要隐藏层？</a:t>
            </a:r>
            <a:endParaRPr lang="zh-CN" altLang="en-US" sz="1600" b="1">
              <a:solidFill>
                <a:srgbClr val="C35954"/>
              </a:solidFill>
              <a:latin typeface="微软雅黑" panose="020B0503020204020204" charset="-122"/>
              <a:ea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rotWithShape="1">
          <a:blip r:embed="rId1">
            <a:extLst>
              <a:ext uri="{28A0092B-C50C-407E-A947-70E740481C1C}">
                <a14:useLocalDpi xmlns:a14="http://schemas.microsoft.com/office/drawing/2010/main" val="0"/>
              </a:ext>
            </a:extLst>
          </a:blip>
          <a:srcRect t="-9357" r="1755" b="21301"/>
          <a:stretch>
            <a:fillRect/>
          </a:stretch>
        </p:blipFill>
        <p:spPr>
          <a:xfrm flipH="1">
            <a:off x="107950" y="2301875"/>
            <a:ext cx="9037320" cy="4556125"/>
          </a:xfrm>
          <a:prstGeom prst="rect">
            <a:avLst/>
          </a:prstGeom>
        </p:spPr>
      </p:pic>
      <p:sp>
        <p:nvSpPr>
          <p:cNvPr id="7" name="灯片编号占位符 6"/>
          <p:cNvSpPr>
            <a:spLocks noGrp="1"/>
          </p:cNvSpPr>
          <p:nvPr>
            <p:ph type="sldNum" sz="quarter" idx="7"/>
          </p:nvPr>
        </p:nvSpPr>
        <p:spPr/>
        <p:txBody>
          <a:bodyPr/>
          <a:p>
            <a:fld id="{B6F15528-21DE-4FAA-801E-634DDDAF4B2B}" type="slidenum">
              <a:rPr sz="1050">
                <a:solidFill>
                  <a:schemeClr val="bg1"/>
                </a:solidFill>
              </a:rPr>
            </a:fld>
            <a:endParaRPr sz="1050">
              <a:solidFill>
                <a:schemeClr val="bg1"/>
              </a:solidFill>
            </a:endParaRPr>
          </a:p>
        </p:txBody>
      </p:sp>
      <p:sp>
        <p:nvSpPr>
          <p:cNvPr id="6" name="文本框 1"/>
          <p:cNvSpPr txBox="1"/>
          <p:nvPr/>
        </p:nvSpPr>
        <p:spPr>
          <a:xfrm>
            <a:off x="1115695" y="980440"/>
            <a:ext cx="7926070" cy="1476375"/>
          </a:xfrm>
          <a:prstGeom prst="rect">
            <a:avLst/>
          </a:prstGeom>
          <a:noFill/>
          <a:ln w="9525">
            <a:noFill/>
          </a:ln>
        </p:spPr>
        <p:txBody>
          <a:bodyPr wrap="square" anchor="t" anchorCtr="0">
            <a:spAutoFit/>
          </a:bodyPr>
          <a:p>
            <a:pPr marL="285750" indent="-285750">
              <a:buFont typeface="Arial" panose="020B0604020202020204" pitchFamily="34" charset="0"/>
              <a:buChar char="•"/>
            </a:pPr>
            <a:r>
              <a:rPr>
                <a:solidFill>
                  <a:schemeClr val="bg1"/>
                </a:solidFill>
                <a:latin typeface="微软雅黑" panose="020B0503020204020204" charset="-122"/>
                <a:ea typeface="微软雅黑" panose="020B0503020204020204" charset="-122"/>
                <a:cs typeface="微软雅黑" panose="020B0503020204020204" charset="-122"/>
              </a:rPr>
              <a:t>【官方双语】深度学习之神经网络的结构 Part 1 </a:t>
            </a:r>
            <a:r>
              <a:rPr lang="en-US" altLang="zh-CN">
                <a:solidFill>
                  <a:schemeClr val="bg1"/>
                </a:solidFill>
                <a:latin typeface="微软雅黑" panose="020B0503020204020204" charset="-122"/>
                <a:ea typeface="微软雅黑" panose="020B0503020204020204" charset="-122"/>
                <a:cs typeface="微软雅黑" panose="020B0503020204020204" charset="-122"/>
              </a:rPr>
              <a:t>   </a:t>
            </a:r>
            <a:r>
              <a:rPr lang="zh-CN" altLang="en-US">
                <a:solidFill>
                  <a:schemeClr val="bg1"/>
                </a:solidFill>
                <a:latin typeface="微软雅黑" panose="020B0503020204020204" charset="-122"/>
                <a:ea typeface="微软雅黑" panose="020B0503020204020204" charset="-122"/>
                <a:sym typeface="+mn-ea"/>
              </a:rPr>
              <a:t>👍</a:t>
            </a:r>
            <a:r>
              <a:rPr lang="en-US" altLang="zh-CN">
                <a:solidFill>
                  <a:schemeClr val="bg1"/>
                </a:solidFill>
                <a:latin typeface="微软雅黑" panose="020B0503020204020204" charset="-122"/>
                <a:ea typeface="微软雅黑" panose="020B0503020204020204" charset="-122"/>
                <a:sym typeface="+mn-ea"/>
              </a:rPr>
              <a:t> </a:t>
            </a:r>
            <a:r>
              <a:rPr lang="en-US" altLang="zh-CN">
                <a:solidFill>
                  <a:schemeClr val="bg1"/>
                </a:solidFill>
                <a:latin typeface="微软雅黑" panose="020B0503020204020204" charset="-122"/>
                <a:ea typeface="微软雅黑" panose="020B0503020204020204" charset="-122"/>
                <a:cs typeface="微软雅黑" panose="020B0503020204020204" charset="-122"/>
                <a:hlinkClick r:id="rId2" action="ppaction://hlinkfile"/>
              </a:rPr>
              <a:t>传送门</a:t>
            </a:r>
            <a:endParaRPr lang="en-US" altLang="zh-CN">
              <a:solidFill>
                <a:schemeClr val="bg1"/>
              </a:solidFill>
              <a:latin typeface="微软雅黑" panose="020B0503020204020204" charset="-122"/>
              <a:ea typeface="微软雅黑" panose="020B0503020204020204" charset="-122"/>
              <a:cs typeface="微软雅黑" panose="020B0503020204020204" charset="-122"/>
              <a:hlinkClick r:id="rId3" action="ppaction://hlinkfile"/>
            </a:endParaRPr>
          </a:p>
          <a:p>
            <a:pPr marL="285750" indent="-285750">
              <a:buFont typeface="Arial" panose="020B0604020202020204" pitchFamily="34" charset="0"/>
              <a:buChar char="•"/>
            </a:pP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a:solidFill>
                  <a:schemeClr val="bg1"/>
                </a:solidFill>
                <a:latin typeface="微软雅黑" panose="020B0503020204020204" charset="-122"/>
                <a:ea typeface="微软雅黑" panose="020B0503020204020204" charset="-122"/>
                <a:cs typeface="微软雅黑" panose="020B0503020204020204" charset="-122"/>
                <a:sym typeface="+mn-ea"/>
              </a:rPr>
              <a:t>【官方双语】深度学习之梯度下降法 Part 2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a:solidFill>
                  <a:schemeClr val="bg1"/>
                </a:solidFill>
                <a:latin typeface="微软雅黑" panose="020B0503020204020204" charset="-122"/>
                <a:ea typeface="微软雅黑" panose="020B0503020204020204" charset="-122"/>
                <a:sym typeface="+mn-ea"/>
              </a:rPr>
              <a:t>👍</a:t>
            </a:r>
            <a:r>
              <a:rPr lang="en-US" altLang="zh-CN">
                <a:solidFill>
                  <a:schemeClr val="bg1"/>
                </a:solidFill>
                <a:latin typeface="微软雅黑" panose="020B0503020204020204" charset="-122"/>
                <a:ea typeface="微软雅黑" panose="020B0503020204020204" charset="-122"/>
                <a:sym typeface="+mn-ea"/>
              </a:rPr>
              <a:t>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2" action="ppaction://hlinkfile"/>
              </a:rPr>
              <a:t>传送门</a:t>
            </a:r>
            <a:endParaRPr lang="en-US" altLang="zh-CN">
              <a:solidFill>
                <a:schemeClr val="bg1"/>
              </a:solidFill>
              <a:latin typeface="微软雅黑" panose="020B0503020204020204" charset="-122"/>
              <a:ea typeface="微软雅黑" panose="020B0503020204020204" charset="-122"/>
              <a:cs typeface="微软雅黑" panose="020B0503020204020204" charset="-122"/>
              <a:hlinkClick r:id="rId3" action="ppaction://hlinkfile"/>
            </a:endParaRPr>
          </a:p>
          <a:p>
            <a:pPr marL="285750" indent="-285750">
              <a:buFont typeface="Arial" panose="020B0604020202020204" pitchFamily="34" charset="0"/>
              <a:buChar char="•"/>
            </a:pP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r>
              <a:rPr>
                <a:solidFill>
                  <a:schemeClr val="bg1"/>
                </a:solidFill>
                <a:latin typeface="微软雅黑" panose="020B0503020204020204" charset="-122"/>
                <a:ea typeface="微软雅黑" panose="020B0503020204020204" charset="-122"/>
                <a:cs typeface="微软雅黑" panose="020B0503020204020204" charset="-122"/>
                <a:sym typeface="+mn-ea"/>
              </a:rPr>
              <a:t>【官方双语】深度学习之反向传播算法 上/下 Part 3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a:solidFill>
                  <a:schemeClr val="bg1"/>
                </a:solidFill>
                <a:latin typeface="微软雅黑" panose="020B0503020204020204" charset="-122"/>
                <a:ea typeface="微软雅黑" panose="020B0503020204020204" charset="-122"/>
                <a:sym typeface="+mn-ea"/>
              </a:rPr>
              <a:t>👍</a:t>
            </a:r>
            <a:r>
              <a:rPr lang="en-US" altLang="zh-CN">
                <a:solidFill>
                  <a:schemeClr val="bg1"/>
                </a:solidFill>
                <a:latin typeface="微软雅黑" panose="020B0503020204020204" charset="-122"/>
                <a:ea typeface="微软雅黑" panose="020B0503020204020204" charset="-122"/>
                <a:sym typeface="+mn-ea"/>
              </a:rPr>
              <a:t>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4" action="ppaction://hlinkfile"/>
              </a:rPr>
              <a:t>传送门</a:t>
            </a: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5" action="ppaction://hlinkfile"/>
            </a:endParaRPr>
          </a:p>
        </p:txBody>
      </p:sp>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神经网络基础巩固</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6"/>
          <a:stretch>
            <a:fillRect/>
          </a:stretch>
        </p:blipFill>
        <p:spPr>
          <a:xfrm>
            <a:off x="1619885" y="2708910"/>
            <a:ext cx="5519420" cy="2620010"/>
          </a:xfrm>
          <a:prstGeom prst="rect">
            <a:avLst/>
          </a:prstGeom>
        </p:spPr>
      </p:pic>
      <p:sp>
        <p:nvSpPr>
          <p:cNvPr id="3" name="文本框 2"/>
          <p:cNvSpPr txBox="1"/>
          <p:nvPr/>
        </p:nvSpPr>
        <p:spPr>
          <a:xfrm>
            <a:off x="7139305" y="2708910"/>
            <a:ext cx="1165225" cy="368300"/>
          </a:xfrm>
          <a:prstGeom prst="rect">
            <a:avLst/>
          </a:prstGeom>
          <a:noFill/>
        </p:spPr>
        <p:txBody>
          <a:bodyPr wrap="none" rtlCol="0">
            <a:spAutoFit/>
          </a:bodyPr>
          <a:p>
            <a:pPr algn="l"/>
            <a:r>
              <a:rPr lang="zh-CN" altLang="en-US">
                <a:solidFill>
                  <a:schemeClr val="bg1"/>
                </a:solidFill>
                <a:latin typeface="微软雅黑" panose="020B0503020204020204" charset="-122"/>
                <a:ea typeface="微软雅黑" panose="020B0503020204020204" charset="-122"/>
                <a:sym typeface="+mn-ea"/>
              </a:rPr>
              <a:t>👍</a:t>
            </a:r>
            <a:r>
              <a:rPr lang="en-US" altLang="zh-CN">
                <a:solidFill>
                  <a:schemeClr val="bg1"/>
                </a:solidFill>
                <a:latin typeface="微软雅黑" panose="020B0503020204020204" charset="-122"/>
                <a:ea typeface="微软雅黑" panose="020B0503020204020204" charset="-122"/>
                <a:sym typeface="+mn-ea"/>
              </a:rPr>
              <a:t>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7" action="ppaction://hlinkfile"/>
              </a:rPr>
              <a:t>传送门</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7"/>
          </p:nvPr>
        </p:nvSpPr>
        <p:spPr/>
        <p:txBody>
          <a:bodyPr/>
          <a:p>
            <a:fld id="{B6F15528-21DE-4FAA-801E-634DDDAF4B2B}" type="slidenum">
              <a:rPr sz="1050">
                <a:solidFill>
                  <a:schemeClr val="bg1"/>
                </a:solidFill>
              </a:rPr>
            </a:fld>
            <a:endParaRPr sz="1050">
              <a:solidFill>
                <a:schemeClr val="bg1"/>
              </a:solidFill>
            </a:endParaRPr>
          </a:p>
        </p:txBody>
      </p:sp>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558"/>
            <a:ext cx="2366010"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全连接网络的局限性</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95605" y="1124585"/>
            <a:ext cx="6428105" cy="645160"/>
          </a:xfrm>
          <a:prstGeom prst="rect">
            <a:avLst/>
          </a:prstGeom>
          <a:noFill/>
        </p:spPr>
        <p:txBody>
          <a:bodyPr wrap="square" rtlCol="0" anchor="t">
            <a:spAutoFit/>
          </a:bodyPr>
          <a:p>
            <a:r>
              <a:rPr lang="zh-CN" altLang="en-US">
                <a:solidFill>
                  <a:schemeClr val="bg1"/>
                </a:solidFill>
                <a:latin typeface="微软雅黑" panose="020B0503020204020204" charset="-122"/>
                <a:ea typeface="微软雅黑" panose="020B0503020204020204" charset="-122"/>
                <a:cs typeface="微软雅黑" panose="020B0503020204020204" charset="-122"/>
              </a:rPr>
              <a:t>对于MNIST 手写数字识别，假如第一个隐层的节</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r>
              <a:rPr lang="zh-CN" altLang="en-US">
                <a:solidFill>
                  <a:schemeClr val="bg1"/>
                </a:solidFill>
                <a:latin typeface="微软雅黑" panose="020B0503020204020204" charset="-122"/>
                <a:ea typeface="微软雅黑" panose="020B0503020204020204" charset="-122"/>
                <a:cs typeface="微软雅黑" panose="020B0503020204020204" charset="-122"/>
              </a:rPr>
              <a:t>点数为500，那么一个全连接层的参数个数为：</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043940" y="1916430"/>
            <a:ext cx="3488055" cy="368300"/>
          </a:xfrm>
          <a:prstGeom prst="rect">
            <a:avLst/>
          </a:prstGeom>
          <a:noFill/>
        </p:spPr>
        <p:txBody>
          <a:bodyPr wrap="square" rtlCol="0" anchor="t">
            <a:spAutoFit/>
          </a:bodyPr>
          <a:p>
            <a:r>
              <a:rPr lang="zh-CN" altLang="en-US" sz="1800">
                <a:solidFill>
                  <a:schemeClr val="bg1"/>
                </a:solidFill>
                <a:latin typeface="微软雅黑" panose="020B0503020204020204" charset="-122"/>
                <a:ea typeface="微软雅黑" panose="020B0503020204020204" charset="-122"/>
                <a:cs typeface="微软雅黑" panose="020B0503020204020204" charset="-122"/>
              </a:rPr>
              <a:t>28×28×1×500+500 ≈ 40万；</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1" name="Picture 3"/>
          <p:cNvPicPr>
            <a:picLocks noChangeAspect="1"/>
          </p:cNvPicPr>
          <p:nvPr/>
        </p:nvPicPr>
        <p:blipFill rotWithShape="1">
          <a:blip r:embed="rId1" cstate="print">
            <a:extLst>
              <a:ext uri="{28A0092B-C50C-407E-A947-70E740481C1C}">
                <a14:useLocalDpi xmlns:a14="http://schemas.microsoft.com/office/drawing/2010/main" val="0"/>
              </a:ext>
            </a:extLst>
          </a:blip>
          <a:srcRect l="23646" t="3889" r="23646" b="3889"/>
          <a:stretch>
            <a:fillRect/>
          </a:stretch>
        </p:blipFill>
        <p:spPr>
          <a:xfrm>
            <a:off x="691515" y="1926590"/>
            <a:ext cx="352425" cy="347980"/>
          </a:xfrm>
          <a:prstGeom prst="rect">
            <a:avLst/>
          </a:prstGeom>
        </p:spPr>
      </p:pic>
      <p:sp>
        <p:nvSpPr>
          <p:cNvPr id="8" name="文本框 7"/>
          <p:cNvSpPr txBox="1"/>
          <p:nvPr/>
        </p:nvSpPr>
        <p:spPr>
          <a:xfrm>
            <a:off x="539750" y="2853055"/>
            <a:ext cx="4904740" cy="922020"/>
          </a:xfrm>
          <a:prstGeom prst="rect">
            <a:avLst/>
          </a:prstGeom>
          <a:noFill/>
        </p:spPr>
        <p:txBody>
          <a:bodyPr wrap="square" rtlCol="0" anchor="t">
            <a:spAutoFit/>
          </a:bodyPr>
          <a:p>
            <a:r>
              <a:rPr lang="zh-CN" altLang="en-US" sz="1800">
                <a:solidFill>
                  <a:schemeClr val="bg1"/>
                </a:solidFill>
                <a:latin typeface="微软雅黑" panose="020B0503020204020204" charset="-122"/>
                <a:ea typeface="微软雅黑" panose="020B0503020204020204" charset="-122"/>
                <a:cs typeface="微软雅黑" panose="020B0503020204020204" charset="-122"/>
              </a:rPr>
              <a:t>当图片更大时，比如CIFAR数据集中，图片大小为</a:t>
            </a:r>
            <a:r>
              <a:rPr lang="en-US" altLang="zh-CN" sz="18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800">
                <a:solidFill>
                  <a:schemeClr val="bg1"/>
                </a:solidFill>
                <a:latin typeface="微软雅黑" panose="020B0503020204020204" charset="-122"/>
                <a:ea typeface="微软雅黑" panose="020B0503020204020204" charset="-122"/>
                <a:cs typeface="微软雅黑" panose="020B0503020204020204" charset="-122"/>
              </a:rPr>
              <a:t>32×32×3，此时全连接层的参数有：</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1115695" y="3613150"/>
            <a:ext cx="4079240" cy="368300"/>
          </a:xfrm>
          <a:prstGeom prst="rect">
            <a:avLst/>
          </a:prstGeom>
          <a:noFill/>
        </p:spPr>
        <p:txBody>
          <a:bodyPr wrap="square" rtlCol="0" anchor="t">
            <a:spAutoFit/>
          </a:bodyPr>
          <a:p>
            <a:r>
              <a:rPr lang="zh-CN" altLang="en-US" sz="1800">
                <a:solidFill>
                  <a:schemeClr val="bg1"/>
                </a:solidFill>
                <a:latin typeface="微软雅黑" panose="020B0503020204020204" charset="-122"/>
                <a:ea typeface="微软雅黑" panose="020B0503020204020204" charset="-122"/>
                <a:cs typeface="微软雅黑" panose="020B0503020204020204" charset="-122"/>
              </a:rPr>
              <a:t>32×32×3×500+500 ≈ 150万</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2" name="Picture 3"/>
          <p:cNvPicPr>
            <a:picLocks noChangeAspect="1"/>
          </p:cNvPicPr>
          <p:nvPr/>
        </p:nvPicPr>
        <p:blipFill rotWithShape="1">
          <a:blip r:embed="rId1" cstate="print">
            <a:extLst>
              <a:ext uri="{28A0092B-C50C-407E-A947-70E740481C1C}">
                <a14:useLocalDpi xmlns:a14="http://schemas.microsoft.com/office/drawing/2010/main" val="0"/>
              </a:ext>
            </a:extLst>
          </a:blip>
          <a:srcRect l="23646" t="3889" r="23646" b="3889"/>
          <a:stretch>
            <a:fillRect/>
          </a:stretch>
        </p:blipFill>
        <p:spPr>
          <a:xfrm>
            <a:off x="691515" y="3613150"/>
            <a:ext cx="352425" cy="347980"/>
          </a:xfrm>
          <a:prstGeom prst="rect">
            <a:avLst/>
          </a:prstGeom>
        </p:spPr>
      </p:pic>
      <p:pic>
        <p:nvPicPr>
          <p:cNvPr id="14" name="图片 13"/>
          <p:cNvPicPr>
            <a:picLocks noChangeAspect="1"/>
          </p:cNvPicPr>
          <p:nvPr/>
        </p:nvPicPr>
        <p:blipFill>
          <a:blip r:embed="rId2"/>
          <a:stretch>
            <a:fillRect/>
          </a:stretch>
        </p:blipFill>
        <p:spPr>
          <a:xfrm>
            <a:off x="5579745" y="1268730"/>
            <a:ext cx="3397250" cy="27127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par>
                                <p:cTn id="8" presetID="3"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7"/>
          </p:nvPr>
        </p:nvSpPr>
        <p:spPr/>
        <p:txBody>
          <a:bodyPr/>
          <a:p>
            <a:fld id="{B6F15528-21DE-4FAA-801E-634DDDAF4B2B}" type="slidenum">
              <a:rPr sz="1050">
                <a:solidFill>
                  <a:schemeClr val="bg1"/>
                </a:solidFill>
              </a:rPr>
            </a:fld>
            <a:endParaRPr sz="1050">
              <a:solidFill>
                <a:schemeClr val="bg1"/>
              </a:solidFill>
            </a:endParaRPr>
          </a:p>
        </p:txBody>
      </p:sp>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558"/>
            <a:ext cx="2366010"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全连接网络的局限性</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94970" y="1124585"/>
            <a:ext cx="6428105" cy="922020"/>
          </a:xfrm>
          <a:prstGeom prst="rect">
            <a:avLst/>
          </a:prstGeom>
          <a:noFill/>
        </p:spPr>
        <p:txBody>
          <a:bodyPr wrap="square" rtlCol="0" anchor="t">
            <a:spAutoFit/>
          </a:bodyPr>
          <a:p>
            <a:r>
              <a:rPr lang="zh-CN" altLang="en-US">
                <a:solidFill>
                  <a:schemeClr val="bg1"/>
                </a:solidFill>
                <a:latin typeface="微软雅黑" panose="020B0503020204020204" charset="-122"/>
                <a:ea typeface="微软雅黑" panose="020B0503020204020204" charset="-122"/>
                <a:cs typeface="微软雅黑" panose="020B0503020204020204" charset="-122"/>
              </a:rPr>
              <a:t>当图片分辨率进一步提高时，当隐层数量增加时，</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r>
              <a:rPr lang="zh-CN" altLang="en-US">
                <a:solidFill>
                  <a:schemeClr val="bg1"/>
                </a:solidFill>
                <a:latin typeface="微软雅黑" panose="020B0503020204020204" charset="-122"/>
                <a:ea typeface="微软雅黑" panose="020B0503020204020204" charset="-122"/>
                <a:cs typeface="微软雅黑" panose="020B0503020204020204" charset="-122"/>
              </a:rPr>
              <a:t>例如：600 x 600 图像，各隐层节点数分别为</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r>
              <a:rPr lang="zh-CN" altLang="en-US">
                <a:solidFill>
                  <a:schemeClr val="bg1"/>
                </a:solidFill>
                <a:latin typeface="微软雅黑" panose="020B0503020204020204" charset="-122"/>
                <a:ea typeface="微软雅黑" panose="020B0503020204020204" charset="-122"/>
                <a:cs typeface="微软雅黑" panose="020B0503020204020204" charset="-122"/>
              </a:rPr>
              <a:t>300,200和100，则参数个数为：</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045210" y="2060575"/>
            <a:ext cx="4533265" cy="645160"/>
          </a:xfrm>
          <a:prstGeom prst="rect">
            <a:avLst/>
          </a:prstGeom>
          <a:noFill/>
        </p:spPr>
        <p:txBody>
          <a:bodyPr wrap="square" rtlCol="0" anchor="t">
            <a:spAutoFit/>
          </a:bodyPr>
          <a:p>
            <a:r>
              <a:rPr lang="zh-CN" altLang="en-US" sz="1800">
                <a:solidFill>
                  <a:schemeClr val="bg1"/>
                </a:solidFill>
                <a:latin typeface="微软雅黑" panose="020B0503020204020204" charset="-122"/>
                <a:ea typeface="微软雅黑" panose="020B0503020204020204" charset="-122"/>
                <a:cs typeface="微软雅黑" panose="020B0503020204020204" charset="-122"/>
              </a:rPr>
              <a:t>600 x 600 x 300 + 300 x 200 + 200 x 100 ≈ </a:t>
            </a:r>
            <a:r>
              <a:rPr lang="zh-CN" altLang="en-US" sz="1800">
                <a:solidFill>
                  <a:srgbClr val="FF0000"/>
                </a:solidFill>
                <a:latin typeface="微软雅黑" panose="020B0503020204020204" charset="-122"/>
                <a:ea typeface="微软雅黑" panose="020B0503020204020204" charset="-122"/>
                <a:cs typeface="微软雅黑" panose="020B0503020204020204" charset="-122"/>
              </a:rPr>
              <a:t>1.08亿</a:t>
            </a:r>
            <a:endParaRPr lang="zh-CN" altLang="en-US" sz="1800">
              <a:solidFill>
                <a:srgbClr val="FF0000"/>
              </a:solidFill>
              <a:latin typeface="微软雅黑" panose="020B0503020204020204" charset="-122"/>
              <a:ea typeface="微软雅黑" panose="020B0503020204020204" charset="-122"/>
              <a:cs typeface="微软雅黑" panose="020B0503020204020204" charset="-122"/>
            </a:endParaRPr>
          </a:p>
        </p:txBody>
      </p:sp>
      <p:pic>
        <p:nvPicPr>
          <p:cNvPr id="31" name="Picture 3"/>
          <p:cNvPicPr>
            <a:picLocks noChangeAspect="1"/>
          </p:cNvPicPr>
          <p:nvPr/>
        </p:nvPicPr>
        <p:blipFill rotWithShape="1">
          <a:blip r:embed="rId1" cstate="print">
            <a:extLst>
              <a:ext uri="{28A0092B-C50C-407E-A947-70E740481C1C}">
                <a14:useLocalDpi xmlns:a14="http://schemas.microsoft.com/office/drawing/2010/main" val="0"/>
              </a:ext>
            </a:extLst>
          </a:blip>
          <a:srcRect l="23646" t="3889" r="23646" b="3889"/>
          <a:stretch>
            <a:fillRect/>
          </a:stretch>
        </p:blipFill>
        <p:spPr>
          <a:xfrm>
            <a:off x="690880" y="2143125"/>
            <a:ext cx="352425" cy="347980"/>
          </a:xfrm>
          <a:prstGeom prst="rect">
            <a:avLst/>
          </a:prstGeom>
        </p:spPr>
      </p:pic>
      <p:sp>
        <p:nvSpPr>
          <p:cNvPr id="8" name="文本框 7"/>
          <p:cNvSpPr txBox="1"/>
          <p:nvPr/>
        </p:nvSpPr>
        <p:spPr>
          <a:xfrm>
            <a:off x="539750" y="2853055"/>
            <a:ext cx="4904740" cy="675640"/>
          </a:xfrm>
          <a:prstGeom prst="rect">
            <a:avLst/>
          </a:prstGeom>
          <a:noFill/>
        </p:spPr>
        <p:txBody>
          <a:bodyPr wrap="square" rtlCol="0" anchor="t">
            <a:spAutoFit/>
          </a:bodyPr>
          <a:p>
            <a:r>
              <a:rPr lang="zh-CN" altLang="en-US" sz="2000" b="1">
                <a:solidFill>
                  <a:srgbClr val="C35954"/>
                </a:solidFill>
                <a:latin typeface="微软雅黑" panose="020B0503020204020204" charset="-122"/>
                <a:ea typeface="微软雅黑" panose="020B0503020204020204" charset="-122"/>
              </a:rPr>
              <a:t>当参数增多会导致：</a:t>
            </a:r>
            <a:endParaRPr sz="18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1045210" y="3429000"/>
            <a:ext cx="4079240" cy="922020"/>
          </a:xfrm>
          <a:prstGeom prst="rect">
            <a:avLst/>
          </a:prstGeom>
          <a:noFill/>
        </p:spPr>
        <p:txBody>
          <a:bodyPr wrap="square" rtlCol="0" anchor="t">
            <a:spAutoFit/>
          </a:bodyPr>
          <a:p>
            <a:r>
              <a:rPr lang="zh-CN" altLang="en-US" sz="1800">
                <a:solidFill>
                  <a:schemeClr val="bg1"/>
                </a:solidFill>
                <a:latin typeface="微软雅黑" panose="020B0503020204020204" charset="-122"/>
                <a:ea typeface="微软雅黑" panose="020B0503020204020204" charset="-122"/>
                <a:cs typeface="微软雅黑" panose="020B0503020204020204" charset="-122"/>
              </a:rPr>
              <a:t>计算速度减慢</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a:p>
            <a:r>
              <a:rPr lang="en-US" altLang="zh-CN" sz="18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800">
                <a:solidFill>
                  <a:schemeClr val="bg1"/>
                </a:solidFill>
                <a:latin typeface="微软雅黑" panose="020B0503020204020204" charset="-122"/>
                <a:ea typeface="微软雅黑" panose="020B0503020204020204" charset="-122"/>
                <a:cs typeface="微软雅黑" panose="020B0503020204020204" charset="-122"/>
              </a:rPr>
              <a:t>过拟合</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2" name="Picture 3"/>
          <p:cNvPicPr>
            <a:picLocks noChangeAspect="1"/>
          </p:cNvPicPr>
          <p:nvPr/>
        </p:nvPicPr>
        <p:blipFill rotWithShape="1">
          <a:blip r:embed="rId1" cstate="print">
            <a:extLst>
              <a:ext uri="{28A0092B-C50C-407E-A947-70E740481C1C}">
                <a14:useLocalDpi xmlns:a14="http://schemas.microsoft.com/office/drawing/2010/main" val="0"/>
              </a:ext>
            </a:extLst>
          </a:blip>
          <a:srcRect l="23646" t="3889" r="23646" b="3889"/>
          <a:stretch>
            <a:fillRect/>
          </a:stretch>
        </p:blipFill>
        <p:spPr>
          <a:xfrm>
            <a:off x="827405" y="3500755"/>
            <a:ext cx="250825" cy="248285"/>
          </a:xfrm>
          <a:prstGeom prst="rect">
            <a:avLst/>
          </a:prstGeom>
        </p:spPr>
      </p:pic>
      <p:pic>
        <p:nvPicPr>
          <p:cNvPr id="2" name="Picture 3"/>
          <p:cNvPicPr>
            <a:picLocks noChangeAspect="1"/>
          </p:cNvPicPr>
          <p:nvPr/>
        </p:nvPicPr>
        <p:blipFill rotWithShape="1">
          <a:blip r:embed="rId1" cstate="print">
            <a:extLst>
              <a:ext uri="{28A0092B-C50C-407E-A947-70E740481C1C}">
                <a14:useLocalDpi xmlns:a14="http://schemas.microsoft.com/office/drawing/2010/main" val="0"/>
              </a:ext>
            </a:extLst>
          </a:blip>
          <a:srcRect l="23646" t="3889" r="23646" b="3889"/>
          <a:stretch>
            <a:fillRect/>
          </a:stretch>
        </p:blipFill>
        <p:spPr>
          <a:xfrm>
            <a:off x="839470" y="4046220"/>
            <a:ext cx="238760" cy="236220"/>
          </a:xfrm>
          <a:prstGeom prst="rect">
            <a:avLst/>
          </a:prstGeom>
        </p:spPr>
      </p:pic>
      <p:pic>
        <p:nvPicPr>
          <p:cNvPr id="3" name="图片 2"/>
          <p:cNvPicPr>
            <a:picLocks noChangeAspect="1"/>
          </p:cNvPicPr>
          <p:nvPr/>
        </p:nvPicPr>
        <p:blipFill>
          <a:blip r:embed="rId2"/>
          <a:stretch>
            <a:fillRect/>
          </a:stretch>
        </p:blipFill>
        <p:spPr>
          <a:xfrm>
            <a:off x="4026535" y="2754630"/>
            <a:ext cx="4660265" cy="25450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par>
                                <p:cTn id="8" presetID="3"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par>
                                <p:cTn id="11" presetID="3"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7"/>
          </p:nvPr>
        </p:nvSpPr>
        <p:spPr/>
        <p:txBody>
          <a:bodyPr/>
          <a:p>
            <a:fld id="{B6F15528-21DE-4FAA-801E-634DDDAF4B2B}" type="slidenum">
              <a:rPr sz="1050">
                <a:solidFill>
                  <a:schemeClr val="bg1"/>
                </a:solidFill>
              </a:rPr>
            </a:fld>
            <a:endParaRPr sz="1050">
              <a:solidFill>
                <a:schemeClr val="bg1"/>
              </a:solidFill>
            </a:endParaRPr>
          </a:p>
        </p:txBody>
      </p:sp>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558"/>
            <a:ext cx="2366010"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卷积神经网络结构</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394970" y="1124585"/>
            <a:ext cx="8099425" cy="2030095"/>
          </a:xfrm>
          <a:prstGeom prst="rect">
            <a:avLst/>
          </a:prstGeom>
          <a:noFill/>
        </p:spPr>
        <p:txBody>
          <a:bodyPr wrap="square" rtlCol="0" anchor="t">
            <a:spAutoFit/>
          </a:bodyPr>
          <a:p>
            <a:r>
              <a:rPr lang="en-US" altLang="zh-CN">
                <a:solidFill>
                  <a:schemeClr val="bg1"/>
                </a:solidFill>
                <a:latin typeface="微软雅黑" panose="020B0503020204020204" charset="-122"/>
                <a:ea typeface="微软雅黑" panose="020B0503020204020204" charset="-122"/>
                <a:cs typeface="微软雅黑" panose="020B0503020204020204" charset="-122"/>
              </a:rPr>
              <a:t>     </a:t>
            </a:r>
            <a:r>
              <a:rPr lang="zh-CN" altLang="en-US">
                <a:solidFill>
                  <a:schemeClr val="bg1"/>
                </a:solidFill>
                <a:latin typeface="微软雅黑" panose="020B0503020204020204" charset="-122"/>
                <a:ea typeface="微软雅黑" panose="020B0503020204020204" charset="-122"/>
                <a:cs typeface="微软雅黑" panose="020B0503020204020204" charset="-122"/>
              </a:rPr>
              <a:t>输入层：将每个像素代表一个特征节点输入到网络中。</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卷积层：卷积运算的主要目的是使原信号特征增强，并降低噪音。</a:t>
            </a:r>
            <a:endParaRPr lang="zh-CN" altLang="en-US">
              <a:solidFill>
                <a:schemeClr val="bg1"/>
              </a:solidFill>
              <a:latin typeface="微软雅黑" panose="020B0503020204020204" charset="-122"/>
              <a:ea typeface="微软雅黑" panose="020B0503020204020204" charset="-122"/>
              <a:cs typeface="微软雅黑" panose="020B0503020204020204" charset="-122"/>
              <a:sym typeface="+mn-ea"/>
            </a:endParaRPr>
          </a:p>
          <a:p>
            <a:endParaRPr lang="zh-CN" altLang="en-US">
              <a:solidFill>
                <a:schemeClr val="bg1"/>
              </a:solidFill>
              <a:latin typeface="微软雅黑" panose="020B0503020204020204" charset="-122"/>
              <a:ea typeface="微软雅黑" panose="020B0503020204020204" charset="-122"/>
              <a:cs typeface="微软雅黑" panose="020B0503020204020204" charset="-122"/>
              <a:sym typeface="+mn-ea"/>
            </a:endParaRPr>
          </a:p>
          <a:p>
            <a:r>
              <a:rPr lang="en-US" altLang="zh-CN">
                <a:solidFill>
                  <a:schemeClr val="bg1"/>
                </a:solidFill>
                <a:latin typeface="微软雅黑" panose="020B0503020204020204" charset="-122"/>
                <a:ea typeface="微软雅黑" panose="020B0503020204020204" charset="-122"/>
                <a:cs typeface="微软雅黑" panose="020B0503020204020204" charset="-122"/>
              </a:rPr>
              <a:t>     </a:t>
            </a:r>
            <a:r>
              <a:rPr lang="zh-CN" altLang="en-US">
                <a:solidFill>
                  <a:schemeClr val="bg1"/>
                </a:solidFill>
                <a:latin typeface="微软雅黑" panose="020B0503020204020204" charset="-122"/>
                <a:ea typeface="微软雅黑" panose="020B0503020204020204" charset="-122"/>
                <a:cs typeface="微软雅黑" panose="020B0503020204020204" charset="-122"/>
              </a:rPr>
              <a:t>降采样层：降低网络训练参数及模型的过拟合程度。</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r>
              <a:rPr lang="en-US" altLang="zh-CN">
                <a:solidFill>
                  <a:schemeClr val="bg1"/>
                </a:solidFill>
                <a:latin typeface="微软雅黑" panose="020B0503020204020204" charset="-122"/>
                <a:ea typeface="微软雅黑" panose="020B0503020204020204" charset="-122"/>
                <a:cs typeface="微软雅黑" panose="020B0503020204020204" charset="-122"/>
              </a:rPr>
              <a:t>      </a:t>
            </a:r>
            <a:r>
              <a:rPr lang="zh-CN" altLang="en-US">
                <a:solidFill>
                  <a:schemeClr val="bg1"/>
                </a:solidFill>
                <a:latin typeface="微软雅黑" panose="020B0503020204020204" charset="-122"/>
                <a:ea typeface="微软雅黑" panose="020B0503020204020204" charset="-122"/>
                <a:cs typeface="微软雅黑" panose="020B0503020204020204" charset="-122"/>
              </a:rPr>
              <a:t>全连接层：对生成的特征进行加权。</a:t>
            </a: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1" name="Picture 3"/>
          <p:cNvPicPr>
            <a:picLocks noChangeAspect="1"/>
          </p:cNvPicPr>
          <p:nvPr/>
        </p:nvPicPr>
        <p:blipFill rotWithShape="1">
          <a:blip r:embed="rId1" cstate="print">
            <a:extLst>
              <a:ext uri="{28A0092B-C50C-407E-A947-70E740481C1C}">
                <a14:useLocalDpi xmlns:a14="http://schemas.microsoft.com/office/drawing/2010/main" val="0"/>
              </a:ext>
            </a:extLst>
          </a:blip>
          <a:srcRect l="23646" t="3889" r="23646" b="3889"/>
          <a:stretch>
            <a:fillRect/>
          </a:stretch>
        </p:blipFill>
        <p:spPr>
          <a:xfrm>
            <a:off x="539750" y="1196340"/>
            <a:ext cx="239395" cy="236220"/>
          </a:xfrm>
          <a:prstGeom prst="rect">
            <a:avLst/>
          </a:prstGeom>
        </p:spPr>
      </p:pic>
      <p:pic>
        <p:nvPicPr>
          <p:cNvPr id="2" name="Picture 3"/>
          <p:cNvPicPr>
            <a:picLocks noChangeAspect="1"/>
          </p:cNvPicPr>
          <p:nvPr/>
        </p:nvPicPr>
        <p:blipFill rotWithShape="1">
          <a:blip r:embed="rId1" cstate="print">
            <a:extLst>
              <a:ext uri="{28A0092B-C50C-407E-A947-70E740481C1C}">
                <a14:useLocalDpi xmlns:a14="http://schemas.microsoft.com/office/drawing/2010/main" val="0"/>
              </a:ext>
            </a:extLst>
          </a:blip>
          <a:srcRect l="23646" t="3889" r="23646" b="3889"/>
          <a:stretch>
            <a:fillRect/>
          </a:stretch>
        </p:blipFill>
        <p:spPr>
          <a:xfrm>
            <a:off x="540385" y="1700530"/>
            <a:ext cx="238760" cy="236220"/>
          </a:xfrm>
          <a:prstGeom prst="rect">
            <a:avLst/>
          </a:prstGeom>
        </p:spPr>
      </p:pic>
      <p:pic>
        <p:nvPicPr>
          <p:cNvPr id="6" name="Picture 3"/>
          <p:cNvPicPr>
            <a:picLocks noChangeAspect="1"/>
          </p:cNvPicPr>
          <p:nvPr/>
        </p:nvPicPr>
        <p:blipFill rotWithShape="1">
          <a:blip r:embed="rId1" cstate="print">
            <a:extLst>
              <a:ext uri="{28A0092B-C50C-407E-A947-70E740481C1C}">
                <a14:useLocalDpi xmlns:a14="http://schemas.microsoft.com/office/drawing/2010/main" val="0"/>
              </a:ext>
            </a:extLst>
          </a:blip>
          <a:srcRect l="23646" t="3889" r="23646" b="3889"/>
          <a:stretch>
            <a:fillRect/>
          </a:stretch>
        </p:blipFill>
        <p:spPr>
          <a:xfrm>
            <a:off x="540385" y="2276475"/>
            <a:ext cx="238760" cy="236220"/>
          </a:xfrm>
          <a:prstGeom prst="rect">
            <a:avLst/>
          </a:prstGeom>
        </p:spPr>
      </p:pic>
      <p:pic>
        <p:nvPicPr>
          <p:cNvPr id="13" name="Picture 3"/>
          <p:cNvPicPr>
            <a:picLocks noChangeAspect="1"/>
          </p:cNvPicPr>
          <p:nvPr/>
        </p:nvPicPr>
        <p:blipFill rotWithShape="1">
          <a:blip r:embed="rId1" cstate="print">
            <a:extLst>
              <a:ext uri="{28A0092B-C50C-407E-A947-70E740481C1C}">
                <a14:useLocalDpi xmlns:a14="http://schemas.microsoft.com/office/drawing/2010/main" val="0"/>
              </a:ext>
            </a:extLst>
          </a:blip>
          <a:srcRect l="23646" t="3889" r="23646" b="3889"/>
          <a:stretch>
            <a:fillRect/>
          </a:stretch>
        </p:blipFill>
        <p:spPr>
          <a:xfrm>
            <a:off x="539750" y="2852420"/>
            <a:ext cx="238760" cy="236220"/>
          </a:xfrm>
          <a:prstGeom prst="rect">
            <a:avLst/>
          </a:prstGeom>
        </p:spPr>
      </p:pic>
      <p:pic>
        <p:nvPicPr>
          <p:cNvPr id="14" name="图片 13"/>
          <p:cNvPicPr>
            <a:picLocks noChangeAspect="1"/>
          </p:cNvPicPr>
          <p:nvPr/>
        </p:nvPicPr>
        <p:blipFill>
          <a:blip r:embed="rId2"/>
          <a:stretch>
            <a:fillRect/>
          </a:stretch>
        </p:blipFill>
        <p:spPr>
          <a:xfrm>
            <a:off x="899795" y="3284855"/>
            <a:ext cx="6659245" cy="3020060"/>
          </a:xfrm>
          <a:prstGeom prst="rect">
            <a:avLst/>
          </a:prstGeom>
        </p:spPr>
      </p:pic>
      <p:sp>
        <p:nvSpPr>
          <p:cNvPr id="15" name="文本框 14"/>
          <p:cNvSpPr txBox="1"/>
          <p:nvPr/>
        </p:nvSpPr>
        <p:spPr>
          <a:xfrm>
            <a:off x="7668260" y="3284855"/>
            <a:ext cx="1392555" cy="645160"/>
          </a:xfrm>
          <a:prstGeom prst="rect">
            <a:avLst/>
          </a:prstGeom>
          <a:noFill/>
        </p:spPr>
        <p:txBody>
          <a:bodyPr wrap="square" rtlCol="0" anchor="t">
            <a:spAutoFit/>
          </a:bodyPr>
          <a:p>
            <a:r>
              <a:rPr lang="zh-CN" altLang="en-US" sz="1800">
                <a:solidFill>
                  <a:schemeClr val="bg1"/>
                </a:solidFill>
                <a:latin typeface="微软雅黑" panose="020B0503020204020204" charset="-122"/>
                <a:ea typeface="微软雅黑" panose="020B0503020204020204" charset="-122"/>
                <a:cs typeface="微软雅黑" panose="020B0503020204020204" charset="-122"/>
              </a:rPr>
              <a:t>LeCun et </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a:p>
            <a:r>
              <a:rPr lang="zh-CN" altLang="en-US" sz="1800">
                <a:solidFill>
                  <a:schemeClr val="bg1"/>
                </a:solidFill>
                <a:latin typeface="微软雅黑" panose="020B0503020204020204" charset="-122"/>
                <a:ea typeface="微软雅黑" panose="020B0503020204020204" charset="-122"/>
                <a:cs typeface="微软雅黑" panose="020B0503020204020204" charset="-122"/>
              </a:rPr>
              <a:t>al., 1998</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par>
                                <p:cTn id="14" presetID="3" presetClass="entr" presetSubtype="1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rotWithShape="1">
          <a:blip r:embed="rId1">
            <a:extLst>
              <a:ext uri="{28A0092B-C50C-407E-A947-70E740481C1C}">
                <a14:useLocalDpi xmlns:a14="http://schemas.microsoft.com/office/drawing/2010/main" val="0"/>
              </a:ext>
            </a:extLst>
          </a:blip>
          <a:srcRect t="-9357" r="1755" b="21301"/>
          <a:stretch>
            <a:fillRect/>
          </a:stretch>
        </p:blipFill>
        <p:spPr>
          <a:xfrm flipH="1">
            <a:off x="107315" y="2301875"/>
            <a:ext cx="9037320" cy="4556125"/>
          </a:xfrm>
          <a:prstGeom prst="rect">
            <a:avLst/>
          </a:prstGeom>
        </p:spPr>
      </p:pic>
      <p:sp>
        <p:nvSpPr>
          <p:cNvPr id="7" name="灯片编号占位符 6"/>
          <p:cNvSpPr>
            <a:spLocks noGrp="1"/>
          </p:cNvSpPr>
          <p:nvPr>
            <p:ph type="sldNum" sz="quarter" idx="7"/>
          </p:nvPr>
        </p:nvSpPr>
        <p:spPr/>
        <p:txBody>
          <a:bodyPr/>
          <a:p>
            <a:fld id="{B6F15528-21DE-4FAA-801E-634DDDAF4B2B}" type="slidenum">
              <a:rPr sz="1050">
                <a:solidFill>
                  <a:schemeClr val="bg1"/>
                </a:solidFill>
              </a:rPr>
            </a:fld>
            <a:endParaRPr sz="1050">
              <a:solidFill>
                <a:schemeClr val="bg1"/>
              </a:solidFill>
            </a:endParaRPr>
          </a:p>
        </p:txBody>
      </p:sp>
      <p:sp>
        <p:nvSpPr>
          <p:cNvPr id="6" name="文本框 1"/>
          <p:cNvSpPr txBox="1"/>
          <p:nvPr/>
        </p:nvSpPr>
        <p:spPr>
          <a:xfrm>
            <a:off x="952818" y="1340168"/>
            <a:ext cx="7237412" cy="3138170"/>
          </a:xfrm>
          <a:prstGeom prst="rect">
            <a:avLst/>
          </a:prstGeom>
          <a:noFill/>
          <a:ln w="9525">
            <a:noFill/>
          </a:ln>
        </p:spPr>
        <p:txBody>
          <a:bodyPr wrap="square" anchor="t" anchorCtr="0">
            <a:spAutoFit/>
          </a:bodyPr>
          <a:p>
            <a:pPr marL="285750" indent="-285750">
              <a:buFont typeface="Arial" panose="020B0604020202020204" pitchFamily="34" charset="0"/>
              <a:buChar char="•"/>
            </a:pPr>
            <a:r>
              <a:rPr lang="en-US" altLang="zh-CN">
                <a:solidFill>
                  <a:schemeClr val="bg1"/>
                </a:solidFill>
                <a:latin typeface="微软雅黑" panose="020B0503020204020204" charset="-122"/>
                <a:ea typeface="微软雅黑" panose="020B0503020204020204" charset="-122"/>
                <a:cs typeface="微软雅黑" panose="020B0503020204020204" charset="-122"/>
              </a:rPr>
              <a:t>MindSpore</a:t>
            </a:r>
            <a:r>
              <a:rPr lang="zh-CN" altLang="en-US">
                <a:solidFill>
                  <a:schemeClr val="bg1"/>
                </a:solidFill>
                <a:latin typeface="微软雅黑" panose="020B0503020204020204" charset="-122"/>
                <a:ea typeface="微软雅黑" panose="020B0503020204020204" charset="-122"/>
                <a:cs typeface="微软雅黑" panose="020B0503020204020204" charset="-122"/>
              </a:rPr>
              <a:t>官网课程</a:t>
            </a:r>
            <a:r>
              <a:rPr lang="en-US" altLang="zh-CN">
                <a:solidFill>
                  <a:schemeClr val="bg1"/>
                </a:solidFill>
                <a:latin typeface="微软雅黑" panose="020B0503020204020204" charset="-122"/>
                <a:ea typeface="微软雅黑" panose="020B0503020204020204" charset="-122"/>
                <a:cs typeface="微软雅黑" panose="020B0503020204020204" charset="-122"/>
              </a:rPr>
              <a:t>   👉</a:t>
            </a:r>
            <a:r>
              <a:rPr lang="en-US" altLang="zh-CN">
                <a:solidFill>
                  <a:schemeClr val="bg1"/>
                </a:solidFill>
                <a:latin typeface="微软雅黑" panose="020B0503020204020204" charset="-122"/>
                <a:ea typeface="微软雅黑" panose="020B0503020204020204" charset="-122"/>
                <a:cs typeface="微软雅黑" panose="020B0503020204020204" charset="-122"/>
                <a:hlinkClick r:id="rId2" action="ppaction://hlinkfile"/>
              </a:rPr>
              <a:t>链接</a:t>
            </a:r>
            <a:endParaRPr lang="en-US" altLang="zh-CN">
              <a:solidFill>
                <a:schemeClr val="bg1"/>
              </a:solidFill>
              <a:latin typeface="微软雅黑" panose="020B0503020204020204" charset="-122"/>
              <a:ea typeface="微软雅黑" panose="020B0503020204020204" charset="-122"/>
              <a:cs typeface="微软雅黑" panose="020B0503020204020204" charset="-122"/>
              <a:hlinkClick r:id="rId2" action="ppaction://hlinkfile"/>
            </a:endParaRPr>
          </a:p>
          <a:p>
            <a:pPr marL="285750" indent="-285750">
              <a:buFont typeface="Arial" panose="020B0604020202020204" pitchFamily="34" charset="0"/>
              <a:buChar char="•"/>
            </a:pP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MindSpore</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官网初级课程</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3" action="ppaction://hlinkfile"/>
              </a:rPr>
              <a:t>链接</a:t>
            </a: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3" action="ppaction://hlinkfile"/>
            </a:endParaRPr>
          </a:p>
          <a:p>
            <a:pPr marL="285750" indent="-285750">
              <a:buFont typeface="Arial" panose="020B0604020202020204" pitchFamily="34" charset="0"/>
              <a:buChar char="•"/>
            </a:pP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3" action="ppaction://hlinkfile"/>
            </a:endParaRPr>
          </a:p>
          <a:p>
            <a:pPr marL="285750" indent="-285750">
              <a:buFont typeface="Arial" panose="020B0604020202020204" pitchFamily="34" charset="0"/>
              <a:buChar char="•"/>
            </a:pP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*MindSpore</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教程文档</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4" action="ppaction://hlinkfile"/>
              </a:rPr>
              <a:t>链接</a:t>
            </a: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4" action="ppaction://hlinkfile"/>
            </a:endParaRPr>
          </a:p>
          <a:p>
            <a:pPr marL="285750" indent="-285750">
              <a:buFont typeface="Arial" panose="020B0604020202020204" pitchFamily="34" charset="0"/>
              <a:buChar char="•"/>
            </a:pP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MindSpore Gitee</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码云仓库</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2" action="ppaction://hlinkfile"/>
              </a:rPr>
              <a:t>链接</a:t>
            </a: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2" action="ppaction://hlinkfile"/>
            </a:endParaRPr>
          </a:p>
          <a:p>
            <a:pPr marL="285750" indent="-285750">
              <a:buFont typeface="Arial" panose="020B0604020202020204" pitchFamily="34" charset="0"/>
              <a:buChar char="•"/>
            </a:pP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Arial" panose="020B0604020202020204" pitchFamily="34" charset="0"/>
              <a:buChar char="•"/>
            </a:pP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MindSpore</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代码</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快速入门：手写数字识别</a:t>
            </a:r>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例子</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5" action="ppaction://hlinkfile"/>
              </a:rPr>
              <a:t>链接</a:t>
            </a: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5" action="ppaction://hlinkfile"/>
            </a:endParaRPr>
          </a:p>
          <a:p>
            <a:pPr marL="285750" indent="-285750">
              <a:buFont typeface="Arial" panose="020B0604020202020204" pitchFamily="34" charset="0"/>
              <a:buChar char="•"/>
            </a:pP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5" action="ppaction://hlinkfile"/>
            </a:endParaRPr>
          </a:p>
          <a:p>
            <a:pPr marL="285750" indent="-285750">
              <a:buFont typeface="Arial" panose="020B0604020202020204" pitchFamily="34" charset="0"/>
              <a:buChar char="•"/>
            </a:pP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华为认证MindSpore高级工程师在线课程 👉</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6" action="ppaction://hlinkfile"/>
              </a:rPr>
              <a:t>链接</a:t>
            </a: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hlinkClick r:id="rId6" action="ppaction://hlinkfile"/>
            </a:endParaRPr>
          </a:p>
        </p:txBody>
      </p:sp>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MindSpore</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介绍</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67360" y="836295"/>
            <a:ext cx="3882390" cy="3022600"/>
          </a:xfrm>
          <a:prstGeom prst="rect">
            <a:avLst/>
          </a:prstGeom>
        </p:spPr>
      </p:pic>
      <p:pic>
        <p:nvPicPr>
          <p:cNvPr id="2" name="内容占位符 1"/>
          <p:cNvPicPr>
            <a:picLocks noChangeAspect="1"/>
          </p:cNvPicPr>
          <p:nvPr>
            <p:ph idx="1"/>
            <p:custDataLst>
              <p:tags r:id="rId2"/>
            </p:custDataLst>
          </p:nvPr>
        </p:nvPicPr>
        <p:blipFill>
          <a:blip r:embed="rId3"/>
          <a:stretch>
            <a:fillRect/>
          </a:stretch>
        </p:blipFill>
        <p:spPr>
          <a:xfrm>
            <a:off x="4787900" y="862965"/>
            <a:ext cx="3848100" cy="2995930"/>
          </a:xfrm>
          <a:prstGeom prst="rect">
            <a:avLst/>
          </a:prstGeom>
        </p:spPr>
      </p:pic>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070" y="269240"/>
            <a:ext cx="2115979" cy="318135"/>
          </a:xfrm>
          <a:prstGeom prst="rect">
            <a:avLst/>
          </a:prstGeom>
        </p:spPr>
        <p:txBody>
          <a:bodyPr vert="horz" wrap="square" lIns="0" tIns="10953" rIns="0" bIns="0" rtlCol="0">
            <a:spAutoFit/>
          </a:bodyPr>
          <a:p>
            <a:pPr marL="12700">
              <a:lnSpc>
                <a:spcPct val="100000"/>
              </a:lnSpc>
              <a:spcBef>
                <a:spcPts val="115"/>
              </a:spcBef>
            </a:pP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Anaconda</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安装</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 name="内容占位符 3"/>
          <p:cNvPicPr>
            <a:picLocks noChangeAspect="1"/>
          </p:cNvPicPr>
          <p:nvPr/>
        </p:nvPicPr>
        <p:blipFill>
          <a:blip r:embed="rId4"/>
          <a:srcRect b="12591"/>
          <a:stretch>
            <a:fillRect/>
          </a:stretch>
        </p:blipFill>
        <p:spPr>
          <a:xfrm>
            <a:off x="467360" y="4027170"/>
            <a:ext cx="6169660" cy="2292350"/>
          </a:xfrm>
          <a:prstGeom prst="rect">
            <a:avLst/>
          </a:prstGeom>
        </p:spPr>
      </p:pic>
      <p:sp>
        <p:nvSpPr>
          <p:cNvPr id="8" name="文本框 7"/>
          <p:cNvSpPr txBox="1"/>
          <p:nvPr/>
        </p:nvSpPr>
        <p:spPr>
          <a:xfrm>
            <a:off x="2555875" y="269875"/>
            <a:ext cx="1554480" cy="368300"/>
          </a:xfrm>
          <a:prstGeom prst="rect">
            <a:avLst/>
          </a:prstGeom>
          <a:noFill/>
        </p:spPr>
        <p:txBody>
          <a:bodyPr wrap="none" rtlCol="0">
            <a:spAutoFit/>
          </a:bodyPr>
          <a:p>
            <a:pPr algn="l"/>
            <a:r>
              <a:rPr lang="en-US" altLang="zh-CN" sz="1800">
                <a:solidFill>
                  <a:schemeClr val="bg1"/>
                </a:solidFill>
                <a:latin typeface="微软雅黑" panose="020B0503020204020204" charset="-122"/>
                <a:ea typeface="微软雅黑" panose="020B0503020204020204" charset="-122"/>
                <a:cs typeface="微软雅黑" panose="020B0503020204020204" charset="-122"/>
                <a:hlinkClick r:id="rId5" action="ppaction://hlinkfile"/>
              </a:rPr>
              <a:t>参考配置链接</a:t>
            </a:r>
            <a:endParaRPr lang="en-US" altLang="zh-CN" sz="18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11505" y="908685"/>
            <a:ext cx="5925820" cy="6185535"/>
          </a:xfrm>
          <a:prstGeom prst="rect">
            <a:avLst/>
          </a:prstGeom>
          <a:noFill/>
        </p:spPr>
        <p:txBody>
          <a:bodyPr wrap="square" rtlCol="0" anchor="t">
            <a:spAutoFit/>
          </a:bodyPr>
          <a:p>
            <a:pPr marL="342900" indent="-342900">
              <a:buFont typeface="Arial" panose="020B0604020202020204" pitchFamily="34" charset="0"/>
              <a:buAutoNum type="arabicPeriod"/>
            </a:pPr>
            <a:r>
              <a:rPr lang="en-US" altLang="zh-CN">
                <a:solidFill>
                  <a:schemeClr val="bg1"/>
                </a:solidFill>
                <a:ea typeface="微软雅黑" panose="020B0503020204020204" charset="-122"/>
                <a:cs typeface="Arial" panose="020B0604020202020204" pitchFamily="34" charset="0"/>
                <a:sym typeface="+mn-ea"/>
              </a:rPr>
              <a:t>conda</a:t>
            </a:r>
            <a:r>
              <a:rPr lang="zh-CN" altLang="en-US">
                <a:solidFill>
                  <a:schemeClr val="bg1"/>
                </a:solidFill>
                <a:ea typeface="微软雅黑" panose="020B0503020204020204" charset="-122"/>
                <a:cs typeface="Arial" panose="020B0604020202020204" pitchFamily="34" charset="0"/>
                <a:sym typeface="+mn-ea"/>
              </a:rPr>
              <a:t>添加源（上一页</a:t>
            </a:r>
            <a:r>
              <a:rPr lang="en-US" altLang="zh-CN">
                <a:solidFill>
                  <a:schemeClr val="bg1"/>
                </a:solidFill>
                <a:ea typeface="微软雅黑" panose="020B0503020204020204" charset="-122"/>
                <a:cs typeface="Arial" panose="020B0604020202020204" pitchFamily="34" charset="0"/>
                <a:sym typeface="+mn-ea"/>
              </a:rPr>
              <a:t>ppt</a:t>
            </a:r>
            <a:r>
              <a:rPr lang="zh-CN" altLang="en-US">
                <a:solidFill>
                  <a:schemeClr val="bg1"/>
                </a:solidFill>
                <a:ea typeface="微软雅黑" panose="020B0503020204020204" charset="-122"/>
                <a:cs typeface="Arial" panose="020B0604020202020204" pitchFamily="34" charset="0"/>
                <a:sym typeface="+mn-ea"/>
              </a:rPr>
              <a:t>）</a:t>
            </a:r>
            <a:endParaRPr lang="en-US" altLang="zh-CN">
              <a:solidFill>
                <a:schemeClr val="bg1"/>
              </a:solidFill>
              <a:ea typeface="微软雅黑" panose="020B0503020204020204" charset="-122"/>
              <a:cs typeface="Arial" panose="020B0604020202020204" pitchFamily="34" charset="0"/>
              <a:sym typeface="+mn-ea"/>
            </a:endParaRPr>
          </a:p>
          <a:p>
            <a:pPr marL="342900" indent="-342900">
              <a:buFont typeface="Arial" panose="020B0604020202020204" pitchFamily="34" charset="0"/>
              <a:buAutoNum type="arabicPeriod"/>
            </a:pPr>
            <a:endParaRPr lang="en-US" altLang="zh-CN">
              <a:solidFill>
                <a:schemeClr val="bg1"/>
              </a:solidFill>
              <a:ea typeface="微软雅黑" panose="020B0503020204020204" charset="-122"/>
              <a:cs typeface="Arial" panose="020B0604020202020204" pitchFamily="34" charset="0"/>
              <a:sym typeface="+mn-ea"/>
            </a:endParaRPr>
          </a:p>
          <a:p>
            <a:pPr marL="342900" indent="-342900">
              <a:buFont typeface="Arial" panose="020B0604020202020204" pitchFamily="34" charset="0"/>
              <a:buAutoNum type="arabicPeriod"/>
            </a:pPr>
            <a:r>
              <a:rPr lang="en-US" altLang="zh-CN">
                <a:solidFill>
                  <a:schemeClr val="bg1"/>
                </a:solidFill>
                <a:ea typeface="微软雅黑" panose="020B0503020204020204" charset="-122"/>
                <a:cs typeface="Arial" panose="020B0604020202020204" pitchFamily="34" charset="0"/>
                <a:sym typeface="+mn-ea"/>
              </a:rPr>
              <a:t>&gt; </a:t>
            </a:r>
            <a:r>
              <a:rPr lang="zh-CN" altLang="en-US">
                <a:solidFill>
                  <a:schemeClr val="bg1"/>
                </a:solidFill>
                <a:ea typeface="微软雅黑" panose="020B0503020204020204" charset="-122"/>
                <a:cs typeface="Arial" panose="020B0604020202020204" pitchFamily="34" charset="0"/>
                <a:sym typeface="+mn-ea"/>
              </a:rPr>
              <a:t>conda create --name </a:t>
            </a:r>
            <a:r>
              <a:rPr lang="en-US" altLang="zh-CN">
                <a:solidFill>
                  <a:schemeClr val="bg1"/>
                </a:solidFill>
                <a:ea typeface="微软雅黑" panose="020B0503020204020204" charset="-122"/>
                <a:cs typeface="Arial" panose="020B0604020202020204" pitchFamily="34" charset="0"/>
                <a:sym typeface="+mn-ea"/>
              </a:rPr>
              <a:t>mindspore </a:t>
            </a:r>
            <a:r>
              <a:rPr lang="zh-CN" altLang="en-US">
                <a:solidFill>
                  <a:schemeClr val="bg1"/>
                </a:solidFill>
                <a:ea typeface="微软雅黑" panose="020B0503020204020204" charset="-122"/>
                <a:cs typeface="Arial" panose="020B0604020202020204" pitchFamily="34" charset="0"/>
                <a:sym typeface="+mn-ea"/>
              </a:rPr>
              <a:t>python</a:t>
            </a:r>
            <a:r>
              <a:rPr lang="en-US" altLang="zh-CN">
                <a:solidFill>
                  <a:schemeClr val="bg1"/>
                </a:solidFill>
                <a:ea typeface="微软雅黑" panose="020B0503020204020204" charset="-122"/>
                <a:cs typeface="Arial" panose="020B0604020202020204" pitchFamily="34" charset="0"/>
                <a:sym typeface="+mn-ea"/>
              </a:rPr>
              <a:t>=</a:t>
            </a:r>
            <a:r>
              <a:rPr lang="zh-CN" altLang="en-US">
                <a:solidFill>
                  <a:schemeClr val="bg1"/>
                </a:solidFill>
                <a:ea typeface="微软雅黑" panose="020B0503020204020204" charset="-122"/>
                <a:cs typeface="Arial" panose="020B0604020202020204" pitchFamily="34" charset="0"/>
                <a:sym typeface="+mn-ea"/>
              </a:rPr>
              <a:t>3.</a:t>
            </a:r>
            <a:r>
              <a:rPr lang="en-US" altLang="zh-CN">
                <a:solidFill>
                  <a:schemeClr val="bg1"/>
                </a:solidFill>
                <a:ea typeface="微软雅黑" panose="020B0503020204020204" charset="-122"/>
                <a:cs typeface="Arial" panose="020B0604020202020204" pitchFamily="34" charset="0"/>
                <a:sym typeface="+mn-ea"/>
              </a:rPr>
              <a:t>7.5  </a:t>
            </a:r>
            <a:endParaRPr lang="en-US" altLang="zh-CN">
              <a:solidFill>
                <a:schemeClr val="bg1"/>
              </a:solidFill>
              <a:ea typeface="微软雅黑" panose="020B0503020204020204" charset="-122"/>
              <a:cs typeface="Arial" panose="020B0604020202020204" pitchFamily="34" charset="0"/>
              <a:sym typeface="+mn-ea"/>
            </a:endParaRPr>
          </a:p>
          <a:p>
            <a:pPr marL="342900" indent="-342900">
              <a:buFont typeface="Arial" panose="020B0604020202020204" pitchFamily="34" charset="0"/>
              <a:buAutoNum type="arabicPeriod"/>
            </a:pPr>
            <a:endParaRPr lang="en-US" altLang="zh-CN">
              <a:solidFill>
                <a:schemeClr val="bg1"/>
              </a:solidFill>
              <a:ea typeface="微软雅黑" panose="020B0503020204020204" charset="-122"/>
              <a:cs typeface="Arial" panose="020B0604020202020204" pitchFamily="34" charset="0"/>
              <a:sym typeface="+mn-ea"/>
            </a:endParaRPr>
          </a:p>
          <a:p>
            <a:pPr marL="342900" indent="-342900">
              <a:buFont typeface="Arial" panose="020B0604020202020204" pitchFamily="34" charset="0"/>
              <a:buAutoNum type="arabicPeriod"/>
            </a:pPr>
            <a:r>
              <a:rPr lang="en-US" altLang="zh-CN">
                <a:solidFill>
                  <a:schemeClr val="bg1"/>
                </a:solidFill>
                <a:ea typeface="微软雅黑" panose="020B0503020204020204" charset="-122"/>
                <a:cs typeface="Arial" panose="020B0604020202020204" pitchFamily="34" charset="0"/>
                <a:sym typeface="+mn-ea"/>
              </a:rPr>
              <a:t>&gt; </a:t>
            </a:r>
            <a:r>
              <a:rPr lang="en-US" altLang="zh-CN">
                <a:solidFill>
                  <a:schemeClr val="bg1"/>
                </a:solidFill>
                <a:ea typeface="微软雅黑" panose="020B0503020204020204" charset="-122"/>
                <a:cs typeface="Arial" panose="020B0604020202020204" pitchFamily="34" charset="0"/>
                <a:sym typeface="+mn-ea"/>
              </a:rPr>
              <a:t>conda activate </a:t>
            </a:r>
            <a:r>
              <a:rPr lang="en-US" altLang="zh-CN">
                <a:solidFill>
                  <a:schemeClr val="bg1"/>
                </a:solidFill>
                <a:ea typeface="微软雅黑" panose="020B0503020204020204" charset="-122"/>
                <a:cs typeface="Arial" panose="020B0604020202020204" pitchFamily="34" charset="0"/>
                <a:sym typeface="+mn-ea"/>
              </a:rPr>
              <a:t>mindspore</a:t>
            </a:r>
            <a:endParaRPr lang="zh-CN" altLang="en-US">
              <a:solidFill>
                <a:schemeClr val="bg1"/>
              </a:solidFill>
              <a:ea typeface="微软雅黑" panose="020B0503020204020204" charset="-122"/>
              <a:cs typeface="Arial" panose="020B0604020202020204" pitchFamily="34" charset="0"/>
              <a:sym typeface="+mn-ea"/>
            </a:endParaRPr>
          </a:p>
          <a:p>
            <a:pPr marL="342900" indent="-342900">
              <a:buFont typeface="Arial" panose="020B0604020202020204" pitchFamily="34" charset="0"/>
              <a:buAutoNum type="arabicPeriod"/>
            </a:pPr>
            <a:endParaRPr lang="zh-CN" altLang="en-US">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a:solidFill>
                  <a:schemeClr val="bg1"/>
                </a:solidFill>
                <a:ea typeface="微软雅黑" panose="020B0503020204020204" charset="-122"/>
                <a:cs typeface="Arial" panose="020B0604020202020204" pitchFamily="34" charset="0"/>
                <a:sym typeface="+mn-ea"/>
              </a:rPr>
              <a:t>&gt; </a:t>
            </a:r>
            <a:r>
              <a:rPr lang="en-US" altLang="zh-CN">
                <a:solidFill>
                  <a:schemeClr val="bg1"/>
                </a:solidFill>
                <a:ea typeface="微软雅黑" panose="020B0503020204020204" charset="-122"/>
                <a:cs typeface="Arial" panose="020B0604020202020204" pitchFamily="34" charset="0"/>
              </a:rPr>
              <a:t>pip install tqdm</a:t>
            </a:r>
            <a:endParaRPr lang="en-US" altLang="zh-CN">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endParaRPr lang="zh-CN" altLang="en-US">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a:solidFill>
                  <a:schemeClr val="bg1"/>
                </a:solidFill>
                <a:ea typeface="微软雅黑" panose="020B0503020204020204" charset="-122"/>
                <a:cs typeface="Arial" panose="020B0604020202020204" pitchFamily="34" charset="0"/>
                <a:sym typeface="+mn-ea"/>
              </a:rPr>
              <a:t>&gt; </a:t>
            </a:r>
            <a:r>
              <a:rPr lang="zh-CN" altLang="en-US">
                <a:solidFill>
                  <a:schemeClr val="bg1"/>
                </a:solidFill>
                <a:ea typeface="微软雅黑" panose="020B0503020204020204" charset="-122"/>
                <a:cs typeface="Arial" panose="020B0604020202020204" pitchFamily="34" charset="0"/>
              </a:rPr>
              <a:t>pip install opencv-python</a:t>
            </a:r>
            <a:endParaRPr lang="zh-CN" altLang="en-US">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endParaRPr lang="zh-CN" altLang="en-US">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a:solidFill>
                  <a:schemeClr val="bg1"/>
                </a:solidFill>
                <a:ea typeface="微软雅黑" panose="020B0503020204020204" charset="-122"/>
                <a:cs typeface="Arial" panose="020B0604020202020204" pitchFamily="34" charset="0"/>
                <a:sym typeface="+mn-ea"/>
              </a:rPr>
              <a:t>&gt; </a:t>
            </a:r>
            <a:r>
              <a:rPr lang="zh-CN" altLang="en-US">
                <a:solidFill>
                  <a:schemeClr val="bg1"/>
                </a:solidFill>
                <a:ea typeface="微软雅黑" panose="020B0503020204020204" charset="-122"/>
                <a:cs typeface="Arial" panose="020B0604020202020204" pitchFamily="34" charset="0"/>
              </a:rPr>
              <a:t>pip install pyyaml</a:t>
            </a:r>
            <a:endParaRPr lang="zh-CN" altLang="en-US">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endParaRPr lang="zh-CN" altLang="en-US">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a:solidFill>
                  <a:schemeClr val="bg1"/>
                </a:solidFill>
                <a:ea typeface="微软雅黑" panose="020B0503020204020204" charset="-122"/>
                <a:cs typeface="Arial" panose="020B0604020202020204" pitchFamily="34" charset="0"/>
                <a:sym typeface="+mn-ea"/>
              </a:rPr>
              <a:t>&gt; </a:t>
            </a:r>
            <a:r>
              <a:rPr lang="zh-CN" altLang="en-US">
                <a:solidFill>
                  <a:schemeClr val="bg1"/>
                </a:solidFill>
                <a:ea typeface="微软雅黑" panose="020B0503020204020204" charset="-122"/>
                <a:cs typeface="Arial" panose="020B0604020202020204" pitchFamily="34" charset="0"/>
              </a:rPr>
              <a:t>pip install ml_collections</a:t>
            </a:r>
            <a:endParaRPr lang="zh-CN" altLang="en-US">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endParaRPr lang="zh-CN" altLang="en-US">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endParaRPr lang="zh-CN" altLang="en-US">
              <a:solidFill>
                <a:schemeClr val="bg1"/>
              </a:solidFill>
              <a:ea typeface="微软雅黑" panose="020B0503020204020204" charset="-122"/>
              <a:cs typeface="Arial" panose="020B0604020202020204" pitchFamily="34" charset="0"/>
            </a:endParaRPr>
          </a:p>
          <a:p>
            <a:pPr marL="342900" indent="-342900">
              <a:buFont typeface="Arial" panose="020B0604020202020204" pitchFamily="34" charset="0"/>
              <a:buAutoNum type="arabicPeriod"/>
            </a:pPr>
            <a:r>
              <a:rPr lang="en-US" altLang="zh-CN">
                <a:solidFill>
                  <a:schemeClr val="bg1"/>
                </a:solidFill>
                <a:ea typeface="微软雅黑" panose="020B0503020204020204" charset="-122"/>
                <a:cs typeface="Arial" panose="020B0604020202020204" pitchFamily="34" charset="0"/>
                <a:sym typeface="+mn-ea"/>
              </a:rPr>
              <a:t>&gt; </a:t>
            </a:r>
            <a:r>
              <a:rPr lang="zh-CN" altLang="en-US">
                <a:solidFill>
                  <a:schemeClr val="bg1"/>
                </a:solidFill>
                <a:ea typeface="微软雅黑" panose="020B0503020204020204" charset="-122"/>
                <a:cs typeface="Arial" panose="020B0604020202020204" pitchFamily="34" charset="0"/>
              </a:rPr>
              <a:t>pip install https://ms-release.obs.cn-north-4.myhuaweicloud.com/1.6.1/MindSpore/cpu/x86_64/mindspore-1.6.1-cp37-cp37m-win_amd64.whl --trusted-host ms-release.obs.cn-north-4.myhuaweicloud.com -i https://pypi.tuna.tsinghua.edu.cn/simple</a:t>
            </a:r>
            <a:endParaRPr lang="zh-CN" altLang="en-US">
              <a:solidFill>
                <a:schemeClr val="bg1"/>
              </a:solidFill>
              <a:ea typeface="微软雅黑" panose="020B0503020204020204" charset="-122"/>
              <a:cs typeface="Arial" panose="020B0604020202020204" pitchFamily="34" charset="0"/>
            </a:endParaRPr>
          </a:p>
          <a:p>
            <a:pPr marL="342900" indent="-342900"/>
            <a:endParaRPr lang="zh-CN" altLang="en-US">
              <a:solidFill>
                <a:schemeClr val="bg1"/>
              </a:solidFill>
            </a:endParaRPr>
          </a:p>
        </p:txBody>
      </p:sp>
      <p:sp>
        <p:nvSpPr>
          <p:cNvPr id="11" name="Rectangle 1"/>
          <p:cNvSpPr/>
          <p:nvPr/>
        </p:nvSpPr>
        <p:spPr>
          <a:xfrm>
            <a:off x="0" y="188595"/>
            <a:ext cx="2989580"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070" y="269558"/>
            <a:ext cx="2659380"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创建</a:t>
            </a: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Python</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环境</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参考</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4211955" y="2276475"/>
            <a:ext cx="4742815" cy="2574925"/>
          </a:xfrm>
          <a:prstGeom prst="rect">
            <a:avLst/>
          </a:prstGeom>
        </p:spPr>
      </p:pic>
      <p:pic>
        <p:nvPicPr>
          <p:cNvPr id="4" name="图片 3"/>
          <p:cNvPicPr>
            <a:picLocks noChangeAspect="1"/>
          </p:cNvPicPr>
          <p:nvPr/>
        </p:nvPicPr>
        <p:blipFill>
          <a:blip r:embed="rId2"/>
          <a:stretch>
            <a:fillRect/>
          </a:stretch>
        </p:blipFill>
        <p:spPr>
          <a:xfrm>
            <a:off x="4068445" y="980440"/>
            <a:ext cx="3253740" cy="4343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blinds(horizontal)">
                                      <p:cBhvr>
                                        <p:cTn id="12" dur="500"/>
                                        <p:tgtEl>
                                          <p:spTgt spid="2">
                                            <p:txEl>
                                              <p:pRg st="6" end="6"/>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Effect transition="in" filter="blinds(horizontal)">
                                      <p:cBhvr>
                                        <p:cTn id="15" dur="500"/>
                                        <p:tgtEl>
                                          <p:spTgt spid="2">
                                            <p:txEl>
                                              <p:pRg st="8" end="8"/>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
                                            <p:txEl>
                                              <p:pRg st="10" end="10"/>
                                            </p:txEl>
                                          </p:spTgt>
                                        </p:tgtEl>
                                        <p:attrNameLst>
                                          <p:attrName>style.visibility</p:attrName>
                                        </p:attrNameLst>
                                      </p:cBhvr>
                                      <p:to>
                                        <p:strVal val="visible"/>
                                      </p:to>
                                    </p:set>
                                    <p:animEffect transition="in" filter="blinds(horizontal)">
                                      <p:cBhvr>
                                        <p:cTn id="18" dur="500"/>
                                        <p:tgtEl>
                                          <p:spTgt spid="2">
                                            <p:txEl>
                                              <p:pRg st="10" end="10"/>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
                                            <p:txEl>
                                              <p:pRg st="12" end="12"/>
                                            </p:txEl>
                                          </p:spTgt>
                                        </p:tgtEl>
                                        <p:attrNameLst>
                                          <p:attrName>style.visibility</p:attrName>
                                        </p:attrNameLst>
                                      </p:cBhvr>
                                      <p:to>
                                        <p:strVal val="visible"/>
                                      </p:to>
                                    </p:set>
                                    <p:animEffect transition="in" filter="blinds(horizontal)">
                                      <p:cBhvr>
                                        <p:cTn id="21" dur="500"/>
                                        <p:tgtEl>
                                          <p:spTgt spid="2">
                                            <p:txEl>
                                              <p:pRg st="12" end="1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linds(horizontal)">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
                                            <p:txEl>
                                              <p:pRg st="15" end="15"/>
                                            </p:txEl>
                                          </p:spTgt>
                                        </p:tgtEl>
                                        <p:attrNameLst>
                                          <p:attrName>style.visibility</p:attrName>
                                        </p:attrNameLst>
                                      </p:cBhvr>
                                      <p:to>
                                        <p:strVal val="visible"/>
                                      </p:to>
                                    </p:set>
                                    <p:animEffect transition="in" filter="blinds(horizontal)">
                                      <p:cBhvr>
                                        <p:cTn id="31"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en-US" sz="2000" spc="15" dirty="0">
                <a:solidFill>
                  <a:schemeClr val="bg1"/>
                </a:solidFill>
                <a:latin typeface="微软雅黑" panose="020B0503020204020204" charset="-122"/>
                <a:ea typeface="微软雅黑" panose="020B0503020204020204" charset="-122"/>
                <a:cs typeface="微软雅黑" panose="020B0503020204020204" charset="-122"/>
              </a:rPr>
              <a:t>LeNet</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介绍</a:t>
            </a:r>
            <a:r>
              <a:rPr lang="en-US" sz="2000" spc="15" dirty="0">
                <a:solidFill>
                  <a:schemeClr val="bg1"/>
                </a:solidFill>
                <a:latin typeface="微软雅黑" panose="020B0503020204020204" charset="-122"/>
                <a:ea typeface="微软雅黑" panose="020B0503020204020204" charset="-122"/>
                <a:cs typeface="微软雅黑" panose="020B0503020204020204" charset="-122"/>
              </a:rPr>
              <a:t> </a:t>
            </a:r>
            <a:endParaRPr 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5" name="图片 4" descr="lenet"/>
          <p:cNvPicPr>
            <a:picLocks noChangeAspect="1"/>
          </p:cNvPicPr>
          <p:nvPr>
            <p:custDataLst>
              <p:tags r:id="rId1"/>
            </p:custDataLst>
          </p:nvPr>
        </p:nvPicPr>
        <p:blipFill>
          <a:blip r:embed="rId2"/>
          <a:srcRect r="13667"/>
          <a:stretch>
            <a:fillRect/>
          </a:stretch>
        </p:blipFill>
        <p:spPr>
          <a:xfrm>
            <a:off x="5939790" y="44450"/>
            <a:ext cx="2771140" cy="938530"/>
          </a:xfrm>
          <a:prstGeom prst="rect">
            <a:avLst/>
          </a:prstGeom>
        </p:spPr>
      </p:pic>
      <p:sp>
        <p:nvSpPr>
          <p:cNvPr id="6" name="文本框 5"/>
          <p:cNvSpPr txBox="1"/>
          <p:nvPr/>
        </p:nvSpPr>
        <p:spPr>
          <a:xfrm>
            <a:off x="251460" y="980440"/>
            <a:ext cx="8605520" cy="1014730"/>
          </a:xfrm>
          <a:prstGeom prst="rect">
            <a:avLst/>
          </a:prstGeom>
          <a:noFill/>
        </p:spPr>
        <p:txBody>
          <a:bodyPr wrap="square" rtlCol="0" anchor="t">
            <a:spAutoFit/>
          </a:bodyPr>
          <a:p>
            <a:r>
              <a:rPr lang="zh-CN" altLang="en-US">
                <a:solidFill>
                  <a:schemeClr val="bg1"/>
                </a:solidFill>
                <a:latin typeface="微软雅黑" panose="020B0503020204020204" charset="-122"/>
                <a:ea typeface="微软雅黑" panose="020B0503020204020204" charset="-122"/>
                <a:cs typeface="微软雅黑" panose="020B0503020204020204" charset="-122"/>
              </a:rPr>
              <a:t>LeNet是最早的</a:t>
            </a:r>
            <a:r>
              <a:rPr lang="zh-CN" altLang="en-US" sz="2000" b="1">
                <a:solidFill>
                  <a:srgbClr val="C35954"/>
                </a:solidFill>
                <a:latin typeface="微软雅黑" panose="020B0503020204020204" charset="-122"/>
                <a:ea typeface="微软雅黑" panose="020B0503020204020204" charset="-122"/>
                <a:cs typeface="微软雅黑" panose="020B0503020204020204" charset="-122"/>
              </a:rPr>
              <a:t>卷积神经网络</a:t>
            </a:r>
            <a:r>
              <a:rPr lang="zh-CN" altLang="en-US">
                <a:solidFill>
                  <a:schemeClr val="bg1"/>
                </a:solidFill>
                <a:latin typeface="微软雅黑" panose="020B0503020204020204" charset="-122"/>
                <a:ea typeface="微软雅黑" panose="020B0503020204020204" charset="-122"/>
                <a:cs typeface="微软雅黑" panose="020B0503020204020204" charset="-122"/>
              </a:rPr>
              <a:t>之一。1998年，Yan LeCun第一次将LeNet卷积神经网络应用到图像分类上，在手写数字识别任务中取得了巨大成功。LeNet通过</a:t>
            </a:r>
            <a:r>
              <a:rPr lang="zh-CN" altLang="en-US" sz="2000" b="1">
                <a:solidFill>
                  <a:srgbClr val="C35954"/>
                </a:solidFill>
                <a:latin typeface="微软雅黑" panose="020B0503020204020204" charset="-122"/>
                <a:ea typeface="微软雅黑" panose="020B0503020204020204" charset="-122"/>
                <a:cs typeface="微软雅黑" panose="020B0503020204020204" charset="-122"/>
              </a:rPr>
              <a:t>连续使用卷积和池化层的组合</a:t>
            </a:r>
            <a:r>
              <a:rPr lang="zh-CN" altLang="en-US">
                <a:solidFill>
                  <a:schemeClr val="bg1"/>
                </a:solidFill>
                <a:latin typeface="微软雅黑" panose="020B0503020204020204" charset="-122"/>
                <a:ea typeface="微软雅黑" panose="020B0503020204020204" charset="-122"/>
                <a:cs typeface="微软雅黑" panose="020B0503020204020204" charset="-122"/>
              </a:rPr>
              <a:t>提取图像特征。</a:t>
            </a:r>
            <a:endParaRPr lang="en-US" altLang="zh-CN">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3"/>
          <a:stretch>
            <a:fillRect/>
          </a:stretch>
        </p:blipFill>
        <p:spPr>
          <a:xfrm>
            <a:off x="395605" y="2060575"/>
            <a:ext cx="7886700" cy="1807845"/>
          </a:xfrm>
          <a:prstGeom prst="rect">
            <a:avLst/>
          </a:prstGeom>
        </p:spPr>
      </p:pic>
      <p:sp>
        <p:nvSpPr>
          <p:cNvPr id="8" name="文本框 7"/>
          <p:cNvSpPr txBox="1"/>
          <p:nvPr/>
        </p:nvSpPr>
        <p:spPr>
          <a:xfrm>
            <a:off x="323850" y="3914140"/>
            <a:ext cx="8796020" cy="2953385"/>
          </a:xfrm>
          <a:prstGeom prst="rect">
            <a:avLst/>
          </a:prstGeom>
          <a:noFill/>
        </p:spPr>
        <p:txBody>
          <a:bodyPr wrap="square" rtlCol="0" anchor="t">
            <a:spAutoFit/>
          </a:bodyPr>
          <a:p>
            <a:pPr marL="342900" indent="-342900">
              <a:buFont typeface="Arial" panose="020B0604020202020204" pitchFamily="34" charset="0"/>
              <a:buChar char="•"/>
            </a:pPr>
            <a:r>
              <a:rPr lang="zh-CN" altLang="en-US" sz="2000" b="1">
                <a:solidFill>
                  <a:srgbClr val="C35954"/>
                </a:solidFill>
                <a:latin typeface="微软雅黑" panose="020B0503020204020204" charset="-122"/>
                <a:ea typeface="微软雅黑" panose="020B0503020204020204" charset="-122"/>
                <a:cs typeface="微软雅黑" panose="020B0503020204020204" charset="-122"/>
              </a:rPr>
              <a:t>第一轮卷积和池化</a:t>
            </a:r>
            <a:r>
              <a:rPr lang="zh-CN" altLang="en-US" sz="1800">
                <a:solidFill>
                  <a:schemeClr val="bg1"/>
                </a:solidFill>
                <a:latin typeface="微软雅黑" panose="020B0503020204020204" charset="-122"/>
                <a:ea typeface="微软雅黑" panose="020B0503020204020204" charset="-122"/>
                <a:cs typeface="微软雅黑" panose="020B0503020204020204" charset="-122"/>
              </a:rPr>
              <a:t>：卷积提取图像中包含的特征模式（激活函数使用sigmoid），图像尺寸从32减小到28。经过池化层可以降低输出特征图对空间位置的敏感性，图像尺寸减到14。</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lang="zh-CN" altLang="en-US" sz="2000" b="1">
                <a:solidFill>
                  <a:srgbClr val="C35954"/>
                </a:solidFill>
                <a:latin typeface="微软雅黑" panose="020B0503020204020204" charset="-122"/>
                <a:ea typeface="微软雅黑" panose="020B0503020204020204" charset="-122"/>
                <a:cs typeface="微软雅黑" panose="020B0503020204020204" charset="-122"/>
              </a:rPr>
              <a:t>第二轮卷积和池化</a:t>
            </a:r>
            <a:r>
              <a:rPr lang="zh-CN" altLang="en-US" sz="1800">
                <a:solidFill>
                  <a:schemeClr val="bg1"/>
                </a:solidFill>
                <a:latin typeface="微软雅黑" panose="020B0503020204020204" charset="-122"/>
                <a:ea typeface="微软雅黑" panose="020B0503020204020204" charset="-122"/>
                <a:cs typeface="微软雅黑" panose="020B0503020204020204" charset="-122"/>
              </a:rPr>
              <a:t>：卷积操作使图像尺寸减小到10，经过池化后变成5。</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lang="zh-CN" altLang="en-US" sz="2000" b="1">
                <a:solidFill>
                  <a:srgbClr val="C35954"/>
                </a:solidFill>
                <a:latin typeface="微软雅黑" panose="020B0503020204020204" charset="-122"/>
                <a:ea typeface="微软雅黑" panose="020B0503020204020204" charset="-122"/>
                <a:cs typeface="微软雅黑" panose="020B0503020204020204" charset="-122"/>
              </a:rPr>
              <a:t>第三轮卷积</a:t>
            </a:r>
            <a:r>
              <a:rPr lang="zh-CN" altLang="en-US" sz="200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800">
                <a:solidFill>
                  <a:schemeClr val="bg1"/>
                </a:solidFill>
                <a:latin typeface="微软雅黑" panose="020B0503020204020204" charset="-122"/>
                <a:ea typeface="微软雅黑" panose="020B0503020204020204" charset="-122"/>
                <a:cs typeface="微软雅黑" panose="020B0503020204020204" charset="-122"/>
              </a:rPr>
              <a:t>将经过第3次卷积提取到的特征图输入到全连接层。第一个全连接层的输出神经元的个数是64，第二个全连接层的输出神经元个数是分类标签的类别数，对于手写数字识别其大小是10。然后使用Softmax激活函数即可计算出每个类别的预测概率。</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卷积和池化</a:t>
            </a:r>
            <a:r>
              <a:rPr lang="en-US" sz="2000" spc="15" dirty="0">
                <a:solidFill>
                  <a:schemeClr val="bg1"/>
                </a:solidFill>
                <a:latin typeface="微软雅黑" panose="020B0503020204020204" charset="-122"/>
                <a:ea typeface="微软雅黑" panose="020B0503020204020204" charset="-122"/>
                <a:cs typeface="微软雅黑" panose="020B0503020204020204" charset="-122"/>
              </a:rPr>
              <a:t> </a:t>
            </a:r>
            <a:endParaRPr 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323850" y="3860800"/>
            <a:ext cx="8314055" cy="645160"/>
          </a:xfrm>
          <a:prstGeom prst="rect">
            <a:avLst/>
          </a:prstGeom>
          <a:noFill/>
        </p:spPr>
        <p:txBody>
          <a:bodyPr wrap="square" rtlCol="0" anchor="t">
            <a:spAutoFit/>
          </a:bodyPr>
          <a:p>
            <a:pPr algn="l">
              <a:buClrTx/>
              <a:buSzTx/>
              <a:buFontTx/>
            </a:pPr>
            <a:r>
              <a:rPr lang="zh-CN" altLang="en-US" sz="1800">
                <a:solidFill>
                  <a:schemeClr val="bg1"/>
                </a:solidFill>
                <a:latin typeface="微软雅黑" panose="020B0503020204020204" charset="-122"/>
                <a:ea typeface="微软雅黑" panose="020B0503020204020204" charset="-122"/>
                <a:cs typeface="微软雅黑" panose="020B0503020204020204" charset="-122"/>
              </a:rPr>
              <a:t>池化是一种down-sampling技术，本质是基于滑动窗口的思想，可以去除特征图中的</a:t>
            </a:r>
            <a:r>
              <a:rPr lang="zh-CN" altLang="en-US" sz="1800" b="1">
                <a:solidFill>
                  <a:srgbClr val="C35954"/>
                </a:solidFill>
                <a:latin typeface="微软雅黑" panose="020B0503020204020204" charset="-122"/>
                <a:ea typeface="微软雅黑" panose="020B0503020204020204" charset="-122"/>
                <a:cs typeface="微软雅黑" panose="020B0503020204020204" charset="-122"/>
              </a:rPr>
              <a:t>冗余信息</a:t>
            </a:r>
            <a:r>
              <a:rPr lang="zh-CN" altLang="en-US" sz="1800">
                <a:solidFill>
                  <a:schemeClr val="bg1"/>
                </a:solidFill>
                <a:latin typeface="微软雅黑" panose="020B0503020204020204" charset="-122"/>
                <a:ea typeface="微软雅黑" panose="020B0503020204020204" charset="-122"/>
                <a:cs typeface="微软雅黑" panose="020B0503020204020204" charset="-122"/>
              </a:rPr>
              <a:t>，降低特征图的维度。</a:t>
            </a:r>
            <a:endParaRPr lang="zh-CN" altLang="en-US" sz="180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467995" y="4653280"/>
            <a:ext cx="6278880" cy="1859280"/>
          </a:xfrm>
          <a:prstGeom prst="rect">
            <a:avLst/>
          </a:prstGeom>
        </p:spPr>
      </p:pic>
      <p:pic>
        <p:nvPicPr>
          <p:cNvPr id="4" name="图片 3"/>
          <p:cNvPicPr>
            <a:picLocks noChangeAspect="1"/>
          </p:cNvPicPr>
          <p:nvPr/>
        </p:nvPicPr>
        <p:blipFill>
          <a:blip r:embed="rId2"/>
          <a:stretch>
            <a:fillRect/>
          </a:stretch>
        </p:blipFill>
        <p:spPr>
          <a:xfrm>
            <a:off x="323850" y="1273810"/>
            <a:ext cx="5935980" cy="2042160"/>
          </a:xfrm>
          <a:prstGeom prst="rect">
            <a:avLst/>
          </a:prstGeom>
        </p:spPr>
      </p:pic>
      <p:pic>
        <p:nvPicPr>
          <p:cNvPr id="10" name="图片 9"/>
          <p:cNvPicPr>
            <a:picLocks noChangeAspect="1"/>
          </p:cNvPicPr>
          <p:nvPr/>
        </p:nvPicPr>
        <p:blipFill>
          <a:blip r:embed="rId3"/>
          <a:stretch>
            <a:fillRect/>
          </a:stretch>
        </p:blipFill>
        <p:spPr>
          <a:xfrm>
            <a:off x="6444615" y="260350"/>
            <a:ext cx="2933700" cy="3055620"/>
          </a:xfrm>
          <a:prstGeom prst="rect">
            <a:avLst/>
          </a:prstGeom>
        </p:spPr>
      </p:pic>
      <p:sp>
        <p:nvSpPr>
          <p:cNvPr id="12" name="文本框 11"/>
          <p:cNvSpPr txBox="1"/>
          <p:nvPr/>
        </p:nvSpPr>
        <p:spPr>
          <a:xfrm>
            <a:off x="323850" y="786765"/>
            <a:ext cx="2216785" cy="368300"/>
          </a:xfrm>
          <a:prstGeom prst="rect">
            <a:avLst/>
          </a:prstGeom>
          <a:noFill/>
        </p:spPr>
        <p:txBody>
          <a:bodyPr wrap="none" rtlCol="0" anchor="t">
            <a:spAutoFit/>
          </a:bodyPr>
          <a:p>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卷积：</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padding = 0</a:t>
            </a:r>
            <a:endParaRPr lang="en-US" altLang="zh-CN">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3" name="文本框 12"/>
          <p:cNvSpPr txBox="1"/>
          <p:nvPr/>
        </p:nvSpPr>
        <p:spPr>
          <a:xfrm>
            <a:off x="4227830" y="243840"/>
            <a:ext cx="2216785" cy="368300"/>
          </a:xfrm>
          <a:prstGeom prst="rect">
            <a:avLst/>
          </a:prstGeom>
          <a:noFill/>
        </p:spPr>
        <p:txBody>
          <a:bodyPr wrap="none" rtlCol="0" anchor="t">
            <a:spAutoFit/>
          </a:bodyPr>
          <a:p>
            <a:pPr algn="l"/>
            <a:r>
              <a:rPr lang="zh-CN" altLang="en-US">
                <a:solidFill>
                  <a:schemeClr val="bg1"/>
                </a:solidFill>
                <a:latin typeface="微软雅黑" panose="020B0503020204020204" charset="-122"/>
                <a:ea typeface="微软雅黑" panose="020B0503020204020204" charset="-122"/>
                <a:cs typeface="微软雅黑" panose="020B0503020204020204" charset="-122"/>
                <a:sym typeface="+mn-ea"/>
              </a:rPr>
              <a:t>卷积：</a:t>
            </a:r>
            <a:r>
              <a:rPr lang="en-US" altLang="zh-CN">
                <a:solidFill>
                  <a:schemeClr val="bg1"/>
                </a:solidFill>
                <a:latin typeface="微软雅黑" panose="020B0503020204020204" charset="-122"/>
                <a:ea typeface="微软雅黑" panose="020B0503020204020204" charset="-122"/>
                <a:cs typeface="微软雅黑" panose="020B0503020204020204" charset="-122"/>
                <a:sym typeface="+mn-ea"/>
              </a:rPr>
              <a:t>padding = 1</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p:cNvSpPr/>
          <p:nvPr/>
        </p:nvSpPr>
        <p:spPr>
          <a:xfrm>
            <a:off x="0" y="188595"/>
            <a:ext cx="241998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en-US" altLang="zh-CN" sz="2000" spc="15" dirty="0">
                <a:solidFill>
                  <a:schemeClr val="bg1"/>
                </a:solidFill>
                <a:latin typeface="微软雅黑" panose="020B0503020204020204" charset="-122"/>
                <a:ea typeface="微软雅黑" panose="020B0503020204020204" charset="-122"/>
                <a:cs typeface="微软雅黑" panose="020B0503020204020204" charset="-122"/>
              </a:rPr>
              <a:t>MindSpore</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安装</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5" name="内容占位符 4"/>
          <p:cNvPicPr>
            <a:picLocks noChangeAspect="1"/>
          </p:cNvPicPr>
          <p:nvPr>
            <p:ph idx="1"/>
          </p:nvPr>
        </p:nvPicPr>
        <p:blipFill>
          <a:blip r:embed="rId1"/>
          <a:srcRect b="74503"/>
          <a:stretch>
            <a:fillRect/>
          </a:stretch>
        </p:blipFill>
        <p:spPr>
          <a:xfrm>
            <a:off x="323850" y="1340485"/>
            <a:ext cx="8349615" cy="1112520"/>
          </a:xfrm>
          <a:prstGeom prst="rect">
            <a:avLst/>
          </a:prstGeom>
        </p:spPr>
      </p:pic>
      <p:pic>
        <p:nvPicPr>
          <p:cNvPr id="6" name="图片 5"/>
          <p:cNvPicPr>
            <a:picLocks noChangeAspect="1"/>
          </p:cNvPicPr>
          <p:nvPr/>
        </p:nvPicPr>
        <p:blipFill>
          <a:blip r:embed="rId2"/>
          <a:stretch>
            <a:fillRect/>
          </a:stretch>
        </p:blipFill>
        <p:spPr>
          <a:xfrm>
            <a:off x="323850" y="2637155"/>
            <a:ext cx="7166610" cy="3873500"/>
          </a:xfrm>
          <a:prstGeom prst="rect">
            <a:avLst/>
          </a:prstGeom>
        </p:spPr>
      </p:pic>
      <p:pic>
        <p:nvPicPr>
          <p:cNvPr id="7" name="图片 6"/>
          <p:cNvPicPr>
            <a:picLocks noChangeAspect="1"/>
          </p:cNvPicPr>
          <p:nvPr/>
        </p:nvPicPr>
        <p:blipFill>
          <a:blip r:embed="rId3"/>
          <a:stretch>
            <a:fillRect/>
          </a:stretch>
        </p:blipFill>
        <p:spPr>
          <a:xfrm>
            <a:off x="-523875" y="-47625"/>
            <a:ext cx="10191750" cy="6953250"/>
          </a:xfrm>
          <a:prstGeom prst="rect">
            <a:avLst/>
          </a:prstGeom>
        </p:spPr>
      </p:pic>
      <p:sp>
        <p:nvSpPr>
          <p:cNvPr id="8" name="Rectangle 1"/>
          <p:cNvSpPr/>
          <p:nvPr/>
        </p:nvSpPr>
        <p:spPr>
          <a:xfrm>
            <a:off x="-252730" y="36830"/>
            <a:ext cx="4655820" cy="622300"/>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10" name="object 3"/>
          <p:cNvSpPr txBox="1">
            <a:spLocks noGrp="1"/>
          </p:cNvSpPr>
          <p:nvPr/>
        </p:nvSpPr>
        <p:spPr>
          <a:xfrm>
            <a:off x="0" y="158115"/>
            <a:ext cx="3218815" cy="379730"/>
          </a:xfrm>
          <a:prstGeom prst="rect">
            <a:avLst/>
          </a:prstGeom>
          <a:noFill/>
          <a:ln w="9525">
            <a:noFill/>
          </a:ln>
        </p:spPr>
        <p:txBody>
          <a:bodyPr vert="horz" wrap="square" lIns="0" tIns="10953" rIns="0" bIns="0" rtlCol="0" anchor="ctr" anchorCtr="0">
            <a:spAutoFit/>
          </a:bodyP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12700">
              <a:lnSpc>
                <a:spcPct val="100000"/>
              </a:lnSpc>
              <a:spcBef>
                <a:spcPts val="115"/>
              </a:spcBef>
            </a:pPr>
            <a:r>
              <a:rPr lang="zh-CN" sz="2400" spc="15" dirty="0">
                <a:solidFill>
                  <a:schemeClr val="bg1"/>
                </a:solidFill>
                <a:latin typeface="微软雅黑" panose="020B0503020204020204" charset="-122"/>
                <a:ea typeface="微软雅黑" panose="020B0503020204020204" charset="-122"/>
                <a:cs typeface="微软雅黑" panose="020B0503020204020204" charset="-122"/>
              </a:rPr>
              <a:t>深度学习的三个步骤</a:t>
            </a:r>
            <a:endParaRPr lang="zh-CN" sz="2400" spc="15"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14:reveal/>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83260" y="836295"/>
            <a:ext cx="7312660" cy="2399665"/>
          </a:xfrm>
          <a:prstGeom prst="rect">
            <a:avLst/>
          </a:prstGeom>
          <a:noFill/>
        </p:spPr>
        <p:txBody>
          <a:bodyPr wrap="square" rtlCol="0" anchor="t">
            <a:spAutoFit/>
          </a:bodyPr>
          <a:p>
            <a:r>
              <a:rPr lang="zh-CN" altLang="en-US">
                <a:solidFill>
                  <a:schemeClr val="tx1"/>
                </a:solidFill>
                <a:latin typeface="微软雅黑" panose="020B0503020204020204" charset="-122"/>
                <a:ea typeface="微软雅黑" panose="020B0503020204020204" charset="-122"/>
                <a:cs typeface="微软雅黑" panose="020B0503020204020204" charset="-122"/>
              </a:rPr>
              <a:t>使用MindSpore定义神经网络需要继承</a:t>
            </a:r>
            <a:r>
              <a:rPr lang="en-US" altLang="zh-CN">
                <a:solidFill>
                  <a:schemeClr val="tx1"/>
                </a:solidFill>
                <a:latin typeface="微软雅黑" panose="020B0503020204020204" charset="-122"/>
                <a:ea typeface="微软雅黑" panose="020B0503020204020204" charset="-122"/>
                <a:cs typeface="微软雅黑" panose="020B0503020204020204" charset="-122"/>
              </a:rPr>
              <a:t> </a:t>
            </a:r>
            <a:r>
              <a:rPr lang="zh-CN" altLang="en-US" sz="2000" b="1">
                <a:solidFill>
                  <a:srgbClr val="C35954"/>
                </a:solidFill>
                <a:latin typeface="微软雅黑" panose="020B0503020204020204" charset="-122"/>
                <a:ea typeface="微软雅黑" panose="020B0503020204020204" charset="-122"/>
              </a:rPr>
              <a:t>mindspore.nn.Cell</a:t>
            </a:r>
            <a:r>
              <a:rPr lang="zh-CN" altLang="en-US">
                <a:solidFill>
                  <a:schemeClr val="tx1"/>
                </a:solidFill>
                <a:latin typeface="微软雅黑" panose="020B0503020204020204" charset="-122"/>
                <a:ea typeface="微软雅黑" panose="020B0503020204020204" charset="-122"/>
                <a:cs typeface="微软雅黑" panose="020B0503020204020204" charset="-122"/>
              </a:rPr>
              <a:t>。</a:t>
            </a: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a:p>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a:solidFill>
                  <a:schemeClr val="tx1"/>
                </a:solidFill>
                <a:latin typeface="微软雅黑" panose="020B0503020204020204" charset="-122"/>
                <a:ea typeface="微软雅黑" panose="020B0503020204020204" charset="-122"/>
                <a:cs typeface="微软雅黑" panose="020B0503020204020204" charset="-122"/>
              </a:rPr>
              <a:t>Cell是所有神经网络（如Conv2d-relu-softmax等）的</a:t>
            </a:r>
            <a:r>
              <a:rPr lang="zh-CN" altLang="en-US" sz="2000" b="1">
                <a:solidFill>
                  <a:srgbClr val="C35954"/>
                </a:solidFill>
                <a:latin typeface="微软雅黑" panose="020B0503020204020204" charset="-122"/>
                <a:ea typeface="微软雅黑" panose="020B0503020204020204" charset="-122"/>
              </a:rPr>
              <a:t>基类</a:t>
            </a:r>
            <a:r>
              <a:rPr lang="zh-CN" altLang="en-US">
                <a:solidFill>
                  <a:schemeClr val="tx1"/>
                </a:solidFill>
                <a:latin typeface="微软雅黑" panose="020B0503020204020204" charset="-122"/>
                <a:ea typeface="微软雅黑" panose="020B0503020204020204" charset="-122"/>
                <a:cs typeface="微软雅黑" panose="020B0503020204020204" charset="-122"/>
              </a:rPr>
              <a:t>。</a:t>
            </a: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a:p>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a:solidFill>
                  <a:schemeClr val="tx1"/>
                </a:solidFill>
                <a:latin typeface="微软雅黑" panose="020B0503020204020204" charset="-122"/>
                <a:ea typeface="微软雅黑" panose="020B0503020204020204" charset="-122"/>
                <a:cs typeface="微软雅黑" panose="020B0503020204020204" charset="-122"/>
              </a:rPr>
              <a:t>神经网络的各层需要预先在__init__方法中定义，然后通过定义</a:t>
            </a:r>
            <a:r>
              <a:rPr lang="zh-CN" altLang="en-US" sz="2000" b="1">
                <a:solidFill>
                  <a:srgbClr val="C35954"/>
                </a:solidFill>
                <a:latin typeface="微软雅黑" panose="020B0503020204020204" charset="-122"/>
                <a:ea typeface="微软雅黑" panose="020B0503020204020204" charset="-122"/>
              </a:rPr>
              <a:t>construct</a:t>
            </a:r>
            <a:r>
              <a:rPr lang="zh-CN" altLang="en-US">
                <a:solidFill>
                  <a:schemeClr val="tx1"/>
                </a:solidFill>
                <a:latin typeface="微软雅黑" panose="020B0503020204020204" charset="-122"/>
                <a:ea typeface="微软雅黑" panose="020B0503020204020204" charset="-122"/>
                <a:cs typeface="微软雅黑" panose="020B0503020204020204" charset="-122"/>
              </a:rPr>
              <a:t>方法来完成神经网络的前向构造。</a:t>
            </a: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a:p>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a:solidFill>
                  <a:schemeClr val="tx1"/>
                </a:solidFill>
                <a:latin typeface="微软雅黑" panose="020B0503020204020204" charset="-122"/>
                <a:ea typeface="微软雅黑" panose="020B0503020204020204" charset="-122"/>
                <a:cs typeface="微软雅黑" panose="020B0503020204020204" charset="-122"/>
              </a:rPr>
              <a:t>按照</a:t>
            </a:r>
            <a:r>
              <a:rPr lang="zh-CN" altLang="en-US">
                <a:solidFill>
                  <a:schemeClr val="tx1"/>
                </a:solidFill>
                <a:latin typeface="微软雅黑" panose="020B0503020204020204" charset="-122"/>
                <a:ea typeface="微软雅黑" panose="020B0503020204020204" charset="-122"/>
                <a:cs typeface="微软雅黑" panose="020B0503020204020204" charset="-122"/>
                <a:hlinkClick r:id="rId1" action="ppaction://hlinkfile"/>
              </a:rPr>
              <a:t>LeNet</a:t>
            </a:r>
            <a:r>
              <a:rPr lang="zh-CN" altLang="en-US">
                <a:solidFill>
                  <a:schemeClr val="tx1"/>
                </a:solidFill>
                <a:latin typeface="微软雅黑" panose="020B0503020204020204" charset="-122"/>
                <a:ea typeface="微软雅黑" panose="020B0503020204020204" charset="-122"/>
                <a:cs typeface="微软雅黑" panose="020B0503020204020204" charset="-122"/>
              </a:rPr>
              <a:t>的网络结构，定义网络各层如下：</a:t>
            </a: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定义</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网络</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2"/>
          <a:stretch>
            <a:fillRect/>
          </a:stretch>
        </p:blipFill>
        <p:spPr>
          <a:xfrm>
            <a:off x="755650" y="3284855"/>
            <a:ext cx="4652645" cy="3507740"/>
          </a:xfrm>
          <a:prstGeom prst="rect">
            <a:avLst/>
          </a:prstGeom>
        </p:spPr>
      </p:pic>
      <p:pic>
        <p:nvPicPr>
          <p:cNvPr id="8" name="图片 7"/>
          <p:cNvPicPr>
            <a:picLocks noChangeAspect="1"/>
          </p:cNvPicPr>
          <p:nvPr/>
        </p:nvPicPr>
        <p:blipFill>
          <a:blip r:embed="rId3"/>
          <a:stretch>
            <a:fillRect/>
          </a:stretch>
        </p:blipFill>
        <p:spPr>
          <a:xfrm>
            <a:off x="5652135" y="2693035"/>
            <a:ext cx="3284220" cy="4099560"/>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83260" y="836295"/>
            <a:ext cx="8006080" cy="2646045"/>
          </a:xfrm>
          <a:prstGeom prst="rect">
            <a:avLst/>
          </a:prstGeom>
          <a:noFill/>
        </p:spPr>
        <p:txBody>
          <a:bodyPr wrap="square" rtlCol="0" anchor="t">
            <a:spAutoFit/>
          </a:bodyPr>
          <a:p>
            <a:r>
              <a:rPr lang="zh-CN" altLang="en-US" sz="1800">
                <a:latin typeface="微软雅黑" panose="020B0503020204020204" charset="-122"/>
                <a:ea typeface="微软雅黑" panose="020B0503020204020204" charset="-122"/>
                <a:cs typeface="微软雅黑" panose="020B0503020204020204" charset="-122"/>
              </a:rPr>
              <a:t>损失函数用来评价模型的预测值和真实值不一样的程度。</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hlinkClick r:id="rId1" action="ppaction://hlinkfile"/>
              </a:rPr>
              <a:t>mindspore.nn.loss</a:t>
            </a:r>
            <a:r>
              <a:rPr lang="zh-CN" altLang="en-US" sz="1800">
                <a:latin typeface="微软雅黑" panose="020B0503020204020204" charset="-122"/>
                <a:ea typeface="微软雅黑" panose="020B0503020204020204" charset="-122"/>
                <a:cs typeface="微软雅黑" panose="020B0503020204020204" charset="-122"/>
              </a:rPr>
              <a:t>也提供了许多其他常用的损失函数：</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如</a:t>
            </a:r>
            <a:r>
              <a:rPr lang="zh-CN" altLang="en-US" sz="1800">
                <a:latin typeface="微软雅黑" panose="020B0503020204020204" charset="-122"/>
                <a:ea typeface="微软雅黑" panose="020B0503020204020204" charset="-122"/>
                <a:cs typeface="微软雅黑" panose="020B0503020204020204" charset="-122"/>
                <a:sym typeface="+mn-ea"/>
              </a:rPr>
              <a:t>绝对误差损失函数</a:t>
            </a:r>
            <a:r>
              <a:rPr lang="zh-CN" altLang="en-US" sz="2000" b="1">
                <a:solidFill>
                  <a:srgbClr val="C35954"/>
                </a:solidFill>
                <a:latin typeface="微软雅黑" panose="020B0503020204020204" charset="-122"/>
                <a:ea typeface="微软雅黑" panose="020B0503020204020204" charset="-122"/>
              </a:rPr>
              <a:t>SoftmaxCrossEntropyWithLogits</a:t>
            </a:r>
            <a:r>
              <a:rPr lang="zh-CN" altLang="en-US" sz="1800">
                <a:latin typeface="微软雅黑" panose="020B0503020204020204" charset="-122"/>
                <a:ea typeface="微软雅黑" panose="020B0503020204020204" charset="-122"/>
                <a:cs typeface="微软雅黑" panose="020B0503020204020204" charset="-122"/>
              </a:rPr>
              <a:t>、</a:t>
            </a:r>
            <a:r>
              <a:rPr lang="zh-CN" altLang="en-US" sz="2000" b="1">
                <a:solidFill>
                  <a:srgbClr val="C35954"/>
                </a:solidFill>
                <a:latin typeface="微软雅黑" panose="020B0503020204020204" charset="-122"/>
                <a:ea typeface="微软雅黑" panose="020B0503020204020204" charset="-122"/>
              </a:rPr>
              <a:t>MSELoss</a:t>
            </a:r>
            <a:r>
              <a:rPr lang="zh-CN" altLang="en-US" sz="1800">
                <a:latin typeface="微软雅黑" panose="020B0503020204020204" charset="-122"/>
                <a:ea typeface="微软雅黑" panose="020B0503020204020204" charset="-122"/>
                <a:cs typeface="微软雅黑" panose="020B0503020204020204" charset="-122"/>
              </a:rPr>
              <a:t>、</a:t>
            </a:r>
            <a:r>
              <a:rPr lang="zh-CN" altLang="en-US" sz="2000" b="1">
                <a:solidFill>
                  <a:srgbClr val="C35954"/>
                </a:solidFill>
                <a:latin typeface="微软雅黑" panose="020B0503020204020204" charset="-122"/>
                <a:ea typeface="微软雅黑" panose="020B0503020204020204" charset="-122"/>
              </a:rPr>
              <a:t>SmoothL1Loss</a:t>
            </a:r>
            <a:r>
              <a:rPr lang="zh-CN" altLang="en-US" sz="1800">
                <a:latin typeface="微软雅黑" panose="020B0503020204020204" charset="-122"/>
                <a:ea typeface="微软雅黑" panose="020B0503020204020204" charset="-122"/>
                <a:cs typeface="微软雅黑" panose="020B0503020204020204" charset="-122"/>
              </a:rPr>
              <a:t>等。</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solidFill>
                  <a:schemeClr val="tx1"/>
                </a:solidFill>
                <a:latin typeface="微软雅黑" panose="020B0503020204020204" charset="-122"/>
                <a:ea typeface="微软雅黑" panose="020B0503020204020204" charset="-122"/>
                <a:cs typeface="微软雅黑" panose="020B0503020204020204" charset="-122"/>
              </a:rPr>
              <a:t>我们给定输出值和目标值，计算损失值，使用方法如下所示：</a:t>
            </a:r>
            <a:endParaRPr lang="zh-CN" altLang="en-US" sz="1800">
              <a:solidFill>
                <a:schemeClr val="tx1"/>
              </a:solidFill>
              <a:latin typeface="微软雅黑" panose="020B0503020204020204" charset="-122"/>
              <a:ea typeface="微软雅黑" panose="020B0503020204020204" charset="-122"/>
              <a:cs typeface="微软雅黑" panose="020B0503020204020204" charset="-122"/>
            </a:endParaRPr>
          </a:p>
          <a:p>
            <a:endParaRPr lang="zh-CN" altLang="en-US" sz="1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定义损失</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函数</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2"/>
          <a:stretch>
            <a:fillRect/>
          </a:stretch>
        </p:blipFill>
        <p:spPr>
          <a:xfrm>
            <a:off x="755650" y="3356610"/>
            <a:ext cx="7598410" cy="2503170"/>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83895" y="764540"/>
            <a:ext cx="8006080" cy="3753485"/>
          </a:xfrm>
          <a:prstGeom prst="rect">
            <a:avLst/>
          </a:prstGeom>
          <a:noFill/>
        </p:spPr>
        <p:txBody>
          <a:bodyPr wrap="square" rtlCol="0" anchor="t">
            <a:spAutoFit/>
          </a:bodyPr>
          <a:p>
            <a:r>
              <a:rPr lang="zh-CN" altLang="en-US" sz="2000" b="1">
                <a:solidFill>
                  <a:srgbClr val="C35954"/>
                </a:solidFill>
                <a:latin typeface="微软雅黑" panose="020B0503020204020204" charset="-122"/>
                <a:ea typeface="微软雅黑" panose="020B0503020204020204" charset="-122"/>
              </a:rPr>
              <a:t>优化器用于计算和更新梯度</a:t>
            </a:r>
            <a:r>
              <a:rPr lang="zh-CN" altLang="en-US" sz="1800">
                <a:latin typeface="微软雅黑" panose="020B0503020204020204" charset="-122"/>
                <a:ea typeface="微软雅黑" panose="020B0503020204020204" charset="-122"/>
                <a:cs typeface="微软雅黑" panose="020B0503020204020204" charset="-122"/>
              </a:rPr>
              <a:t>，模型优化算法的选择直接关系到最终模型的性能，如果有时候效果不好，未必是特征或者模型设计的问题，很有可能是优化算法的问题。</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MindSpore所有优化逻辑都封装在</a:t>
            </a:r>
            <a:r>
              <a:rPr lang="zh-CN" altLang="en-US" sz="2000" b="1">
                <a:solidFill>
                  <a:srgbClr val="C35954"/>
                </a:solidFill>
                <a:latin typeface="微软雅黑" panose="020B0503020204020204" charset="-122"/>
                <a:ea typeface="微软雅黑" panose="020B0503020204020204" charset="-122"/>
              </a:rPr>
              <a:t>Optimizer</a:t>
            </a:r>
            <a:r>
              <a:rPr lang="zh-CN" altLang="en-US" sz="1800">
                <a:latin typeface="微软雅黑" panose="020B0503020204020204" charset="-122"/>
                <a:ea typeface="微软雅黑" panose="020B0503020204020204" charset="-122"/>
                <a:cs typeface="微软雅黑" panose="020B0503020204020204" charset="-122"/>
              </a:rPr>
              <a:t>对象中。</a:t>
            </a:r>
            <a:r>
              <a:rPr lang="en-US" altLang="zh-CN" sz="1800">
                <a:latin typeface="微软雅黑" panose="020B0503020204020204" charset="-122"/>
                <a:ea typeface="微软雅黑" panose="020B0503020204020204" charset="-122"/>
                <a:cs typeface="微软雅黑" panose="020B0503020204020204" charset="-122"/>
                <a:hlinkClick r:id="rId1" action="ppaction://hlinkfile"/>
              </a:rPr>
              <a:t>API</a:t>
            </a:r>
            <a:r>
              <a:rPr lang="zh-CN" altLang="en-US" sz="1800">
                <a:latin typeface="微软雅黑" panose="020B0503020204020204" charset="-122"/>
                <a:ea typeface="微软雅黑" panose="020B0503020204020204" charset="-122"/>
                <a:cs typeface="微软雅黑" panose="020B0503020204020204" charset="-122"/>
                <a:hlinkClick r:id="rId1" action="ppaction://hlinkfile"/>
              </a:rPr>
              <a:t>文档</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solidFill>
                  <a:schemeClr val="tx1"/>
                </a:solidFill>
                <a:latin typeface="微软雅黑" panose="020B0503020204020204" charset="-122"/>
                <a:ea typeface="微软雅黑" panose="020B0503020204020204" charset="-122"/>
                <a:cs typeface="微软雅黑" panose="020B0503020204020204" charset="-122"/>
              </a:rPr>
              <a:t>需要构建一个Optimizer对象，这个对象能够保持当前参数状态并基于计算得到的梯度进行参数更新。</a:t>
            </a:r>
            <a:endParaRPr lang="zh-CN" altLang="en-US" sz="1800">
              <a:solidFill>
                <a:schemeClr val="tx1"/>
              </a:solidFill>
              <a:latin typeface="微软雅黑" panose="020B0503020204020204" charset="-122"/>
              <a:ea typeface="微软雅黑" panose="020B0503020204020204" charset="-122"/>
              <a:cs typeface="微软雅黑" panose="020B0503020204020204" charset="-122"/>
            </a:endParaRPr>
          </a:p>
          <a:p>
            <a:endParaRPr lang="zh-CN" altLang="en-US" sz="1800">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sz="1800">
                <a:solidFill>
                  <a:schemeClr val="tx1"/>
                </a:solidFill>
                <a:latin typeface="微软雅黑" panose="020B0503020204020204" charset="-122"/>
                <a:ea typeface="微软雅黑" panose="020B0503020204020204" charset="-122"/>
                <a:cs typeface="微软雅黑" panose="020B0503020204020204" charset="-122"/>
              </a:rPr>
              <a:t>为了构建一个Optimizer，我们需要给它一个包含可优化的参数（必须是Variable对象）的迭代器，如网络中所有可以训练的parameter，将params设置为net.trainable_params()即可。然后，你可以设置Optimizer的参数选项，比如学习率、权重衰减等等。</a:t>
            </a:r>
            <a:endParaRPr lang="zh-CN" altLang="en-US" sz="1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定义</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优化器</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2"/>
          <a:stretch>
            <a:fillRect/>
          </a:stretch>
        </p:blipFill>
        <p:spPr>
          <a:xfrm>
            <a:off x="683895" y="4695190"/>
            <a:ext cx="7856220" cy="740410"/>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67360" y="908685"/>
            <a:ext cx="5948680" cy="2306955"/>
          </a:xfrm>
          <a:prstGeom prst="rect">
            <a:avLst/>
          </a:prstGeom>
          <a:noFill/>
        </p:spPr>
        <p:txBody>
          <a:bodyPr wrap="square" rtlCol="0" anchor="t">
            <a:spAutoFit/>
          </a:bodyPr>
          <a:p>
            <a:r>
              <a:rPr lang="zh-CN" altLang="en-US" sz="1800">
                <a:latin typeface="微软雅黑" panose="020B0503020204020204" charset="-122"/>
                <a:ea typeface="微软雅黑" panose="020B0503020204020204" charset="-122"/>
                <a:cs typeface="微软雅黑" panose="020B0503020204020204" charset="-122"/>
              </a:rPr>
              <a:t>在模型训练过程中，一般分为四个步骤。</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1. </a:t>
            </a:r>
            <a:r>
              <a:rPr lang="zh-CN" altLang="en-US" sz="1800">
                <a:latin typeface="微软雅黑" panose="020B0503020204020204" charset="-122"/>
                <a:ea typeface="微软雅黑" panose="020B0503020204020204" charset="-122"/>
                <a:cs typeface="微软雅黑" panose="020B0503020204020204" charset="-122"/>
              </a:rPr>
              <a:t>定义神经网络</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2. </a:t>
            </a:r>
            <a:r>
              <a:rPr lang="zh-CN" altLang="en-US" sz="1800">
                <a:latin typeface="微软雅黑" panose="020B0503020204020204" charset="-122"/>
                <a:ea typeface="微软雅黑" panose="020B0503020204020204" charset="-122"/>
                <a:cs typeface="微软雅黑" panose="020B0503020204020204" charset="-122"/>
                <a:sym typeface="+mn-ea"/>
              </a:rPr>
              <a:t>定义超参、损失函数及优化器</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3. </a:t>
            </a:r>
            <a:r>
              <a:rPr lang="zh-CN" altLang="en-US" sz="1800">
                <a:latin typeface="微软雅黑" panose="020B0503020204020204" charset="-122"/>
                <a:ea typeface="微软雅黑" panose="020B0503020204020204" charset="-122"/>
                <a:cs typeface="微软雅黑" panose="020B0503020204020204" charset="-122"/>
              </a:rPr>
              <a:t>读入数据集</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p:txBody>
      </p:sp>
      <p:sp>
        <p:nvSpPr>
          <p:cNvPr id="11" name="Rectangle 1"/>
          <p:cNvSpPr/>
          <p:nvPr/>
        </p:nvSpPr>
        <p:spPr>
          <a:xfrm>
            <a:off x="0" y="188595"/>
            <a:ext cx="20110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1618615"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准备</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数据集</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6" name="图片 5"/>
          <p:cNvPicPr>
            <a:picLocks noChangeAspect="1"/>
          </p:cNvPicPr>
          <p:nvPr/>
        </p:nvPicPr>
        <p:blipFill>
          <a:blip r:embed="rId1"/>
          <a:stretch>
            <a:fillRect/>
          </a:stretch>
        </p:blipFill>
        <p:spPr>
          <a:xfrm>
            <a:off x="467995" y="3284855"/>
            <a:ext cx="8629015" cy="24561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67360" y="908685"/>
            <a:ext cx="5948680" cy="2584450"/>
          </a:xfrm>
          <a:prstGeom prst="rect">
            <a:avLst/>
          </a:prstGeom>
          <a:noFill/>
        </p:spPr>
        <p:txBody>
          <a:bodyPr wrap="square" rtlCol="0" anchor="t">
            <a:spAutoFit/>
          </a:bodyPr>
          <a:p>
            <a:r>
              <a:rPr lang="zh-CN" altLang="en-US" sz="1800">
                <a:latin typeface="微软雅黑" panose="020B0503020204020204" charset="-122"/>
                <a:ea typeface="微软雅黑" panose="020B0503020204020204" charset="-122"/>
                <a:cs typeface="微软雅黑" panose="020B0503020204020204" charset="-122"/>
              </a:rPr>
              <a:t>在模型训练过程中，一般分为四个步骤。</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1. </a:t>
            </a:r>
            <a:r>
              <a:rPr lang="zh-CN" altLang="en-US" sz="1800">
                <a:latin typeface="微软雅黑" panose="020B0503020204020204" charset="-122"/>
                <a:ea typeface="微软雅黑" panose="020B0503020204020204" charset="-122"/>
                <a:cs typeface="微软雅黑" panose="020B0503020204020204" charset="-122"/>
              </a:rPr>
              <a:t>定义神经网络</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2. </a:t>
            </a:r>
            <a:r>
              <a:rPr lang="zh-CN" altLang="en-US" sz="1800">
                <a:latin typeface="微软雅黑" panose="020B0503020204020204" charset="-122"/>
                <a:ea typeface="微软雅黑" panose="020B0503020204020204" charset="-122"/>
                <a:cs typeface="微软雅黑" panose="020B0503020204020204" charset="-122"/>
                <a:sym typeface="+mn-ea"/>
              </a:rPr>
              <a:t>定义超参、损失函数及优化器</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3. </a:t>
            </a:r>
            <a:r>
              <a:rPr lang="zh-CN" altLang="en-US" sz="1800">
                <a:latin typeface="微软雅黑" panose="020B0503020204020204" charset="-122"/>
                <a:ea typeface="微软雅黑" panose="020B0503020204020204" charset="-122"/>
                <a:cs typeface="微软雅黑" panose="020B0503020204020204" charset="-122"/>
              </a:rPr>
              <a:t>读入数据集</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4. </a:t>
            </a:r>
            <a:r>
              <a:rPr lang="zh-CN" altLang="en-US" sz="1800">
                <a:latin typeface="微软雅黑" panose="020B0503020204020204" charset="-122"/>
                <a:ea typeface="微软雅黑" panose="020B0503020204020204" charset="-122"/>
                <a:cs typeface="微软雅黑" panose="020B0503020204020204" charset="-122"/>
              </a:rPr>
              <a:t>输入训练轮次和数据集进行训练。</a:t>
            </a:r>
            <a:r>
              <a:rPr lang="en-US" altLang="zh-CN" sz="1800">
                <a:latin typeface="微软雅黑" panose="020B0503020204020204" charset="-122"/>
                <a:ea typeface="微软雅黑" panose="020B0503020204020204" charset="-122"/>
                <a:cs typeface="微软雅黑" panose="020B0503020204020204" charset="-122"/>
                <a:hlinkClick r:id="rId1" action="ppaction://hlinkfile"/>
              </a:rPr>
              <a:t>API</a:t>
            </a:r>
            <a:r>
              <a:rPr lang="zh-CN" altLang="en-US" sz="1800">
                <a:latin typeface="微软雅黑" panose="020B0503020204020204" charset="-122"/>
                <a:ea typeface="微软雅黑" panose="020B0503020204020204" charset="-122"/>
                <a:cs typeface="微软雅黑" panose="020B0503020204020204" charset="-122"/>
                <a:hlinkClick r:id="rId1" action="ppaction://hlinkfile"/>
              </a:rPr>
              <a:t>文档</a:t>
            </a:r>
            <a:endParaRPr lang="zh-CN" altLang="en-US" sz="1800">
              <a:latin typeface="微软雅黑" panose="020B0503020204020204" charset="-122"/>
              <a:ea typeface="微软雅黑" panose="020B0503020204020204" charset="-122"/>
              <a:cs typeface="微软雅黑" panose="020B0503020204020204" charset="-122"/>
            </a:endParaRPr>
          </a:p>
        </p:txBody>
      </p:sp>
      <p:sp>
        <p:nvSpPr>
          <p:cNvPr id="11" name="Rectangle 1"/>
          <p:cNvSpPr/>
          <p:nvPr/>
        </p:nvSpPr>
        <p:spPr>
          <a:xfrm>
            <a:off x="0" y="188595"/>
            <a:ext cx="20110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1618615"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训练</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2"/>
          <a:stretch>
            <a:fillRect/>
          </a:stretch>
        </p:blipFill>
        <p:spPr>
          <a:xfrm>
            <a:off x="539750" y="3572510"/>
            <a:ext cx="8530590" cy="2997200"/>
          </a:xfrm>
          <a:prstGeom prst="rect">
            <a:avLst/>
          </a:prstGeom>
        </p:spPr>
      </p:pic>
      <p:sp>
        <p:nvSpPr>
          <p:cNvPr id="5" name="文本框 4"/>
          <p:cNvSpPr txBox="1"/>
          <p:nvPr/>
        </p:nvSpPr>
        <p:spPr>
          <a:xfrm>
            <a:off x="5796280" y="2060575"/>
            <a:ext cx="3143885" cy="1506855"/>
          </a:xfrm>
          <a:prstGeom prst="rect">
            <a:avLst/>
          </a:prstGeom>
          <a:noFill/>
        </p:spPr>
        <p:txBody>
          <a:bodyPr wrap="square" rtlCol="0" anchor="t">
            <a:spAutoFit/>
          </a:bodyPr>
          <a:p>
            <a:r>
              <a:rPr lang="zh-CN" altLang="en-US" sz="1600">
                <a:latin typeface="微软雅黑" panose="020B0503020204020204" charset="-122"/>
                <a:ea typeface="微软雅黑" panose="020B0503020204020204" charset="-122"/>
                <a:cs typeface="微软雅黑" panose="020B0503020204020204" charset="-122"/>
              </a:rPr>
              <a:t>训练过程中会打印loss值，loss值会</a:t>
            </a:r>
            <a:r>
              <a:rPr lang="zh-CN" altLang="en-US" sz="2000" b="1">
                <a:solidFill>
                  <a:srgbClr val="C35954"/>
                </a:solidFill>
                <a:latin typeface="微软雅黑" panose="020B0503020204020204" charset="-122"/>
                <a:ea typeface="微软雅黑" panose="020B0503020204020204" charset="-122"/>
              </a:rPr>
              <a:t>波动</a:t>
            </a:r>
            <a:r>
              <a:rPr lang="zh-CN" altLang="en-US" sz="1600">
                <a:latin typeface="微软雅黑" panose="020B0503020204020204" charset="-122"/>
                <a:ea typeface="微软雅黑" panose="020B0503020204020204" charset="-122"/>
                <a:cs typeface="微软雅黑" panose="020B0503020204020204" charset="-122"/>
              </a:rPr>
              <a:t>，但总体来说loss值会逐步</a:t>
            </a:r>
            <a:r>
              <a:rPr lang="zh-CN" altLang="en-US" sz="2000" b="1">
                <a:solidFill>
                  <a:srgbClr val="C35954"/>
                </a:solidFill>
                <a:latin typeface="微软雅黑" panose="020B0503020204020204" charset="-122"/>
                <a:ea typeface="微软雅黑" panose="020B0503020204020204" charset="-122"/>
              </a:rPr>
              <a:t>减小</a:t>
            </a:r>
            <a:r>
              <a:rPr lang="zh-CN" altLang="en-US" sz="1600">
                <a:latin typeface="微软雅黑" panose="020B0503020204020204" charset="-122"/>
                <a:ea typeface="微软雅黑" panose="020B0503020204020204" charset="-122"/>
                <a:cs typeface="微软雅黑" panose="020B0503020204020204" charset="-122"/>
              </a:rPr>
              <a:t>，精度逐步</a:t>
            </a:r>
            <a:r>
              <a:rPr lang="zh-CN" altLang="en-US" sz="2000" b="1">
                <a:solidFill>
                  <a:srgbClr val="C35954"/>
                </a:solidFill>
                <a:latin typeface="微软雅黑" panose="020B0503020204020204" charset="-122"/>
                <a:ea typeface="微软雅黑" panose="020B0503020204020204" charset="-122"/>
              </a:rPr>
              <a:t>提高</a:t>
            </a:r>
            <a:r>
              <a:rPr lang="zh-CN" altLang="en-US" sz="1600">
                <a:latin typeface="微软雅黑" panose="020B0503020204020204" charset="-122"/>
                <a:ea typeface="微软雅黑" panose="020B0503020204020204" charset="-122"/>
                <a:cs typeface="微软雅黑" panose="020B0503020204020204" charset="-122"/>
              </a:rPr>
              <a:t>。每个人运行的loss值有一定</a:t>
            </a:r>
            <a:r>
              <a:rPr lang="zh-CN" altLang="en-US" sz="2000" b="1">
                <a:solidFill>
                  <a:srgbClr val="C35954"/>
                </a:solidFill>
                <a:latin typeface="微软雅黑" panose="020B0503020204020204" charset="-122"/>
                <a:ea typeface="微软雅黑" panose="020B0503020204020204" charset="-122"/>
              </a:rPr>
              <a:t>随机</a:t>
            </a:r>
            <a:r>
              <a:rPr lang="zh-CN" altLang="en-US" sz="1600">
                <a:latin typeface="微软雅黑" panose="020B0503020204020204" charset="-122"/>
                <a:ea typeface="微软雅黑" panose="020B0503020204020204" charset="-122"/>
                <a:cs typeface="微软雅黑" panose="020B0503020204020204" charset="-122"/>
              </a:rPr>
              <a:t>性，不一定完全相同。</a:t>
            </a:r>
            <a:endParaRPr lang="zh-CN" altLang="en-US"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67360" y="908685"/>
            <a:ext cx="5948680" cy="3138170"/>
          </a:xfrm>
          <a:prstGeom prst="rect">
            <a:avLst/>
          </a:prstGeom>
          <a:noFill/>
        </p:spPr>
        <p:txBody>
          <a:bodyPr wrap="square" rtlCol="0" anchor="t">
            <a:spAutoFit/>
          </a:bodyPr>
          <a:p>
            <a:r>
              <a:rPr lang="zh-CN" altLang="en-US" sz="1800">
                <a:latin typeface="微软雅黑" panose="020B0503020204020204" charset="-122"/>
                <a:ea typeface="微软雅黑" panose="020B0503020204020204" charset="-122"/>
                <a:cs typeface="微软雅黑" panose="020B0503020204020204" charset="-122"/>
              </a:rPr>
              <a:t>在模型训练过程中，一般分为四个步骤。</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1. </a:t>
            </a:r>
            <a:r>
              <a:rPr lang="zh-CN" altLang="en-US" sz="1800">
                <a:latin typeface="微软雅黑" panose="020B0503020204020204" charset="-122"/>
                <a:ea typeface="微软雅黑" panose="020B0503020204020204" charset="-122"/>
                <a:cs typeface="微软雅黑" panose="020B0503020204020204" charset="-122"/>
              </a:rPr>
              <a:t>定义神经网络</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2. </a:t>
            </a:r>
            <a:r>
              <a:rPr lang="zh-CN" altLang="en-US" sz="1800">
                <a:latin typeface="微软雅黑" panose="020B0503020204020204" charset="-122"/>
                <a:ea typeface="微软雅黑" panose="020B0503020204020204" charset="-122"/>
                <a:cs typeface="微软雅黑" panose="020B0503020204020204" charset="-122"/>
                <a:sym typeface="+mn-ea"/>
              </a:rPr>
              <a:t>定义超参、损失函数及优化器</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3. </a:t>
            </a:r>
            <a:r>
              <a:rPr lang="zh-CN" altLang="en-US" sz="1800">
                <a:latin typeface="微软雅黑" panose="020B0503020204020204" charset="-122"/>
                <a:ea typeface="微软雅黑" panose="020B0503020204020204" charset="-122"/>
                <a:cs typeface="微软雅黑" panose="020B0503020204020204" charset="-122"/>
              </a:rPr>
              <a:t>读入数据集</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4. </a:t>
            </a:r>
            <a:r>
              <a:rPr lang="zh-CN" altLang="en-US" sz="1800">
                <a:latin typeface="微软雅黑" panose="020B0503020204020204" charset="-122"/>
                <a:ea typeface="微软雅黑" panose="020B0503020204020204" charset="-122"/>
                <a:cs typeface="微软雅黑" panose="020B0503020204020204" charset="-122"/>
              </a:rPr>
              <a:t>输入训练轮次和数据集进行训练。</a:t>
            </a:r>
            <a:r>
              <a:rPr lang="en-US" altLang="zh-CN" sz="1800">
                <a:latin typeface="微软雅黑" panose="020B0503020204020204" charset="-122"/>
                <a:ea typeface="微软雅黑" panose="020B0503020204020204" charset="-122"/>
                <a:cs typeface="微软雅黑" panose="020B0503020204020204" charset="-122"/>
                <a:hlinkClick r:id="rId1" action="ppaction://hlinkfile"/>
              </a:rPr>
              <a:t>API</a:t>
            </a:r>
            <a:r>
              <a:rPr lang="zh-CN" altLang="en-US" sz="1800">
                <a:latin typeface="微软雅黑" panose="020B0503020204020204" charset="-122"/>
                <a:ea typeface="微软雅黑" panose="020B0503020204020204" charset="-122"/>
                <a:cs typeface="微软雅黑" panose="020B0503020204020204" charset="-122"/>
                <a:hlinkClick r:id="rId1" action="ppaction://hlinkfile"/>
              </a:rPr>
              <a:t>文档</a:t>
            </a:r>
            <a:endParaRPr lang="zh-CN" altLang="en-US" sz="1800">
              <a:latin typeface="微软雅黑" panose="020B0503020204020204" charset="-122"/>
              <a:ea typeface="微软雅黑" panose="020B0503020204020204" charset="-122"/>
              <a:cs typeface="微软雅黑" panose="020B0503020204020204" charset="-122"/>
              <a:hlinkClick r:id="rId1" action="ppaction://hlinkfile"/>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5.</a:t>
            </a:r>
            <a:r>
              <a:rPr lang="en-US" altLang="zh-CN" sz="1800">
                <a:latin typeface="微软雅黑" panose="020B0503020204020204" charset="-122"/>
                <a:ea typeface="微软雅黑" panose="020B0503020204020204" charset="-122"/>
                <a:cs typeface="微软雅黑" panose="020B0503020204020204" charset="-122"/>
                <a:sym typeface="+mn-ea"/>
              </a:rPr>
              <a:t> </a:t>
            </a:r>
            <a:r>
              <a:rPr lang="zh-CN" altLang="en-US" sz="1800">
                <a:latin typeface="微软雅黑" panose="020B0503020204020204" charset="-122"/>
                <a:ea typeface="微软雅黑" panose="020B0503020204020204" charset="-122"/>
                <a:cs typeface="微软雅黑" panose="020B0503020204020204" charset="-122"/>
                <a:sym typeface="+mn-ea"/>
              </a:rPr>
              <a:t>验证集验证</a:t>
            </a:r>
            <a:endParaRPr lang="zh-CN" altLang="en-US" sz="1800">
              <a:latin typeface="微软雅黑" panose="020B0503020204020204" charset="-122"/>
              <a:ea typeface="微软雅黑" panose="020B0503020204020204" charset="-122"/>
              <a:cs typeface="微软雅黑" panose="020B0503020204020204" charset="-122"/>
            </a:endParaRPr>
          </a:p>
        </p:txBody>
      </p:sp>
      <p:sp>
        <p:nvSpPr>
          <p:cNvPr id="11" name="Rectangle 1"/>
          <p:cNvSpPr/>
          <p:nvPr/>
        </p:nvSpPr>
        <p:spPr>
          <a:xfrm>
            <a:off x="0" y="188595"/>
            <a:ext cx="20110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1618615"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验证集</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验证</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2"/>
          <a:stretch>
            <a:fillRect/>
          </a:stretch>
        </p:blipFill>
        <p:spPr>
          <a:xfrm>
            <a:off x="611505" y="4509135"/>
            <a:ext cx="7188835" cy="1402715"/>
          </a:xfrm>
          <a:prstGeom prst="rect">
            <a:avLst/>
          </a:prstGeom>
        </p:spPr>
      </p:pic>
      <p:sp>
        <p:nvSpPr>
          <p:cNvPr id="5" name="文本框 4"/>
          <p:cNvSpPr txBox="1"/>
          <p:nvPr/>
        </p:nvSpPr>
        <p:spPr>
          <a:xfrm>
            <a:off x="5435600" y="2636520"/>
            <a:ext cx="2540000" cy="1630045"/>
          </a:xfrm>
          <a:prstGeom prst="rect">
            <a:avLst/>
          </a:prstGeom>
          <a:noFill/>
        </p:spPr>
        <p:txBody>
          <a:bodyPr wrap="square" rtlCol="0" anchor="t">
            <a:spAutoFit/>
          </a:bodyPr>
          <a:p>
            <a:r>
              <a:rPr lang="zh-CN" altLang="en-US" sz="1600">
                <a:latin typeface="微软雅黑" panose="020B0503020204020204" charset="-122"/>
                <a:ea typeface="微软雅黑" panose="020B0503020204020204" charset="-122"/>
                <a:cs typeface="微软雅黑" panose="020B0503020204020204" charset="-122"/>
              </a:rPr>
              <a:t>可以在打印信息中看出模型精度数据，示例中精度数据达到</a:t>
            </a:r>
            <a:r>
              <a:rPr lang="zh-CN" altLang="en-US" sz="2000" b="1">
                <a:solidFill>
                  <a:srgbClr val="C35954"/>
                </a:solidFill>
                <a:latin typeface="微软雅黑" panose="020B0503020204020204" charset="-122"/>
                <a:ea typeface="微软雅黑" panose="020B0503020204020204" charset="-122"/>
              </a:rPr>
              <a:t>95%</a:t>
            </a:r>
            <a:r>
              <a:rPr lang="zh-CN" altLang="en-US" sz="1600">
                <a:latin typeface="微软雅黑" panose="020B0503020204020204" charset="-122"/>
                <a:ea typeface="微软雅黑" panose="020B0503020204020204" charset="-122"/>
                <a:cs typeface="微软雅黑" panose="020B0503020204020204" charset="-122"/>
              </a:rPr>
              <a:t>以上，模型质量良好。随着网络迭代次数增加，模型精度会进一步提高。</a:t>
            </a:r>
            <a:endParaRPr lang="zh-CN" altLang="en-US"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测试例子</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可视化</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07315" y="908685"/>
            <a:ext cx="8331835" cy="3692525"/>
          </a:xfrm>
          <a:prstGeom prst="rect">
            <a:avLst/>
          </a:prstGeom>
          <a:noFill/>
        </p:spPr>
        <p:txBody>
          <a:bodyPr wrap="square" rtlCol="0" anchor="t">
            <a:spAutoFit/>
          </a:bodyPr>
          <a:p>
            <a:r>
              <a:rPr lang="zh-CN" altLang="en-US" sz="1600">
                <a:latin typeface="微软雅黑" panose="020B0503020204020204" charset="-122"/>
                <a:ea typeface="微软雅黑" panose="020B0503020204020204" charset="-122"/>
                <a:cs typeface="微软雅黑" panose="020B0503020204020204" charset="-122"/>
              </a:rPr>
              <a:t>我们使用生成的模型进行一个</a:t>
            </a:r>
            <a:r>
              <a:rPr lang="en-US" altLang="zh-CN" sz="1600">
                <a:latin typeface="微软雅黑" panose="020B0503020204020204" charset="-122"/>
                <a:ea typeface="微软雅黑" panose="020B0503020204020204" charset="-122"/>
                <a:cs typeface="微软雅黑" panose="020B0503020204020204" charset="-122"/>
              </a:rPr>
              <a:t>batch</a:t>
            </a:r>
            <a:r>
              <a:rPr lang="zh-CN" altLang="en-US" sz="1600">
                <a:latin typeface="微软雅黑" panose="020B0503020204020204" charset="-122"/>
                <a:ea typeface="微软雅黑" panose="020B0503020204020204" charset="-122"/>
                <a:cs typeface="微软雅黑" panose="020B0503020204020204" charset="-122"/>
              </a:rPr>
              <a:t>图片数据的分类预测，具体步骤如下：</a:t>
            </a:r>
            <a:endParaRPr lang="zh-CN" altLang="en-US" sz="16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1. 加载保存的模型权重</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2. 把</a:t>
            </a:r>
            <a:r>
              <a:rPr lang="zh-CN" altLang="en-US" sz="1800">
                <a:latin typeface="微软雅黑" panose="020B0503020204020204" charset="-122"/>
                <a:ea typeface="微软雅黑" panose="020B0503020204020204" charset="-122"/>
                <a:cs typeface="微软雅黑" panose="020B0503020204020204" charset="-122"/>
                <a:sym typeface="+mn-ea"/>
              </a:rPr>
              <a:t>模型权重赋予到网络的每个权重中</a:t>
            </a:r>
            <a:endParaRPr lang="zh-CN" altLang="en-US" sz="1800">
              <a:latin typeface="微软雅黑" panose="020B0503020204020204" charset="-122"/>
              <a:ea typeface="微软雅黑" panose="020B0503020204020204" charset="-122"/>
              <a:cs typeface="微软雅黑" panose="020B0503020204020204" charset="-122"/>
              <a:sym typeface="+mn-ea"/>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3. 加载测试集</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600">
              <a:latin typeface="微软雅黑" panose="020B0503020204020204" charset="-122"/>
              <a:ea typeface="微软雅黑" panose="020B0503020204020204" charset="-122"/>
              <a:cs typeface="微软雅黑" panose="020B0503020204020204" charset="-122"/>
            </a:endParaRPr>
          </a:p>
          <a:p>
            <a:r>
              <a:rPr lang="en-US" altLang="zh-CN" sz="1600">
                <a:latin typeface="微软雅黑" panose="020B0503020204020204" charset="-122"/>
                <a:ea typeface="微软雅黑" panose="020B0503020204020204" charset="-122"/>
                <a:cs typeface="微软雅黑" panose="020B0503020204020204" charset="-122"/>
              </a:rPr>
              <a:t>4. </a:t>
            </a:r>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可视化该测试集</a:t>
            </a:r>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endParaRPr lang="zh-CN" altLang="en-US" sz="1600">
              <a:latin typeface="微软雅黑" panose="020B0503020204020204" charset="-122"/>
              <a:ea typeface="微软雅黑" panose="020B0503020204020204" charset="-122"/>
              <a:cs typeface="微软雅黑" panose="020B0503020204020204" charset="-122"/>
            </a:endParaRPr>
          </a:p>
          <a:p>
            <a:r>
              <a:rPr lang="en-US" altLang="zh-CN" sz="1600">
                <a:latin typeface="微软雅黑" panose="020B0503020204020204" charset="-122"/>
                <a:ea typeface="微软雅黑" panose="020B0503020204020204" charset="-122"/>
                <a:cs typeface="微软雅黑" panose="020B0503020204020204" charset="-122"/>
              </a:rPr>
              <a:t>5. </a:t>
            </a:r>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使用model.predict()对该测试集进行预测</a:t>
            </a:r>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endParaRPr lang="zh-CN" altLang="en-US" sz="1600">
              <a:latin typeface="微软雅黑" panose="020B0503020204020204" charset="-122"/>
              <a:ea typeface="微软雅黑" panose="020B0503020204020204" charset="-122"/>
              <a:cs typeface="微软雅黑" panose="020B0503020204020204" charset="-122"/>
            </a:endParaRPr>
          </a:p>
          <a:p>
            <a:r>
              <a:rPr lang="en-US" altLang="zh-CN" sz="1600">
                <a:latin typeface="微软雅黑" panose="020B0503020204020204" charset="-122"/>
                <a:ea typeface="微软雅黑" panose="020B0503020204020204" charset="-122"/>
                <a:cs typeface="微软雅黑" panose="020B0503020204020204" charset="-122"/>
              </a:rPr>
              <a:t>6. </a:t>
            </a:r>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结果对比</a:t>
            </a:r>
            <a:endParaRPr lang="zh-CN" altLang="en-US" sz="1600">
              <a:solidFill>
                <a:schemeClr val="tx1">
                  <a:lumMod val="50000"/>
                  <a:lumOff val="50000"/>
                </a:schemeClr>
              </a:solidFill>
              <a:latin typeface="微软雅黑" panose="020B0503020204020204" charset="-122"/>
              <a:ea typeface="微软雅黑" panose="020B0503020204020204" charset="-122"/>
              <a:cs typeface="微软雅黑" panose="020B0503020204020204" charset="-122"/>
            </a:endParaRPr>
          </a:p>
          <a:p>
            <a:endParaRPr lang="zh-CN" altLang="en-US" sz="1600">
              <a:latin typeface="微软雅黑" panose="020B0503020204020204" charset="-122"/>
              <a:ea typeface="微软雅黑" panose="020B0503020204020204" charset="-122"/>
              <a:cs typeface="微软雅黑" panose="020B0503020204020204" charset="-122"/>
            </a:endParaRPr>
          </a:p>
          <a:p>
            <a:endParaRPr lang="zh-CN" altLang="en-US" sz="1600">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1"/>
          <a:stretch>
            <a:fillRect/>
          </a:stretch>
        </p:blipFill>
        <p:spPr>
          <a:xfrm>
            <a:off x="3461385" y="3710305"/>
            <a:ext cx="5682615" cy="3147695"/>
          </a:xfrm>
          <a:prstGeom prst="rect">
            <a:avLst/>
          </a:prstGeom>
        </p:spPr>
      </p:pic>
      <p:sp>
        <p:nvSpPr>
          <p:cNvPr id="10" name="文本框 9"/>
          <p:cNvSpPr txBox="1"/>
          <p:nvPr/>
        </p:nvSpPr>
        <p:spPr>
          <a:xfrm>
            <a:off x="3275965" y="2852420"/>
            <a:ext cx="5897880" cy="368300"/>
          </a:xfrm>
          <a:prstGeom prst="rect">
            <a:avLst/>
          </a:prstGeom>
          <a:noFill/>
        </p:spPr>
        <p:txBody>
          <a:bodyPr wrap="none" rtlCol="0" anchor="t">
            <a:spAutoFit/>
          </a:bodyPr>
          <a:p>
            <a:r>
              <a:rPr lang="zh-CN" altLang="en-US">
                <a:latin typeface="微软雅黑" panose="020B0503020204020204" charset="-122"/>
                <a:ea typeface="微软雅黑" panose="020B0503020204020204" charset="-122"/>
                <a:cs typeface="微软雅黑" panose="020B0503020204020204" charset="-122"/>
                <a:sym typeface="+mn-ea"/>
              </a:rPr>
              <a:t>被预测的图片会随机生成，每次运行结果可能会不一样。</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测试例子</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可视化</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07315" y="908685"/>
            <a:ext cx="8331835" cy="3723005"/>
          </a:xfrm>
          <a:prstGeom prst="rect">
            <a:avLst/>
          </a:prstGeom>
          <a:noFill/>
        </p:spPr>
        <p:txBody>
          <a:bodyPr wrap="square" rtlCol="0" anchor="t">
            <a:spAutoFit/>
          </a:bodyPr>
          <a:p>
            <a:r>
              <a:rPr lang="zh-CN" altLang="en-US" sz="1600">
                <a:latin typeface="微软雅黑" panose="020B0503020204020204" charset="-122"/>
                <a:ea typeface="微软雅黑" panose="020B0503020204020204" charset="-122"/>
                <a:cs typeface="微软雅黑" panose="020B0503020204020204" charset="-122"/>
              </a:rPr>
              <a:t>我们使用生成的模型进行一个</a:t>
            </a:r>
            <a:r>
              <a:rPr lang="en-US" altLang="zh-CN" sz="1600">
                <a:latin typeface="微软雅黑" panose="020B0503020204020204" charset="-122"/>
                <a:ea typeface="微软雅黑" panose="020B0503020204020204" charset="-122"/>
                <a:cs typeface="微软雅黑" panose="020B0503020204020204" charset="-122"/>
              </a:rPr>
              <a:t>batch</a:t>
            </a:r>
            <a:r>
              <a:rPr lang="zh-CN" altLang="en-US" sz="1600">
                <a:latin typeface="微软雅黑" panose="020B0503020204020204" charset="-122"/>
                <a:ea typeface="微软雅黑" panose="020B0503020204020204" charset="-122"/>
                <a:cs typeface="微软雅黑" panose="020B0503020204020204" charset="-122"/>
              </a:rPr>
              <a:t>图片数据的分类预测，具体步骤如下：</a:t>
            </a:r>
            <a:endParaRPr lang="zh-CN" altLang="en-US" sz="1600">
              <a:latin typeface="微软雅黑" panose="020B0503020204020204" charset="-122"/>
              <a:ea typeface="微软雅黑" panose="020B0503020204020204" charset="-122"/>
              <a:cs typeface="微软雅黑" panose="020B0503020204020204" charset="-122"/>
            </a:endParaRPr>
          </a:p>
          <a:p>
            <a:endParaRPr lang="zh-CN" altLang="en-US" sz="1600">
              <a:latin typeface="微软雅黑" panose="020B0503020204020204" charset="-122"/>
              <a:ea typeface="微软雅黑" panose="020B0503020204020204" charset="-122"/>
              <a:cs typeface="微软雅黑" panose="020B0503020204020204" charset="-122"/>
            </a:endParaRPr>
          </a:p>
          <a:p>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1. 加载保存的模型权重</a:t>
            </a:r>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2. 把</a:t>
            </a:r>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模型权重赋予到网络的每个权重中</a:t>
            </a:r>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endParaRPr>
          </a:p>
          <a:p>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3. 加载测试集</a:t>
            </a:r>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endParaRPr lang="zh-CN" altLang="en-US" sz="1600">
              <a:latin typeface="微软雅黑" panose="020B0503020204020204" charset="-122"/>
              <a:ea typeface="微软雅黑" panose="020B0503020204020204" charset="-122"/>
              <a:cs typeface="微软雅黑" panose="020B0503020204020204" charset="-122"/>
            </a:endParaRPr>
          </a:p>
          <a:p>
            <a:r>
              <a:rPr lang="en-US" altLang="zh-CN" sz="1600">
                <a:latin typeface="微软雅黑" panose="020B0503020204020204" charset="-122"/>
                <a:ea typeface="微软雅黑" panose="020B0503020204020204" charset="-122"/>
                <a:cs typeface="微软雅黑" panose="020B0503020204020204" charset="-122"/>
              </a:rPr>
              <a:t>4</a:t>
            </a:r>
            <a:r>
              <a:rPr lang="zh-CN" altLang="en-US" sz="1800">
                <a:latin typeface="微软雅黑" panose="020B0503020204020204" charset="-122"/>
                <a:ea typeface="微软雅黑" panose="020B0503020204020204" charset="-122"/>
                <a:cs typeface="微软雅黑" panose="020B0503020204020204" charset="-122"/>
              </a:rPr>
              <a:t>. 可视化该测试集</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solidFill>
                  <a:schemeClr val="bg1">
                    <a:lumMod val="85000"/>
                  </a:schemeClr>
                </a:solidFill>
                <a:latin typeface="微软雅黑" panose="020B0503020204020204" charset="-122"/>
                <a:ea typeface="微软雅黑" panose="020B0503020204020204" charset="-122"/>
                <a:cs typeface="微软雅黑" panose="020B0503020204020204" charset="-122"/>
              </a:rPr>
              <a:t>5. 使用model.predict()对该测试集进行预测</a:t>
            </a:r>
            <a:endParaRPr lang="zh-CN" altLang="en-US" sz="18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endParaRPr lang="zh-CN" altLang="en-US" sz="18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800">
                <a:solidFill>
                  <a:schemeClr val="bg1">
                    <a:lumMod val="85000"/>
                  </a:schemeClr>
                </a:solidFill>
                <a:latin typeface="微软雅黑" panose="020B0503020204020204" charset="-122"/>
                <a:ea typeface="微软雅黑" panose="020B0503020204020204" charset="-122"/>
                <a:cs typeface="微软雅黑" panose="020B0503020204020204" charset="-122"/>
              </a:rPr>
              <a:t>6. 结果对比</a:t>
            </a:r>
            <a:endParaRPr lang="zh-CN" altLang="en-US" sz="18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endParaRPr lang="zh-CN" altLang="en-US" sz="1800">
              <a:solidFill>
                <a:schemeClr val="bg1">
                  <a:lumMod val="85000"/>
                </a:schemeClr>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79070" y="4500245"/>
            <a:ext cx="7913370" cy="178625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测试例子</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可视化</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07315" y="908685"/>
            <a:ext cx="8331835" cy="3692525"/>
          </a:xfrm>
          <a:prstGeom prst="rect">
            <a:avLst/>
          </a:prstGeom>
          <a:noFill/>
        </p:spPr>
        <p:txBody>
          <a:bodyPr wrap="square" rtlCol="0" anchor="t">
            <a:spAutoFit/>
          </a:bodyPr>
          <a:p>
            <a:r>
              <a:rPr lang="zh-CN" altLang="en-US" sz="1600">
                <a:latin typeface="微软雅黑" panose="020B0503020204020204" charset="-122"/>
                <a:ea typeface="微软雅黑" panose="020B0503020204020204" charset="-122"/>
                <a:cs typeface="微软雅黑" panose="020B0503020204020204" charset="-122"/>
              </a:rPr>
              <a:t>我们使用生成的模型进行一个</a:t>
            </a:r>
            <a:r>
              <a:rPr lang="en-US" altLang="zh-CN" sz="1600">
                <a:latin typeface="微软雅黑" panose="020B0503020204020204" charset="-122"/>
                <a:ea typeface="微软雅黑" panose="020B0503020204020204" charset="-122"/>
                <a:cs typeface="微软雅黑" panose="020B0503020204020204" charset="-122"/>
              </a:rPr>
              <a:t>batch</a:t>
            </a:r>
            <a:r>
              <a:rPr lang="zh-CN" altLang="en-US" sz="1600">
                <a:latin typeface="微软雅黑" panose="020B0503020204020204" charset="-122"/>
                <a:ea typeface="微软雅黑" panose="020B0503020204020204" charset="-122"/>
                <a:cs typeface="微软雅黑" panose="020B0503020204020204" charset="-122"/>
              </a:rPr>
              <a:t>图片数据的分类预测，具体步骤如下：</a:t>
            </a:r>
            <a:endParaRPr lang="zh-CN" altLang="en-US" sz="1600">
              <a:latin typeface="微软雅黑" panose="020B0503020204020204" charset="-122"/>
              <a:ea typeface="微软雅黑" panose="020B0503020204020204" charset="-122"/>
              <a:cs typeface="微软雅黑" panose="020B0503020204020204" charset="-122"/>
            </a:endParaRPr>
          </a:p>
          <a:p>
            <a:endParaRPr lang="zh-CN" altLang="en-US" sz="1600">
              <a:latin typeface="微软雅黑" panose="020B0503020204020204" charset="-122"/>
              <a:ea typeface="微软雅黑" panose="020B0503020204020204" charset="-122"/>
              <a:cs typeface="微软雅黑" panose="020B0503020204020204" charset="-122"/>
            </a:endParaRPr>
          </a:p>
          <a:p>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1. 加载保存的模型权重</a:t>
            </a:r>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2. 把</a:t>
            </a:r>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rPr>
              <a:t>模型权重赋予到网络的每个权重中</a:t>
            </a:r>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sym typeface="+mn-ea"/>
            </a:endParaRPr>
          </a:p>
          <a:p>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3. 加载测试集</a:t>
            </a:r>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endParaRPr lang="zh-CN" altLang="en-US" sz="1600">
              <a:latin typeface="微软雅黑" panose="020B0503020204020204" charset="-122"/>
              <a:ea typeface="微软雅黑" panose="020B0503020204020204" charset="-122"/>
              <a:cs typeface="微软雅黑" panose="020B0503020204020204" charset="-122"/>
            </a:endParaRPr>
          </a:p>
          <a:p>
            <a:r>
              <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rPr>
              <a:t>4. 可视化该测试集</a:t>
            </a:r>
            <a:endParaRPr lang="zh-CN" altLang="en-US" sz="1600">
              <a:solidFill>
                <a:schemeClr val="bg1">
                  <a:lumMod val="85000"/>
                </a:schemeClr>
              </a:solidFill>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5. 使用model.predict()对该测试集进行预测</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6. 结果对比</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solidFill>
                <a:schemeClr val="bg1">
                  <a:lumMod val="85000"/>
                </a:schemeClr>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395605" y="4509135"/>
            <a:ext cx="6207760" cy="1683385"/>
          </a:xfrm>
          <a:prstGeom prst="rect">
            <a:avLst/>
          </a:prstGeom>
        </p:spPr>
      </p:pic>
      <p:sp>
        <p:nvSpPr>
          <p:cNvPr id="4" name="文本框 3"/>
          <p:cNvSpPr txBox="1"/>
          <p:nvPr/>
        </p:nvSpPr>
        <p:spPr>
          <a:xfrm>
            <a:off x="4932045" y="3572510"/>
            <a:ext cx="3507105" cy="645160"/>
          </a:xfrm>
          <a:prstGeom prst="rect">
            <a:avLst/>
          </a:prstGeom>
          <a:noFill/>
        </p:spPr>
        <p:txBody>
          <a:bodyPr wrap="square" rtlCol="0" anchor="t">
            <a:spAutoFit/>
          </a:bodyPr>
          <a:p>
            <a:r>
              <a:rPr lang="zh-CN" altLang="en-US" sz="1800">
                <a:latin typeface="微软雅黑" panose="020B0503020204020204" charset="-122"/>
                <a:ea typeface="微软雅黑" panose="020B0503020204020204" charset="-122"/>
                <a:cs typeface="微软雅黑" panose="020B0503020204020204" charset="-122"/>
              </a:rPr>
              <a:t>从打印结果可以看出，预测值与目标值</a:t>
            </a:r>
            <a:r>
              <a:rPr lang="zh-CN" altLang="en-US" sz="1800">
                <a:latin typeface="微软雅黑" panose="020B0503020204020204" charset="-122"/>
                <a:ea typeface="微软雅黑" panose="020B0503020204020204" charset="-122"/>
                <a:cs typeface="微软雅黑" panose="020B0503020204020204" charset="-122"/>
              </a:rPr>
              <a:t>大部分一致。</a:t>
            </a:r>
            <a:endParaRPr lang="zh-CN" altLang="en-US" sz="180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Rectangle 1"/>
          <p:cNvSpPr/>
          <p:nvPr/>
        </p:nvSpPr>
        <p:spPr>
          <a:xfrm>
            <a:off x="0" y="188595"/>
            <a:ext cx="2760345" cy="479425"/>
          </a:xfrm>
          <a:prstGeom prst="roundRect">
            <a:avLst/>
          </a:prstGeom>
          <a:gradFill flip="none" rotWithShape="1">
            <a:gsLst>
              <a:gs pos="0">
                <a:srgbClr val="7B5A85"/>
              </a:gs>
              <a:gs pos="100000">
                <a:srgbClr val="C35954"/>
              </a:gs>
            </a:gsLst>
            <a:lin ang="0" scaled="1"/>
            <a:tileRect/>
          </a:gradFill>
          <a:ln>
            <a:noFill/>
          </a:ln>
          <a:effectLst>
            <a:outerShdw blurRad="88900" dist="88900" dir="5400000" sx="99000" sy="99000" algn="t"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ko-KR" altLang="en-US"/>
          </a:p>
        </p:txBody>
      </p:sp>
      <p:sp>
        <p:nvSpPr>
          <p:cNvPr id="9" name="object 3"/>
          <p:cNvSpPr txBox="1">
            <a:spLocks noGrp="1"/>
          </p:cNvSpPr>
          <p:nvPr>
            <p:ph type="title"/>
          </p:nvPr>
        </p:nvSpPr>
        <p:spPr>
          <a:xfrm>
            <a:off x="179705" y="269240"/>
            <a:ext cx="2115979" cy="318135"/>
          </a:xfrm>
          <a:prstGeom prst="rect">
            <a:avLst/>
          </a:prstGeom>
        </p:spPr>
        <p:txBody>
          <a:bodyPr vert="horz" wrap="square" lIns="0" tIns="10953" rIns="0" bIns="0" rtlCol="0">
            <a:spAutoFit/>
          </a:bodyPr>
          <a:p>
            <a:pPr marL="12700">
              <a:lnSpc>
                <a:spcPct val="100000"/>
              </a:lnSpc>
              <a:spcBef>
                <a:spcPts val="115"/>
              </a:spcBef>
            </a:pP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实验</a:t>
            </a:r>
            <a:r>
              <a:rPr lang="zh-CN" altLang="en-US" sz="2000" spc="15" dirty="0">
                <a:solidFill>
                  <a:schemeClr val="bg1"/>
                </a:solidFill>
                <a:latin typeface="微软雅黑" panose="020B0503020204020204" charset="-122"/>
                <a:ea typeface="微软雅黑" panose="020B0503020204020204" charset="-122"/>
                <a:cs typeface="微软雅黑" panose="020B0503020204020204" charset="-122"/>
              </a:rPr>
              <a:t>任务</a:t>
            </a:r>
            <a:endParaRPr lang="zh-CN" altLang="en-US" sz="2000" spc="15"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07315" y="908685"/>
            <a:ext cx="8331835" cy="3753485"/>
          </a:xfrm>
          <a:prstGeom prst="rect">
            <a:avLst/>
          </a:prstGeom>
          <a:noFill/>
        </p:spPr>
        <p:txBody>
          <a:bodyPr wrap="square" rtlCol="0" anchor="t">
            <a:spAutoFit/>
          </a:bodyPr>
          <a:p>
            <a:r>
              <a:rPr lang="zh-CN" altLang="en-US" sz="1800">
                <a:latin typeface="微软雅黑" panose="020B0503020204020204" charset="-122"/>
                <a:ea typeface="微软雅黑" panose="020B0503020204020204" charset="-122"/>
                <a:cs typeface="微软雅黑" panose="020B0503020204020204" charset="-122"/>
              </a:rPr>
              <a:t>1. 使用</a:t>
            </a:r>
            <a:r>
              <a:rPr lang="en-US" altLang="zh-CN" sz="1800">
                <a:latin typeface="微软雅黑" panose="020B0503020204020204" charset="-122"/>
                <a:ea typeface="微软雅黑" panose="020B0503020204020204" charset="-122"/>
                <a:cs typeface="微软雅黑" panose="020B0503020204020204" charset="-122"/>
              </a:rPr>
              <a:t>MindSpore</a:t>
            </a:r>
            <a:r>
              <a:rPr lang="zh-CN" altLang="en-US" sz="1800">
                <a:latin typeface="微软雅黑" panose="020B0503020204020204" charset="-122"/>
                <a:ea typeface="微软雅黑" panose="020B0503020204020204" charset="-122"/>
                <a:cs typeface="微软雅黑" panose="020B0503020204020204" charset="-122"/>
              </a:rPr>
              <a:t>框架以及所给文档里的代码完成</a:t>
            </a:r>
            <a:r>
              <a:rPr lang="en-US" altLang="zh-CN" sz="1800">
                <a:latin typeface="微软雅黑" panose="020B0503020204020204" charset="-122"/>
                <a:ea typeface="微软雅黑" panose="020B0503020204020204" charset="-122"/>
                <a:cs typeface="微软雅黑" panose="020B0503020204020204" charset="-122"/>
              </a:rPr>
              <a:t>Mnist</a:t>
            </a:r>
            <a:r>
              <a:rPr lang="zh-CN" altLang="en-US" sz="1800">
                <a:latin typeface="微软雅黑" panose="020B0503020204020204" charset="-122"/>
                <a:ea typeface="微软雅黑" panose="020B0503020204020204" charset="-122"/>
                <a:cs typeface="微软雅黑" panose="020B0503020204020204" charset="-122"/>
              </a:rPr>
              <a:t>手写数据集的识别</a:t>
            </a:r>
            <a:r>
              <a:rPr lang="zh-CN" altLang="en-US" sz="1800">
                <a:latin typeface="微软雅黑" panose="020B0503020204020204" charset="-122"/>
                <a:ea typeface="微软雅黑" panose="020B0503020204020204" charset="-122"/>
                <a:cs typeface="微软雅黑" panose="020B0503020204020204" charset="-122"/>
              </a:rPr>
              <a:t>任务：</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en-US" altLang="zh-CN" sz="1800">
                <a:latin typeface="微软雅黑" panose="020B0503020204020204" charset="-122"/>
                <a:ea typeface="微软雅黑" panose="020B0503020204020204" charset="-122"/>
                <a:cs typeface="微软雅黑" panose="020B0503020204020204" charset="-122"/>
              </a:rPr>
              <a:t>   1.1 </a:t>
            </a:r>
            <a:r>
              <a:rPr lang="zh-CN" altLang="en-US" sz="1800">
                <a:latin typeface="微软雅黑" panose="020B0503020204020204" charset="-122"/>
                <a:ea typeface="微软雅黑" panose="020B0503020204020204" charset="-122"/>
                <a:cs typeface="微软雅黑" panose="020B0503020204020204" charset="-122"/>
              </a:rPr>
              <a:t>训练</a:t>
            </a:r>
            <a:r>
              <a:rPr lang="zh-CN" altLang="en-US" sz="1800">
                <a:latin typeface="微软雅黑" panose="020B0503020204020204" charset="-122"/>
                <a:ea typeface="微软雅黑" panose="020B0503020204020204" charset="-122"/>
                <a:cs typeface="微软雅黑" panose="020B0503020204020204" charset="-122"/>
              </a:rPr>
              <a:t>模型；</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 </a:t>
            </a:r>
            <a:r>
              <a:rPr lang="en-US" altLang="zh-CN" sz="1800">
                <a:latin typeface="微软雅黑" panose="020B0503020204020204" charset="-122"/>
                <a:ea typeface="微软雅黑" panose="020B0503020204020204" charset="-122"/>
                <a:cs typeface="微软雅黑" panose="020B0503020204020204" charset="-122"/>
              </a:rPr>
              <a:t>  1.2 </a:t>
            </a:r>
            <a:r>
              <a:rPr lang="zh-CN" altLang="en-US" sz="1800">
                <a:latin typeface="微软雅黑" panose="020B0503020204020204" charset="-122"/>
                <a:ea typeface="微软雅黑" panose="020B0503020204020204" charset="-122"/>
                <a:cs typeface="微软雅黑" panose="020B0503020204020204" charset="-122"/>
              </a:rPr>
              <a:t>单个</a:t>
            </a:r>
            <a:r>
              <a:rPr lang="en-US" altLang="zh-CN" sz="1800">
                <a:latin typeface="微软雅黑" panose="020B0503020204020204" charset="-122"/>
                <a:ea typeface="微软雅黑" panose="020B0503020204020204" charset="-122"/>
                <a:cs typeface="微软雅黑" panose="020B0503020204020204" charset="-122"/>
              </a:rPr>
              <a:t>batch</a:t>
            </a:r>
            <a:r>
              <a:rPr lang="zh-CN" altLang="en-US" sz="1800">
                <a:latin typeface="微软雅黑" panose="020B0503020204020204" charset="-122"/>
                <a:ea typeface="微软雅黑" panose="020B0503020204020204" charset="-122"/>
                <a:cs typeface="微软雅黑" panose="020B0503020204020204" charset="-122"/>
              </a:rPr>
              <a:t>的测试集可视化，</a:t>
            </a:r>
            <a:r>
              <a:rPr lang="en-US" altLang="zh-CN" sz="1800">
                <a:latin typeface="微软雅黑" panose="020B0503020204020204" charset="-122"/>
                <a:ea typeface="微软雅黑" panose="020B0503020204020204" charset="-122"/>
                <a:cs typeface="微软雅黑" panose="020B0503020204020204" charset="-122"/>
              </a:rPr>
              <a:t>(batchsize = 8)</a:t>
            </a:r>
            <a:r>
              <a:rPr lang="zh-CN" altLang="en-US" sz="1800">
                <a:latin typeface="微软雅黑" panose="020B0503020204020204" charset="-122"/>
                <a:ea typeface="微软雅黑" panose="020B0503020204020204" charset="-122"/>
                <a:cs typeface="微软雅黑" panose="020B0503020204020204" charset="-122"/>
              </a:rPr>
              <a:t>；</a:t>
            </a:r>
            <a:endParaRPr lang="en-US" altLang="zh-CN"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 </a:t>
            </a:r>
            <a:r>
              <a:rPr lang="en-US" altLang="zh-CN" sz="1800">
                <a:latin typeface="微软雅黑" panose="020B0503020204020204" charset="-122"/>
                <a:ea typeface="微软雅黑" panose="020B0503020204020204" charset="-122"/>
                <a:cs typeface="微软雅黑" panose="020B0503020204020204" charset="-122"/>
              </a:rPr>
              <a:t>  1.3 </a:t>
            </a:r>
            <a:r>
              <a:rPr lang="zh-CN" altLang="en-US" sz="1800">
                <a:latin typeface="微软雅黑" panose="020B0503020204020204" charset="-122"/>
                <a:ea typeface="微软雅黑" panose="020B0503020204020204" charset="-122"/>
                <a:cs typeface="微软雅黑" panose="020B0503020204020204" charset="-122"/>
              </a:rPr>
              <a:t>利用训练好的模型对单个</a:t>
            </a:r>
            <a:r>
              <a:rPr lang="en-US" altLang="zh-CN" sz="1800">
                <a:latin typeface="微软雅黑" panose="020B0503020204020204" charset="-122"/>
                <a:ea typeface="微软雅黑" panose="020B0503020204020204" charset="-122"/>
                <a:cs typeface="微软雅黑" panose="020B0503020204020204" charset="-122"/>
              </a:rPr>
              <a:t>batchsize</a:t>
            </a:r>
            <a:r>
              <a:rPr lang="zh-CN" altLang="en-US" sz="1800">
                <a:latin typeface="微软雅黑" panose="020B0503020204020204" charset="-122"/>
                <a:ea typeface="微软雅黑" panose="020B0503020204020204" charset="-122"/>
                <a:cs typeface="微软雅黑" panose="020B0503020204020204" charset="-122"/>
              </a:rPr>
              <a:t>进行预测，并给出它们的预测</a:t>
            </a:r>
            <a:r>
              <a:rPr lang="zh-CN" altLang="en-US" sz="1800">
                <a:latin typeface="微软雅黑" panose="020B0503020204020204" charset="-122"/>
                <a:ea typeface="微软雅黑" panose="020B0503020204020204" charset="-122"/>
                <a:cs typeface="微软雅黑" panose="020B0503020204020204" charset="-122"/>
              </a:rPr>
              <a:t>结果</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latin typeface="微软雅黑" panose="020B0503020204020204" charset="-122"/>
              <a:ea typeface="微软雅黑" panose="020B0503020204020204" charset="-122"/>
              <a:cs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2. 尝试通过调整模型结构</a:t>
            </a:r>
            <a:r>
              <a:rPr lang="en-US" altLang="zh-CN" sz="1800">
                <a:latin typeface="微软雅黑" panose="020B0503020204020204" charset="-122"/>
                <a:ea typeface="微软雅黑" panose="020B0503020204020204" charset="-122"/>
                <a:cs typeface="微软雅黑" panose="020B0503020204020204" charset="-122"/>
              </a:rPr>
              <a:t> or </a:t>
            </a:r>
            <a:r>
              <a:rPr lang="zh-CN" altLang="en-US" sz="1800">
                <a:latin typeface="微软雅黑" panose="020B0503020204020204" charset="-122"/>
                <a:ea typeface="微软雅黑" panose="020B0503020204020204" charset="-122"/>
                <a:cs typeface="微软雅黑" panose="020B0503020204020204" charset="-122"/>
              </a:rPr>
              <a:t>参数</a:t>
            </a:r>
            <a:r>
              <a:rPr lang="en-US" altLang="zh-CN" sz="1800">
                <a:latin typeface="微软雅黑" panose="020B0503020204020204" charset="-122"/>
                <a:ea typeface="微软雅黑" panose="020B0503020204020204" charset="-122"/>
                <a:cs typeface="微软雅黑" panose="020B0503020204020204" charset="-122"/>
              </a:rPr>
              <a:t> or </a:t>
            </a:r>
            <a:r>
              <a:rPr lang="zh-CN" altLang="en-US" sz="1800">
                <a:latin typeface="微软雅黑" panose="020B0503020204020204" charset="-122"/>
                <a:ea typeface="微软雅黑" panose="020B0503020204020204" charset="-122"/>
                <a:cs typeface="微软雅黑" panose="020B0503020204020204" charset="-122"/>
              </a:rPr>
              <a:t>超参数</a:t>
            </a:r>
            <a:r>
              <a:rPr lang="en-US" altLang="zh-CN" sz="1800">
                <a:latin typeface="微软雅黑" panose="020B0503020204020204" charset="-122"/>
                <a:ea typeface="微软雅黑" panose="020B0503020204020204" charset="-122"/>
                <a:cs typeface="微软雅黑" panose="020B0503020204020204" charset="-122"/>
              </a:rPr>
              <a:t> or </a:t>
            </a:r>
            <a:r>
              <a:rPr lang="zh-CN" altLang="en-US" sz="1800">
                <a:latin typeface="微软雅黑" panose="020B0503020204020204" charset="-122"/>
                <a:ea typeface="微软雅黑" panose="020B0503020204020204" charset="-122"/>
                <a:cs typeface="微软雅黑" panose="020B0503020204020204" charset="-122"/>
                <a:hlinkClick r:id="rId1" action="ppaction://hlinkfile"/>
              </a:rPr>
              <a:t>权重初始化</a:t>
            </a:r>
            <a:r>
              <a:rPr lang="zh-CN" altLang="en-US" sz="1800">
                <a:latin typeface="微软雅黑" panose="020B0503020204020204" charset="-122"/>
                <a:ea typeface="微软雅黑" panose="020B0503020204020204" charset="-122"/>
                <a:cs typeface="微软雅黑" panose="020B0503020204020204" charset="-122"/>
              </a:rPr>
              <a:t>方式使得测试集准确率达到</a:t>
            </a:r>
            <a:r>
              <a:rPr lang="en-US" altLang="zh-CN" sz="1800">
                <a:latin typeface="微软雅黑" panose="020B0503020204020204" charset="-122"/>
                <a:ea typeface="微软雅黑" panose="020B0503020204020204" charset="-122"/>
                <a:cs typeface="微软雅黑" panose="020B0503020204020204" charset="-122"/>
              </a:rPr>
              <a:t>Baseline</a:t>
            </a:r>
            <a:r>
              <a:rPr lang="zh-CN" altLang="en-US" sz="1800">
                <a:latin typeface="微软雅黑" panose="020B0503020204020204" charset="-122"/>
                <a:ea typeface="微软雅黑" panose="020B0503020204020204" charset="-122"/>
                <a:cs typeface="微软雅黑" panose="020B0503020204020204" charset="-122"/>
              </a:rPr>
              <a:t>，即</a:t>
            </a:r>
            <a:r>
              <a:rPr lang="zh-CN" altLang="en-US" sz="2000" b="1">
                <a:solidFill>
                  <a:srgbClr val="C35954"/>
                </a:solidFill>
                <a:latin typeface="微软雅黑" panose="020B0503020204020204" charset="-122"/>
                <a:ea typeface="微软雅黑" panose="020B0503020204020204" charset="-122"/>
              </a:rPr>
              <a:t>准确率需要≥97%。</a:t>
            </a:r>
            <a:r>
              <a:rPr lang="zh-CN" altLang="en-US" sz="1800">
                <a:latin typeface="微软雅黑" panose="020B0503020204020204" charset="-122"/>
                <a:ea typeface="微软雅黑" panose="020B0503020204020204" charset="-122"/>
                <a:cs typeface="微软雅黑" panose="020B0503020204020204" charset="-122"/>
              </a:rPr>
              <a:t>（还可观察其收敛时间</a:t>
            </a:r>
            <a:r>
              <a:rPr lang="zh-CN" altLang="en-US" sz="1800">
                <a:latin typeface="微软雅黑" panose="020B0503020204020204" charset="-122"/>
                <a:ea typeface="微软雅黑" panose="020B0503020204020204" charset="-122"/>
                <a:cs typeface="微软雅黑" panose="020B0503020204020204" charset="-122"/>
              </a:rPr>
              <a:t>长短）</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2000" b="1">
              <a:solidFill>
                <a:srgbClr val="C35954"/>
              </a:solidFill>
              <a:latin typeface="微软雅黑" panose="020B0503020204020204" charset="-122"/>
              <a:ea typeface="微软雅黑" panose="020B0503020204020204" charset="-122"/>
            </a:endParaRPr>
          </a:p>
          <a:p>
            <a:r>
              <a:rPr lang="zh-CN" altLang="en-US" sz="1800">
                <a:latin typeface="微软雅黑" panose="020B0503020204020204" charset="-122"/>
                <a:ea typeface="微软雅黑" panose="020B0503020204020204" charset="-122"/>
                <a:cs typeface="微软雅黑" panose="020B0503020204020204" charset="-122"/>
              </a:rPr>
              <a:t>具体</a:t>
            </a:r>
            <a:r>
              <a:rPr lang="zh-CN" altLang="en-US" sz="1800">
                <a:latin typeface="微软雅黑" panose="020B0503020204020204" charset="-122"/>
                <a:ea typeface="微软雅黑" panose="020B0503020204020204" charset="-122"/>
                <a:cs typeface="微软雅黑" panose="020B0503020204020204" charset="-122"/>
              </a:rPr>
              <a:t>请参考实验报告</a:t>
            </a:r>
            <a:endParaRPr lang="zh-CN" altLang="en-US" sz="1800">
              <a:latin typeface="微软雅黑" panose="020B0503020204020204" charset="-122"/>
              <a:ea typeface="微软雅黑" panose="020B0503020204020204" charset="-122"/>
              <a:cs typeface="微软雅黑" panose="020B0503020204020204" charset="-122"/>
            </a:endParaRPr>
          </a:p>
          <a:p>
            <a:endParaRPr lang="zh-CN" altLang="en-US" sz="1800">
              <a:solidFill>
                <a:schemeClr val="bg1">
                  <a:lumMod val="85000"/>
                </a:schemeClr>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2"/>
          <a:stretch>
            <a:fillRect/>
          </a:stretch>
        </p:blipFill>
        <p:spPr>
          <a:xfrm>
            <a:off x="43815" y="4652645"/>
            <a:ext cx="9100185" cy="1908175"/>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PLACING_PICTURE_USER_VIEWPORT" val="{&quot;height&quot;:8340,&quot;width&quot;:12840}"/>
</p:tagLst>
</file>

<file path=ppt/tags/tag3.xml><?xml version="1.0" encoding="utf-8"?>
<p:tagLst xmlns:p="http://schemas.openxmlformats.org/presentationml/2006/main">
  <p:tag name="KSO_WM_UNIT_PLACING_PICTURE_USER_VIEWPORT" val="{&quot;height&quot;:8340,&quot;width&quot;:12840}"/>
</p:tagLst>
</file>

<file path=ppt/tags/tag4.xml><?xml version="1.0" encoding="utf-8"?>
<p:tagLst xmlns:p="http://schemas.openxmlformats.org/presentationml/2006/main">
  <p:tag name="KSO_WM_UNIT_PLACING_PICTURE_USER_VIEWPORT" val="{&quot;height&quot;:5820,&quot;width&quot;:7476}"/>
</p:tagLst>
</file>

<file path=ppt/tags/tag5.xml><?xml version="1.0" encoding="utf-8"?>
<p:tagLst xmlns:p="http://schemas.openxmlformats.org/presentationml/2006/main">
  <p:tag name="KSO_WM_UNIT_PLACING_PICTURE_USER_VIEWPORT" val="{&quot;height&quot;:4208,&quot;width&quot;:14400}"/>
</p:tagLst>
</file>

<file path=ppt/tags/tag6.xml><?xml version="1.0" encoding="utf-8"?>
<p:tagLst xmlns:p="http://schemas.openxmlformats.org/presentationml/2006/main">
  <p:tag name="KSO_WPP_MARK_KEY" val="261d7a2e-e941-411f-9597-4409adf16cf4"/>
  <p:tag name="COMMONDATA" val="eyJoZGlkIjoiZmM5MzI1YTRjNGNiNTEyMDQ5OTAwYmFmMmE0NWM1Zjg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3817</Words>
  <Application>WPS 演示</Application>
  <PresentationFormat/>
  <Paragraphs>348</Paragraphs>
  <Slides>26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Arial</vt:lpstr>
      <vt:lpstr>宋体</vt:lpstr>
      <vt:lpstr>Wingdings</vt:lpstr>
      <vt:lpstr>微软雅黑</vt:lpstr>
      <vt:lpstr>Palatino Linotype</vt:lpstr>
      <vt:lpstr>Times New Roman</vt:lpstr>
      <vt:lpstr>Calibri</vt:lpstr>
      <vt:lpstr>Arial Unicode MS</vt:lpstr>
      <vt:lpstr>1_默认设计模板</vt:lpstr>
      <vt:lpstr>机器学习实验课3</vt:lpstr>
      <vt:lpstr>PowerPoint 演示文稿</vt:lpstr>
      <vt:lpstr>PowerPoint 演示文稿</vt:lpstr>
      <vt:lpstr>PowerPoint 演示文稿</vt:lpstr>
      <vt:lpstr>PowerPoint 演示文稿</vt:lpstr>
      <vt:lpstr>PowerPoint 演示文稿</vt:lpstr>
      <vt:lpstr>神经网络基础巩固</vt:lpstr>
      <vt:lpstr>全连接网络的局限性</vt:lpstr>
      <vt:lpstr>全连接网络的局限性</vt:lpstr>
      <vt:lpstr>卷积神经网络结构</vt:lpstr>
      <vt:lpstr>MindSpore介绍</vt:lpstr>
      <vt:lpstr>Anaconda安装</vt:lpstr>
      <vt:lpstr>创建Python环境参考</vt:lpstr>
      <vt:lpstr>LeNet介绍 </vt:lpstr>
      <vt:lpstr>卷积和池化 </vt:lpstr>
      <vt:lpstr>MindSpore安装</vt:lpstr>
      <vt:lpstr>定义网络</vt:lpstr>
      <vt:lpstr>定义损失函数</vt:lpstr>
      <vt:lpstr>定义优化器</vt:lpstr>
      <vt:lpstr>准备数据集</vt:lpstr>
      <vt:lpstr>训练</vt:lpstr>
      <vt:lpstr>验证集验证</vt:lpstr>
      <vt:lpstr>测试例子可视化</vt:lpstr>
      <vt:lpstr>测试例子可视化</vt:lpstr>
      <vt:lpstr>测试例子可视化</vt:lpstr>
      <vt:lpstr>实验任务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Bin</cp:lastModifiedBy>
  <cp:revision>66</cp:revision>
  <dcterms:created xsi:type="dcterms:W3CDTF">2022-03-28T13:15:00Z</dcterms:created>
  <dcterms:modified xsi:type="dcterms:W3CDTF">2023-03-16T02:21:46Z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6E7C5661E96E4FD9A3B58F41982AA065</vt:lpwstr>
  </property>
</Properties>
</file>