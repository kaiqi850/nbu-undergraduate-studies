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460" r:id="rId3"/>
    <p:sldId id="428" r:id="rId4"/>
    <p:sldId id="479" r:id="rId5"/>
    <p:sldId id="480" r:id="rId6"/>
    <p:sldId id="478" r:id="rId7"/>
    <p:sldId id="447" r:id="rId8"/>
    <p:sldId id="429" r:id="rId9"/>
    <p:sldId id="444" r:id="rId10"/>
    <p:sldId id="430" r:id="rId11"/>
    <p:sldId id="481" r:id="rId12"/>
    <p:sldId id="449" r:id="rId13"/>
    <p:sldId id="482" r:id="rId15"/>
    <p:sldId id="483" r:id="rId16"/>
    <p:sldId id="456" r:id="rId17"/>
  </p:sldIdLst>
  <p:sldSz cx="12192000" cy="6858000"/>
  <p:notesSz cx="12192000" cy="6858000"/>
  <p:custDataLst>
    <p:tags r:id="rId22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40" userDrawn="1">
          <p15:clr>
            <a:srgbClr val="A4A3A4"/>
          </p15:clr>
        </p15:guide>
        <p15:guide id="2" pos="217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940"/>
        <p:guide pos="21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4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543555" y="1412747"/>
            <a:ext cx="6624828" cy="3977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109216" y="1519427"/>
            <a:ext cx="7973568" cy="47807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C0167-E855-4D17-BF35-432B61D5C6E4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3F989F-8D12-475D-9C50-23F49E8F416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99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0129" y="438734"/>
            <a:ext cx="5031740" cy="838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99412" y="1832435"/>
            <a:ext cx="9393174" cy="459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hyperlink" Target="https://www.sklearncn.cn/22/#232-k-means" TargetMode="External"/><Relationship Id="rId1" Type="http://schemas.openxmlformats.org/officeDocument/2006/relationships/hyperlink" Target="https://scikit-learn.org/stable/modules/generated/sklearn.cluster.KMeans.html#sklearn.cluster.KMean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43583" y="4036314"/>
            <a:ext cx="9715500" cy="0"/>
          </a:xfrm>
          <a:custGeom>
            <a:avLst/>
            <a:gdLst/>
            <a:ahLst/>
            <a:cxnLst/>
            <a:rect l="l" t="t" r="r" b="b"/>
            <a:pathLst>
              <a:path w="9715500">
                <a:moveTo>
                  <a:pt x="0" y="0"/>
                </a:moveTo>
                <a:lnTo>
                  <a:pt x="9715500" y="0"/>
                </a:lnTo>
              </a:path>
            </a:pathLst>
          </a:custGeom>
          <a:ln w="16763">
            <a:solidFill>
              <a:srgbClr val="C199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48200" y="152400"/>
            <a:ext cx="2821305" cy="444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800" spc="15" dirty="0">
                <a:ea typeface="微软雅黑" panose="020B0503020204020204" charset="-122"/>
              </a:rPr>
              <a:t>机器学习实验课</a:t>
            </a:r>
            <a:r>
              <a:rPr lang="en-US" altLang="zh-CN" sz="2800" spc="15" dirty="0">
                <a:ea typeface="微软雅黑" panose="020B0503020204020204" charset="-122"/>
              </a:rPr>
              <a:t>6</a:t>
            </a:r>
            <a:endParaRPr lang="en-US" altLang="zh-CN" sz="2800" spc="15" dirty="0">
              <a:ea typeface="微软雅黑" panose="020B0503020204020204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78955" y="3604971"/>
            <a:ext cx="4503420" cy="19805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35"/>
              </a:spcBef>
            </a:pPr>
            <a:r>
              <a:rPr sz="2100" b="1" i="1" spc="20" dirty="0">
                <a:solidFill>
                  <a:srgbClr val="585858"/>
                </a:solidFill>
                <a:latin typeface="Palatino Linotype" panose="02040502050505030304"/>
                <a:cs typeface="Palatino Linotype" panose="02040502050505030304"/>
              </a:rPr>
              <a:t>ML0</a:t>
            </a:r>
            <a:r>
              <a:rPr lang="en-US" sz="2100" b="1" i="1" spc="20" dirty="0">
                <a:solidFill>
                  <a:srgbClr val="585858"/>
                </a:solidFill>
                <a:latin typeface="Palatino Linotype" panose="02040502050505030304"/>
                <a:cs typeface="Palatino Linotype" panose="02040502050505030304"/>
              </a:rPr>
              <a:t>6</a:t>
            </a:r>
            <a:endParaRPr sz="2100">
              <a:latin typeface="Palatino Linotype" panose="02040502050505030304"/>
              <a:cs typeface="Palatino Linotype" panose="02040502050505030304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R="1304290" algn="ctr">
              <a:lnSpc>
                <a:spcPct val="100000"/>
              </a:lnSpc>
            </a:pPr>
            <a:r>
              <a:rPr lang="en-US" altLang="zh-CN" sz="2400" dirty="0">
                <a:latin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助教：梁威鹏</a:t>
            </a:r>
            <a:endParaRPr sz="2400" b="1">
              <a:latin typeface="微软雅黑" panose="020B0503020204020204" charset="-122"/>
              <a:cs typeface="微软雅黑" panose="020B0503020204020204" charset="-122"/>
            </a:endParaRPr>
          </a:p>
          <a:p>
            <a:pPr marR="1217930" algn="ctr">
              <a:lnSpc>
                <a:spcPct val="100000"/>
              </a:lnSpc>
              <a:spcBef>
                <a:spcPts val="1110"/>
              </a:spcBef>
            </a:pPr>
            <a:endParaRPr sz="2400" b="1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12290" y="4835024"/>
            <a:ext cx="2404664" cy="794484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sp>
        <p:nvSpPr>
          <p:cNvPr id="7" name="object 3"/>
          <p:cNvSpPr txBox="1">
            <a:spLocks noGrp="1"/>
          </p:cNvSpPr>
          <p:nvPr/>
        </p:nvSpPr>
        <p:spPr>
          <a:xfrm>
            <a:off x="2712085" y="2971800"/>
            <a:ext cx="7226300" cy="9372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5300" b="0" i="0">
                <a:solidFill>
                  <a:schemeClr val="tx1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altLang="zh-CN" sz="6000" b="1" spc="15" dirty="0">
                <a:ea typeface="微软雅黑" panose="020B0503020204020204" charset="-122"/>
              </a:rPr>
              <a:t>    </a:t>
            </a:r>
            <a:r>
              <a:rPr lang="en-US" altLang="zh-CN" sz="6000" b="1" spc="15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  K-Means</a:t>
            </a:r>
            <a:r>
              <a:rPr lang="zh-CN" altLang="en-US" sz="6000" b="1" spc="15" dirty="0">
                <a:ea typeface="微软雅黑" panose="020B0503020204020204" charset="-122"/>
              </a:rPr>
              <a:t>聚类</a:t>
            </a:r>
            <a:endParaRPr lang="zh-CN" altLang="zh-CN" sz="6000" b="1" spc="15" dirty="0"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5730" y="3048000"/>
            <a:ext cx="463423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n-US" altLang="zh-CN" sz="4800" b="1" spc="15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+mn-ea"/>
              </a:rPr>
              <a:t>K-Means</a:t>
            </a:r>
            <a:r>
              <a:rPr lang="zh-CN" altLang="en-US" sz="4800" b="1" spc="15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聚类</a:t>
            </a:r>
            <a:endParaRPr sz="4800" b="1" spc="25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33400" y="762000"/>
            <a:ext cx="10132695" cy="168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Blip>
                <a:blip r:embed="rId1"/>
              </a:buBlip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KMeans算法将一组N个样本的特征矩阵X划分为K个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无交集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的簇，直观上来看是簇是一组一组聚    集在一起的数据，在一个簇中的数据就认为是同一类。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簇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就是聚类的结果表现。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None/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Blip>
                <a:blip r:embed="rId1"/>
              </a:buBlip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Blip>
                <a:blip r:embed="rId1"/>
              </a:buBlip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簇中所有数据的均值通常被称为这个簇的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质心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"/>
          <p:cNvSpPr/>
          <p:nvPr/>
        </p:nvSpPr>
        <p:spPr>
          <a:xfrm>
            <a:off x="271780" y="71755"/>
            <a:ext cx="435800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81000" y="152718"/>
            <a:ext cx="416814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altLang="en-US" sz="2000" spc="15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K-Means</a:t>
            </a:r>
            <a:r>
              <a:rPr lang="zh-CN" alt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关键概念</a:t>
            </a:r>
            <a:r>
              <a:rPr lang="en-US" alt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</a:t>
            </a:r>
            <a:r>
              <a:rPr lang="zh-CN" alt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簇与质心</a:t>
            </a:r>
            <a:endParaRPr lang="zh-CN" altLang="en-US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514600"/>
            <a:ext cx="6662420" cy="37306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886200" y="3733800"/>
            <a:ext cx="15659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spc="15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b="1" spc="15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物以类聚</a:t>
            </a:r>
            <a:r>
              <a:rPr lang="en-US" altLang="zh-CN" b="1" spc="15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endParaRPr lang="en-US" altLang="zh-CN" b="1" spc="15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81000" y="762000"/>
            <a:ext cx="7566025" cy="2168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随机抽取K个样本作为最初的质心；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开始循环；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将每个样本点分配到离他们最近的质心，生成K个簇；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对于每个簇，计算所有被分到该簇的样本点的平均值作为新的质心；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当质心的位置不再发生变化，迭代停止，聚类完成。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"/>
          <p:cNvSpPr/>
          <p:nvPr/>
        </p:nvSpPr>
        <p:spPr>
          <a:xfrm>
            <a:off x="271780" y="71755"/>
            <a:ext cx="2910840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81000" y="153035"/>
            <a:ext cx="2653665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altLang="en-US" sz="2000" spc="15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K-Means的具体过程</a:t>
            </a:r>
            <a:endParaRPr lang="en-US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930525"/>
            <a:ext cx="2894965" cy="2273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270" y="3124200"/>
            <a:ext cx="248920" cy="6667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3221355"/>
            <a:ext cx="406400" cy="6667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7800" y="3221355"/>
            <a:ext cx="647700" cy="2425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71800"/>
            <a:ext cx="9575800" cy="3719195"/>
          </a:xfrm>
          <a:prstGeom prst="rect">
            <a:avLst/>
          </a:prstGeom>
        </p:spPr>
      </p:pic>
      <p:sp>
        <p:nvSpPr>
          <p:cNvPr id="14" name="灯片编号占位符 1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sp>
        <p:nvSpPr>
          <p:cNvPr id="12" name="Rectangle 1"/>
          <p:cNvSpPr/>
          <p:nvPr/>
        </p:nvSpPr>
        <p:spPr>
          <a:xfrm>
            <a:off x="271780" y="71755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81000" y="152718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alt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K-Means</a:t>
            </a:r>
            <a:r>
              <a:rPr lang="zh-CN" alt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</a:t>
            </a:r>
            <a:r>
              <a:rPr lang="zh-CN" alt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</a:t>
            </a:r>
            <a:endParaRPr lang="zh-CN" altLang="en-US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762000"/>
            <a:ext cx="8467725" cy="3305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sp>
        <p:nvSpPr>
          <p:cNvPr id="12" name="Rectangle 1"/>
          <p:cNvSpPr/>
          <p:nvPr/>
        </p:nvSpPr>
        <p:spPr>
          <a:xfrm>
            <a:off x="271780" y="71755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81000" y="152718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en-US" alt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K-Means</a:t>
            </a:r>
            <a:r>
              <a:rPr lang="zh-CN" altLang="en-US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缺点</a:t>
            </a:r>
            <a:endParaRPr lang="zh-CN" altLang="en-US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685800"/>
            <a:ext cx="8521700" cy="58381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5800" y="3048000"/>
            <a:ext cx="290957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>
                <a:latin typeface="楷体" panose="02010609060101010101" charset="-122"/>
                <a:ea typeface="楷体" panose="02010609060101010101" charset="-122"/>
              </a:rPr>
              <a:t>实验任务</a:t>
            </a:r>
            <a:endParaRPr sz="4800" b="1" spc="25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sp>
        <p:nvSpPr>
          <p:cNvPr id="100" name="文本框 99"/>
          <p:cNvSpPr txBox="1"/>
          <p:nvPr/>
        </p:nvSpPr>
        <p:spPr>
          <a:xfrm>
            <a:off x="533400" y="762000"/>
            <a:ext cx="8940165" cy="2168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lnSpc>
                <a:spcPct val="150000"/>
              </a:lnSpc>
            </a:pPr>
            <a:r>
              <a:rPr sz="1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zh-CN" sz="1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给定数据集进行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K-Means</a:t>
            </a:r>
            <a:r>
              <a:rPr lang="zh-CN" altLang="en-US" sz="1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聚类操作</a:t>
            </a: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并进行如下图的可视化操作，增进对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K-Means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的理解。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在实验过程中调整簇的个数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在实验过程中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使用不同的初始化质心方式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18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1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sz="18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可视化画图。</a:t>
            </a:r>
            <a:endParaRPr lang="zh-CN" altLang="en-US" sz="18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"/>
          <p:cNvSpPr/>
          <p:nvPr/>
        </p:nvSpPr>
        <p:spPr>
          <a:xfrm>
            <a:off x="271780" y="71755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81000" y="152718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实验任务</a:t>
            </a:r>
            <a:endParaRPr lang="zh-CN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048000"/>
            <a:ext cx="9575800" cy="3719195"/>
          </a:xfrm>
          <a:prstGeom prst="rect">
            <a:avLst/>
          </a:prstGeom>
        </p:spPr>
      </p:pic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91000" y="95250"/>
          <a:ext cx="9715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showAsIcon="1" r:id="rId2" imgW="971550" imgH="666750" progId="Package">
                  <p:embed/>
                </p:oleObj>
              </mc:Choice>
              <mc:Fallback>
                <p:oleObj name="" showAsIcon="1" r:id="rId2" imgW="971550" imgH="666750" progId="Package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91000" y="95250"/>
                        <a:ext cx="971550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5800" y="3048000"/>
            <a:ext cx="2909570" cy="7543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zh-CN" sz="4800" b="1" spc="25" dirty="0">
                <a:latin typeface="楷体" panose="02010609060101010101" charset="-122"/>
                <a:ea typeface="楷体" panose="02010609060101010101" charset="-122"/>
              </a:rPr>
              <a:t>实验步骤</a:t>
            </a:r>
            <a:endParaRPr lang="zh-CN" sz="4800" b="1" spc="25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sp>
        <p:nvSpPr>
          <p:cNvPr id="12" name="Rectangle 1"/>
          <p:cNvSpPr/>
          <p:nvPr/>
        </p:nvSpPr>
        <p:spPr>
          <a:xfrm>
            <a:off x="271780" y="71755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81000" y="152718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实验步骤</a:t>
            </a:r>
            <a:endParaRPr lang="zh-CN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5951"/>
          <a:stretch>
            <a:fillRect/>
          </a:stretch>
        </p:blipFill>
        <p:spPr>
          <a:xfrm>
            <a:off x="533400" y="1054100"/>
            <a:ext cx="5840730" cy="2514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764915"/>
            <a:ext cx="6772275" cy="21907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2667000"/>
            <a:ext cx="4199255" cy="32886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57200" y="685800"/>
            <a:ext cx="158305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加载数据集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  <p:sp>
        <p:nvSpPr>
          <p:cNvPr id="12" name="Rectangle 1"/>
          <p:cNvSpPr/>
          <p:nvPr/>
        </p:nvSpPr>
        <p:spPr>
          <a:xfrm>
            <a:off x="271780" y="71755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81000" y="152718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实验步骤</a:t>
            </a:r>
            <a:endParaRPr lang="zh-CN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5114290"/>
            <a:ext cx="1004189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官方文档：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hlinkClick r:id="rId1" action="ppaction://hlinkfile"/>
              </a:rPr>
              <a:t>https://scikit-learn.org/stable/modules/generated/sklearn.cluster.KMeans.html#sklearn.cluster.KMeans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hlinkClick r:id="rId1" action="ppaction://hlinkfile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  <a:hlinkClick r:id="rId1" action="ppaction://hlinkfile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中文文档：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hlinkClick r:id="rId2" action="ppaction://hlinkfile"/>
              </a:rPr>
              <a:t>https://www.sklearncn.cn/22/#232-k-means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261235"/>
            <a:ext cx="8037195" cy="28644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81000" y="685800"/>
            <a:ext cx="232537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定义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K-Means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模型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1188720"/>
            <a:ext cx="6696075" cy="9810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0" y="685800"/>
            <a:ext cx="4819650" cy="38195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6800"/>
            <a:ext cx="6285230" cy="27889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81000" y="685800"/>
            <a:ext cx="135445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画出质心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Rectangle 1"/>
          <p:cNvSpPr/>
          <p:nvPr/>
        </p:nvSpPr>
        <p:spPr>
          <a:xfrm>
            <a:off x="271780" y="71755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81000" y="152718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实验步骤</a:t>
            </a:r>
            <a:endParaRPr lang="zh-CN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381000" y="685800"/>
            <a:ext cx="181165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画出簇的边界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Rectangle 1"/>
          <p:cNvSpPr/>
          <p:nvPr/>
        </p:nvSpPr>
        <p:spPr>
          <a:xfrm>
            <a:off x="271780" y="71755"/>
            <a:ext cx="2195195" cy="479425"/>
          </a:xfrm>
          <a:prstGeom prst="roundRect">
            <a:avLst/>
          </a:prstGeom>
          <a:gradFill flip="none" rotWithShape="1">
            <a:gsLst>
              <a:gs pos="0">
                <a:srgbClr val="7B5A85"/>
              </a:gs>
              <a:gs pos="100000">
                <a:srgbClr val="C35954"/>
              </a:gs>
            </a:gsLst>
            <a:lin ang="0" scaled="1"/>
            <a:tileRect/>
          </a:gradFill>
          <a:ln>
            <a:noFill/>
          </a:ln>
          <a:effectLst>
            <a:outerShdw blurRad="88900" dist="88900" dir="5400000" sx="99000" sy="99000" algn="t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bject 3"/>
          <p:cNvSpPr txBox="1">
            <a:spLocks noGrp="1"/>
          </p:cNvSpPr>
          <p:nvPr/>
        </p:nvSpPr>
        <p:spPr>
          <a:xfrm>
            <a:off x="381000" y="152718"/>
            <a:ext cx="2086610" cy="3181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10953" rIns="0" bIns="0" rtlCol="0" anchor="ctr" anchorCtr="0">
            <a:spAutoFit/>
          </a:bodyPr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zh-CN" sz="2000" spc="1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实验步骤</a:t>
            </a:r>
            <a:endParaRPr lang="zh-CN" sz="2000" spc="1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143000"/>
            <a:ext cx="7672070" cy="29692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2438400"/>
            <a:ext cx="4334510" cy="349885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-1" y="76412"/>
            <a:ext cx="12204701" cy="347616"/>
          </a:xfrm>
          <a:custGeom>
            <a:avLst/>
            <a:gdLst>
              <a:gd name="connsiteX0" fmla="*/ 0 w 9153526"/>
              <a:gd name="connsiteY0" fmla="*/ 0 h 260712"/>
              <a:gd name="connsiteX1" fmla="*/ 9153526 w 9153526"/>
              <a:gd name="connsiteY1" fmla="*/ 0 h 260712"/>
              <a:gd name="connsiteX2" fmla="*/ 9153526 w 9153526"/>
              <a:gd name="connsiteY2" fmla="*/ 60325 h 260712"/>
              <a:gd name="connsiteX3" fmla="*/ 5009013 w 9153526"/>
              <a:gd name="connsiteY3" fmla="*/ 60325 h 260712"/>
              <a:gd name="connsiteX4" fmla="*/ 4576763 w 9153526"/>
              <a:gd name="connsiteY4" fmla="*/ 260712 h 260712"/>
              <a:gd name="connsiteX5" fmla="*/ 4144513 w 9153526"/>
              <a:gd name="connsiteY5" fmla="*/ 60325 h 260712"/>
              <a:gd name="connsiteX6" fmla="*/ 0 w 9153526"/>
              <a:gd name="connsiteY6" fmla="*/ 60325 h 260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3526" h="260712">
                <a:moveTo>
                  <a:pt x="0" y="0"/>
                </a:moveTo>
                <a:lnTo>
                  <a:pt x="9153526" y="0"/>
                </a:lnTo>
                <a:lnTo>
                  <a:pt x="9153526" y="60325"/>
                </a:lnTo>
                <a:lnTo>
                  <a:pt x="5009013" y="60325"/>
                </a:lnTo>
                <a:cubicBezTo>
                  <a:pt x="4904129" y="181194"/>
                  <a:pt x="4748392" y="260712"/>
                  <a:pt x="4576763" y="260712"/>
                </a:cubicBezTo>
                <a:cubicBezTo>
                  <a:pt x="4405136" y="260712"/>
                  <a:pt x="4249399" y="181194"/>
                  <a:pt x="4144513" y="60325"/>
                </a:cubicBezTo>
                <a:cubicBezTo>
                  <a:pt x="0" y="60325"/>
                  <a:pt x="0" y="60325"/>
                  <a:pt x="0" y="6032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7" name="Rectangle 5"/>
          <p:cNvSpPr>
            <a:spLocks noChangeArrowheads="1"/>
          </p:cNvSpPr>
          <p:nvPr/>
        </p:nvSpPr>
        <p:spPr bwMode="auto">
          <a:xfrm>
            <a:off x="5098120" y="5465199"/>
            <a:ext cx="209550" cy="209550"/>
          </a:xfrm>
          <a:prstGeom prst="rect">
            <a:avLst/>
          </a:prstGeom>
          <a:noFill/>
          <a:ln w="0">
            <a:noFill/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000">
              <a:solidFill>
                <a:srgbClr val="44546A"/>
              </a:solidFill>
              <a:latin typeface="方正宋刻本秀楷简体" panose="02000000000000000000" pitchFamily="2" charset="-122"/>
              <a:ea typeface="方正宋刻本秀楷简体" panose="02000000000000000000" pitchFamily="2" charset="-122"/>
            </a:endParaRPr>
          </a:p>
        </p:txBody>
      </p:sp>
      <p:sp>
        <p:nvSpPr>
          <p:cNvPr id="98" name="Freeform 6"/>
          <p:cNvSpPr>
            <a:spLocks noEditPoints="1"/>
          </p:cNvSpPr>
          <p:nvPr/>
        </p:nvSpPr>
        <p:spPr bwMode="auto">
          <a:xfrm>
            <a:off x="5558775" y="5763966"/>
            <a:ext cx="147638" cy="147638"/>
          </a:xfrm>
          <a:custGeom>
            <a:avLst/>
            <a:gdLst>
              <a:gd name="T0" fmla="*/ 2899 w 3290"/>
              <a:gd name="T1" fmla="*/ 2617 h 3421"/>
              <a:gd name="T2" fmla="*/ 2623 w 3290"/>
              <a:gd name="T3" fmla="*/ 2363 h 3421"/>
              <a:gd name="T4" fmla="*/ 2299 w 3290"/>
              <a:gd name="T5" fmla="*/ 2176 h 3421"/>
              <a:gd name="T6" fmla="*/ 2173 w 3290"/>
              <a:gd name="T7" fmla="*/ 2073 h 3421"/>
              <a:gd name="T8" fmla="*/ 2404 w 3290"/>
              <a:gd name="T9" fmla="*/ 1891 h 3421"/>
              <a:gd name="T10" fmla="*/ 2587 w 3290"/>
              <a:gd name="T11" fmla="*/ 1637 h 3421"/>
              <a:gd name="T12" fmla="*/ 2693 w 3290"/>
              <a:gd name="T13" fmla="*/ 1345 h 3421"/>
              <a:gd name="T14" fmla="*/ 2714 w 3290"/>
              <a:gd name="T15" fmla="*/ 1028 h 3421"/>
              <a:gd name="T16" fmla="*/ 2650 w 3290"/>
              <a:gd name="T17" fmla="*/ 720 h 3421"/>
              <a:gd name="T18" fmla="*/ 2505 w 3290"/>
              <a:gd name="T19" fmla="*/ 445 h 3421"/>
              <a:gd name="T20" fmla="*/ 2288 w 3290"/>
              <a:gd name="T21" fmla="*/ 220 h 3421"/>
              <a:gd name="T22" fmla="*/ 2023 w 3290"/>
              <a:gd name="T23" fmla="*/ 69 h 3421"/>
              <a:gd name="T24" fmla="*/ 1727 w 3290"/>
              <a:gd name="T25" fmla="*/ 2 h 3421"/>
              <a:gd name="T26" fmla="*/ 1422 w 3290"/>
              <a:gd name="T27" fmla="*/ 25 h 3421"/>
              <a:gd name="T28" fmla="*/ 1139 w 3290"/>
              <a:gd name="T29" fmla="*/ 134 h 3421"/>
              <a:gd name="T30" fmla="*/ 895 w 3290"/>
              <a:gd name="T31" fmla="*/ 325 h 3421"/>
              <a:gd name="T32" fmla="*/ 712 w 3290"/>
              <a:gd name="T33" fmla="*/ 577 h 3421"/>
              <a:gd name="T34" fmla="*/ 607 w 3290"/>
              <a:gd name="T35" fmla="*/ 871 h 3421"/>
              <a:gd name="T36" fmla="*/ 585 w 3290"/>
              <a:gd name="T37" fmla="*/ 1188 h 3421"/>
              <a:gd name="T38" fmla="*/ 649 w 3290"/>
              <a:gd name="T39" fmla="*/ 1495 h 3421"/>
              <a:gd name="T40" fmla="*/ 794 w 3290"/>
              <a:gd name="T41" fmla="*/ 1770 h 3421"/>
              <a:gd name="T42" fmla="*/ 1004 w 3290"/>
              <a:gd name="T43" fmla="*/ 1990 h 3421"/>
              <a:gd name="T44" fmla="*/ 1132 w 3290"/>
              <a:gd name="T45" fmla="*/ 2123 h 3421"/>
              <a:gd name="T46" fmla="*/ 825 w 3290"/>
              <a:gd name="T47" fmla="*/ 2261 h 3421"/>
              <a:gd name="T48" fmla="*/ 521 w 3290"/>
              <a:gd name="T49" fmla="*/ 2484 h 3421"/>
              <a:gd name="T50" fmla="*/ 275 w 3290"/>
              <a:gd name="T51" fmla="*/ 2767 h 3421"/>
              <a:gd name="T52" fmla="*/ 89 w 3290"/>
              <a:gd name="T53" fmla="*/ 3103 h 3421"/>
              <a:gd name="T54" fmla="*/ 165 w 3290"/>
              <a:gd name="T55" fmla="*/ 3421 h 3421"/>
              <a:gd name="T56" fmla="*/ 294 w 3290"/>
              <a:gd name="T57" fmla="*/ 3068 h 3421"/>
              <a:gd name="T58" fmla="*/ 500 w 3290"/>
              <a:gd name="T59" fmla="*/ 2756 h 3421"/>
              <a:gd name="T60" fmla="*/ 765 w 3290"/>
              <a:gd name="T61" fmla="*/ 2508 h 3421"/>
              <a:gd name="T62" fmla="*/ 1057 w 3290"/>
              <a:gd name="T63" fmla="*/ 2339 h 3421"/>
              <a:gd name="T64" fmla="*/ 1386 w 3290"/>
              <a:gd name="T65" fmla="*/ 2240 h 3421"/>
              <a:gd name="T66" fmla="*/ 1733 w 3290"/>
              <a:gd name="T67" fmla="*/ 2220 h 3421"/>
              <a:gd name="T68" fmla="*/ 2073 w 3290"/>
              <a:gd name="T69" fmla="*/ 2280 h 3421"/>
              <a:gd name="T70" fmla="*/ 2383 w 3290"/>
              <a:gd name="T71" fmla="*/ 2415 h 3421"/>
              <a:gd name="T72" fmla="*/ 2662 w 3290"/>
              <a:gd name="T73" fmla="*/ 2621 h 3421"/>
              <a:gd name="T74" fmla="*/ 2902 w 3290"/>
              <a:gd name="T75" fmla="*/ 2905 h 3421"/>
              <a:gd name="T76" fmla="*/ 3071 w 3290"/>
              <a:gd name="T77" fmla="*/ 3238 h 3421"/>
              <a:gd name="T78" fmla="*/ 3265 w 3290"/>
              <a:gd name="T79" fmla="*/ 3282 h 3421"/>
              <a:gd name="T80" fmla="*/ 3117 w 3290"/>
              <a:gd name="T81" fmla="*/ 2927 h 3421"/>
              <a:gd name="T82" fmla="*/ 764 w 3290"/>
              <a:gd name="T83" fmla="*/ 957 h 3421"/>
              <a:gd name="T84" fmla="*/ 853 w 3290"/>
              <a:gd name="T85" fmla="*/ 680 h 3421"/>
              <a:gd name="T86" fmla="*/ 1016 w 3290"/>
              <a:gd name="T87" fmla="*/ 449 h 3421"/>
              <a:gd name="T88" fmla="*/ 1237 w 3290"/>
              <a:gd name="T89" fmla="*/ 280 h 3421"/>
              <a:gd name="T90" fmla="*/ 1505 w 3290"/>
              <a:gd name="T91" fmla="*/ 188 h 3421"/>
              <a:gd name="T92" fmla="*/ 1795 w 3290"/>
              <a:gd name="T93" fmla="*/ 188 h 3421"/>
              <a:gd name="T94" fmla="*/ 2062 w 3290"/>
              <a:gd name="T95" fmla="*/ 280 h 3421"/>
              <a:gd name="T96" fmla="*/ 2284 w 3290"/>
              <a:gd name="T97" fmla="*/ 449 h 3421"/>
              <a:gd name="T98" fmla="*/ 2446 w 3290"/>
              <a:gd name="T99" fmla="*/ 680 h 3421"/>
              <a:gd name="T100" fmla="*/ 2535 w 3290"/>
              <a:gd name="T101" fmla="*/ 957 h 3421"/>
              <a:gd name="T102" fmla="*/ 2535 w 3290"/>
              <a:gd name="T103" fmla="*/ 1259 h 3421"/>
              <a:gd name="T104" fmla="*/ 2446 w 3290"/>
              <a:gd name="T105" fmla="*/ 1535 h 3421"/>
              <a:gd name="T106" fmla="*/ 2284 w 3290"/>
              <a:gd name="T107" fmla="*/ 1766 h 3421"/>
              <a:gd name="T108" fmla="*/ 2062 w 3290"/>
              <a:gd name="T109" fmla="*/ 1935 h 3421"/>
              <a:gd name="T110" fmla="*/ 1795 w 3290"/>
              <a:gd name="T111" fmla="*/ 2026 h 3421"/>
              <a:gd name="T112" fmla="*/ 1505 w 3290"/>
              <a:gd name="T113" fmla="*/ 2026 h 3421"/>
              <a:gd name="T114" fmla="*/ 1237 w 3290"/>
              <a:gd name="T115" fmla="*/ 1935 h 3421"/>
              <a:gd name="T116" fmla="*/ 1016 w 3290"/>
              <a:gd name="T117" fmla="*/ 1766 h 3421"/>
              <a:gd name="T118" fmla="*/ 853 w 3290"/>
              <a:gd name="T119" fmla="*/ 1535 h 3421"/>
              <a:gd name="T120" fmla="*/ 764 w 3290"/>
              <a:gd name="T121" fmla="*/ 1259 h 34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290" h="3421">
                <a:moveTo>
                  <a:pt x="3068" y="2844"/>
                </a:moveTo>
                <a:lnTo>
                  <a:pt x="3015" y="2765"/>
                </a:lnTo>
                <a:lnTo>
                  <a:pt x="2959" y="2690"/>
                </a:lnTo>
                <a:lnTo>
                  <a:pt x="2899" y="2617"/>
                </a:lnTo>
                <a:lnTo>
                  <a:pt x="2836" y="2548"/>
                </a:lnTo>
                <a:lnTo>
                  <a:pt x="2768" y="2483"/>
                </a:lnTo>
                <a:lnTo>
                  <a:pt x="2698" y="2421"/>
                </a:lnTo>
                <a:lnTo>
                  <a:pt x="2623" y="2363"/>
                </a:lnTo>
                <a:lnTo>
                  <a:pt x="2546" y="2309"/>
                </a:lnTo>
                <a:lnTo>
                  <a:pt x="2465" y="2260"/>
                </a:lnTo>
                <a:lnTo>
                  <a:pt x="2383" y="2216"/>
                </a:lnTo>
                <a:lnTo>
                  <a:pt x="2299" y="2176"/>
                </a:lnTo>
                <a:lnTo>
                  <a:pt x="2212" y="2142"/>
                </a:lnTo>
                <a:lnTo>
                  <a:pt x="2161" y="2124"/>
                </a:lnTo>
                <a:lnTo>
                  <a:pt x="2110" y="2107"/>
                </a:lnTo>
                <a:lnTo>
                  <a:pt x="2173" y="2073"/>
                </a:lnTo>
                <a:lnTo>
                  <a:pt x="2235" y="2034"/>
                </a:lnTo>
                <a:lnTo>
                  <a:pt x="2294" y="1991"/>
                </a:lnTo>
                <a:lnTo>
                  <a:pt x="2350" y="1943"/>
                </a:lnTo>
                <a:lnTo>
                  <a:pt x="2404" y="1891"/>
                </a:lnTo>
                <a:lnTo>
                  <a:pt x="2456" y="1832"/>
                </a:lnTo>
                <a:lnTo>
                  <a:pt x="2506" y="1770"/>
                </a:lnTo>
                <a:lnTo>
                  <a:pt x="2549" y="1705"/>
                </a:lnTo>
                <a:lnTo>
                  <a:pt x="2587" y="1637"/>
                </a:lnTo>
                <a:lnTo>
                  <a:pt x="2621" y="1567"/>
                </a:lnTo>
                <a:lnTo>
                  <a:pt x="2650" y="1495"/>
                </a:lnTo>
                <a:lnTo>
                  <a:pt x="2674" y="1421"/>
                </a:lnTo>
                <a:lnTo>
                  <a:pt x="2693" y="1345"/>
                </a:lnTo>
                <a:lnTo>
                  <a:pt x="2706" y="1267"/>
                </a:lnTo>
                <a:lnTo>
                  <a:pt x="2714" y="1188"/>
                </a:lnTo>
                <a:lnTo>
                  <a:pt x="2717" y="1108"/>
                </a:lnTo>
                <a:lnTo>
                  <a:pt x="2714" y="1028"/>
                </a:lnTo>
                <a:lnTo>
                  <a:pt x="2706" y="948"/>
                </a:lnTo>
                <a:lnTo>
                  <a:pt x="2693" y="871"/>
                </a:lnTo>
                <a:lnTo>
                  <a:pt x="2674" y="794"/>
                </a:lnTo>
                <a:lnTo>
                  <a:pt x="2650" y="720"/>
                </a:lnTo>
                <a:lnTo>
                  <a:pt x="2621" y="647"/>
                </a:lnTo>
                <a:lnTo>
                  <a:pt x="2587" y="577"/>
                </a:lnTo>
                <a:lnTo>
                  <a:pt x="2549" y="510"/>
                </a:lnTo>
                <a:lnTo>
                  <a:pt x="2505" y="445"/>
                </a:lnTo>
                <a:lnTo>
                  <a:pt x="2456" y="383"/>
                </a:lnTo>
                <a:lnTo>
                  <a:pt x="2404" y="325"/>
                </a:lnTo>
                <a:lnTo>
                  <a:pt x="2347" y="270"/>
                </a:lnTo>
                <a:lnTo>
                  <a:pt x="2288" y="220"/>
                </a:lnTo>
                <a:lnTo>
                  <a:pt x="2225" y="174"/>
                </a:lnTo>
                <a:lnTo>
                  <a:pt x="2160" y="134"/>
                </a:lnTo>
                <a:lnTo>
                  <a:pt x="2093" y="99"/>
                </a:lnTo>
                <a:lnTo>
                  <a:pt x="2023" y="69"/>
                </a:lnTo>
                <a:lnTo>
                  <a:pt x="1952" y="44"/>
                </a:lnTo>
                <a:lnTo>
                  <a:pt x="1878" y="25"/>
                </a:lnTo>
                <a:lnTo>
                  <a:pt x="1803" y="11"/>
                </a:lnTo>
                <a:lnTo>
                  <a:pt x="1727" y="2"/>
                </a:lnTo>
                <a:lnTo>
                  <a:pt x="1650" y="0"/>
                </a:lnTo>
                <a:lnTo>
                  <a:pt x="1572" y="2"/>
                </a:lnTo>
                <a:lnTo>
                  <a:pt x="1496" y="11"/>
                </a:lnTo>
                <a:lnTo>
                  <a:pt x="1422" y="25"/>
                </a:lnTo>
                <a:lnTo>
                  <a:pt x="1347" y="44"/>
                </a:lnTo>
                <a:lnTo>
                  <a:pt x="1276" y="69"/>
                </a:lnTo>
                <a:lnTo>
                  <a:pt x="1206" y="99"/>
                </a:lnTo>
                <a:lnTo>
                  <a:pt x="1139" y="134"/>
                </a:lnTo>
                <a:lnTo>
                  <a:pt x="1074" y="174"/>
                </a:lnTo>
                <a:lnTo>
                  <a:pt x="1011" y="220"/>
                </a:lnTo>
                <a:lnTo>
                  <a:pt x="952" y="270"/>
                </a:lnTo>
                <a:lnTo>
                  <a:pt x="895" y="325"/>
                </a:lnTo>
                <a:lnTo>
                  <a:pt x="843" y="383"/>
                </a:lnTo>
                <a:lnTo>
                  <a:pt x="794" y="445"/>
                </a:lnTo>
                <a:lnTo>
                  <a:pt x="750" y="510"/>
                </a:lnTo>
                <a:lnTo>
                  <a:pt x="712" y="577"/>
                </a:lnTo>
                <a:lnTo>
                  <a:pt x="678" y="647"/>
                </a:lnTo>
                <a:lnTo>
                  <a:pt x="649" y="720"/>
                </a:lnTo>
                <a:lnTo>
                  <a:pt x="625" y="794"/>
                </a:lnTo>
                <a:lnTo>
                  <a:pt x="607" y="871"/>
                </a:lnTo>
                <a:lnTo>
                  <a:pt x="593" y="948"/>
                </a:lnTo>
                <a:lnTo>
                  <a:pt x="585" y="1028"/>
                </a:lnTo>
                <a:lnTo>
                  <a:pt x="582" y="1108"/>
                </a:lnTo>
                <a:lnTo>
                  <a:pt x="585" y="1188"/>
                </a:lnTo>
                <a:lnTo>
                  <a:pt x="593" y="1267"/>
                </a:lnTo>
                <a:lnTo>
                  <a:pt x="607" y="1345"/>
                </a:lnTo>
                <a:lnTo>
                  <a:pt x="625" y="1421"/>
                </a:lnTo>
                <a:lnTo>
                  <a:pt x="649" y="1495"/>
                </a:lnTo>
                <a:lnTo>
                  <a:pt x="678" y="1567"/>
                </a:lnTo>
                <a:lnTo>
                  <a:pt x="712" y="1637"/>
                </a:lnTo>
                <a:lnTo>
                  <a:pt x="750" y="1705"/>
                </a:lnTo>
                <a:lnTo>
                  <a:pt x="794" y="1770"/>
                </a:lnTo>
                <a:lnTo>
                  <a:pt x="843" y="1832"/>
                </a:lnTo>
                <a:lnTo>
                  <a:pt x="895" y="1891"/>
                </a:lnTo>
                <a:lnTo>
                  <a:pt x="948" y="1943"/>
                </a:lnTo>
                <a:lnTo>
                  <a:pt x="1004" y="1990"/>
                </a:lnTo>
                <a:lnTo>
                  <a:pt x="1063" y="2033"/>
                </a:lnTo>
                <a:lnTo>
                  <a:pt x="1123" y="2072"/>
                </a:lnTo>
                <a:lnTo>
                  <a:pt x="1186" y="2106"/>
                </a:lnTo>
                <a:lnTo>
                  <a:pt x="1132" y="2123"/>
                </a:lnTo>
                <a:lnTo>
                  <a:pt x="1078" y="2142"/>
                </a:lnTo>
                <a:lnTo>
                  <a:pt x="991" y="2177"/>
                </a:lnTo>
                <a:lnTo>
                  <a:pt x="907" y="2216"/>
                </a:lnTo>
                <a:lnTo>
                  <a:pt x="825" y="2261"/>
                </a:lnTo>
                <a:lnTo>
                  <a:pt x="744" y="2310"/>
                </a:lnTo>
                <a:lnTo>
                  <a:pt x="667" y="2363"/>
                </a:lnTo>
                <a:lnTo>
                  <a:pt x="592" y="2421"/>
                </a:lnTo>
                <a:lnTo>
                  <a:pt x="521" y="2484"/>
                </a:lnTo>
                <a:lnTo>
                  <a:pt x="454" y="2549"/>
                </a:lnTo>
                <a:lnTo>
                  <a:pt x="391" y="2618"/>
                </a:lnTo>
                <a:lnTo>
                  <a:pt x="331" y="2691"/>
                </a:lnTo>
                <a:lnTo>
                  <a:pt x="275" y="2767"/>
                </a:lnTo>
                <a:lnTo>
                  <a:pt x="221" y="2846"/>
                </a:lnTo>
                <a:lnTo>
                  <a:pt x="173" y="2929"/>
                </a:lnTo>
                <a:lnTo>
                  <a:pt x="129" y="3015"/>
                </a:lnTo>
                <a:lnTo>
                  <a:pt x="89" y="3103"/>
                </a:lnTo>
                <a:lnTo>
                  <a:pt x="55" y="3193"/>
                </a:lnTo>
                <a:lnTo>
                  <a:pt x="25" y="3285"/>
                </a:lnTo>
                <a:lnTo>
                  <a:pt x="0" y="3379"/>
                </a:lnTo>
                <a:lnTo>
                  <a:pt x="165" y="3421"/>
                </a:lnTo>
                <a:lnTo>
                  <a:pt x="189" y="3329"/>
                </a:lnTo>
                <a:lnTo>
                  <a:pt x="219" y="3240"/>
                </a:lnTo>
                <a:lnTo>
                  <a:pt x="254" y="3152"/>
                </a:lnTo>
                <a:lnTo>
                  <a:pt x="294" y="3068"/>
                </a:lnTo>
                <a:lnTo>
                  <a:pt x="339" y="2985"/>
                </a:lnTo>
                <a:lnTo>
                  <a:pt x="388" y="2906"/>
                </a:lnTo>
                <a:lnTo>
                  <a:pt x="442" y="2830"/>
                </a:lnTo>
                <a:lnTo>
                  <a:pt x="500" y="2756"/>
                </a:lnTo>
                <a:lnTo>
                  <a:pt x="562" y="2687"/>
                </a:lnTo>
                <a:lnTo>
                  <a:pt x="628" y="2621"/>
                </a:lnTo>
                <a:lnTo>
                  <a:pt x="698" y="2560"/>
                </a:lnTo>
                <a:lnTo>
                  <a:pt x="765" y="2508"/>
                </a:lnTo>
                <a:lnTo>
                  <a:pt x="835" y="2460"/>
                </a:lnTo>
                <a:lnTo>
                  <a:pt x="907" y="2415"/>
                </a:lnTo>
                <a:lnTo>
                  <a:pt x="981" y="2376"/>
                </a:lnTo>
                <a:lnTo>
                  <a:pt x="1057" y="2339"/>
                </a:lnTo>
                <a:lnTo>
                  <a:pt x="1135" y="2308"/>
                </a:lnTo>
                <a:lnTo>
                  <a:pt x="1217" y="2281"/>
                </a:lnTo>
                <a:lnTo>
                  <a:pt x="1301" y="2258"/>
                </a:lnTo>
                <a:lnTo>
                  <a:pt x="1386" y="2240"/>
                </a:lnTo>
                <a:lnTo>
                  <a:pt x="1472" y="2228"/>
                </a:lnTo>
                <a:lnTo>
                  <a:pt x="1558" y="2220"/>
                </a:lnTo>
                <a:lnTo>
                  <a:pt x="1645" y="2217"/>
                </a:lnTo>
                <a:lnTo>
                  <a:pt x="1733" y="2220"/>
                </a:lnTo>
                <a:lnTo>
                  <a:pt x="1819" y="2228"/>
                </a:lnTo>
                <a:lnTo>
                  <a:pt x="1904" y="2240"/>
                </a:lnTo>
                <a:lnTo>
                  <a:pt x="1990" y="2258"/>
                </a:lnTo>
                <a:lnTo>
                  <a:pt x="2073" y="2280"/>
                </a:lnTo>
                <a:lnTo>
                  <a:pt x="2155" y="2308"/>
                </a:lnTo>
                <a:lnTo>
                  <a:pt x="2233" y="2339"/>
                </a:lnTo>
                <a:lnTo>
                  <a:pt x="2309" y="2375"/>
                </a:lnTo>
                <a:lnTo>
                  <a:pt x="2383" y="2415"/>
                </a:lnTo>
                <a:lnTo>
                  <a:pt x="2455" y="2459"/>
                </a:lnTo>
                <a:lnTo>
                  <a:pt x="2525" y="2507"/>
                </a:lnTo>
                <a:lnTo>
                  <a:pt x="2592" y="2560"/>
                </a:lnTo>
                <a:lnTo>
                  <a:pt x="2662" y="2621"/>
                </a:lnTo>
                <a:lnTo>
                  <a:pt x="2728" y="2687"/>
                </a:lnTo>
                <a:lnTo>
                  <a:pt x="2790" y="2755"/>
                </a:lnTo>
                <a:lnTo>
                  <a:pt x="2848" y="2828"/>
                </a:lnTo>
                <a:lnTo>
                  <a:pt x="2902" y="2905"/>
                </a:lnTo>
                <a:lnTo>
                  <a:pt x="2951" y="2984"/>
                </a:lnTo>
                <a:lnTo>
                  <a:pt x="2996" y="3066"/>
                </a:lnTo>
                <a:lnTo>
                  <a:pt x="3036" y="3151"/>
                </a:lnTo>
                <a:lnTo>
                  <a:pt x="3071" y="3238"/>
                </a:lnTo>
                <a:lnTo>
                  <a:pt x="3101" y="3327"/>
                </a:lnTo>
                <a:lnTo>
                  <a:pt x="3125" y="3419"/>
                </a:lnTo>
                <a:lnTo>
                  <a:pt x="3290" y="3376"/>
                </a:lnTo>
                <a:lnTo>
                  <a:pt x="3265" y="3282"/>
                </a:lnTo>
                <a:lnTo>
                  <a:pt x="3235" y="3191"/>
                </a:lnTo>
                <a:lnTo>
                  <a:pt x="3201" y="3100"/>
                </a:lnTo>
                <a:lnTo>
                  <a:pt x="3161" y="3013"/>
                </a:lnTo>
                <a:lnTo>
                  <a:pt x="3117" y="2927"/>
                </a:lnTo>
                <a:lnTo>
                  <a:pt x="3068" y="2844"/>
                </a:lnTo>
                <a:close/>
                <a:moveTo>
                  <a:pt x="752" y="1108"/>
                </a:moveTo>
                <a:lnTo>
                  <a:pt x="755" y="1031"/>
                </a:lnTo>
                <a:lnTo>
                  <a:pt x="764" y="957"/>
                </a:lnTo>
                <a:lnTo>
                  <a:pt x="778" y="884"/>
                </a:lnTo>
                <a:lnTo>
                  <a:pt x="798" y="813"/>
                </a:lnTo>
                <a:lnTo>
                  <a:pt x="824" y="745"/>
                </a:lnTo>
                <a:lnTo>
                  <a:pt x="853" y="680"/>
                </a:lnTo>
                <a:lnTo>
                  <a:pt x="888" y="617"/>
                </a:lnTo>
                <a:lnTo>
                  <a:pt x="926" y="558"/>
                </a:lnTo>
                <a:lnTo>
                  <a:pt x="969" y="501"/>
                </a:lnTo>
                <a:lnTo>
                  <a:pt x="1016" y="449"/>
                </a:lnTo>
                <a:lnTo>
                  <a:pt x="1066" y="401"/>
                </a:lnTo>
                <a:lnTo>
                  <a:pt x="1120" y="356"/>
                </a:lnTo>
                <a:lnTo>
                  <a:pt x="1177" y="316"/>
                </a:lnTo>
                <a:lnTo>
                  <a:pt x="1237" y="280"/>
                </a:lnTo>
                <a:lnTo>
                  <a:pt x="1300" y="250"/>
                </a:lnTo>
                <a:lnTo>
                  <a:pt x="1366" y="224"/>
                </a:lnTo>
                <a:lnTo>
                  <a:pt x="1435" y="203"/>
                </a:lnTo>
                <a:lnTo>
                  <a:pt x="1505" y="188"/>
                </a:lnTo>
                <a:lnTo>
                  <a:pt x="1576" y="179"/>
                </a:lnTo>
                <a:lnTo>
                  <a:pt x="1650" y="176"/>
                </a:lnTo>
                <a:lnTo>
                  <a:pt x="1723" y="179"/>
                </a:lnTo>
                <a:lnTo>
                  <a:pt x="1795" y="188"/>
                </a:lnTo>
                <a:lnTo>
                  <a:pt x="1865" y="203"/>
                </a:lnTo>
                <a:lnTo>
                  <a:pt x="1933" y="224"/>
                </a:lnTo>
                <a:lnTo>
                  <a:pt x="1999" y="250"/>
                </a:lnTo>
                <a:lnTo>
                  <a:pt x="2062" y="280"/>
                </a:lnTo>
                <a:lnTo>
                  <a:pt x="2122" y="316"/>
                </a:lnTo>
                <a:lnTo>
                  <a:pt x="2179" y="356"/>
                </a:lnTo>
                <a:lnTo>
                  <a:pt x="2233" y="401"/>
                </a:lnTo>
                <a:lnTo>
                  <a:pt x="2284" y="449"/>
                </a:lnTo>
                <a:lnTo>
                  <a:pt x="2330" y="501"/>
                </a:lnTo>
                <a:lnTo>
                  <a:pt x="2373" y="558"/>
                </a:lnTo>
                <a:lnTo>
                  <a:pt x="2412" y="617"/>
                </a:lnTo>
                <a:lnTo>
                  <a:pt x="2446" y="680"/>
                </a:lnTo>
                <a:lnTo>
                  <a:pt x="2477" y="745"/>
                </a:lnTo>
                <a:lnTo>
                  <a:pt x="2501" y="813"/>
                </a:lnTo>
                <a:lnTo>
                  <a:pt x="2521" y="884"/>
                </a:lnTo>
                <a:lnTo>
                  <a:pt x="2535" y="957"/>
                </a:lnTo>
                <a:lnTo>
                  <a:pt x="2544" y="1031"/>
                </a:lnTo>
                <a:lnTo>
                  <a:pt x="2547" y="1108"/>
                </a:lnTo>
                <a:lnTo>
                  <a:pt x="2544" y="1184"/>
                </a:lnTo>
                <a:lnTo>
                  <a:pt x="2535" y="1259"/>
                </a:lnTo>
                <a:lnTo>
                  <a:pt x="2521" y="1331"/>
                </a:lnTo>
                <a:lnTo>
                  <a:pt x="2501" y="1401"/>
                </a:lnTo>
                <a:lnTo>
                  <a:pt x="2477" y="1470"/>
                </a:lnTo>
                <a:lnTo>
                  <a:pt x="2446" y="1535"/>
                </a:lnTo>
                <a:lnTo>
                  <a:pt x="2412" y="1598"/>
                </a:lnTo>
                <a:lnTo>
                  <a:pt x="2373" y="1657"/>
                </a:lnTo>
                <a:lnTo>
                  <a:pt x="2330" y="1713"/>
                </a:lnTo>
                <a:lnTo>
                  <a:pt x="2284" y="1766"/>
                </a:lnTo>
                <a:lnTo>
                  <a:pt x="2233" y="1814"/>
                </a:lnTo>
                <a:lnTo>
                  <a:pt x="2179" y="1859"/>
                </a:lnTo>
                <a:lnTo>
                  <a:pt x="2122" y="1899"/>
                </a:lnTo>
                <a:lnTo>
                  <a:pt x="2062" y="1935"/>
                </a:lnTo>
                <a:lnTo>
                  <a:pt x="1999" y="1966"/>
                </a:lnTo>
                <a:lnTo>
                  <a:pt x="1933" y="1991"/>
                </a:lnTo>
                <a:lnTo>
                  <a:pt x="1865" y="2012"/>
                </a:lnTo>
                <a:lnTo>
                  <a:pt x="1795" y="2026"/>
                </a:lnTo>
                <a:lnTo>
                  <a:pt x="1723" y="2035"/>
                </a:lnTo>
                <a:lnTo>
                  <a:pt x="1650" y="2039"/>
                </a:lnTo>
                <a:lnTo>
                  <a:pt x="1576" y="2035"/>
                </a:lnTo>
                <a:lnTo>
                  <a:pt x="1505" y="2026"/>
                </a:lnTo>
                <a:lnTo>
                  <a:pt x="1435" y="2012"/>
                </a:lnTo>
                <a:lnTo>
                  <a:pt x="1366" y="1991"/>
                </a:lnTo>
                <a:lnTo>
                  <a:pt x="1300" y="1966"/>
                </a:lnTo>
                <a:lnTo>
                  <a:pt x="1237" y="1935"/>
                </a:lnTo>
                <a:lnTo>
                  <a:pt x="1177" y="1899"/>
                </a:lnTo>
                <a:lnTo>
                  <a:pt x="1120" y="1859"/>
                </a:lnTo>
                <a:lnTo>
                  <a:pt x="1066" y="1814"/>
                </a:lnTo>
                <a:lnTo>
                  <a:pt x="1016" y="1766"/>
                </a:lnTo>
                <a:lnTo>
                  <a:pt x="969" y="1713"/>
                </a:lnTo>
                <a:lnTo>
                  <a:pt x="926" y="1657"/>
                </a:lnTo>
                <a:lnTo>
                  <a:pt x="888" y="1598"/>
                </a:lnTo>
                <a:lnTo>
                  <a:pt x="853" y="1535"/>
                </a:lnTo>
                <a:lnTo>
                  <a:pt x="824" y="1470"/>
                </a:lnTo>
                <a:lnTo>
                  <a:pt x="798" y="1401"/>
                </a:lnTo>
                <a:lnTo>
                  <a:pt x="778" y="1331"/>
                </a:lnTo>
                <a:lnTo>
                  <a:pt x="764" y="1259"/>
                </a:lnTo>
                <a:lnTo>
                  <a:pt x="755" y="1184"/>
                </a:lnTo>
                <a:lnTo>
                  <a:pt x="752" y="1108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2000">
              <a:solidFill>
                <a:srgbClr val="44546A"/>
              </a:solidFill>
              <a:latin typeface="方正宋刻本秀楷简体" panose="02000000000000000000" pitchFamily="2" charset="-122"/>
              <a:ea typeface="方正宋刻本秀楷简体" panose="02000000000000000000" pitchFamily="2" charset="-122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5791200" y="5638800"/>
            <a:ext cx="11074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spc="300"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  <a:sym typeface="+mn-ea"/>
              </a:rPr>
              <a:t>梁威鹏</a:t>
            </a:r>
            <a:r>
              <a:rPr lang="zh-CN" altLang="en-US" sz="2000" spc="300" dirty="0">
                <a:solidFill>
                  <a:srgbClr val="44546A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 </a:t>
            </a:r>
            <a:endParaRPr lang="zh-CN" altLang="en-US" sz="2000" spc="300" dirty="0">
              <a:solidFill>
                <a:srgbClr val="44546A"/>
              </a:solidFill>
              <a:latin typeface="方正宋刻本秀楷简体" panose="02000000000000000000" pitchFamily="2" charset="-122"/>
              <a:ea typeface="方正宋刻本秀楷简体" panose="02000000000000000000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EF3F989F-8D12-475D-9C50-23F49E8F4161}" type="slidenum">
              <a:rPr lang="zh-CN" altLang="en-US"/>
            </a:fld>
            <a:endParaRPr lang="zh-CN" altLang="en-US"/>
          </a:p>
        </p:txBody>
      </p:sp>
      <p:sp>
        <p:nvSpPr>
          <p:cNvPr id="2" name="任意多边形 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43814" y="6401012"/>
            <a:ext cx="12204701" cy="347616"/>
          </a:xfrm>
          <a:custGeom>
            <a:avLst/>
            <a:gdLst>
              <a:gd name="connsiteX0" fmla="*/ 0 w 9153526"/>
              <a:gd name="connsiteY0" fmla="*/ 0 h 260712"/>
              <a:gd name="connsiteX1" fmla="*/ 9153526 w 9153526"/>
              <a:gd name="connsiteY1" fmla="*/ 0 h 260712"/>
              <a:gd name="connsiteX2" fmla="*/ 9153526 w 9153526"/>
              <a:gd name="connsiteY2" fmla="*/ 60325 h 260712"/>
              <a:gd name="connsiteX3" fmla="*/ 5009013 w 9153526"/>
              <a:gd name="connsiteY3" fmla="*/ 60325 h 260712"/>
              <a:gd name="connsiteX4" fmla="*/ 4576763 w 9153526"/>
              <a:gd name="connsiteY4" fmla="*/ 260712 h 260712"/>
              <a:gd name="connsiteX5" fmla="*/ 4144513 w 9153526"/>
              <a:gd name="connsiteY5" fmla="*/ 60325 h 260712"/>
              <a:gd name="connsiteX6" fmla="*/ 0 w 9153526"/>
              <a:gd name="connsiteY6" fmla="*/ 60325 h 260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3526" h="260712">
                <a:moveTo>
                  <a:pt x="0" y="0"/>
                </a:moveTo>
                <a:lnTo>
                  <a:pt x="9153526" y="0"/>
                </a:lnTo>
                <a:lnTo>
                  <a:pt x="9153526" y="60325"/>
                </a:lnTo>
                <a:lnTo>
                  <a:pt x="5009013" y="60325"/>
                </a:lnTo>
                <a:cubicBezTo>
                  <a:pt x="4904129" y="181194"/>
                  <a:pt x="4748392" y="260712"/>
                  <a:pt x="4576763" y="260712"/>
                </a:cubicBezTo>
                <a:cubicBezTo>
                  <a:pt x="4405136" y="260712"/>
                  <a:pt x="4249399" y="181194"/>
                  <a:pt x="4144513" y="60325"/>
                </a:cubicBezTo>
                <a:cubicBezTo>
                  <a:pt x="0" y="60325"/>
                  <a:pt x="0" y="60325"/>
                  <a:pt x="0" y="6032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" name="PA_圆角矩形 11"/>
          <p:cNvSpPr/>
          <p:nvPr>
            <p:custDataLst>
              <p:tags r:id="rId3"/>
            </p:custDataLst>
          </p:nvPr>
        </p:nvSpPr>
        <p:spPr>
          <a:xfrm>
            <a:off x="1984799" y="3044826"/>
            <a:ext cx="8235951" cy="76834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0">
            <a:spAutoFit/>
          </a:bodyPr>
          <a:p>
            <a:pPr algn="di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THANK YOU FOR WATCHING</a:t>
            </a:r>
            <a:endParaRPr lang="en-US" altLang="zh-CN" sz="4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ldLvl="0" animBg="1"/>
      <p:bldP spid="97" grpId="0"/>
      <p:bldP spid="98" grpId="0" bldLvl="0" animBg="1"/>
      <p:bldP spid="103" grpId="0"/>
      <p:bldP spid="2" grpId="0" bldLvl="0" animBg="1"/>
      <p:bldP spid="12" grpId="0" bldLvl="0" animBg="1"/>
    </p:bldLst>
  </p:timing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1"/>
</p:tagLst>
</file>

<file path=ppt/tags/tag4.xml><?xml version="1.0" encoding="utf-8"?>
<p:tagLst xmlns:p="http://schemas.openxmlformats.org/presentationml/2006/main">
  <p:tag name="KSO_WPP_MARK_KEY" val="75d7c8f5-f4ae-4f18-83d0-98d38b80cdea"/>
  <p:tag name="COMMONDATA" val="eyJoZGlkIjoiZmM5MzI1YTRjNGNiNTEyMDQ5OTAwYmFmMmE0NWM1Zjg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658</Words>
  <Application>WPS 演示</Application>
  <PresentationFormat>On-screen Show (4:3)</PresentationFormat>
  <Paragraphs>97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Palatino Linotype</vt:lpstr>
      <vt:lpstr>Times New Roman</vt:lpstr>
      <vt:lpstr>Times New Roman</vt:lpstr>
      <vt:lpstr>楷体</vt:lpstr>
      <vt:lpstr>Calibri</vt:lpstr>
      <vt:lpstr>Arial Unicode MS</vt:lpstr>
      <vt:lpstr>方正宋刻本秀楷简体</vt:lpstr>
      <vt:lpstr>Malgun Gothic</vt:lpstr>
      <vt:lpstr>Office Theme</vt:lpstr>
      <vt:lpstr>Package</vt:lpstr>
      <vt:lpstr>机器学习实验课6</vt:lpstr>
      <vt:lpstr>K-Means聚类</vt:lpstr>
      <vt:lpstr>PowerPoint 演示文稿</vt:lpstr>
      <vt:lpstr>PowerPoint 演示文稿</vt:lpstr>
      <vt:lpstr>PowerPoint 演示文稿</vt:lpstr>
      <vt:lpstr>PowerPoint 演示文稿</vt:lpstr>
      <vt:lpstr>实验任务</vt:lpstr>
      <vt:lpstr>PowerPoint 演示文稿</vt:lpstr>
      <vt:lpstr>实验步骤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sklearn库的安装</dc:title>
  <dc:creator>QW</dc:creator>
  <cp:lastModifiedBy>Bin</cp:lastModifiedBy>
  <cp:revision>122</cp:revision>
  <dcterms:created xsi:type="dcterms:W3CDTF">2022-02-24T06:40:00Z</dcterms:created>
  <dcterms:modified xsi:type="dcterms:W3CDTF">2023-04-20T03:15:59Z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2017-05-20T00:00:00Z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2022-03-01T00:00:00Z</vt:filetime>
  </property>
  <property fmtid="{D5CDD505-2E9C-101B-9397-08002B2CF9AE}" pid="5" name="KSOProductBuildVer">
    <vt:lpwstr>2052-11.1.0.14036</vt:lpwstr>
  </property>
  <property fmtid="{D5CDD505-2E9C-101B-9397-08002B2CF9AE}" pid="6" name="ICV">
    <vt:lpwstr>30EAA01A05464D609DB49A848DAD7CC0</vt:lpwstr>
  </property>
</Properties>
</file>