
<file path=[Content_Types].xml><?xml version="1.0" encoding="utf-8"?>
<Types xmlns="http://schemas.openxmlformats.org/package/2006/content-types">
  <Default Extension="xml" ContentType="application/xml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JPG" ContentType="image/.jpg"/>
  <Default Extension="rels" ContentType="application/vnd.openxmlformats-package.relationships+xml"/>
  <Override PartName="/customXml/itemProps10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3"/>
  </p:sldMasterIdLst>
  <p:notesMasterIdLst>
    <p:notesMasterId r:id="rId38"/>
  </p:notesMasterIdLst>
  <p:sldIdLst>
    <p:sldId id="256" r:id="rId4"/>
    <p:sldId id="328" r:id="rId5"/>
    <p:sldId id="289" r:id="rId6"/>
    <p:sldId id="290" r:id="rId7"/>
    <p:sldId id="293" r:id="rId8"/>
    <p:sldId id="291" r:id="rId9"/>
    <p:sldId id="294" r:id="rId10"/>
    <p:sldId id="257" r:id="rId11"/>
    <p:sldId id="258" r:id="rId12"/>
    <p:sldId id="259" r:id="rId13"/>
    <p:sldId id="260" r:id="rId14"/>
    <p:sldId id="262" r:id="rId15"/>
    <p:sldId id="295" r:id="rId16"/>
    <p:sldId id="275" r:id="rId17"/>
    <p:sldId id="277" r:id="rId18"/>
    <p:sldId id="283" r:id="rId19"/>
    <p:sldId id="279" r:id="rId20"/>
    <p:sldId id="280" r:id="rId21"/>
    <p:sldId id="281" r:id="rId22"/>
    <p:sldId id="282" r:id="rId23"/>
    <p:sldId id="313" r:id="rId24"/>
    <p:sldId id="312" r:id="rId25"/>
    <p:sldId id="314" r:id="rId26"/>
    <p:sldId id="329" r:id="rId27"/>
    <p:sldId id="320" r:id="rId28"/>
    <p:sldId id="317" r:id="rId29"/>
    <p:sldId id="318" r:id="rId30"/>
    <p:sldId id="324" r:id="rId31"/>
    <p:sldId id="325" r:id="rId32"/>
    <p:sldId id="326" r:id="rId33"/>
    <p:sldId id="327" r:id="rId34"/>
    <p:sldId id="361" r:id="rId35"/>
    <p:sldId id="359" r:id="rId36"/>
    <p:sldId id="330" r:id="rId37"/>
  </p:sldIdLst>
  <p:sldSz cx="12192000" cy="6858000"/>
  <p:notesSz cx="12192000" cy="6858000"/>
  <p:custDataLst>
    <p:tags r:id="rId44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94" userDrawn="1">
          <p15:clr>
            <a:srgbClr val="A4A3A4"/>
          </p15:clr>
        </p15:guide>
        <p15:guide id="2" pos="21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894"/>
        <p:guide pos="214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4" Type="http://schemas.openxmlformats.org/officeDocument/2006/relationships/tags" Target="tags/tag11.xml"/><Relationship Id="rId43" Type="http://schemas.openxmlformats.org/officeDocument/2006/relationships/customXml" Target="../customXml/item1.xml"/><Relationship Id="rId42" Type="http://schemas.openxmlformats.org/officeDocument/2006/relationships/customXmlProps" Target="../customXml/itemProps10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" Target="slides/slide1.xml"/><Relationship Id="rId39" Type="http://schemas.openxmlformats.org/officeDocument/2006/relationships/presProps" Target="presProps.xml"/><Relationship Id="rId38" Type="http://schemas.openxmlformats.org/officeDocument/2006/relationships/notesMaster" Target="notesMasters/notesMaster1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12277295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94283" y="642938"/>
            <a:ext cx="3086100" cy="1735931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12277295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00" b="0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00" b="0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2543555" y="1412747"/>
            <a:ext cx="6624828" cy="39776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00" b="0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2109216" y="1519427"/>
            <a:ext cx="7973568" cy="47807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2C0167-E855-4D17-BF35-432B61D5C6E4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3F989F-8D12-475D-9C50-23F49E8F416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99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1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333333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1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1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80129" y="438734"/>
            <a:ext cx="5031740" cy="838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300" b="0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99412" y="1832435"/>
            <a:ext cx="9393174" cy="4598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999744"/>
            <a:ext cx="646430" cy="262255"/>
          </a:xfrm>
          <a:custGeom>
            <a:avLst/>
            <a:gdLst/>
            <a:ahLst/>
            <a:cxnLst/>
            <a:rect l="l" t="t" r="r" b="b"/>
            <a:pathLst>
              <a:path w="646430" h="262255">
                <a:moveTo>
                  <a:pt x="0" y="262127"/>
                </a:moveTo>
                <a:lnTo>
                  <a:pt x="646176" y="262127"/>
                </a:lnTo>
                <a:lnTo>
                  <a:pt x="646176" y="0"/>
                </a:lnTo>
                <a:lnTo>
                  <a:pt x="0" y="0"/>
                </a:lnTo>
                <a:lnTo>
                  <a:pt x="0" y="262127"/>
                </a:lnTo>
                <a:close/>
              </a:path>
            </a:pathLst>
          </a:custGeom>
          <a:solidFill>
            <a:srgbClr val="A400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702563" y="996696"/>
            <a:ext cx="11489690" cy="262255"/>
          </a:xfrm>
          <a:custGeom>
            <a:avLst/>
            <a:gdLst/>
            <a:ahLst/>
            <a:cxnLst/>
            <a:rect l="l" t="t" r="r" b="b"/>
            <a:pathLst>
              <a:path w="11489690" h="262255">
                <a:moveTo>
                  <a:pt x="0" y="262127"/>
                </a:moveTo>
                <a:lnTo>
                  <a:pt x="11489436" y="262127"/>
                </a:lnTo>
                <a:lnTo>
                  <a:pt x="11489436" y="0"/>
                </a:lnTo>
                <a:lnTo>
                  <a:pt x="0" y="0"/>
                </a:lnTo>
                <a:lnTo>
                  <a:pt x="0" y="262127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94204" y="2837179"/>
            <a:ext cx="8403590" cy="756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1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5622" y="1257381"/>
            <a:ext cx="9179560" cy="1842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333333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image" Target="../media/image16.png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19.png"/><Relationship Id="rId10" Type="http://schemas.openxmlformats.org/officeDocument/2006/relationships/image" Target="../media/image18.png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emf"/><Relationship Id="rId2" Type="http://schemas.openxmlformats.org/officeDocument/2006/relationships/oleObject" Target="../embeddings/oleObject1.bin"/><Relationship Id="rId1" Type="http://schemas.openxmlformats.org/officeDocument/2006/relationships/hyperlink" Target="https://www.cnblogs.com/lwp-nicol/p/14654970.html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png"/><Relationship Id="rId8" Type="http://schemas.openxmlformats.org/officeDocument/2006/relationships/image" Target="../media/image28.png"/><Relationship Id="rId7" Type="http://schemas.openxmlformats.org/officeDocument/2006/relationships/image" Target="../media/image27.png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30.png"/><Relationship Id="rId1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34.png"/><Relationship Id="rId1" Type="http://schemas.openxmlformats.org/officeDocument/2006/relationships/image" Target="../media/image35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sklearn.apachecn.org/" TargetMode="External"/><Relationship Id="rId1" Type="http://schemas.openxmlformats.org/officeDocument/2006/relationships/hyperlink" Target="https://scikit-learn.org/stable/" TargetMode="External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48.png"/><Relationship Id="rId7" Type="http://schemas.openxmlformats.org/officeDocument/2006/relationships/image" Target="../media/image47.png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9.png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43583" y="4036314"/>
            <a:ext cx="9715500" cy="0"/>
          </a:xfrm>
          <a:custGeom>
            <a:avLst/>
            <a:gdLst/>
            <a:ahLst/>
            <a:cxnLst/>
            <a:rect l="l" t="t" r="r" b="b"/>
            <a:pathLst>
              <a:path w="9715500">
                <a:moveTo>
                  <a:pt x="0" y="0"/>
                </a:moveTo>
                <a:lnTo>
                  <a:pt x="9715500" y="0"/>
                </a:lnTo>
              </a:path>
            </a:pathLst>
          </a:custGeom>
          <a:ln w="16763">
            <a:solidFill>
              <a:srgbClr val="C1995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26130" y="2273300"/>
            <a:ext cx="6047740" cy="91376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zh-CN" sz="5850" b="1" spc="15" dirty="0"/>
              <a:t>机器学习实验课</a:t>
            </a:r>
            <a:r>
              <a:rPr lang="en-US" altLang="zh-CN" sz="5850" b="1" spc="15" dirty="0"/>
              <a:t>1</a:t>
            </a:r>
            <a:endParaRPr lang="en-US" altLang="zh-CN" sz="5850" b="1" spc="15" dirty="0"/>
          </a:p>
        </p:txBody>
      </p:sp>
      <p:sp>
        <p:nvSpPr>
          <p:cNvPr id="4" name="object 4"/>
          <p:cNvSpPr txBox="1"/>
          <p:nvPr/>
        </p:nvSpPr>
        <p:spPr>
          <a:xfrm>
            <a:off x="6378955" y="3604971"/>
            <a:ext cx="4503420" cy="1610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35"/>
              </a:spcBef>
            </a:pPr>
            <a:r>
              <a:rPr sz="2100" b="1" i="1" spc="20" dirty="0">
                <a:solidFill>
                  <a:srgbClr val="585858"/>
                </a:solidFill>
                <a:latin typeface="Palatino Linotype" panose="02040502050505030304"/>
                <a:cs typeface="Palatino Linotype" panose="02040502050505030304"/>
              </a:rPr>
              <a:t>ML0</a:t>
            </a:r>
            <a:r>
              <a:rPr lang="en-US" sz="2100" b="1" i="1" spc="20" dirty="0">
                <a:solidFill>
                  <a:srgbClr val="585858"/>
                </a:solidFill>
                <a:latin typeface="Palatino Linotype" panose="02040502050505030304"/>
                <a:cs typeface="Palatino Linotype" panose="02040502050505030304"/>
              </a:rPr>
              <a:t>1</a:t>
            </a:r>
            <a:endParaRPr sz="2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</a:pPr>
            <a:endParaRPr sz="21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R="1217930" algn="ctr">
              <a:lnSpc>
                <a:spcPct val="100000"/>
              </a:lnSpc>
              <a:spcBef>
                <a:spcPts val="1110"/>
              </a:spcBef>
            </a:pP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12290" y="4835024"/>
            <a:ext cx="2404664" cy="794484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7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  <p:sp>
        <p:nvSpPr>
          <p:cNvPr id="7" name="文本框 6"/>
          <p:cNvSpPr txBox="1"/>
          <p:nvPr/>
        </p:nvSpPr>
        <p:spPr>
          <a:xfrm>
            <a:off x="6781800" y="632206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R="1304290" algn="ctr">
              <a:lnSpc>
                <a:spcPct val="100000"/>
              </a:lnSpc>
              <a:buClrTx/>
              <a:buSzTx/>
              <a:buFontTx/>
            </a:pPr>
            <a:r>
              <a:rPr lang="zh-CN" sz="2000" dirty="0">
                <a:latin typeface="微软雅黑" panose="020B0503020204020204" charset="-122"/>
                <a:cs typeface="微软雅黑" panose="020B0503020204020204" charset="-122"/>
                <a:sym typeface="+mn-ea"/>
              </a:rPr>
              <a:t>  致谢：梁威鹏</a:t>
            </a:r>
            <a:endParaRPr lang="zh-CN" altLang="en-US" sz="2000" dirty="0"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  <p:pic>
        <p:nvPicPr>
          <p:cNvPr id="5" name="C9F754DE-2CAD-44b6-B708-469DEB6407EB-1" descr="wp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650" y="152400"/>
            <a:ext cx="10426700" cy="655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81400" y="3051810"/>
            <a:ext cx="5911215" cy="7543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400" dirty="0">
                <a:latin typeface="Arial" panose="020B0604020202020204" pitchFamily="34" charset="0"/>
              </a:rPr>
              <a:t>Python</a:t>
            </a:r>
            <a:r>
              <a:rPr sz="4800" b="1" spc="25" dirty="0"/>
              <a:t>基本开发环境</a:t>
            </a:r>
            <a:endParaRPr sz="4800" b="1" spc="25" dirty="0">
              <a:latin typeface="Arial" panose="020B0604020202020204" pitchFamily="3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object 2"/>
          <p:cNvSpPr txBox="1">
            <a:spLocks noGrp="1"/>
          </p:cNvSpPr>
          <p:nvPr>
            <p:ph type="title"/>
          </p:nvPr>
        </p:nvSpPr>
        <p:spPr>
          <a:xfrm>
            <a:off x="3962400" y="381000"/>
            <a:ext cx="3884295" cy="8318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lang="en-US" spc="5" dirty="0"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r>
              <a:rPr b="1" spc="20" dirty="0"/>
              <a:t>安装</a:t>
            </a:r>
            <a:endParaRPr b="1" spc="2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  <p:sp>
        <p:nvSpPr>
          <p:cNvPr id="6" name="object 3"/>
          <p:cNvSpPr txBox="1"/>
          <p:nvPr>
            <p:custDataLst>
              <p:tags r:id="rId1"/>
            </p:custDataLst>
          </p:nvPr>
        </p:nvSpPr>
        <p:spPr>
          <a:xfrm>
            <a:off x="1219200" y="1676400"/>
            <a:ext cx="9647555" cy="266382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p>
            <a:pPr marL="692150" lvl="1" indent="-222885">
              <a:lnSpc>
                <a:spcPct val="100000"/>
              </a:lnSpc>
              <a:spcBef>
                <a:spcPts val="2535"/>
              </a:spcBef>
              <a:buClr>
                <a:srgbClr val="007EDE"/>
              </a:buClr>
              <a:buFont typeface="΢"/>
              <a:buChar char="-"/>
              <a:tabLst>
                <a:tab pos="235585" algn="l"/>
                <a:tab pos="2032000" algn="l"/>
              </a:tabLst>
            </a:pPr>
            <a:r>
              <a:rPr lang="zh-CN" sz="2800" dirty="0">
                <a:latin typeface="微软雅黑" panose="020B0503020204020204" charset="-122"/>
                <a:cs typeface="微软雅黑" panose="020B0503020204020204" charset="-122"/>
              </a:rPr>
              <a:t>纯</a:t>
            </a:r>
            <a:r>
              <a:rPr lang="en-US" altLang="zh-CN" sz="2800" dirty="0">
                <a:latin typeface="微软雅黑" panose="020B0503020204020204" charset="-122"/>
                <a:cs typeface="微软雅黑" panose="020B0503020204020204" charset="-122"/>
              </a:rPr>
              <a:t>Python</a:t>
            </a:r>
            <a:r>
              <a:rPr sz="2800" dirty="0">
                <a:latin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800" spc="-5" dirty="0">
                <a:latin typeface="微软雅黑" panose="020B0503020204020204" charset="-122"/>
                <a:cs typeface="微软雅黑" panose="020B0503020204020204" charset="-122"/>
              </a:rPr>
              <a:t>https://www.python.org/downloads/</a:t>
            </a:r>
            <a:endParaRPr sz="2800" spc="-5" dirty="0">
              <a:latin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007EDE"/>
              </a:buClr>
              <a:buFont typeface="΢"/>
              <a:buChar char="-"/>
            </a:pP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692150" lvl="1" indent="-222885">
              <a:lnSpc>
                <a:spcPct val="100000"/>
              </a:lnSpc>
              <a:buClr>
                <a:srgbClr val="007EDE"/>
              </a:buClr>
              <a:buFont typeface="΢"/>
              <a:buChar char="-"/>
              <a:tabLst>
                <a:tab pos="235585" algn="l"/>
              </a:tabLst>
            </a:pPr>
            <a:r>
              <a:rPr lang="zh-CN" altLang="en-US" sz="2800" spc="-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集成环境</a:t>
            </a:r>
            <a:r>
              <a:rPr lang="en-US" sz="2800" spc="-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Anaconda</a:t>
            </a:r>
            <a:r>
              <a:rPr lang="zh-CN" altLang="en-US" sz="2800" spc="-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 sz="2800" spc="-5" dirty="0">
                <a:latin typeface="微软雅黑" panose="020B0503020204020204" charset="-122"/>
                <a:cs typeface="微软雅黑" panose="020B0503020204020204" charset="-122"/>
              </a:rPr>
              <a:t>https://www.anaconda.com/products/distribution</a:t>
            </a:r>
            <a:endParaRPr lang="zh-CN" altLang="en-US" sz="2800" spc="-5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692150" lvl="1" indent="-222885">
              <a:lnSpc>
                <a:spcPct val="100000"/>
              </a:lnSpc>
              <a:buClr>
                <a:srgbClr val="007EDE"/>
              </a:buClr>
              <a:buFont typeface="΢"/>
              <a:buChar char="-"/>
              <a:tabLst>
                <a:tab pos="235585" algn="l"/>
              </a:tabLst>
            </a:pPr>
            <a:endParaRPr lang="zh-CN" altLang="en-US" sz="2800" spc="-5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692150" lvl="1" indent="-222885">
              <a:lnSpc>
                <a:spcPct val="100000"/>
              </a:lnSpc>
              <a:buClr>
                <a:srgbClr val="007EDE"/>
              </a:buClr>
              <a:buFont typeface="΢"/>
              <a:buChar char="-"/>
              <a:tabLst>
                <a:tab pos="235585" algn="l"/>
              </a:tabLst>
            </a:pPr>
            <a:r>
              <a:rPr lang="zh-CN" altLang="en-US" sz="2800" spc="-5" dirty="0">
                <a:latin typeface="微软雅黑" panose="020B0503020204020204" charset="-122"/>
                <a:cs typeface="微软雅黑" panose="020B0503020204020204" charset="-122"/>
              </a:rPr>
              <a:t>建议安装</a:t>
            </a:r>
            <a:r>
              <a:rPr lang="en-US" altLang="zh-CN" sz="2800" spc="-5" dirty="0">
                <a:latin typeface="微软雅黑" panose="020B0503020204020204" charset="-122"/>
                <a:cs typeface="微软雅黑" panose="020B0503020204020204" charset="-122"/>
              </a:rPr>
              <a:t>Python 3.7-3.9</a:t>
            </a:r>
            <a:r>
              <a:rPr lang="zh-CN" altLang="en-US" sz="2800" spc="-5" dirty="0">
                <a:latin typeface="微软雅黑" panose="020B0503020204020204" charset="-122"/>
                <a:cs typeface="微软雅黑" panose="020B0503020204020204" charset="-122"/>
              </a:rPr>
              <a:t>的版本</a:t>
            </a:r>
            <a:endParaRPr lang="zh-CN" altLang="en-US" sz="2800" spc="-5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6433" y="533188"/>
            <a:ext cx="8922173" cy="831215"/>
          </a:xfrm>
          <a:prstGeom prst="rect">
            <a:avLst/>
          </a:prstGeom>
        </p:spPr>
        <p:txBody>
          <a:bodyPr vert="horz" wrap="square" lIns="0" tIns="1608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5" dirty="0"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r>
              <a:rPr b="1" spc="20" dirty="0"/>
              <a:t>高级开发环境</a:t>
            </a:r>
            <a:r>
              <a:rPr spc="-20" dirty="0"/>
              <a:t>VSCode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1219200" y="1676400"/>
            <a:ext cx="9647555" cy="218884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59740">
              <a:lnSpc>
                <a:spcPct val="100000"/>
              </a:lnSpc>
              <a:spcBef>
                <a:spcPts val="100"/>
              </a:spcBef>
            </a:pPr>
            <a:r>
              <a:rPr sz="3200" b="1" spc="-5" dirty="0">
                <a:solidFill>
                  <a:srgbClr val="006FC0"/>
                </a:solidFill>
                <a:latin typeface="微软雅黑" panose="020B0503020204020204" charset="-122"/>
                <a:cs typeface="微软雅黑" panose="020B0503020204020204" charset="-122"/>
              </a:rPr>
              <a:t>安</a:t>
            </a:r>
            <a:r>
              <a:rPr sz="3200" b="1" dirty="0">
                <a:solidFill>
                  <a:srgbClr val="006FC0"/>
                </a:solidFill>
                <a:latin typeface="微软雅黑" panose="020B0503020204020204" charset="-122"/>
                <a:cs typeface="微软雅黑" panose="020B0503020204020204" charset="-122"/>
              </a:rPr>
              <a:t>装</a:t>
            </a:r>
            <a:r>
              <a:rPr sz="3200" b="1" spc="-10" dirty="0">
                <a:solidFill>
                  <a:srgbClr val="006FC0"/>
                </a:solidFill>
                <a:latin typeface="微软雅黑" panose="020B0503020204020204" charset="-122"/>
                <a:cs typeface="微软雅黑" panose="020B0503020204020204" charset="-122"/>
              </a:rPr>
              <a:t>VSCode</a:t>
            </a:r>
            <a:endParaRPr sz="3200">
              <a:latin typeface="微软雅黑" panose="020B0503020204020204" charset="-122"/>
              <a:cs typeface="微软雅黑" panose="020B0503020204020204" charset="-122"/>
            </a:endParaRPr>
          </a:p>
          <a:p>
            <a:pPr marL="692150" lvl="1" indent="-222885">
              <a:lnSpc>
                <a:spcPct val="100000"/>
              </a:lnSpc>
              <a:spcBef>
                <a:spcPts val="2535"/>
              </a:spcBef>
              <a:buClr>
                <a:srgbClr val="007EDE"/>
              </a:buClr>
              <a:buFont typeface="΢"/>
              <a:buChar char="-"/>
              <a:tabLst>
                <a:tab pos="235585" algn="l"/>
                <a:tab pos="2032000" algn="l"/>
              </a:tabLst>
            </a:pPr>
            <a:r>
              <a:rPr sz="2800" b="1" dirty="0">
                <a:latin typeface="微软雅黑" panose="020B0503020204020204" charset="-122"/>
                <a:cs typeface="微软雅黑" panose="020B0503020204020204" charset="-122"/>
              </a:rPr>
              <a:t>下载地址：</a:t>
            </a:r>
            <a:r>
              <a:rPr sz="2800" b="1" spc="-5" dirty="0">
                <a:latin typeface="微软雅黑" panose="020B0503020204020204" charset="-122"/>
                <a:cs typeface="微软雅黑" panose="020B0503020204020204" charset="-122"/>
              </a:rPr>
              <a:t>https://code.visualstudio.com</a:t>
            </a:r>
            <a:endParaRPr sz="2800">
              <a:latin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007EDE"/>
              </a:buClr>
              <a:buFont typeface="΢"/>
              <a:buChar char="-"/>
            </a:pP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692150" lvl="1" indent="-222885">
              <a:lnSpc>
                <a:spcPct val="100000"/>
              </a:lnSpc>
              <a:buClr>
                <a:srgbClr val="007EDE"/>
              </a:buClr>
              <a:buFont typeface="΢"/>
              <a:buChar char="-"/>
              <a:tabLst>
                <a:tab pos="235585" algn="l"/>
              </a:tabLst>
            </a:pPr>
            <a:r>
              <a:rPr sz="2800" b="1" spc="-5" dirty="0">
                <a:latin typeface="微软雅黑" panose="020B0503020204020204" charset="-122"/>
                <a:cs typeface="微软雅黑" panose="020B0503020204020204" charset="-122"/>
              </a:rPr>
              <a:t>工具大小</a:t>
            </a:r>
            <a:r>
              <a:rPr sz="2800" b="1" dirty="0">
                <a:latin typeface="微软雅黑" panose="020B0503020204020204" charset="-122"/>
                <a:cs typeface="微软雅黑" panose="020B0503020204020204" charset="-122"/>
              </a:rPr>
              <a:t>约 </a:t>
            </a:r>
            <a:r>
              <a:rPr sz="2800" b="1" spc="-5" dirty="0">
                <a:latin typeface="微软雅黑" panose="020B0503020204020204" charset="-122"/>
                <a:cs typeface="微软雅黑" panose="020B0503020204020204" charset="-122"/>
              </a:rPr>
              <a:t>50MB</a:t>
            </a:r>
            <a:endParaRPr sz="2800" b="1" spc="-5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715000" y="3122930"/>
            <a:ext cx="5998845" cy="373507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p/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3962400"/>
            <a:ext cx="3448685" cy="267335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0841" y="457031"/>
            <a:ext cx="7061200" cy="831215"/>
          </a:xfrm>
          <a:prstGeom prst="rect">
            <a:avLst/>
          </a:prstGeom>
        </p:spPr>
        <p:txBody>
          <a:bodyPr vert="horz" wrap="square" lIns="0" tIns="1608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5" dirty="0"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r>
              <a:rPr b="1" spc="20" dirty="0"/>
              <a:t>的两种编程方式</a:t>
            </a:r>
            <a:endParaRPr b="1" spc="2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447672" y="1600025"/>
            <a:ext cx="9393174" cy="212280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445" algn="ctr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FFA466"/>
                </a:solidFill>
                <a:ea typeface="微软雅黑" panose="020B0503020204020204" charset="-122"/>
              </a:rPr>
              <a:t>交互式和文件式</a:t>
            </a:r>
            <a:endParaRPr sz="2800" b="1" dirty="0">
              <a:solidFill>
                <a:srgbClr val="FFA466"/>
              </a:solidFill>
              <a:ea typeface="微软雅黑" panose="020B0503020204020204" charset="-122"/>
            </a:endParaRPr>
          </a:p>
          <a:p>
            <a:pPr marL="4445" algn="ctr">
              <a:lnSpc>
                <a:spcPct val="100000"/>
              </a:lnSpc>
              <a:spcBef>
                <a:spcPts val="100"/>
              </a:spcBef>
            </a:pP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 marL="239395" indent="-222885">
              <a:lnSpc>
                <a:spcPct val="100000"/>
              </a:lnSpc>
              <a:buClr>
                <a:srgbClr val="007EDE"/>
              </a:buClr>
              <a:buFont typeface="΢"/>
              <a:buChar char="-"/>
              <a:tabLst>
                <a:tab pos="239395" algn="l"/>
              </a:tabLst>
            </a:pPr>
            <a:r>
              <a:rPr sz="2400" dirty="0">
                <a:solidFill>
                  <a:srgbClr val="000000"/>
                </a:solidFill>
                <a:ea typeface="微软雅黑" panose="020B0503020204020204" charset="-122"/>
              </a:rPr>
              <a:t>交互式：对每个输入语句即时运行结果，适合语法练习</a:t>
            </a:r>
            <a:endParaRPr sz="2400" dirty="0">
              <a:solidFill>
                <a:srgbClr val="000000"/>
              </a:solidFill>
              <a:ea typeface="微软雅黑" panose="020B0503020204020204" charset="-122"/>
            </a:endParaRPr>
          </a:p>
          <a:p>
            <a:pPr marL="4445">
              <a:lnSpc>
                <a:spcPct val="100000"/>
              </a:lnSpc>
              <a:spcBef>
                <a:spcPts val="5"/>
              </a:spcBef>
              <a:buClr>
                <a:srgbClr val="007EDE"/>
              </a:buClr>
              <a:buFont typeface="΢"/>
              <a:buChar char="-"/>
            </a:pPr>
            <a:endParaRPr sz="2400">
              <a:ea typeface="微软雅黑" panose="020B0503020204020204" charset="-122"/>
              <a:cs typeface="Times New Roman" panose="02020603050405020304"/>
            </a:endParaRPr>
          </a:p>
          <a:p>
            <a:pPr marL="239395" indent="-222885">
              <a:lnSpc>
                <a:spcPct val="100000"/>
              </a:lnSpc>
              <a:buClr>
                <a:srgbClr val="007EDE"/>
              </a:buClr>
              <a:buFont typeface="΢"/>
              <a:buChar char="-"/>
              <a:tabLst>
                <a:tab pos="239395" algn="l"/>
              </a:tabLst>
            </a:pPr>
            <a:r>
              <a:rPr sz="2400" dirty="0">
                <a:solidFill>
                  <a:srgbClr val="000000"/>
                </a:solidFill>
                <a:ea typeface="微软雅黑" panose="020B0503020204020204" charset="-122"/>
              </a:rPr>
              <a:t>文件式：批量执行一组语句并运行结果，编程的主要方式</a:t>
            </a:r>
            <a:r>
              <a:rPr lang="zh-CN" sz="2400" dirty="0">
                <a:solidFill>
                  <a:srgbClr val="000000"/>
                </a:solidFill>
                <a:ea typeface="微软雅黑" panose="020B0503020204020204" charset="-122"/>
              </a:rPr>
              <a:t>。</a:t>
            </a:r>
            <a:endParaRPr lang="zh-CN" sz="2400" dirty="0">
              <a:solidFill>
                <a:srgbClr val="000000"/>
              </a:solidFill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3962400"/>
            <a:ext cx="4295775" cy="16192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3885" y="3278505"/>
            <a:ext cx="2767965" cy="352171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6433" y="533188"/>
            <a:ext cx="8922173" cy="831215"/>
          </a:xfrm>
          <a:prstGeom prst="rect">
            <a:avLst/>
          </a:prstGeom>
        </p:spPr>
        <p:txBody>
          <a:bodyPr vert="horz" wrap="square" lIns="0" tIns="1608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5" dirty="0"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r>
              <a:rPr b="1" spc="20" dirty="0"/>
              <a:t>其它开发环境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1219200" y="1676400"/>
            <a:ext cx="9647555" cy="4079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692150" lvl="1" indent="-222885">
              <a:lnSpc>
                <a:spcPct val="100000"/>
              </a:lnSpc>
              <a:spcBef>
                <a:spcPts val="2535"/>
              </a:spcBef>
              <a:buClr>
                <a:srgbClr val="007EDE"/>
              </a:buClr>
              <a:buFont typeface="΢"/>
              <a:buChar char="-"/>
              <a:tabLst>
                <a:tab pos="235585" algn="l"/>
                <a:tab pos="2032000" algn="l"/>
              </a:tabLst>
            </a:pPr>
            <a:r>
              <a:rPr lang="en-US" sz="2800" b="1" dirty="0">
                <a:latin typeface="微软雅黑" panose="020B0503020204020204" charset="-122"/>
                <a:cs typeface="微软雅黑" panose="020B0503020204020204" charset="-122"/>
              </a:rPr>
              <a:t> Pycharm</a:t>
            </a:r>
            <a:endParaRPr sz="2800">
              <a:latin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007EDE"/>
              </a:buClr>
              <a:buFont typeface="΢"/>
              <a:buChar char="-"/>
            </a:pP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692150" lvl="1" indent="-222885">
              <a:lnSpc>
                <a:spcPct val="100000"/>
              </a:lnSpc>
              <a:buClr>
                <a:srgbClr val="007EDE"/>
              </a:buClr>
              <a:buFont typeface="΢"/>
              <a:buChar char="-"/>
              <a:tabLst>
                <a:tab pos="235585" algn="l"/>
              </a:tabLst>
            </a:pPr>
            <a:r>
              <a:rPr lang="en-US" sz="2800" b="1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2800" b="1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Jupyter Notebook</a:t>
            </a:r>
            <a:endParaRPr sz="2800" b="1" dirty="0">
              <a:solidFill>
                <a:srgbClr val="FF0000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marL="692150" lvl="1" indent="-222885">
              <a:lnSpc>
                <a:spcPct val="100000"/>
              </a:lnSpc>
              <a:buClr>
                <a:srgbClr val="007EDE"/>
              </a:buClr>
              <a:buFont typeface="΢"/>
              <a:buChar char="-"/>
              <a:tabLst>
                <a:tab pos="235585" algn="l"/>
              </a:tabLst>
            </a:pPr>
            <a:endParaRPr sz="2800" b="1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1383665" lvl="2" indent="-457200">
              <a:lnSpc>
                <a:spcPct val="100000"/>
              </a:lnSpc>
              <a:buClr>
                <a:srgbClr val="007EDE"/>
              </a:buClr>
              <a:buFont typeface="Arial" panose="020B0604020202020204" pitchFamily="34" charset="0"/>
              <a:buChar char="•"/>
              <a:tabLst>
                <a:tab pos="235585" algn="l"/>
              </a:tabLst>
            </a:pPr>
            <a:r>
              <a:rPr lang="en-US" sz="2000" dirty="0">
                <a:latin typeface="微软雅黑" panose="020B0503020204020204" charset="-122"/>
                <a:cs typeface="微软雅黑" panose="020B0503020204020204" charset="-122"/>
              </a:rPr>
              <a:t>pip install juypter</a:t>
            </a:r>
            <a:endParaRPr lang="en-US" sz="20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1383665" lvl="2" indent="-457200">
              <a:lnSpc>
                <a:spcPct val="100000"/>
              </a:lnSpc>
              <a:buClr>
                <a:srgbClr val="007EDE"/>
              </a:buClr>
              <a:buFont typeface="Arial" panose="020B0604020202020204" pitchFamily="34" charset="0"/>
              <a:buChar char="•"/>
              <a:tabLst>
                <a:tab pos="235585" algn="l"/>
              </a:tabLst>
            </a:pPr>
            <a:r>
              <a:rPr lang="en-US" sz="2000" dirty="0">
                <a:latin typeface="微软雅黑" panose="020B0503020204020204" charset="-122"/>
                <a:cs typeface="微软雅黑" panose="020B0503020204020204" charset="-122"/>
              </a:rPr>
              <a:t>cmd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&gt; </a:t>
            </a:r>
            <a:r>
              <a:rPr lang="en-US" sz="2000" dirty="0">
                <a:latin typeface="微软雅黑" panose="020B0503020204020204" charset="-122"/>
                <a:cs typeface="微软雅黑" panose="020B0503020204020204" charset="-122"/>
              </a:rPr>
              <a:t>jupyter notebook</a:t>
            </a:r>
            <a:endParaRPr lang="en-US" sz="20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1383665" lvl="2" indent="-457200">
              <a:lnSpc>
                <a:spcPct val="100000"/>
              </a:lnSpc>
              <a:buClr>
                <a:srgbClr val="007EDE"/>
              </a:buClr>
              <a:buFont typeface="Arial" panose="020B0604020202020204" pitchFamily="34" charset="0"/>
              <a:buChar char="•"/>
              <a:tabLst>
                <a:tab pos="235585" algn="l"/>
              </a:tabLst>
            </a:pPr>
            <a:endParaRPr lang="en-US" sz="20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1383665" lvl="2" indent="-457200">
              <a:lnSpc>
                <a:spcPct val="100000"/>
              </a:lnSpc>
              <a:buClr>
                <a:srgbClr val="007EDE"/>
              </a:buClr>
              <a:buFont typeface="Arial" panose="020B0604020202020204" pitchFamily="34" charset="0"/>
              <a:buChar char="•"/>
              <a:tabLst>
                <a:tab pos="235585" algn="l"/>
              </a:tabLst>
            </a:pPr>
            <a:endParaRPr lang="en-US" sz="20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1383665" lvl="2" indent="-457200">
              <a:lnSpc>
                <a:spcPct val="100000"/>
              </a:lnSpc>
              <a:buClr>
                <a:srgbClr val="007EDE"/>
              </a:buClr>
              <a:buFont typeface="Arial" panose="020B0604020202020204" pitchFamily="34" charset="0"/>
              <a:buChar char="•"/>
              <a:tabLst>
                <a:tab pos="235585" algn="l"/>
              </a:tabLst>
            </a:pPr>
            <a:endParaRPr lang="en-US" sz="20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0" lvl="1" indent="-457200">
              <a:lnSpc>
                <a:spcPct val="100000"/>
              </a:lnSpc>
              <a:buClr>
                <a:srgbClr val="007EDE"/>
              </a:buClr>
              <a:buFont typeface="Arial" panose="020B0604020202020204" pitchFamily="34" charset="0"/>
              <a:buChar char="•"/>
              <a:tabLst>
                <a:tab pos="235585" algn="l"/>
              </a:tabLst>
            </a:pPr>
            <a:r>
              <a:rPr lang="en-US" sz="2000" b="1" dirty="0">
                <a:latin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sz="2800" b="1" dirty="0">
                <a:latin typeface="微软雅黑" panose="020B0503020204020204" charset="-122"/>
                <a:cs typeface="微软雅黑" panose="020B0503020204020204" charset="-122"/>
                <a:sym typeface="+mn-ea"/>
              </a:rPr>
              <a:t>Anaconda</a:t>
            </a:r>
            <a:endParaRPr sz="2000" b="1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1383665" lvl="2" indent="-457200">
              <a:lnSpc>
                <a:spcPct val="100000"/>
              </a:lnSpc>
              <a:buClr>
                <a:srgbClr val="007EDE"/>
              </a:buClr>
              <a:buFont typeface="Arial" panose="020B0604020202020204" pitchFamily="34" charset="0"/>
              <a:buChar char="•"/>
              <a:tabLst>
                <a:tab pos="235585" algn="l"/>
              </a:tabLst>
            </a:pPr>
            <a:endParaRPr lang="en-US" sz="20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  <p:sp>
        <p:nvSpPr>
          <p:cNvPr id="5" name="文本框 4"/>
          <p:cNvSpPr txBox="1"/>
          <p:nvPr/>
        </p:nvSpPr>
        <p:spPr>
          <a:xfrm>
            <a:off x="1671003" y="5867400"/>
            <a:ext cx="63614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marL="4445" algn="ctr">
              <a:lnSpc>
                <a:spcPct val="100000"/>
              </a:lnSpc>
              <a:spcBef>
                <a:spcPts val="100"/>
              </a:spcBef>
            </a:pPr>
            <a:r>
              <a:rPr lang="en-US" b="1" dirty="0">
                <a:solidFill>
                  <a:srgbClr val="FFA466"/>
                </a:solidFill>
                <a:ea typeface="微软雅黑" panose="020B0503020204020204" charset="-122"/>
                <a:sym typeface="+mn-ea"/>
              </a:rPr>
              <a:t>IDE(</a:t>
            </a:r>
            <a:r>
              <a:rPr lang="zh-CN" altLang="en-US" b="1" dirty="0">
                <a:solidFill>
                  <a:srgbClr val="FFA466"/>
                </a:solidFill>
                <a:ea typeface="微软雅黑" panose="020B0503020204020204" charset="-122"/>
                <a:sym typeface="+mn-ea"/>
              </a:rPr>
              <a:t>集成开发环境</a:t>
            </a:r>
            <a:r>
              <a:rPr lang="en-US" b="1" dirty="0">
                <a:solidFill>
                  <a:srgbClr val="FFA466"/>
                </a:solidFill>
                <a:ea typeface="微软雅黑" panose="020B0503020204020204" charset="-122"/>
                <a:sym typeface="+mn-ea"/>
              </a:rPr>
              <a:t>)</a:t>
            </a:r>
            <a:r>
              <a:rPr lang="zh-CN" altLang="en-US" b="1" dirty="0">
                <a:solidFill>
                  <a:srgbClr val="FFA466"/>
                </a:solidFill>
                <a:ea typeface="微软雅黑" panose="020B0503020204020204" charset="-122"/>
                <a:sym typeface="+mn-ea"/>
              </a:rPr>
              <a:t>只是工具</a:t>
            </a:r>
            <a:r>
              <a:rPr lang="zh-CN" b="1" dirty="0">
                <a:solidFill>
                  <a:srgbClr val="FFA466"/>
                </a:solidFill>
                <a:ea typeface="微软雅黑" panose="020B0503020204020204" charset="-122"/>
                <a:sym typeface="+mn-ea"/>
              </a:rPr>
              <a:t>，真大佬用记事本也可以写程序；</a:t>
            </a:r>
            <a:endParaRPr lang="zh-CN" b="1" dirty="0">
              <a:solidFill>
                <a:srgbClr val="FFA466"/>
              </a:solidFill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82670" y="2941447"/>
            <a:ext cx="5029200" cy="8312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0" dirty="0">
                <a:latin typeface="Arial" panose="020B0604020202020204" pitchFamily="34" charset="0"/>
                <a:cs typeface="Arial" panose="020B0604020202020204" pitchFamily="34" charset="0"/>
              </a:rPr>
              <a:t>sklearn</a:t>
            </a:r>
            <a:r>
              <a:rPr b="1" spc="25" dirty="0"/>
              <a:t>库的简介</a:t>
            </a:r>
            <a:endParaRPr b="1" spc="25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1999" y="457149"/>
            <a:ext cx="2997835" cy="8318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pc="5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pc="5" dirty="0">
                <a:latin typeface="Arial" panose="020B0604020202020204" pitchFamily="34" charset="0"/>
                <a:cs typeface="Arial" panose="020B0604020202020204" pitchFamily="34" charset="0"/>
              </a:rPr>
              <a:t>klear</a:t>
            </a:r>
            <a:r>
              <a:rPr spc="2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b="1" spc="20" dirty="0"/>
              <a:t>库</a:t>
            </a:r>
            <a:endParaRPr b="1" spc="20" dirty="0"/>
          </a:p>
        </p:txBody>
      </p:sp>
      <p:sp>
        <p:nvSpPr>
          <p:cNvPr id="3" name="object 3"/>
          <p:cNvSpPr txBox="1"/>
          <p:nvPr/>
        </p:nvSpPr>
        <p:spPr>
          <a:xfrm>
            <a:off x="1475994" y="2466212"/>
            <a:ext cx="9443085" cy="333438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540"/>
              </a:spcBef>
            </a:pPr>
            <a:r>
              <a:rPr sz="2400" spc="-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sklearn</a:t>
            </a:r>
            <a:r>
              <a:rPr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r>
              <a:rPr sz="2400" spc="-2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scikit-learn</a:t>
            </a:r>
            <a:r>
              <a:rPr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的简称，是一个基于Python的第三方模块。</a:t>
            </a:r>
            <a:endParaRPr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marR="159385">
              <a:lnSpc>
                <a:spcPct val="150000"/>
              </a:lnSpc>
            </a:pPr>
            <a:r>
              <a:rPr sz="2400" spc="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</a:t>
            </a:r>
            <a:r>
              <a:rPr sz="2400" spc="-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klearn</a:t>
            </a:r>
            <a:r>
              <a:rPr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库集成了一些常用的机器学习方法，在进行机器学习任务时， </a:t>
            </a:r>
            <a:r>
              <a:rPr sz="2400" spc="-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并不需要实现算法，只需要简单的调</a:t>
            </a:r>
            <a:r>
              <a:rPr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</a:t>
            </a:r>
            <a:r>
              <a:rPr sz="2400" spc="-5" dirty="0">
                <a:solidFill>
                  <a:srgbClr val="FFA4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sklearn</a:t>
            </a:r>
            <a:r>
              <a:rPr sz="2400" spc="-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库中提供的模块就能</a:t>
            </a:r>
            <a:endParaRPr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完成大多数的</a:t>
            </a:r>
            <a:r>
              <a:rPr sz="2400" b="1" spc="-5" dirty="0">
                <a:solidFill>
                  <a:srgbClr val="FFA4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机器学习</a:t>
            </a:r>
            <a:r>
              <a:rPr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任务。</a:t>
            </a:r>
            <a:endParaRPr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marR="5080" indent="457200">
              <a:lnSpc>
                <a:spcPct val="150000"/>
              </a:lnSpc>
            </a:pPr>
            <a:r>
              <a:rPr sz="2400" spc="-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sklearn</a:t>
            </a:r>
            <a:r>
              <a:rPr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库是在</a:t>
            </a:r>
            <a:r>
              <a:rPr sz="2400" dirty="0">
                <a:solidFill>
                  <a:srgbClr val="FFA4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Numpy</a:t>
            </a:r>
            <a:r>
              <a:rPr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2400" spc="-5" dirty="0">
                <a:solidFill>
                  <a:srgbClr val="FFA4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Scipy</a:t>
            </a:r>
            <a:r>
              <a:rPr sz="2400" spc="1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sz="2400" spc="-5" dirty="0">
                <a:solidFill>
                  <a:srgbClr val="FFA4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matplotlib</a:t>
            </a:r>
            <a:r>
              <a:rPr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的基础上开发而成的，  </a:t>
            </a:r>
            <a:r>
              <a:rPr sz="2400" spc="-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因此在介绍sklearn的安装前，需要先安装这些依赖库。</a:t>
            </a:r>
            <a:endParaRPr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49140" y="438785"/>
            <a:ext cx="3492500" cy="8318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b="1" spc="20" dirty="0"/>
              <a:t>相关依赖库</a:t>
            </a:r>
            <a:endParaRPr b="1" spc="2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399412" y="1832435"/>
            <a:ext cx="9393174" cy="462788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624205">
              <a:lnSpc>
                <a:spcPct val="100000"/>
              </a:lnSpc>
              <a:spcBef>
                <a:spcPts val="1295"/>
              </a:spcBef>
            </a:pPr>
            <a:r>
              <a:rPr dirty="0">
                <a:solidFill>
                  <a:srgbClr val="FF0000"/>
                </a:solidFill>
                <a:ea typeface="微软雅黑" panose="020B0503020204020204" charset="-122"/>
              </a:rPr>
              <a:t>Numpy</a:t>
            </a:r>
            <a:r>
              <a:rPr dirty="0">
                <a:ea typeface="微软雅黑" panose="020B0503020204020204" charset="-122"/>
              </a:rPr>
              <a:t>（Numerical</a:t>
            </a:r>
            <a:r>
              <a:rPr spc="-15" dirty="0">
                <a:ea typeface="微软雅黑" panose="020B0503020204020204" charset="-122"/>
              </a:rPr>
              <a:t> </a:t>
            </a:r>
            <a:r>
              <a:rPr spc="-5" dirty="0">
                <a:ea typeface="微软雅黑" panose="020B0503020204020204" charset="-122"/>
              </a:rPr>
              <a:t>Python</a:t>
            </a:r>
            <a:r>
              <a:rPr dirty="0">
                <a:ea typeface="微软雅黑" panose="020B0503020204020204" charset="-122"/>
              </a:rPr>
              <a:t>的缩写）是一个开源的</a:t>
            </a:r>
            <a:r>
              <a:rPr spc="-5" dirty="0">
                <a:ea typeface="微软雅黑" panose="020B0503020204020204" charset="-122"/>
              </a:rPr>
              <a:t>Python</a:t>
            </a:r>
            <a:r>
              <a:rPr dirty="0">
                <a:ea typeface="微软雅黑" panose="020B0503020204020204" charset="-122"/>
              </a:rPr>
              <a:t>科学计算库。在</a:t>
            </a:r>
            <a:endParaRPr dirty="0">
              <a:ea typeface="微软雅黑" panose="020B0503020204020204" charset="-122"/>
            </a:endParaRPr>
          </a:p>
          <a:p>
            <a:pPr marL="167005" marR="25400">
              <a:lnSpc>
                <a:spcPct val="150000"/>
              </a:lnSpc>
            </a:pPr>
            <a:r>
              <a:rPr spc="-5" dirty="0">
                <a:ea typeface="微软雅黑" panose="020B0503020204020204" charset="-122"/>
              </a:rPr>
              <a:t>Python</a:t>
            </a:r>
            <a:r>
              <a:rPr dirty="0">
                <a:ea typeface="微软雅黑" panose="020B0503020204020204" charset="-122"/>
              </a:rPr>
              <a:t>中虽然提供了</a:t>
            </a:r>
            <a:r>
              <a:rPr spc="-10" dirty="0">
                <a:ea typeface="微软雅黑" panose="020B0503020204020204" charset="-122"/>
              </a:rPr>
              <a:t>list</a:t>
            </a:r>
            <a:r>
              <a:rPr dirty="0">
                <a:ea typeface="微软雅黑" panose="020B0503020204020204" charset="-122"/>
              </a:rPr>
              <a:t>容器和</a:t>
            </a:r>
            <a:r>
              <a:rPr spc="-5" dirty="0">
                <a:ea typeface="微软雅黑" panose="020B0503020204020204" charset="-122"/>
              </a:rPr>
              <a:t>array</a:t>
            </a:r>
            <a:r>
              <a:rPr dirty="0">
                <a:ea typeface="微软雅黑" panose="020B0503020204020204" charset="-122"/>
              </a:rPr>
              <a:t>模块，但这些结构并不适</a:t>
            </a:r>
            <a:r>
              <a:rPr spc="-10" dirty="0">
                <a:ea typeface="微软雅黑" panose="020B0503020204020204" charset="-122"/>
              </a:rPr>
              <a:t>合</a:t>
            </a:r>
            <a:r>
              <a:rPr dirty="0">
                <a:ea typeface="微软雅黑" panose="020B0503020204020204" charset="-122"/>
              </a:rPr>
              <a:t>于进</a:t>
            </a:r>
            <a:r>
              <a:rPr spc="-10" dirty="0">
                <a:ea typeface="微软雅黑" panose="020B0503020204020204" charset="-122"/>
              </a:rPr>
              <a:t>行</a:t>
            </a:r>
            <a:r>
              <a:rPr b="1" dirty="0">
                <a:solidFill>
                  <a:srgbClr val="FFA466"/>
                </a:solidFill>
                <a:ea typeface="微软雅黑" panose="020B0503020204020204" charset="-122"/>
              </a:rPr>
              <a:t>数值计算</a:t>
            </a:r>
            <a:r>
              <a:rPr dirty="0">
                <a:ea typeface="微软雅黑" panose="020B0503020204020204" charset="-122"/>
              </a:rPr>
              <a:t>，  因此需要借助</a:t>
            </a:r>
            <a:r>
              <a:rPr spc="-15" dirty="0">
                <a:ea typeface="微软雅黑" panose="020B0503020204020204" charset="-122"/>
              </a:rPr>
              <a:t>于</a:t>
            </a:r>
            <a:r>
              <a:rPr dirty="0">
                <a:ea typeface="微软雅黑" panose="020B0503020204020204" charset="-122"/>
              </a:rPr>
              <a:t>Numpy库创</a:t>
            </a:r>
            <a:r>
              <a:rPr spc="-15" dirty="0">
                <a:ea typeface="微软雅黑" panose="020B0503020204020204" charset="-122"/>
              </a:rPr>
              <a:t>建</a:t>
            </a:r>
            <a:r>
              <a:rPr dirty="0">
                <a:ea typeface="微软雅黑" panose="020B0503020204020204" charset="-122"/>
              </a:rPr>
              <a:t>常用</a:t>
            </a:r>
            <a:r>
              <a:rPr spc="-15" dirty="0">
                <a:ea typeface="微软雅黑" panose="020B0503020204020204" charset="-122"/>
              </a:rPr>
              <a:t>的</a:t>
            </a:r>
            <a:r>
              <a:rPr dirty="0">
                <a:ea typeface="微软雅黑" panose="020B0503020204020204" charset="-122"/>
              </a:rPr>
              <a:t>数据</a:t>
            </a:r>
            <a:r>
              <a:rPr spc="-15" dirty="0">
                <a:ea typeface="微软雅黑" panose="020B0503020204020204" charset="-122"/>
              </a:rPr>
              <a:t>结</a:t>
            </a:r>
            <a:r>
              <a:rPr dirty="0">
                <a:ea typeface="微软雅黑" panose="020B0503020204020204" charset="-122"/>
              </a:rPr>
              <a:t>构（如：多维数组，矩阵等）以及进 行常用的科学计算（如：矩阵运算）。</a:t>
            </a:r>
            <a:endParaRPr dirty="0">
              <a:ea typeface="微软雅黑" panose="020B0503020204020204" charset="-122"/>
            </a:endParaRPr>
          </a:p>
          <a:p>
            <a:pPr marL="624205">
              <a:lnSpc>
                <a:spcPct val="100000"/>
              </a:lnSpc>
              <a:spcBef>
                <a:spcPts val="1200"/>
              </a:spcBef>
            </a:pPr>
            <a:r>
              <a:rPr spc="-5" dirty="0">
                <a:solidFill>
                  <a:srgbClr val="FF0000"/>
                </a:solidFill>
                <a:ea typeface="微软雅黑" panose="020B0503020204020204" charset="-122"/>
              </a:rPr>
              <a:t>Scipy</a:t>
            </a:r>
            <a:r>
              <a:rPr dirty="0">
                <a:solidFill>
                  <a:srgbClr val="FF0000"/>
                </a:solidFill>
                <a:ea typeface="微软雅黑" panose="020B0503020204020204" charset="-122"/>
              </a:rPr>
              <a:t>库</a:t>
            </a:r>
            <a:r>
              <a:rPr dirty="0">
                <a:ea typeface="微软雅黑" panose="020B0503020204020204" charset="-122"/>
              </a:rPr>
              <a:t>是</a:t>
            </a:r>
            <a:r>
              <a:rPr spc="-5" dirty="0">
                <a:ea typeface="微软雅黑" panose="020B0503020204020204" charset="-122"/>
              </a:rPr>
              <a:t>sklearn</a:t>
            </a:r>
            <a:r>
              <a:rPr spc="5" dirty="0">
                <a:ea typeface="微软雅黑" panose="020B0503020204020204" charset="-122"/>
              </a:rPr>
              <a:t>库的基础，</a:t>
            </a:r>
            <a:r>
              <a:rPr spc="-10" dirty="0">
                <a:ea typeface="微软雅黑" panose="020B0503020204020204" charset="-122"/>
              </a:rPr>
              <a:t>它</a:t>
            </a:r>
            <a:r>
              <a:rPr spc="5" dirty="0">
                <a:ea typeface="微软雅黑" panose="020B0503020204020204" charset="-122"/>
              </a:rPr>
              <a:t>是基</a:t>
            </a:r>
            <a:r>
              <a:rPr spc="-30" dirty="0">
                <a:ea typeface="微软雅黑" panose="020B0503020204020204" charset="-122"/>
              </a:rPr>
              <a:t>于</a:t>
            </a:r>
            <a:r>
              <a:rPr spc="-5" dirty="0">
                <a:ea typeface="微软雅黑" panose="020B0503020204020204" charset="-122"/>
              </a:rPr>
              <a:t>Numpy</a:t>
            </a:r>
            <a:r>
              <a:rPr spc="5" dirty="0">
                <a:ea typeface="微软雅黑" panose="020B0503020204020204" charset="-122"/>
              </a:rPr>
              <a:t>的一</a:t>
            </a:r>
            <a:r>
              <a:rPr spc="-5" dirty="0">
                <a:ea typeface="微软雅黑" panose="020B0503020204020204" charset="-122"/>
              </a:rPr>
              <a:t>个</a:t>
            </a:r>
            <a:r>
              <a:rPr spc="5" dirty="0">
                <a:ea typeface="微软雅黑" panose="020B0503020204020204" charset="-122"/>
              </a:rPr>
              <a:t>集</a:t>
            </a:r>
            <a:r>
              <a:rPr spc="-15" dirty="0">
                <a:ea typeface="微软雅黑" panose="020B0503020204020204" charset="-122"/>
              </a:rPr>
              <a:t>成</a:t>
            </a:r>
            <a:r>
              <a:rPr spc="5" dirty="0">
                <a:ea typeface="微软雅黑" panose="020B0503020204020204" charset="-122"/>
              </a:rPr>
              <a:t>了多</a:t>
            </a:r>
            <a:r>
              <a:rPr spc="-20" dirty="0">
                <a:ea typeface="微软雅黑" panose="020B0503020204020204" charset="-122"/>
              </a:rPr>
              <a:t>种</a:t>
            </a:r>
            <a:r>
              <a:rPr spc="5" dirty="0">
                <a:ea typeface="微软雅黑" panose="020B0503020204020204" charset="-122"/>
              </a:rPr>
              <a:t>数学</a:t>
            </a:r>
            <a:r>
              <a:rPr spc="-20" dirty="0">
                <a:ea typeface="微软雅黑" panose="020B0503020204020204" charset="-122"/>
              </a:rPr>
              <a:t>算</a:t>
            </a:r>
            <a:r>
              <a:rPr spc="5" dirty="0">
                <a:ea typeface="微软雅黑" panose="020B0503020204020204" charset="-122"/>
              </a:rPr>
              <a:t>法和函</a:t>
            </a:r>
            <a:endParaRPr spc="5" dirty="0">
              <a:ea typeface="微软雅黑" panose="020B0503020204020204" charset="-122"/>
            </a:endParaRPr>
          </a:p>
          <a:p>
            <a:pPr marL="167005" marR="220980">
              <a:lnSpc>
                <a:spcPct val="150000"/>
              </a:lnSpc>
            </a:pPr>
            <a:r>
              <a:rPr dirty="0">
                <a:ea typeface="微软雅黑" panose="020B0503020204020204" charset="-122"/>
              </a:rPr>
              <a:t>数</a:t>
            </a:r>
            <a:r>
              <a:rPr spc="-5" dirty="0">
                <a:ea typeface="微软雅黑" panose="020B0503020204020204" charset="-122"/>
              </a:rPr>
              <a:t>的Python</a:t>
            </a:r>
            <a:r>
              <a:rPr dirty="0">
                <a:ea typeface="微软雅黑" panose="020B0503020204020204" charset="-122"/>
              </a:rPr>
              <a:t>模块。它的不同子模块有不同的</a:t>
            </a:r>
            <a:r>
              <a:rPr spc="-15" dirty="0">
                <a:ea typeface="微软雅黑" panose="020B0503020204020204" charset="-122"/>
              </a:rPr>
              <a:t>应</a:t>
            </a:r>
            <a:r>
              <a:rPr dirty="0">
                <a:ea typeface="微软雅黑" panose="020B0503020204020204" charset="-122"/>
              </a:rPr>
              <a:t>用，</a:t>
            </a:r>
            <a:r>
              <a:rPr spc="-15" dirty="0">
                <a:ea typeface="微软雅黑" panose="020B0503020204020204" charset="-122"/>
              </a:rPr>
              <a:t>如</a:t>
            </a:r>
            <a:r>
              <a:rPr dirty="0">
                <a:ea typeface="微软雅黑" panose="020B0503020204020204" charset="-122"/>
              </a:rPr>
              <a:t>：</a:t>
            </a:r>
            <a:r>
              <a:rPr b="1" dirty="0">
                <a:solidFill>
                  <a:srgbClr val="FFA466"/>
                </a:solidFill>
                <a:ea typeface="微软雅黑" panose="020B0503020204020204" charset="-122"/>
              </a:rPr>
              <a:t>积分、插值、优化和信号 处理</a:t>
            </a:r>
            <a:r>
              <a:rPr spc="-5" dirty="0">
                <a:ea typeface="微软雅黑" panose="020B0503020204020204" charset="-122"/>
              </a:rPr>
              <a:t>等</a:t>
            </a:r>
            <a:r>
              <a:rPr dirty="0">
                <a:ea typeface="微软雅黑" panose="020B0503020204020204" charset="-122"/>
              </a:rPr>
              <a:t>。</a:t>
            </a:r>
            <a:endParaRPr dirty="0">
              <a:ea typeface="微软雅黑" panose="020B0503020204020204" charset="-122"/>
            </a:endParaRPr>
          </a:p>
          <a:p>
            <a:pPr marL="167005" marR="140970" indent="457200">
              <a:lnSpc>
                <a:spcPts val="3600"/>
              </a:lnSpc>
              <a:spcBef>
                <a:spcPts val="320"/>
              </a:spcBef>
            </a:pPr>
            <a:r>
              <a:rPr spc="-5" dirty="0">
                <a:solidFill>
                  <a:srgbClr val="FF0000"/>
                </a:solidFill>
                <a:ea typeface="微软雅黑" panose="020B0503020204020204" charset="-122"/>
              </a:rPr>
              <a:t>matplotlib</a:t>
            </a:r>
            <a:r>
              <a:rPr dirty="0">
                <a:ea typeface="微软雅黑" panose="020B0503020204020204" charset="-122"/>
              </a:rPr>
              <a:t>是基于Numpy的一套</a:t>
            </a:r>
            <a:r>
              <a:rPr spc="-5" dirty="0">
                <a:ea typeface="微软雅黑" panose="020B0503020204020204" charset="-122"/>
              </a:rPr>
              <a:t>Python</a:t>
            </a:r>
            <a:r>
              <a:rPr dirty="0">
                <a:ea typeface="微软雅黑" panose="020B0503020204020204" charset="-122"/>
              </a:rPr>
              <a:t>工具包，它提供了大量的</a:t>
            </a:r>
            <a:r>
              <a:rPr b="1" dirty="0">
                <a:solidFill>
                  <a:srgbClr val="FFA466"/>
                </a:solidFill>
                <a:ea typeface="微软雅黑" panose="020B0503020204020204" charset="-122"/>
              </a:rPr>
              <a:t>数据绘图</a:t>
            </a:r>
            <a:r>
              <a:rPr dirty="0">
                <a:ea typeface="微软雅黑" panose="020B0503020204020204" charset="-122"/>
              </a:rPr>
              <a:t>工 具，主要用于绘制一些</a:t>
            </a:r>
            <a:r>
              <a:rPr spc="-10" dirty="0">
                <a:ea typeface="微软雅黑" panose="020B0503020204020204" charset="-122"/>
              </a:rPr>
              <a:t>统</a:t>
            </a:r>
            <a:r>
              <a:rPr dirty="0">
                <a:ea typeface="微软雅黑" panose="020B0503020204020204" charset="-122"/>
              </a:rPr>
              <a:t>计图</a:t>
            </a:r>
            <a:r>
              <a:rPr spc="-10" dirty="0">
                <a:ea typeface="微软雅黑" panose="020B0503020204020204" charset="-122"/>
              </a:rPr>
              <a:t>形</a:t>
            </a:r>
            <a:r>
              <a:rPr dirty="0">
                <a:ea typeface="微软雅黑" panose="020B0503020204020204" charset="-122"/>
              </a:rPr>
              <a:t>，将</a:t>
            </a:r>
            <a:r>
              <a:rPr spc="-10" dirty="0">
                <a:ea typeface="微软雅黑" panose="020B0503020204020204" charset="-122"/>
              </a:rPr>
              <a:t>大</a:t>
            </a:r>
            <a:r>
              <a:rPr dirty="0">
                <a:ea typeface="微软雅黑" panose="020B0503020204020204" charset="-122"/>
              </a:rPr>
              <a:t>量的</a:t>
            </a:r>
            <a:r>
              <a:rPr spc="-10" dirty="0">
                <a:ea typeface="微软雅黑" panose="020B0503020204020204" charset="-122"/>
              </a:rPr>
              <a:t>数</a:t>
            </a:r>
            <a:r>
              <a:rPr dirty="0">
                <a:ea typeface="微软雅黑" panose="020B0503020204020204" charset="-122"/>
              </a:rPr>
              <a:t>据转</a:t>
            </a:r>
            <a:r>
              <a:rPr spc="-10" dirty="0">
                <a:ea typeface="微软雅黑" panose="020B0503020204020204" charset="-122"/>
              </a:rPr>
              <a:t>换</a:t>
            </a:r>
            <a:r>
              <a:rPr dirty="0">
                <a:ea typeface="微软雅黑" panose="020B0503020204020204" charset="-122"/>
              </a:rPr>
              <a:t>成更</a:t>
            </a:r>
            <a:r>
              <a:rPr spc="-10" dirty="0">
                <a:ea typeface="微软雅黑" panose="020B0503020204020204" charset="-122"/>
              </a:rPr>
              <a:t>加</a:t>
            </a:r>
            <a:r>
              <a:rPr dirty="0">
                <a:ea typeface="微软雅黑" panose="020B0503020204020204" charset="-122"/>
              </a:rPr>
              <a:t>容易</a:t>
            </a:r>
            <a:r>
              <a:rPr spc="-10" dirty="0">
                <a:ea typeface="微软雅黑" panose="020B0503020204020204" charset="-122"/>
              </a:rPr>
              <a:t>被</a:t>
            </a:r>
            <a:r>
              <a:rPr dirty="0">
                <a:ea typeface="微软雅黑" panose="020B0503020204020204" charset="-122"/>
              </a:rPr>
              <a:t>接受</a:t>
            </a:r>
            <a:r>
              <a:rPr spc="-10" dirty="0">
                <a:ea typeface="微软雅黑" panose="020B0503020204020204" charset="-122"/>
              </a:rPr>
              <a:t>的</a:t>
            </a:r>
            <a:r>
              <a:rPr dirty="0">
                <a:ea typeface="微软雅黑" panose="020B0503020204020204" charset="-122"/>
              </a:rPr>
              <a:t>图表。</a:t>
            </a:r>
            <a:endParaRPr dirty="0">
              <a:ea typeface="微软雅黑" panose="020B0503020204020204" charset="-122"/>
            </a:endParaRPr>
          </a:p>
          <a:p>
            <a:pPr marL="167005">
              <a:lnSpc>
                <a:spcPct val="100000"/>
              </a:lnSpc>
              <a:spcBef>
                <a:spcPts val="885"/>
              </a:spcBef>
            </a:pPr>
            <a:r>
              <a:rPr dirty="0">
                <a:ea typeface="微软雅黑" panose="020B0503020204020204" charset="-122"/>
              </a:rPr>
              <a:t>（注意要先安</a:t>
            </a:r>
            <a:r>
              <a:rPr spc="-15" dirty="0">
                <a:ea typeface="微软雅黑" panose="020B0503020204020204" charset="-122"/>
              </a:rPr>
              <a:t>装</a:t>
            </a:r>
            <a:r>
              <a:rPr spc="-5" dirty="0">
                <a:ea typeface="微软雅黑" panose="020B0503020204020204" charset="-122"/>
              </a:rPr>
              <a:t>numpy</a:t>
            </a:r>
            <a:r>
              <a:rPr dirty="0">
                <a:ea typeface="微软雅黑" panose="020B0503020204020204" charset="-122"/>
              </a:rPr>
              <a:t>再安装</a:t>
            </a:r>
            <a:r>
              <a:rPr spc="-5" dirty="0">
                <a:ea typeface="微软雅黑" panose="020B0503020204020204" charset="-122"/>
              </a:rPr>
              <a:t>matplotlib</a:t>
            </a:r>
            <a:r>
              <a:rPr dirty="0">
                <a:ea typeface="微软雅黑" panose="020B0503020204020204" charset="-122"/>
              </a:rPr>
              <a:t>库）</a:t>
            </a:r>
            <a:endParaRPr dirty="0">
              <a:ea typeface="微软雅黑" panose="020B050302020402020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82670" y="2941447"/>
            <a:ext cx="5029200" cy="8312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0" dirty="0">
                <a:latin typeface="Arial" panose="020B0604020202020204" pitchFamily="34" charset="0"/>
                <a:cs typeface="Arial" panose="020B0604020202020204" pitchFamily="34" charset="0"/>
              </a:rPr>
              <a:t>sklearn</a:t>
            </a:r>
            <a:r>
              <a:rPr b="1" spc="25" dirty="0"/>
              <a:t>库的安装</a:t>
            </a:r>
            <a:endParaRPr b="1" spc="25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30622" y="438734"/>
            <a:ext cx="2732405" cy="81661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200" b="1" spc="25" dirty="0"/>
              <a:t>安装顺序</a:t>
            </a:r>
            <a:endParaRPr sz="5200" b="1" spc="25" dirty="0"/>
          </a:p>
        </p:txBody>
      </p:sp>
      <p:sp>
        <p:nvSpPr>
          <p:cNvPr id="3" name="object 3"/>
          <p:cNvSpPr txBox="1"/>
          <p:nvPr/>
        </p:nvSpPr>
        <p:spPr>
          <a:xfrm>
            <a:off x="1906270" y="2110084"/>
            <a:ext cx="2464435" cy="2780665"/>
          </a:xfrm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35"/>
              </a:spcBef>
            </a:pPr>
            <a:r>
              <a:rPr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安装顺序如下：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L="469900" indent="-457200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469900" algn="l"/>
              </a:tabLst>
            </a:pPr>
            <a:r>
              <a:rPr sz="2400" spc="-5" dirty="0">
                <a:latin typeface="Consolas" panose="020B0609020204030204"/>
                <a:cs typeface="Consolas" panose="020B0609020204030204"/>
              </a:rPr>
              <a:t>Numpy</a:t>
            </a:r>
            <a:r>
              <a:rPr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L="469900" indent="-457200">
              <a:lnSpc>
                <a:spcPct val="100000"/>
              </a:lnSpc>
              <a:spcBef>
                <a:spcPts val="1445"/>
              </a:spcBef>
              <a:buAutoNum type="arabicPeriod"/>
              <a:tabLst>
                <a:tab pos="469900" algn="l"/>
              </a:tabLst>
            </a:pPr>
            <a:r>
              <a:rPr sz="2400" dirty="0">
                <a:latin typeface="Consolas" panose="020B0609020204030204"/>
                <a:cs typeface="Consolas" panose="020B0609020204030204"/>
              </a:rPr>
              <a:t>Scipy</a:t>
            </a:r>
            <a:r>
              <a:rPr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L="469900" indent="-457200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469900" algn="l"/>
              </a:tabLst>
            </a:pPr>
            <a:r>
              <a:rPr sz="2400" dirty="0">
                <a:latin typeface="Consolas" panose="020B0609020204030204"/>
                <a:cs typeface="Consolas" panose="020B0609020204030204"/>
              </a:rPr>
              <a:t>matplotlib</a:t>
            </a:r>
            <a:r>
              <a:rPr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L="469900" indent="-457200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469900" algn="l"/>
              </a:tabLst>
            </a:pPr>
            <a:r>
              <a:rPr sz="2400" dirty="0">
                <a:latin typeface="Consolas" panose="020B0609020204030204"/>
                <a:cs typeface="Consolas" panose="020B0609020204030204"/>
              </a:rPr>
              <a:t>sklearn</a:t>
            </a:r>
            <a:r>
              <a:rPr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014716" y="2002510"/>
            <a:ext cx="1560576" cy="614197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052816" y="1949195"/>
            <a:ext cx="1484376" cy="8275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061959" y="2029967"/>
            <a:ext cx="1470660" cy="5242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061959" y="2029967"/>
            <a:ext cx="1470660" cy="524510"/>
          </a:xfrm>
          <a:custGeom>
            <a:avLst/>
            <a:gdLst/>
            <a:ahLst/>
            <a:cxnLst/>
            <a:rect l="l" t="t" r="r" b="b"/>
            <a:pathLst>
              <a:path w="1470659" h="524510">
                <a:moveTo>
                  <a:pt x="0" y="87376"/>
                </a:moveTo>
                <a:lnTo>
                  <a:pt x="6865" y="53363"/>
                </a:lnTo>
                <a:lnTo>
                  <a:pt x="25590" y="25590"/>
                </a:lnTo>
                <a:lnTo>
                  <a:pt x="53363" y="6865"/>
                </a:lnTo>
                <a:lnTo>
                  <a:pt x="87375" y="0"/>
                </a:lnTo>
                <a:lnTo>
                  <a:pt x="1383284" y="0"/>
                </a:lnTo>
                <a:lnTo>
                  <a:pt x="1417296" y="6865"/>
                </a:lnTo>
                <a:lnTo>
                  <a:pt x="1445069" y="25590"/>
                </a:lnTo>
                <a:lnTo>
                  <a:pt x="1463794" y="53363"/>
                </a:lnTo>
                <a:lnTo>
                  <a:pt x="1470660" y="87376"/>
                </a:lnTo>
                <a:lnTo>
                  <a:pt x="1470660" y="436880"/>
                </a:lnTo>
                <a:lnTo>
                  <a:pt x="1463794" y="470892"/>
                </a:lnTo>
                <a:lnTo>
                  <a:pt x="1445069" y="498665"/>
                </a:lnTo>
                <a:lnTo>
                  <a:pt x="1417296" y="517390"/>
                </a:lnTo>
                <a:lnTo>
                  <a:pt x="1383284" y="524256"/>
                </a:lnTo>
                <a:lnTo>
                  <a:pt x="87375" y="524256"/>
                </a:lnTo>
                <a:lnTo>
                  <a:pt x="53363" y="517390"/>
                </a:lnTo>
                <a:lnTo>
                  <a:pt x="25590" y="498665"/>
                </a:lnTo>
                <a:lnTo>
                  <a:pt x="6865" y="470892"/>
                </a:lnTo>
                <a:lnTo>
                  <a:pt x="0" y="436880"/>
                </a:lnTo>
                <a:lnTo>
                  <a:pt x="0" y="87376"/>
                </a:lnTo>
                <a:close/>
              </a:path>
            </a:pathLst>
          </a:custGeom>
          <a:ln w="9144">
            <a:solidFill>
              <a:srgbClr val="4848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8296782" y="2046477"/>
            <a:ext cx="10007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onsolas" panose="020B0609020204030204"/>
                <a:cs typeface="Consolas" panose="020B0609020204030204"/>
              </a:rPr>
              <a:t>Numpy</a:t>
            </a:r>
            <a:endParaRPr sz="2800"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924800" y="4858486"/>
            <a:ext cx="1740407" cy="61419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856219" y="4805171"/>
            <a:ext cx="1874520" cy="82753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972043" y="4885944"/>
            <a:ext cx="1650491" cy="52425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972043" y="4885944"/>
            <a:ext cx="1651000" cy="524510"/>
          </a:xfrm>
          <a:custGeom>
            <a:avLst/>
            <a:gdLst/>
            <a:ahLst/>
            <a:cxnLst/>
            <a:rect l="l" t="t" r="r" b="b"/>
            <a:pathLst>
              <a:path w="1651000" h="524510">
                <a:moveTo>
                  <a:pt x="0" y="87375"/>
                </a:moveTo>
                <a:lnTo>
                  <a:pt x="6865" y="53363"/>
                </a:lnTo>
                <a:lnTo>
                  <a:pt x="25590" y="25590"/>
                </a:lnTo>
                <a:lnTo>
                  <a:pt x="53363" y="6865"/>
                </a:lnTo>
                <a:lnTo>
                  <a:pt x="87375" y="0"/>
                </a:lnTo>
                <a:lnTo>
                  <a:pt x="1563115" y="0"/>
                </a:lnTo>
                <a:lnTo>
                  <a:pt x="1597128" y="6865"/>
                </a:lnTo>
                <a:lnTo>
                  <a:pt x="1624901" y="25590"/>
                </a:lnTo>
                <a:lnTo>
                  <a:pt x="1643626" y="53363"/>
                </a:lnTo>
                <a:lnTo>
                  <a:pt x="1650491" y="87375"/>
                </a:lnTo>
                <a:lnTo>
                  <a:pt x="1650491" y="436879"/>
                </a:lnTo>
                <a:lnTo>
                  <a:pt x="1643626" y="470892"/>
                </a:lnTo>
                <a:lnTo>
                  <a:pt x="1624901" y="498665"/>
                </a:lnTo>
                <a:lnTo>
                  <a:pt x="1597128" y="517390"/>
                </a:lnTo>
                <a:lnTo>
                  <a:pt x="1563115" y="524255"/>
                </a:lnTo>
                <a:lnTo>
                  <a:pt x="87375" y="524255"/>
                </a:lnTo>
                <a:lnTo>
                  <a:pt x="53363" y="517390"/>
                </a:lnTo>
                <a:lnTo>
                  <a:pt x="25590" y="498665"/>
                </a:lnTo>
                <a:lnTo>
                  <a:pt x="6865" y="470892"/>
                </a:lnTo>
                <a:lnTo>
                  <a:pt x="0" y="436879"/>
                </a:lnTo>
                <a:lnTo>
                  <a:pt x="0" y="87375"/>
                </a:lnTo>
                <a:close/>
              </a:path>
            </a:pathLst>
          </a:custGeom>
          <a:ln w="9144">
            <a:solidFill>
              <a:srgbClr val="4848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8101076" y="4902784"/>
            <a:ext cx="13912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onsolas" panose="020B0609020204030204"/>
                <a:cs typeface="Consolas" panose="020B0609020204030204"/>
              </a:rPr>
              <a:t>sklearn</a:t>
            </a:r>
            <a:endParaRPr sz="2800"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485376" y="3485375"/>
            <a:ext cx="1562100" cy="61570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9523476" y="3433571"/>
            <a:ext cx="1484376" cy="8275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9532619" y="3512820"/>
            <a:ext cx="1472183" cy="52577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9532619" y="3512820"/>
            <a:ext cx="1472565" cy="525780"/>
          </a:xfrm>
          <a:custGeom>
            <a:avLst/>
            <a:gdLst/>
            <a:ahLst/>
            <a:cxnLst/>
            <a:rect l="l" t="t" r="r" b="b"/>
            <a:pathLst>
              <a:path w="1472565" h="525779">
                <a:moveTo>
                  <a:pt x="0" y="87629"/>
                </a:moveTo>
                <a:lnTo>
                  <a:pt x="6887" y="53524"/>
                </a:lnTo>
                <a:lnTo>
                  <a:pt x="25669" y="25669"/>
                </a:lnTo>
                <a:lnTo>
                  <a:pt x="53524" y="6887"/>
                </a:lnTo>
                <a:lnTo>
                  <a:pt x="87629" y="0"/>
                </a:lnTo>
                <a:lnTo>
                  <a:pt x="1384553" y="0"/>
                </a:lnTo>
                <a:lnTo>
                  <a:pt x="1418659" y="6887"/>
                </a:lnTo>
                <a:lnTo>
                  <a:pt x="1446514" y="25669"/>
                </a:lnTo>
                <a:lnTo>
                  <a:pt x="1465296" y="53524"/>
                </a:lnTo>
                <a:lnTo>
                  <a:pt x="1472183" y="87629"/>
                </a:lnTo>
                <a:lnTo>
                  <a:pt x="1472183" y="438149"/>
                </a:lnTo>
                <a:lnTo>
                  <a:pt x="1465296" y="472255"/>
                </a:lnTo>
                <a:lnTo>
                  <a:pt x="1446514" y="500110"/>
                </a:lnTo>
                <a:lnTo>
                  <a:pt x="1418659" y="518892"/>
                </a:lnTo>
                <a:lnTo>
                  <a:pt x="1384553" y="525779"/>
                </a:lnTo>
                <a:lnTo>
                  <a:pt x="87629" y="525779"/>
                </a:lnTo>
                <a:lnTo>
                  <a:pt x="53524" y="518892"/>
                </a:lnTo>
                <a:lnTo>
                  <a:pt x="25669" y="500110"/>
                </a:lnTo>
                <a:lnTo>
                  <a:pt x="6887" y="472255"/>
                </a:lnTo>
                <a:lnTo>
                  <a:pt x="0" y="438149"/>
                </a:lnTo>
                <a:lnTo>
                  <a:pt x="0" y="87629"/>
                </a:lnTo>
                <a:close/>
              </a:path>
            </a:pathLst>
          </a:custGeom>
          <a:ln w="9143">
            <a:solidFill>
              <a:srgbClr val="4848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9768331" y="3530549"/>
            <a:ext cx="10007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onsolas" panose="020B0609020204030204"/>
                <a:cs typeface="Consolas" panose="020B0609020204030204"/>
              </a:rPr>
              <a:t>Scipy</a:t>
            </a:r>
            <a:endParaRPr sz="2800"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051803" y="3485375"/>
            <a:ext cx="2348483" cy="61570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995415" y="3433571"/>
            <a:ext cx="2459736" cy="82753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099047" y="3512820"/>
            <a:ext cx="2258568" cy="52577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099047" y="3512820"/>
            <a:ext cx="2258695" cy="525780"/>
          </a:xfrm>
          <a:custGeom>
            <a:avLst/>
            <a:gdLst/>
            <a:ahLst/>
            <a:cxnLst/>
            <a:rect l="l" t="t" r="r" b="b"/>
            <a:pathLst>
              <a:path w="2258695" h="525779">
                <a:moveTo>
                  <a:pt x="0" y="87629"/>
                </a:moveTo>
                <a:lnTo>
                  <a:pt x="6887" y="53524"/>
                </a:lnTo>
                <a:lnTo>
                  <a:pt x="25669" y="25669"/>
                </a:lnTo>
                <a:lnTo>
                  <a:pt x="53524" y="6887"/>
                </a:lnTo>
                <a:lnTo>
                  <a:pt x="87629" y="0"/>
                </a:lnTo>
                <a:lnTo>
                  <a:pt x="2170937" y="0"/>
                </a:lnTo>
                <a:lnTo>
                  <a:pt x="2205043" y="6887"/>
                </a:lnTo>
                <a:lnTo>
                  <a:pt x="2232898" y="25669"/>
                </a:lnTo>
                <a:lnTo>
                  <a:pt x="2251680" y="53524"/>
                </a:lnTo>
                <a:lnTo>
                  <a:pt x="2258568" y="87629"/>
                </a:lnTo>
                <a:lnTo>
                  <a:pt x="2258568" y="438149"/>
                </a:lnTo>
                <a:lnTo>
                  <a:pt x="2251680" y="472255"/>
                </a:lnTo>
                <a:lnTo>
                  <a:pt x="2232898" y="500110"/>
                </a:lnTo>
                <a:lnTo>
                  <a:pt x="2205043" y="518892"/>
                </a:lnTo>
                <a:lnTo>
                  <a:pt x="2170937" y="525779"/>
                </a:lnTo>
                <a:lnTo>
                  <a:pt x="87629" y="525779"/>
                </a:lnTo>
                <a:lnTo>
                  <a:pt x="53524" y="518892"/>
                </a:lnTo>
                <a:lnTo>
                  <a:pt x="25669" y="500110"/>
                </a:lnTo>
                <a:lnTo>
                  <a:pt x="6887" y="472255"/>
                </a:lnTo>
                <a:lnTo>
                  <a:pt x="0" y="438149"/>
                </a:lnTo>
                <a:lnTo>
                  <a:pt x="0" y="87629"/>
                </a:lnTo>
                <a:close/>
              </a:path>
            </a:pathLst>
          </a:custGeom>
          <a:ln w="9144">
            <a:solidFill>
              <a:srgbClr val="4848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6239383" y="3530549"/>
            <a:ext cx="19786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Consolas" panose="020B0609020204030204"/>
                <a:cs typeface="Consolas" panose="020B0609020204030204"/>
              </a:rPr>
              <a:t>ma</a:t>
            </a:r>
            <a:r>
              <a:rPr sz="2800" spc="-15" dirty="0">
                <a:latin typeface="Consolas" panose="020B0609020204030204"/>
                <a:cs typeface="Consolas" panose="020B0609020204030204"/>
              </a:rPr>
              <a:t>t</a:t>
            </a:r>
            <a:r>
              <a:rPr sz="2800" spc="-5" dirty="0">
                <a:latin typeface="Consolas" panose="020B0609020204030204"/>
                <a:cs typeface="Consolas" panose="020B0609020204030204"/>
              </a:rPr>
              <a:t>pl</a:t>
            </a:r>
            <a:r>
              <a:rPr sz="2800" spc="-15" dirty="0">
                <a:latin typeface="Consolas" panose="020B0609020204030204"/>
                <a:cs typeface="Consolas" panose="020B0609020204030204"/>
              </a:rPr>
              <a:t>o</a:t>
            </a:r>
            <a:r>
              <a:rPr sz="2800" dirty="0">
                <a:latin typeface="Consolas" panose="020B0609020204030204"/>
                <a:cs typeface="Consolas" panose="020B0609020204030204"/>
              </a:rPr>
              <a:t>t</a:t>
            </a:r>
            <a:r>
              <a:rPr sz="2800" spc="-5" dirty="0">
                <a:latin typeface="Consolas" panose="020B0609020204030204"/>
                <a:cs typeface="Consolas" panose="020B0609020204030204"/>
              </a:rPr>
              <a:t>lib</a:t>
            </a:r>
            <a:endParaRPr sz="2800"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758428" y="2554223"/>
            <a:ext cx="76200" cy="2331085"/>
          </a:xfrm>
          <a:custGeom>
            <a:avLst/>
            <a:gdLst/>
            <a:ahLst/>
            <a:cxnLst/>
            <a:rect l="l" t="t" r="r" b="b"/>
            <a:pathLst>
              <a:path w="76200" h="2331085">
                <a:moveTo>
                  <a:pt x="31750" y="2254885"/>
                </a:moveTo>
                <a:lnTo>
                  <a:pt x="0" y="2254885"/>
                </a:lnTo>
                <a:lnTo>
                  <a:pt x="38100" y="2331085"/>
                </a:lnTo>
                <a:lnTo>
                  <a:pt x="69850" y="2267585"/>
                </a:lnTo>
                <a:lnTo>
                  <a:pt x="31750" y="2267585"/>
                </a:lnTo>
                <a:lnTo>
                  <a:pt x="31750" y="2254885"/>
                </a:lnTo>
                <a:close/>
              </a:path>
              <a:path w="76200" h="2331085">
                <a:moveTo>
                  <a:pt x="44450" y="0"/>
                </a:moveTo>
                <a:lnTo>
                  <a:pt x="31750" y="0"/>
                </a:lnTo>
                <a:lnTo>
                  <a:pt x="31750" y="2267585"/>
                </a:lnTo>
                <a:lnTo>
                  <a:pt x="44450" y="2267585"/>
                </a:lnTo>
                <a:lnTo>
                  <a:pt x="44450" y="0"/>
                </a:lnTo>
                <a:close/>
              </a:path>
              <a:path w="76200" h="2331085">
                <a:moveTo>
                  <a:pt x="76200" y="2254885"/>
                </a:moveTo>
                <a:lnTo>
                  <a:pt x="44450" y="2254885"/>
                </a:lnTo>
                <a:lnTo>
                  <a:pt x="44450" y="2267585"/>
                </a:lnTo>
                <a:lnTo>
                  <a:pt x="69850" y="2267585"/>
                </a:lnTo>
                <a:lnTo>
                  <a:pt x="76200" y="2254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228331" y="2900172"/>
            <a:ext cx="3040380" cy="0"/>
          </a:xfrm>
          <a:custGeom>
            <a:avLst/>
            <a:gdLst/>
            <a:ahLst/>
            <a:cxnLst/>
            <a:rect l="l" t="t" r="r" b="b"/>
            <a:pathLst>
              <a:path w="3040379">
                <a:moveTo>
                  <a:pt x="0" y="0"/>
                </a:moveTo>
                <a:lnTo>
                  <a:pt x="3040253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190231" y="2900172"/>
            <a:ext cx="76200" cy="612775"/>
          </a:xfrm>
          <a:custGeom>
            <a:avLst/>
            <a:gdLst/>
            <a:ahLst/>
            <a:cxnLst/>
            <a:rect l="l" t="t" r="r" b="b"/>
            <a:pathLst>
              <a:path w="76200" h="612775">
                <a:moveTo>
                  <a:pt x="31750" y="536448"/>
                </a:moveTo>
                <a:lnTo>
                  <a:pt x="0" y="536448"/>
                </a:lnTo>
                <a:lnTo>
                  <a:pt x="38100" y="612648"/>
                </a:lnTo>
                <a:lnTo>
                  <a:pt x="69850" y="549148"/>
                </a:lnTo>
                <a:lnTo>
                  <a:pt x="31750" y="549148"/>
                </a:lnTo>
                <a:lnTo>
                  <a:pt x="31750" y="536448"/>
                </a:lnTo>
                <a:close/>
              </a:path>
              <a:path w="76200" h="612775">
                <a:moveTo>
                  <a:pt x="44450" y="0"/>
                </a:moveTo>
                <a:lnTo>
                  <a:pt x="31750" y="0"/>
                </a:lnTo>
                <a:lnTo>
                  <a:pt x="31750" y="549148"/>
                </a:lnTo>
                <a:lnTo>
                  <a:pt x="44450" y="549148"/>
                </a:lnTo>
                <a:lnTo>
                  <a:pt x="44450" y="0"/>
                </a:lnTo>
                <a:close/>
              </a:path>
              <a:path w="76200" h="612775">
                <a:moveTo>
                  <a:pt x="76200" y="536448"/>
                </a:moveTo>
                <a:lnTo>
                  <a:pt x="44450" y="536448"/>
                </a:lnTo>
                <a:lnTo>
                  <a:pt x="44450" y="549148"/>
                </a:lnTo>
                <a:lnTo>
                  <a:pt x="69850" y="549148"/>
                </a:lnTo>
                <a:lnTo>
                  <a:pt x="76200" y="5364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0230611" y="2900172"/>
            <a:ext cx="76200" cy="612775"/>
          </a:xfrm>
          <a:custGeom>
            <a:avLst/>
            <a:gdLst/>
            <a:ahLst/>
            <a:cxnLst/>
            <a:rect l="l" t="t" r="r" b="b"/>
            <a:pathLst>
              <a:path w="76200" h="612775">
                <a:moveTo>
                  <a:pt x="31750" y="536448"/>
                </a:moveTo>
                <a:lnTo>
                  <a:pt x="0" y="536448"/>
                </a:lnTo>
                <a:lnTo>
                  <a:pt x="38100" y="612648"/>
                </a:lnTo>
                <a:lnTo>
                  <a:pt x="69850" y="549148"/>
                </a:lnTo>
                <a:lnTo>
                  <a:pt x="31750" y="549148"/>
                </a:lnTo>
                <a:lnTo>
                  <a:pt x="31750" y="536448"/>
                </a:lnTo>
                <a:close/>
              </a:path>
              <a:path w="76200" h="612775">
                <a:moveTo>
                  <a:pt x="44450" y="0"/>
                </a:moveTo>
                <a:lnTo>
                  <a:pt x="31750" y="0"/>
                </a:lnTo>
                <a:lnTo>
                  <a:pt x="31750" y="549148"/>
                </a:lnTo>
                <a:lnTo>
                  <a:pt x="44450" y="549148"/>
                </a:lnTo>
                <a:lnTo>
                  <a:pt x="44450" y="0"/>
                </a:lnTo>
                <a:close/>
              </a:path>
              <a:path w="76200" h="612775">
                <a:moveTo>
                  <a:pt x="76200" y="536448"/>
                </a:moveTo>
                <a:lnTo>
                  <a:pt x="44450" y="536448"/>
                </a:lnTo>
                <a:lnTo>
                  <a:pt x="44450" y="549148"/>
                </a:lnTo>
                <a:lnTo>
                  <a:pt x="69850" y="549148"/>
                </a:lnTo>
                <a:lnTo>
                  <a:pt x="76200" y="5364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199121" y="4037076"/>
            <a:ext cx="772795" cy="1149350"/>
          </a:xfrm>
          <a:custGeom>
            <a:avLst/>
            <a:gdLst/>
            <a:ahLst/>
            <a:cxnLst/>
            <a:rect l="l" t="t" r="r" b="b"/>
            <a:pathLst>
              <a:path w="772795" h="1149350">
                <a:moveTo>
                  <a:pt x="696213" y="1072769"/>
                </a:moveTo>
                <a:lnTo>
                  <a:pt x="696213" y="1148969"/>
                </a:lnTo>
                <a:lnTo>
                  <a:pt x="759713" y="1117219"/>
                </a:lnTo>
                <a:lnTo>
                  <a:pt x="708913" y="1117219"/>
                </a:lnTo>
                <a:lnTo>
                  <a:pt x="708913" y="1104519"/>
                </a:lnTo>
                <a:lnTo>
                  <a:pt x="759713" y="1104519"/>
                </a:lnTo>
                <a:lnTo>
                  <a:pt x="696213" y="1072769"/>
                </a:lnTo>
                <a:close/>
              </a:path>
              <a:path w="772795" h="1149350">
                <a:moveTo>
                  <a:pt x="12700" y="0"/>
                </a:moveTo>
                <a:lnTo>
                  <a:pt x="0" y="0"/>
                </a:lnTo>
                <a:lnTo>
                  <a:pt x="0" y="1114425"/>
                </a:lnTo>
                <a:lnTo>
                  <a:pt x="2794" y="1117219"/>
                </a:lnTo>
                <a:lnTo>
                  <a:pt x="696213" y="1117219"/>
                </a:lnTo>
                <a:lnTo>
                  <a:pt x="696213" y="1110869"/>
                </a:lnTo>
                <a:lnTo>
                  <a:pt x="12700" y="1110869"/>
                </a:lnTo>
                <a:lnTo>
                  <a:pt x="6350" y="1104519"/>
                </a:lnTo>
                <a:lnTo>
                  <a:pt x="12700" y="1104519"/>
                </a:lnTo>
                <a:lnTo>
                  <a:pt x="12700" y="0"/>
                </a:lnTo>
                <a:close/>
              </a:path>
              <a:path w="772795" h="1149350">
                <a:moveTo>
                  <a:pt x="759713" y="1104519"/>
                </a:moveTo>
                <a:lnTo>
                  <a:pt x="708913" y="1104519"/>
                </a:lnTo>
                <a:lnTo>
                  <a:pt x="708913" y="1117219"/>
                </a:lnTo>
                <a:lnTo>
                  <a:pt x="759713" y="1117219"/>
                </a:lnTo>
                <a:lnTo>
                  <a:pt x="772413" y="1110869"/>
                </a:lnTo>
                <a:lnTo>
                  <a:pt x="759713" y="1104519"/>
                </a:lnTo>
                <a:close/>
              </a:path>
              <a:path w="772795" h="1149350">
                <a:moveTo>
                  <a:pt x="12700" y="1104519"/>
                </a:moveTo>
                <a:lnTo>
                  <a:pt x="6350" y="1104519"/>
                </a:lnTo>
                <a:lnTo>
                  <a:pt x="12700" y="1110869"/>
                </a:lnTo>
                <a:lnTo>
                  <a:pt x="12700" y="1104519"/>
                </a:lnTo>
                <a:close/>
              </a:path>
              <a:path w="772795" h="1149350">
                <a:moveTo>
                  <a:pt x="696213" y="1104519"/>
                </a:moveTo>
                <a:lnTo>
                  <a:pt x="12700" y="1104519"/>
                </a:lnTo>
                <a:lnTo>
                  <a:pt x="12700" y="1110869"/>
                </a:lnTo>
                <a:lnTo>
                  <a:pt x="696213" y="1110869"/>
                </a:lnTo>
                <a:lnTo>
                  <a:pt x="696213" y="11045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9622535" y="4055364"/>
            <a:ext cx="652780" cy="1148080"/>
          </a:xfrm>
          <a:custGeom>
            <a:avLst/>
            <a:gdLst/>
            <a:ahLst/>
            <a:cxnLst/>
            <a:rect l="l" t="t" r="r" b="b"/>
            <a:pathLst>
              <a:path w="652779" h="1148079">
                <a:moveTo>
                  <a:pt x="76200" y="1071372"/>
                </a:moveTo>
                <a:lnTo>
                  <a:pt x="0" y="1109472"/>
                </a:lnTo>
                <a:lnTo>
                  <a:pt x="76200" y="1147572"/>
                </a:lnTo>
                <a:lnTo>
                  <a:pt x="76200" y="1115822"/>
                </a:lnTo>
                <a:lnTo>
                  <a:pt x="63500" y="1115822"/>
                </a:lnTo>
                <a:lnTo>
                  <a:pt x="63500" y="1103122"/>
                </a:lnTo>
                <a:lnTo>
                  <a:pt x="76200" y="1103122"/>
                </a:lnTo>
                <a:lnTo>
                  <a:pt x="76200" y="1071372"/>
                </a:lnTo>
                <a:close/>
              </a:path>
              <a:path w="652779" h="1148079">
                <a:moveTo>
                  <a:pt x="76200" y="1103122"/>
                </a:moveTo>
                <a:lnTo>
                  <a:pt x="63500" y="1103122"/>
                </a:lnTo>
                <a:lnTo>
                  <a:pt x="63500" y="1115822"/>
                </a:lnTo>
                <a:lnTo>
                  <a:pt x="76200" y="1115822"/>
                </a:lnTo>
                <a:lnTo>
                  <a:pt x="76200" y="1103122"/>
                </a:lnTo>
                <a:close/>
              </a:path>
              <a:path w="652779" h="1148079">
                <a:moveTo>
                  <a:pt x="640080" y="1103122"/>
                </a:moveTo>
                <a:lnTo>
                  <a:pt x="76200" y="1103122"/>
                </a:lnTo>
                <a:lnTo>
                  <a:pt x="76200" y="1115822"/>
                </a:lnTo>
                <a:lnTo>
                  <a:pt x="649859" y="1115822"/>
                </a:lnTo>
                <a:lnTo>
                  <a:pt x="652780" y="1112901"/>
                </a:lnTo>
                <a:lnTo>
                  <a:pt x="652780" y="1109472"/>
                </a:lnTo>
                <a:lnTo>
                  <a:pt x="640080" y="1109472"/>
                </a:lnTo>
                <a:lnTo>
                  <a:pt x="640080" y="1103122"/>
                </a:lnTo>
                <a:close/>
              </a:path>
              <a:path w="652779" h="1148079">
                <a:moveTo>
                  <a:pt x="652780" y="0"/>
                </a:moveTo>
                <a:lnTo>
                  <a:pt x="640080" y="0"/>
                </a:lnTo>
                <a:lnTo>
                  <a:pt x="640080" y="1109472"/>
                </a:lnTo>
                <a:lnTo>
                  <a:pt x="646430" y="1103122"/>
                </a:lnTo>
                <a:lnTo>
                  <a:pt x="652780" y="1103122"/>
                </a:lnTo>
                <a:lnTo>
                  <a:pt x="652780" y="0"/>
                </a:lnTo>
                <a:close/>
              </a:path>
              <a:path w="652779" h="1148079">
                <a:moveTo>
                  <a:pt x="652780" y="1103122"/>
                </a:moveTo>
                <a:lnTo>
                  <a:pt x="646430" y="1103122"/>
                </a:lnTo>
                <a:lnTo>
                  <a:pt x="640080" y="1109472"/>
                </a:lnTo>
                <a:lnTo>
                  <a:pt x="652780" y="1109472"/>
                </a:lnTo>
                <a:lnTo>
                  <a:pt x="652780" y="11031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灯片编号占位符 29"/>
          <p:cNvSpPr>
            <a:spLocks noGrp="1"/>
          </p:cNvSpPr>
          <p:nvPr>
            <p:ph type="sldNum" sz="quarter" idx="7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24272" y="76149"/>
            <a:ext cx="2732405" cy="81661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200" b="1" spc="25" dirty="0"/>
              <a:t>安装</a:t>
            </a:r>
            <a:r>
              <a:rPr lang="zh-CN" sz="5200" b="1" spc="25" dirty="0"/>
              <a:t>步骤：</a:t>
            </a:r>
            <a:endParaRPr lang="zh-CN" sz="5200" b="1" spc="25" dirty="0"/>
          </a:p>
        </p:txBody>
      </p:sp>
      <p:sp>
        <p:nvSpPr>
          <p:cNvPr id="30" name="object 3"/>
          <p:cNvSpPr txBox="1"/>
          <p:nvPr/>
        </p:nvSpPr>
        <p:spPr>
          <a:xfrm>
            <a:off x="1905000" y="685800"/>
            <a:ext cx="9517380" cy="6105525"/>
          </a:xfrm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p>
            <a:pPr marL="12700">
              <a:lnSpc>
                <a:spcPct val="100000"/>
              </a:lnSpc>
              <a:spcBef>
                <a:spcPts val="1535"/>
              </a:spcBef>
            </a:pPr>
            <a:r>
              <a:rPr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安装</a:t>
            </a:r>
            <a:r>
              <a:rPr 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步骤</a:t>
            </a:r>
            <a:r>
              <a:rPr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如下：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L="469900" indent="-457200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469900" algn="l"/>
              </a:tabLst>
            </a:pPr>
            <a:r>
              <a:rPr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配置pip国内镜像</a:t>
            </a:r>
            <a:r>
              <a:rPr 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重要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zh-CN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0">
              <a:lnSpc>
                <a:spcPct val="100000"/>
              </a:lnSpc>
              <a:spcBef>
                <a:spcPts val="1440"/>
              </a:spcBef>
              <a:buNone/>
              <a:tabLst>
                <a:tab pos="469900" algn="l"/>
              </a:tabLst>
            </a:pPr>
            <a:r>
              <a:rPr lang="en-US" sz="2400" dirty="0"/>
              <a:t>      (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可参考链接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 action="ppaction://hlinkfile"/>
              </a:rPr>
              <a:t>参考链接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sz="2400" dirty="0"/>
          </a:p>
          <a:p>
            <a:pPr marL="469900" indent="-457200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469900" algn="l"/>
              </a:tabLst>
            </a:pPr>
            <a:endParaRPr lang="en-US" sz="2400" dirty="0"/>
          </a:p>
          <a:p>
            <a:pPr marL="469900" indent="-457200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469900" algn="l"/>
              </a:tabLst>
            </a:pPr>
            <a:r>
              <a:rPr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打开cmd命令行或者VsCode终端</a:t>
            </a:r>
            <a:r>
              <a:rPr 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，输入以下命令；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57200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469900" algn="l"/>
              </a:tabLst>
            </a:pP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57200">
              <a:lnSpc>
                <a:spcPct val="100000"/>
              </a:lnSpc>
              <a:spcBef>
                <a:spcPts val="1445"/>
              </a:spcBef>
              <a:buAutoNum type="arabicPeriod"/>
              <a:tabLst>
                <a:tab pos="469900" algn="l"/>
              </a:tabLst>
            </a:pPr>
            <a:r>
              <a:rPr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安装</a:t>
            </a:r>
            <a:r>
              <a:rPr sz="2400" spc="-5" dirty="0">
                <a:latin typeface="Consolas" panose="020B0609020204030204"/>
                <a:cs typeface="Consolas" panose="020B0609020204030204"/>
                <a:sym typeface="+mn-ea"/>
              </a:rPr>
              <a:t>Numpy</a:t>
            </a:r>
            <a:r>
              <a:rPr lang="en-US" sz="2400" spc="-5" dirty="0">
                <a:latin typeface="Consolas" panose="020B0609020204030204"/>
                <a:cs typeface="Consolas" panose="020B0609020204030204"/>
                <a:sym typeface="+mn-ea"/>
              </a:rPr>
              <a:t>———&gt; `</a:t>
            </a:r>
            <a:r>
              <a:rPr sz="2400" b="1" kern="0" dirty="0">
                <a:solidFill>
                  <a:srgbClr val="FFA466"/>
                </a:solidFill>
                <a:latin typeface="Consolas" panose="020B0609020204030204" charset="0"/>
                <a:ea typeface="微软雅黑" panose="020B0503020204020204" charset="-122"/>
                <a:cs typeface="Consolas" panose="020B0609020204030204" charset="0"/>
                <a:sym typeface="+mn-ea"/>
              </a:rPr>
              <a:t>pip install numpy</a:t>
            </a:r>
            <a:r>
              <a:rPr lang="en-US" sz="2400" spc="-5" dirty="0">
                <a:latin typeface="Consolas" panose="020B0609020204030204"/>
                <a:cs typeface="Consolas" panose="020B0609020204030204"/>
                <a:sym typeface="+mn-ea"/>
              </a:rPr>
              <a:t>`</a:t>
            </a:r>
            <a:endParaRPr lang="en-US" sz="2400" spc="-5" dirty="0">
              <a:latin typeface="Consolas" panose="020B0609020204030204"/>
              <a:cs typeface="Consolas" panose="020B0609020204030204"/>
              <a:sym typeface="+mn-ea"/>
            </a:endParaRPr>
          </a:p>
          <a:p>
            <a:pPr marL="469900" indent="-457200">
              <a:lnSpc>
                <a:spcPct val="100000"/>
              </a:lnSpc>
              <a:spcBef>
                <a:spcPts val="1445"/>
              </a:spcBef>
              <a:buAutoNum type="arabicPeriod"/>
              <a:tabLst>
                <a:tab pos="469900" algn="l"/>
              </a:tabLst>
            </a:pP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57200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469900" algn="l"/>
              </a:tabLst>
            </a:pPr>
            <a:r>
              <a:rPr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安装</a:t>
            </a:r>
            <a:r>
              <a:rPr sz="2400" dirty="0">
                <a:latin typeface="Consolas" panose="020B0609020204030204"/>
                <a:cs typeface="Consolas" panose="020B0609020204030204"/>
              </a:rPr>
              <a:t>matplotlib</a:t>
            </a:r>
            <a:r>
              <a:rPr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</a:t>
            </a:r>
            <a:r>
              <a:rPr lang="en-US" sz="2400" spc="-5" dirty="0">
                <a:latin typeface="Consolas" panose="020B0609020204030204"/>
                <a:cs typeface="Consolas" panose="020B0609020204030204"/>
                <a:sym typeface="+mn-ea"/>
              </a:rPr>
              <a:t>———&gt; `</a:t>
            </a:r>
            <a:r>
              <a:rPr sz="2400" b="1" kern="0" dirty="0">
                <a:solidFill>
                  <a:srgbClr val="FFA466"/>
                </a:solidFill>
                <a:latin typeface="Consolas" panose="020B0609020204030204" charset="0"/>
                <a:ea typeface="微软雅黑" panose="020B0503020204020204" charset="-122"/>
                <a:cs typeface="Consolas" panose="020B0609020204030204" charset="0"/>
                <a:sym typeface="+mn-ea"/>
              </a:rPr>
              <a:t>pip install matplotlib</a:t>
            </a:r>
            <a:r>
              <a:rPr lang="en-US" sz="2400" spc="-5" dirty="0">
                <a:latin typeface="Consolas" panose="020B0609020204030204"/>
                <a:cs typeface="Consolas" panose="020B0609020204030204"/>
                <a:sym typeface="+mn-ea"/>
              </a:rPr>
              <a:t>`</a:t>
            </a:r>
            <a:endParaRPr lang="en-US" sz="2400" spc="-5" dirty="0">
              <a:latin typeface="Consolas" panose="020B0609020204030204"/>
              <a:cs typeface="Consolas" panose="020B0609020204030204"/>
              <a:sym typeface="+mn-ea"/>
            </a:endParaRPr>
          </a:p>
          <a:p>
            <a:pPr marL="469900" indent="-457200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469900" algn="l"/>
              </a:tabLst>
            </a:pP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L="469900" indent="-457200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469900" algn="l"/>
              </a:tabLst>
            </a:pPr>
            <a:r>
              <a:rPr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安装</a:t>
            </a:r>
            <a:r>
              <a:rPr sz="2400" dirty="0">
                <a:latin typeface="Consolas" panose="020B0609020204030204"/>
                <a:cs typeface="Consolas" panose="020B0609020204030204"/>
              </a:rPr>
              <a:t>sklearn</a:t>
            </a:r>
            <a:r>
              <a:rPr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</a:t>
            </a:r>
            <a:r>
              <a:rPr lang="en-US" sz="2400" spc="-5" dirty="0">
                <a:latin typeface="Consolas" panose="020B0609020204030204"/>
                <a:cs typeface="Consolas" panose="020B0609020204030204"/>
                <a:sym typeface="+mn-ea"/>
              </a:rPr>
              <a:t>———&gt; `</a:t>
            </a:r>
            <a:r>
              <a:rPr sz="2400" b="1" kern="0" dirty="0">
                <a:solidFill>
                  <a:srgbClr val="FFA466"/>
                </a:solidFill>
                <a:latin typeface="Consolas" panose="020B0609020204030204" charset="0"/>
                <a:ea typeface="微软雅黑" panose="020B0503020204020204" charset="-122"/>
                <a:cs typeface="Consolas" panose="020B0609020204030204" charset="0"/>
                <a:sym typeface="+mn-ea"/>
              </a:rPr>
              <a:t>pip install scikit-learn</a:t>
            </a:r>
            <a:r>
              <a:rPr lang="en-US" sz="2400" spc="-5" dirty="0">
                <a:latin typeface="Consolas" panose="020B0609020204030204"/>
                <a:cs typeface="Consolas" panose="020B0609020204030204"/>
                <a:sym typeface="+mn-ea"/>
              </a:rPr>
              <a:t>`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1353800" y="838200"/>
          <a:ext cx="478155" cy="579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2" imgW="452120" imgH="560705" progId="Package">
                  <p:embed/>
                </p:oleObj>
              </mc:Choice>
              <mc:Fallback>
                <p:oleObj name="" r:id="rId2" imgW="452120" imgH="560705" progId="Package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353800" y="838200"/>
                        <a:ext cx="478155" cy="579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50740" y="419735"/>
            <a:ext cx="3003550" cy="816610"/>
          </a:xfrm>
          <a:prstGeom prst="rect">
            <a:avLst/>
          </a:prstGeom>
        </p:spPr>
        <p:txBody>
          <a:bodyPr vert="horz" wrap="square" lIns="0" tIns="16510" rIns="0" bIns="0" rtlCol="0" anchor="ctr" anchorCtr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zh-CN" sz="5200" b="1" kern="0" spc="25" dirty="0">
                <a:latin typeface="微软雅黑" panose="020B0503020204020204" charset="-122"/>
                <a:ea typeface="+mj-ea"/>
                <a:cs typeface="微软雅黑" panose="020B0503020204020204" charset="-122"/>
              </a:rPr>
              <a:t>安装</a:t>
            </a:r>
            <a:r>
              <a:rPr sz="5200" b="1" kern="0" spc="25" dirty="0">
                <a:latin typeface="微软雅黑" panose="020B0503020204020204" charset="-122"/>
                <a:ea typeface="+mj-ea"/>
                <a:cs typeface="微软雅黑" panose="020B0503020204020204" charset="-122"/>
              </a:rPr>
              <a:t>测试</a:t>
            </a:r>
            <a:endParaRPr sz="5200" b="1" kern="0" spc="25" dirty="0">
              <a:latin typeface="微软雅黑" panose="020B0503020204020204" charset="-122"/>
              <a:ea typeface="+mj-ea"/>
              <a:cs typeface="微软雅黑" panose="020B050302020402020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6014" y="2941447"/>
            <a:ext cx="6381115" cy="8312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0" dirty="0">
                <a:latin typeface="Arial" panose="020B0604020202020204" pitchFamily="34" charset="0"/>
                <a:cs typeface="Arial" panose="020B0604020202020204" pitchFamily="34" charset="0"/>
              </a:rPr>
              <a:t>sklearn</a:t>
            </a:r>
            <a:r>
              <a:rPr b="1" spc="25" dirty="0">
                <a:latin typeface="Arial" panose="020B0604020202020204" pitchFamily="34" charset="0"/>
              </a:rPr>
              <a:t>库的基本功能</a:t>
            </a:r>
            <a:endParaRPr b="1" spc="25" dirty="0">
              <a:latin typeface="Arial" panose="020B0604020202020204" pitchFamily="3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56865" y="419735"/>
            <a:ext cx="6478270" cy="8318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spc="1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sklearn</a:t>
            </a:r>
            <a:r>
              <a:rPr b="1" spc="25" dirty="0">
                <a:sym typeface="+mn-ea"/>
              </a:rPr>
              <a:t>库的基本功能</a:t>
            </a:r>
            <a:endParaRPr b="1" spc="2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399412" y="1219025"/>
            <a:ext cx="9393174" cy="964565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indent="508000" eaLnBrk="1" fontAlgn="auto" latinLnBrk="0" hangingPunct="1">
              <a:lnSpc>
                <a:spcPct val="130000"/>
              </a:lnSpc>
              <a:spcBef>
                <a:spcPts val="1200"/>
              </a:spcBef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dirty="0"/>
              <a:t>sklearn</a:t>
            </a:r>
            <a:r>
              <a:rPr dirty="0">
                <a:ea typeface="微软雅黑" panose="020B0503020204020204" charset="-122"/>
              </a:rPr>
              <a:t>库的共分为6大部分，分别用于完成</a:t>
            </a:r>
            <a:r>
              <a:rPr b="1" dirty="0">
                <a:solidFill>
                  <a:srgbClr val="FFA466"/>
                </a:solidFill>
                <a:ea typeface="微软雅黑" panose="020B0503020204020204" charset="-122"/>
              </a:rPr>
              <a:t>分类任务、回归任务、 聚类任务、降维任务、模型选择</a:t>
            </a:r>
            <a:r>
              <a:rPr dirty="0">
                <a:ea typeface="微软雅黑" panose="020B0503020204020204" charset="-122"/>
              </a:rPr>
              <a:t>以及</a:t>
            </a:r>
            <a:r>
              <a:rPr b="1" dirty="0">
                <a:solidFill>
                  <a:srgbClr val="FFA466"/>
                </a:solidFill>
                <a:ea typeface="微软雅黑" panose="020B0503020204020204" charset="-122"/>
              </a:rPr>
              <a:t>数据的预处理</a:t>
            </a:r>
            <a:r>
              <a:rPr lang="zh-CN" dirty="0">
                <a:ea typeface="微软雅黑" panose="020B0503020204020204" charset="-122"/>
              </a:rPr>
              <a:t>。</a:t>
            </a:r>
            <a:endParaRPr lang="zh-CN" dirty="0"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7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  <p:graphicFrame>
        <p:nvGraphicFramePr>
          <p:cNvPr id="6" name="object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57072" y="2286169"/>
          <a:ext cx="11066145" cy="4241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88715"/>
                <a:gridCol w="3688715"/>
                <a:gridCol w="3688715"/>
              </a:tblGrid>
              <a:tr h="107315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735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6900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sz="1600" b="1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应用</a:t>
                      </a:r>
                      <a:endParaRPr sz="16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600" b="1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（Applications）</a:t>
                      </a:r>
                      <a:endParaRPr sz="16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221826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6900"/>
                    </a:solidFill>
                  </a:tcPr>
                </a:tc>
                <a:tc>
                  <a:txBody>
                    <a:bodyPr/>
                    <a:p>
                      <a:pPr marL="1270" algn="ctr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sz="1600" b="1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算法</a:t>
                      </a:r>
                      <a:endParaRPr sz="16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600" b="1" spc="-5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（Algorithm）</a:t>
                      </a:r>
                      <a:endParaRPr sz="16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221826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6900"/>
                    </a:solidFill>
                  </a:tcPr>
                </a:tc>
              </a:tr>
              <a:tr h="758825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1600" dirty="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lnSpc>
                          <a:spcPct val="80000"/>
                        </a:lnSpc>
                        <a:spcBef>
                          <a:spcPts val="145"/>
                        </a:spcBef>
                      </a:pPr>
                      <a:r>
                        <a:rPr sz="1600" spc="-5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分类</a:t>
                      </a:r>
                      <a:endParaRPr sz="16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270" algn="ctr">
                        <a:lnSpc>
                          <a:spcPct val="80000"/>
                        </a:lnSpc>
                        <a:spcBef>
                          <a:spcPts val="1150"/>
                        </a:spcBef>
                        <a:buClrTx/>
                        <a:buSzTx/>
                        <a:buFontTx/>
                      </a:pPr>
                      <a:r>
                        <a:rPr sz="16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（Classification）</a:t>
                      </a:r>
                      <a:endParaRPr sz="1600" spc="-5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2455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3CA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6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异常检测，图像识别，等</a:t>
                      </a:r>
                      <a:endParaRPr sz="1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9473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3CA"/>
                    </a:solidFill>
                  </a:tcPr>
                </a:tc>
                <a:tc>
                  <a:txBody>
                    <a:bodyPr/>
                    <a:p>
                      <a:pPr marL="1270" algn="ct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6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KNN, SVM，etc.</a:t>
                      </a:r>
                      <a:endParaRPr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9473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3CA"/>
                    </a:solidFill>
                  </a:tcPr>
                </a:tc>
              </a:tr>
              <a:tr h="757555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sz="1600" dirty="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lnSpc>
                          <a:spcPct val="80000"/>
                        </a:lnSpc>
                        <a:spcBef>
                          <a:spcPts val="140"/>
                        </a:spcBef>
                      </a:pPr>
                      <a:r>
                        <a:rPr sz="1600" spc="-5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聚类</a:t>
                      </a:r>
                      <a:endParaRPr sz="16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270" algn="ctr">
                        <a:lnSpc>
                          <a:spcPct val="80000"/>
                        </a:lnSpc>
                        <a:spcBef>
                          <a:spcPts val="1150"/>
                        </a:spcBef>
                        <a:buClrTx/>
                        <a:buSzTx/>
                        <a:buFontTx/>
                      </a:pPr>
                      <a:r>
                        <a:rPr sz="16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（Clustering）</a:t>
                      </a:r>
                      <a:endParaRPr sz="1600" spc="-5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23706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E7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600" spc="-5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图像分割，群体划分，等</a:t>
                      </a:r>
                      <a:endParaRPr sz="1600" spc="-5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9473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E7"/>
                    </a:solidFill>
                  </a:tcPr>
                </a:tc>
                <a:tc>
                  <a:txBody>
                    <a:bodyPr/>
                    <a:p>
                      <a:pPr marL="1270" algn="ct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6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K-Means</a:t>
                      </a:r>
                      <a:r>
                        <a:rPr sz="1600" spc="-5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sz="1600" spc="-5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谱聚类</a:t>
                      </a:r>
                      <a:r>
                        <a:rPr sz="1600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,</a:t>
                      </a:r>
                      <a:r>
                        <a:rPr sz="1600" spc="-15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6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etc.</a:t>
                      </a:r>
                      <a:endParaRPr sz="16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19473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E7"/>
                    </a:solidFill>
                  </a:tcPr>
                </a:tc>
              </a:tr>
              <a:tr h="82550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600" dirty="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lnSpc>
                          <a:spcPct val="80000"/>
                        </a:lnSpc>
                        <a:spcBef>
                          <a:spcPts val="60"/>
                        </a:spcBef>
                      </a:pPr>
                      <a:r>
                        <a:rPr sz="1600" spc="-5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回归</a:t>
                      </a:r>
                      <a:endParaRPr sz="16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270" algn="ctr">
                        <a:lnSpc>
                          <a:spcPct val="80000"/>
                        </a:lnSpc>
                        <a:spcBef>
                          <a:spcPts val="1150"/>
                        </a:spcBef>
                        <a:buClrTx/>
                        <a:buSzTx/>
                        <a:buFontTx/>
                      </a:pPr>
                      <a:r>
                        <a:rPr sz="16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（Regression）</a:t>
                      </a:r>
                      <a:endParaRPr sz="1600" spc="-5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3CA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80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价格预测，趋势预测，等</a:t>
                      </a:r>
                      <a:endParaRPr sz="16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3CA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  <a:spcBef>
                          <a:spcPts val="1150"/>
                        </a:spcBef>
                        <a:buClrTx/>
                        <a:buSzTx/>
                        <a:buFontTx/>
                      </a:pPr>
                      <a:r>
                        <a:rPr sz="1600" spc="-5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线性回归</a:t>
                      </a:r>
                      <a:r>
                        <a:rPr sz="1600" spc="-5" dirty="0">
                          <a:latin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sz="16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SVR，etc.</a:t>
                      </a:r>
                      <a:endParaRPr sz="1600" spc="-5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3CA"/>
                    </a:solidFill>
                  </a:tcPr>
                </a:tc>
              </a:tr>
              <a:tr h="826770">
                <a:tc>
                  <a:txBody>
                    <a:bodyPr/>
                    <a:p>
                      <a:pPr algn="ctr">
                        <a:lnSpc>
                          <a:spcPct val="80000"/>
                        </a:lnSpc>
                        <a:spcBef>
                          <a:spcPts val="60"/>
                        </a:spcBef>
                      </a:pPr>
                      <a:r>
                        <a:rPr sz="1600" spc="-5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降维</a:t>
                      </a:r>
                      <a:endParaRPr sz="16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270" algn="ctr">
                        <a:lnSpc>
                          <a:spcPct val="80000"/>
                        </a:lnSpc>
                        <a:spcBef>
                          <a:spcPts val="1150"/>
                        </a:spcBef>
                        <a:buClrTx/>
                        <a:buSzTx/>
                        <a:buFontTx/>
                      </a:pPr>
                      <a:r>
                        <a:rPr sz="1600" spc="-5" dirty="0"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（Dimension Reduction）</a:t>
                      </a:r>
                      <a:endParaRPr sz="16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26585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E7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80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可视化，</a:t>
                      </a:r>
                      <a:endParaRPr sz="16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3386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E7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  <a:spcBef>
                          <a:spcPts val="1150"/>
                        </a:spcBef>
                        <a:buClrTx/>
                        <a:buSzTx/>
                        <a:buFontTx/>
                      </a:pPr>
                      <a:r>
                        <a:rPr sz="16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PCA，NMF，etc.</a:t>
                      </a:r>
                      <a:endParaRPr sz="1600" spc="-5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386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025650" y="2221102"/>
          <a:ext cx="8848725" cy="2608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0700"/>
                <a:gridCol w="5768340"/>
              </a:tblGrid>
              <a:tr h="370839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分类模型</a:t>
                      </a:r>
                      <a:endParaRPr sz="20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69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加载模块</a:t>
                      </a:r>
                      <a:endParaRPr sz="20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690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最近邻算法</a:t>
                      </a:r>
                      <a:endParaRPr sz="20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3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neighbors.NearestNeighbors</a:t>
                      </a:r>
                      <a:endParaRPr sz="1800" spc="-5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3CA"/>
                    </a:solidFill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支持向量机</a:t>
                      </a:r>
                      <a:endParaRPr sz="20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svm.SVC</a:t>
                      </a:r>
                      <a:endParaRPr sz="1800" spc="-1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E7"/>
                    </a:solidFill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朴素贝叶斯</a:t>
                      </a:r>
                      <a:endParaRPr sz="20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3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naive_bayes.GaussianNB</a:t>
                      </a:r>
                      <a:endParaRPr sz="1800" spc="-5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3CA"/>
                    </a:solidFill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决策树</a:t>
                      </a:r>
                      <a:endParaRPr sz="20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tree.DecisionTreeClassifier</a:t>
                      </a:r>
                      <a:endParaRPr sz="1800" spc="-15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E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集成方法</a:t>
                      </a:r>
                      <a:endParaRPr sz="20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3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ensemble.BaggingClassifier</a:t>
                      </a:r>
                      <a:endParaRPr sz="1800" spc="-5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3CA"/>
                    </a:solidFill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神经网络</a:t>
                      </a:r>
                      <a:endParaRPr sz="20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neural_network.MLPClassifier</a:t>
                      </a:r>
                      <a:endParaRPr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E7"/>
                    </a:solidFill>
                  </a:tcPr>
                </a:tc>
              </a:tr>
            </a:tbl>
          </a:graphicData>
        </a:graphic>
      </p:graphicFrame>
      <p:sp>
        <p:nvSpPr>
          <p:cNvPr id="5" name="object 2"/>
          <p:cNvSpPr txBox="1">
            <a:spLocks noGrp="1"/>
          </p:cNvSpPr>
          <p:nvPr/>
        </p:nvSpPr>
        <p:spPr>
          <a:xfrm>
            <a:off x="2105659" y="958164"/>
            <a:ext cx="5031740" cy="8318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5300" b="0" i="0">
                <a:solidFill>
                  <a:schemeClr val="tx1"/>
                </a:solidFill>
                <a:latin typeface="微软雅黑" panose="020B0503020204020204" charset="-122"/>
                <a:ea typeface="+mj-ea"/>
                <a:cs typeface="微软雅黑" panose="020B0503020204020204" charset="-122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95"/>
              </a:spcBef>
              <a:buClrTx/>
              <a:buSzTx/>
              <a:buFontTx/>
            </a:pPr>
            <a:r>
              <a:rPr b="1" kern="0" spc="-30" dirty="0">
                <a:latin typeface="Arial" panose="020B0604020202020204" pitchFamily="34" charset="0"/>
                <a:cs typeface="Arial" panose="020B0604020202020204" pitchFamily="34" charset="0"/>
              </a:rPr>
              <a:t>分类任务</a:t>
            </a:r>
            <a:endParaRPr b="1" kern="0" spc="-3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169286" y="2125217"/>
          <a:ext cx="8415020" cy="2979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7970"/>
                <a:gridCol w="5587364"/>
              </a:tblGrid>
              <a:tr h="37084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回归模型</a:t>
                      </a:r>
                      <a:endParaRPr sz="20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690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加载模块</a:t>
                      </a:r>
                      <a:endParaRPr sz="20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6900"/>
                    </a:solidFill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岭回归</a:t>
                      </a:r>
                      <a:endParaRPr sz="2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3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linear_model.Ridge</a:t>
                      </a:r>
                      <a:endParaRPr sz="1800" spc="-1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3CA"/>
                    </a:solidFill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1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Lasso</a:t>
                      </a:r>
                      <a:r>
                        <a:rPr sz="20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回归</a:t>
                      </a:r>
                      <a:endParaRPr sz="2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linear_model.Lasso</a:t>
                      </a:r>
                      <a:endParaRPr sz="1800" spc="-1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E7"/>
                    </a:solidFill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弹性网络</a:t>
                      </a:r>
                      <a:endParaRPr sz="2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3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linear_model.ElasticNet</a:t>
                      </a:r>
                      <a:endParaRPr sz="1800" spc="-1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3CA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最小角回归</a:t>
                      </a:r>
                      <a:endParaRPr sz="2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linear_model.Lars</a:t>
                      </a:r>
                      <a:endParaRPr sz="1800" spc="-5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E7"/>
                    </a:solidFill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贝叶斯回归</a:t>
                      </a:r>
                      <a:endParaRPr sz="2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3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linear_model.BayesianRidge</a:t>
                      </a:r>
                      <a:endParaRPr sz="1800" spc="-1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3CA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逻辑回归</a:t>
                      </a:r>
                      <a:endParaRPr sz="2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linear_model.LogisticRegression</a:t>
                      </a:r>
                      <a:endParaRPr sz="1800" spc="-1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E7"/>
                    </a:solidFill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多项式回归</a:t>
                      </a:r>
                      <a:endParaRPr sz="2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3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preprocessing.</a:t>
                      </a:r>
                      <a:r>
                        <a:rPr sz="1800" spc="4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800" spc="-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PolynomialFeatures</a:t>
                      </a:r>
                      <a:endParaRPr sz="1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3CA"/>
                    </a:solidFill>
                  </a:tcPr>
                </a:tc>
              </a:tr>
            </a:tbl>
          </a:graphicData>
        </a:graphic>
      </p:graphicFrame>
      <p:sp>
        <p:nvSpPr>
          <p:cNvPr id="5" name="object 2"/>
          <p:cNvSpPr txBox="1">
            <a:spLocks noGrp="1"/>
          </p:cNvSpPr>
          <p:nvPr/>
        </p:nvSpPr>
        <p:spPr>
          <a:xfrm>
            <a:off x="2105659" y="958164"/>
            <a:ext cx="5031740" cy="8318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5300" b="0" i="0">
                <a:solidFill>
                  <a:schemeClr val="tx1"/>
                </a:solidFill>
                <a:latin typeface="微软雅黑" panose="020B0503020204020204" charset="-122"/>
                <a:ea typeface="+mj-ea"/>
                <a:cs typeface="微软雅黑" panose="020B0503020204020204" charset="-122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95"/>
              </a:spcBef>
              <a:buClrTx/>
              <a:buSzTx/>
              <a:buFontTx/>
            </a:pPr>
            <a:r>
              <a:rPr b="1" kern="0" spc="-30" dirty="0">
                <a:latin typeface="Arial" panose="020B0604020202020204" pitchFamily="34" charset="0"/>
                <a:cs typeface="Arial" panose="020B0604020202020204" pitchFamily="34" charset="0"/>
              </a:rPr>
              <a:t>回归任务</a:t>
            </a:r>
            <a:endParaRPr b="1" kern="0" spc="-3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169286" y="2125217"/>
          <a:ext cx="8370570" cy="2979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52420"/>
                <a:gridCol w="5498464"/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聚类方法</a:t>
                      </a:r>
                      <a:endParaRPr sz="20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6900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加载模块</a:t>
                      </a:r>
                      <a:endParaRPr sz="20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6900"/>
                    </a:solidFill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5" dirty="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K-means</a:t>
                      </a:r>
                      <a:endParaRPr sz="2000" spc="-5" dirty="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3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cluster.KMeans</a:t>
                      </a:r>
                      <a:endParaRPr sz="1800" spc="-15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3CA"/>
                    </a:solidFill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AP聚类</a:t>
                      </a:r>
                      <a:endParaRPr sz="2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E7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cluster.AffinityPropagation</a:t>
                      </a:r>
                      <a:endParaRPr sz="1800" spc="-1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E7"/>
                    </a:solidFill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均值漂移</a:t>
                      </a:r>
                      <a:endParaRPr sz="2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3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cluster.MeanShift</a:t>
                      </a:r>
                      <a:endParaRPr sz="1800" spc="-15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3CA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层次聚类</a:t>
                      </a:r>
                      <a:endParaRPr sz="2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E7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cluster.AgglomerativeClustering</a:t>
                      </a:r>
                      <a:endParaRPr sz="1800" spc="-1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E7"/>
                    </a:solidFill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DBSCAN</a:t>
                      </a:r>
                      <a:endParaRPr sz="2000" dirty="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3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cluster.DBSCAN</a:t>
                      </a:r>
                      <a:endParaRPr sz="1800" spc="-2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3CA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spc="-10" dirty="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BIRCH</a:t>
                      </a:r>
                      <a:endParaRPr sz="2000" spc="-10" dirty="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cluster.Birch</a:t>
                      </a:r>
                      <a:endParaRPr sz="1800" spc="-2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E7"/>
                    </a:solidFill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谱聚类</a:t>
                      </a:r>
                      <a:endParaRPr sz="2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3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cluster.SpectralClustering</a:t>
                      </a:r>
                      <a:endParaRPr sz="1800" spc="-1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3CA"/>
                    </a:solidFill>
                  </a:tcPr>
                </a:tc>
              </a:tr>
            </a:tbl>
          </a:graphicData>
        </a:graphic>
      </p:graphicFrame>
      <p:sp>
        <p:nvSpPr>
          <p:cNvPr id="4" name="object 2"/>
          <p:cNvSpPr txBox="1">
            <a:spLocks noGrp="1"/>
          </p:cNvSpPr>
          <p:nvPr/>
        </p:nvSpPr>
        <p:spPr>
          <a:xfrm>
            <a:off x="2105659" y="958164"/>
            <a:ext cx="5031740" cy="8318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5300" b="0" i="0">
                <a:solidFill>
                  <a:schemeClr val="tx1"/>
                </a:solidFill>
                <a:latin typeface="微软雅黑" panose="020B0503020204020204" charset="-122"/>
                <a:ea typeface="+mj-ea"/>
                <a:cs typeface="微软雅黑" panose="020B0503020204020204" charset="-122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95"/>
              </a:spcBef>
              <a:buClrTx/>
              <a:buSzTx/>
              <a:buFontTx/>
            </a:pPr>
            <a:r>
              <a:rPr b="1" kern="0" spc="-30" dirty="0">
                <a:latin typeface="Arial" panose="020B0604020202020204" pitchFamily="34" charset="0"/>
                <a:cs typeface="Arial" panose="020B0604020202020204" pitchFamily="34" charset="0"/>
              </a:rPr>
              <a:t>聚类任务</a:t>
            </a:r>
            <a:endParaRPr b="1" kern="0" spc="-3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05659" y="958164"/>
            <a:ext cx="5031740" cy="8318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95"/>
              </a:spcBef>
              <a:buClrTx/>
              <a:buSzTx/>
              <a:buFontTx/>
            </a:pPr>
            <a:r>
              <a:rPr b="1" spc="-30" dirty="0">
                <a:latin typeface="Arial" panose="020B0604020202020204" pitchFamily="34" charset="0"/>
                <a:cs typeface="Arial" panose="020B0604020202020204" pitchFamily="34" charset="0"/>
              </a:rPr>
              <a:t>降维任务</a:t>
            </a:r>
            <a:endParaRPr b="1" spc="-3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169286" y="2125217"/>
          <a:ext cx="8370570" cy="2979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62275"/>
                <a:gridCol w="5388609"/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降维方法</a:t>
                      </a:r>
                      <a:endParaRPr sz="20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690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加载模块</a:t>
                      </a:r>
                      <a:endParaRPr sz="20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6900"/>
                    </a:solidFill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主成分分析</a:t>
                      </a:r>
                      <a:endParaRPr sz="2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3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decomposition.PCA</a:t>
                      </a:r>
                      <a:endParaRPr sz="1800" spc="-5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3CA"/>
                    </a:solidFill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截断</a:t>
                      </a:r>
                      <a:r>
                        <a:rPr sz="2000" spc="-5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SVD</a:t>
                      </a:r>
                      <a:r>
                        <a:rPr sz="20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和</a:t>
                      </a:r>
                      <a:r>
                        <a:rPr sz="2000" spc="-5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LSA</a:t>
                      </a:r>
                      <a:endParaRPr sz="2000" spc="-5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decomposition.TruncatedSVD</a:t>
                      </a:r>
                      <a:endParaRPr sz="1800" spc="-1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E7"/>
                    </a:solidFill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字典学习</a:t>
                      </a:r>
                      <a:endParaRPr sz="2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3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decomposition.SparseCoder</a:t>
                      </a:r>
                      <a:endParaRPr sz="1800" spc="-5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3CA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因子分析</a:t>
                      </a:r>
                      <a:endParaRPr sz="2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decomposition.FactorAnalysis</a:t>
                      </a:r>
                      <a:endParaRPr sz="1800" spc="-1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E7"/>
                    </a:solidFill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独立成分分析</a:t>
                      </a:r>
                      <a:endParaRPr sz="2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3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decomposition.FastICA</a:t>
                      </a:r>
                      <a:endParaRPr sz="1800" spc="-1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3CA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非负矩阵分解</a:t>
                      </a:r>
                      <a:endParaRPr sz="2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decomposition.NMF</a:t>
                      </a:r>
                      <a:endParaRPr sz="1800" spc="-5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E7"/>
                    </a:solidFill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spc="-15" dirty="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LDA</a:t>
                      </a:r>
                      <a:endParaRPr sz="2000" spc="-15" dirty="0"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0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3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decomposition.LatentDirichletAllocation</a:t>
                      </a:r>
                      <a:endParaRPr sz="1800" spc="-5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3CA"/>
                    </a:solidFill>
                  </a:tcPr>
                </a:tc>
              </a:tr>
            </a:tbl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72054" y="3035427"/>
            <a:ext cx="6381115" cy="8312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b="1" spc="25" dirty="0"/>
              <a:t>模型泛化性和过拟合</a:t>
            </a:r>
            <a:endParaRPr b="1" spc="25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2204" y="990422"/>
            <a:ext cx="22352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28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76628" y="4262246"/>
            <a:ext cx="2743835" cy="76200"/>
          </a:xfrm>
          <a:custGeom>
            <a:avLst/>
            <a:gdLst/>
            <a:ahLst/>
            <a:cxnLst/>
            <a:rect l="l" t="t" r="r" b="b"/>
            <a:pathLst>
              <a:path w="2743835" h="76200">
                <a:moveTo>
                  <a:pt x="2667004" y="44408"/>
                </a:moveTo>
                <a:lnTo>
                  <a:pt x="2666898" y="76200"/>
                </a:lnTo>
                <a:lnTo>
                  <a:pt x="2730931" y="44450"/>
                </a:lnTo>
                <a:lnTo>
                  <a:pt x="2679725" y="44450"/>
                </a:lnTo>
                <a:lnTo>
                  <a:pt x="2667004" y="44408"/>
                </a:lnTo>
                <a:close/>
              </a:path>
              <a:path w="2743835" h="76200">
                <a:moveTo>
                  <a:pt x="2667046" y="31708"/>
                </a:moveTo>
                <a:lnTo>
                  <a:pt x="2667004" y="44408"/>
                </a:lnTo>
                <a:lnTo>
                  <a:pt x="2679725" y="44450"/>
                </a:lnTo>
                <a:lnTo>
                  <a:pt x="2679725" y="31750"/>
                </a:lnTo>
                <a:lnTo>
                  <a:pt x="2667046" y="31708"/>
                </a:lnTo>
                <a:close/>
              </a:path>
              <a:path w="2743835" h="76200">
                <a:moveTo>
                  <a:pt x="2667152" y="0"/>
                </a:moveTo>
                <a:lnTo>
                  <a:pt x="2667046" y="31708"/>
                </a:lnTo>
                <a:lnTo>
                  <a:pt x="2679725" y="31750"/>
                </a:lnTo>
                <a:lnTo>
                  <a:pt x="2679725" y="44450"/>
                </a:lnTo>
                <a:lnTo>
                  <a:pt x="2730931" y="44450"/>
                </a:lnTo>
                <a:lnTo>
                  <a:pt x="2743225" y="38354"/>
                </a:lnTo>
                <a:lnTo>
                  <a:pt x="2667152" y="0"/>
                </a:lnTo>
                <a:close/>
              </a:path>
              <a:path w="2743835" h="76200">
                <a:moveTo>
                  <a:pt x="50" y="22987"/>
                </a:moveTo>
                <a:lnTo>
                  <a:pt x="0" y="35687"/>
                </a:lnTo>
                <a:lnTo>
                  <a:pt x="2667004" y="44408"/>
                </a:lnTo>
                <a:lnTo>
                  <a:pt x="2667046" y="31708"/>
                </a:lnTo>
                <a:lnTo>
                  <a:pt x="50" y="229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202243" y="3797617"/>
            <a:ext cx="70484" cy="8572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415603" y="3974401"/>
            <a:ext cx="70485" cy="8572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552763" y="4021645"/>
            <a:ext cx="70485" cy="8572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446083" y="3786949"/>
            <a:ext cx="70485" cy="84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430843" y="3597973"/>
            <a:ext cx="70484" cy="8572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083371" y="3346513"/>
            <a:ext cx="68961" cy="857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174811" y="3206305"/>
            <a:ext cx="70484" cy="842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944687" y="3299269"/>
            <a:ext cx="70484" cy="8572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598623" y="2306192"/>
            <a:ext cx="177800" cy="19304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230"/>
              </a:lnSpc>
            </a:pPr>
            <a:r>
              <a:rPr sz="1200" dirty="0">
                <a:latin typeface="Consolas" panose="020B0609020204030204"/>
                <a:cs typeface="Consolas" panose="020B0609020204030204"/>
              </a:rPr>
              <a:t>x2</a:t>
            </a:r>
            <a:endParaRPr sz="1200"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829816" y="2474214"/>
            <a:ext cx="2027555" cy="1725295"/>
          </a:xfrm>
          <a:custGeom>
            <a:avLst/>
            <a:gdLst/>
            <a:ahLst/>
            <a:cxnLst/>
            <a:rect l="l" t="t" r="r" b="b"/>
            <a:pathLst>
              <a:path w="2027554" h="1725295">
                <a:moveTo>
                  <a:pt x="2027046" y="1725041"/>
                </a:moveTo>
                <a:lnTo>
                  <a:pt x="0" y="0"/>
                </a:lnTo>
              </a:path>
            </a:pathLst>
          </a:custGeom>
          <a:ln w="19050">
            <a:solidFill>
              <a:srgbClr val="6AA84F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729638" y="2023871"/>
            <a:ext cx="76200" cy="2386330"/>
          </a:xfrm>
          <a:custGeom>
            <a:avLst/>
            <a:gdLst/>
            <a:ahLst/>
            <a:cxnLst/>
            <a:rect l="l" t="t" r="r" b="b"/>
            <a:pathLst>
              <a:path w="76200" h="2386329">
                <a:moveTo>
                  <a:pt x="31748" y="76178"/>
                </a:moveTo>
                <a:lnTo>
                  <a:pt x="24485" y="2386203"/>
                </a:lnTo>
                <a:lnTo>
                  <a:pt x="37185" y="2386203"/>
                </a:lnTo>
                <a:lnTo>
                  <a:pt x="44448" y="76221"/>
                </a:lnTo>
                <a:lnTo>
                  <a:pt x="31748" y="76178"/>
                </a:lnTo>
                <a:close/>
              </a:path>
              <a:path w="76200" h="2386329">
                <a:moveTo>
                  <a:pt x="69837" y="63500"/>
                </a:moveTo>
                <a:lnTo>
                  <a:pt x="44488" y="63500"/>
                </a:lnTo>
                <a:lnTo>
                  <a:pt x="44448" y="76221"/>
                </a:lnTo>
                <a:lnTo>
                  <a:pt x="76200" y="76326"/>
                </a:lnTo>
                <a:lnTo>
                  <a:pt x="69837" y="63500"/>
                </a:lnTo>
                <a:close/>
              </a:path>
              <a:path w="76200" h="2386329">
                <a:moveTo>
                  <a:pt x="44488" y="63500"/>
                </a:moveTo>
                <a:lnTo>
                  <a:pt x="31788" y="63500"/>
                </a:lnTo>
                <a:lnTo>
                  <a:pt x="31748" y="76178"/>
                </a:lnTo>
                <a:lnTo>
                  <a:pt x="44448" y="76221"/>
                </a:lnTo>
                <a:lnTo>
                  <a:pt x="44488" y="63500"/>
                </a:lnTo>
                <a:close/>
              </a:path>
              <a:path w="76200" h="2386329">
                <a:moveTo>
                  <a:pt x="38341" y="0"/>
                </a:moveTo>
                <a:lnTo>
                  <a:pt x="0" y="76073"/>
                </a:lnTo>
                <a:lnTo>
                  <a:pt x="31748" y="76178"/>
                </a:lnTo>
                <a:lnTo>
                  <a:pt x="31788" y="63500"/>
                </a:lnTo>
                <a:lnTo>
                  <a:pt x="69837" y="63500"/>
                </a:lnTo>
                <a:lnTo>
                  <a:pt x="383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598483" y="3939349"/>
            <a:ext cx="70485" cy="84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735643" y="3797617"/>
            <a:ext cx="70484" cy="8572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173287" y="3527869"/>
            <a:ext cx="70484" cy="8572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392934" y="3275075"/>
            <a:ext cx="59690" cy="76200"/>
          </a:xfrm>
          <a:custGeom>
            <a:avLst/>
            <a:gdLst/>
            <a:ahLst/>
            <a:cxnLst/>
            <a:rect l="l" t="t" r="r" b="b"/>
            <a:pathLst>
              <a:path w="59689" h="76200">
                <a:moveTo>
                  <a:pt x="29718" y="0"/>
                </a:moveTo>
                <a:lnTo>
                  <a:pt x="18162" y="2988"/>
                </a:lnTo>
                <a:lnTo>
                  <a:pt x="8715" y="11144"/>
                </a:lnTo>
                <a:lnTo>
                  <a:pt x="2339" y="23252"/>
                </a:lnTo>
                <a:lnTo>
                  <a:pt x="0" y="38100"/>
                </a:lnTo>
                <a:lnTo>
                  <a:pt x="2339" y="52947"/>
                </a:lnTo>
                <a:lnTo>
                  <a:pt x="8715" y="65055"/>
                </a:lnTo>
                <a:lnTo>
                  <a:pt x="18162" y="73211"/>
                </a:lnTo>
                <a:lnTo>
                  <a:pt x="29718" y="76200"/>
                </a:lnTo>
                <a:lnTo>
                  <a:pt x="41273" y="73211"/>
                </a:lnTo>
                <a:lnTo>
                  <a:pt x="50720" y="65055"/>
                </a:lnTo>
                <a:lnTo>
                  <a:pt x="57096" y="52947"/>
                </a:lnTo>
                <a:lnTo>
                  <a:pt x="59436" y="38100"/>
                </a:lnTo>
                <a:lnTo>
                  <a:pt x="57096" y="23252"/>
                </a:lnTo>
                <a:lnTo>
                  <a:pt x="50720" y="11144"/>
                </a:lnTo>
                <a:lnTo>
                  <a:pt x="41273" y="2988"/>
                </a:lnTo>
                <a:lnTo>
                  <a:pt x="2971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392934" y="3275075"/>
            <a:ext cx="59690" cy="76200"/>
          </a:xfrm>
          <a:custGeom>
            <a:avLst/>
            <a:gdLst/>
            <a:ahLst/>
            <a:cxnLst/>
            <a:rect l="l" t="t" r="r" b="b"/>
            <a:pathLst>
              <a:path w="59689" h="76200">
                <a:moveTo>
                  <a:pt x="0" y="38100"/>
                </a:moveTo>
                <a:lnTo>
                  <a:pt x="2339" y="23252"/>
                </a:lnTo>
                <a:lnTo>
                  <a:pt x="8715" y="11144"/>
                </a:lnTo>
                <a:lnTo>
                  <a:pt x="18162" y="2988"/>
                </a:lnTo>
                <a:lnTo>
                  <a:pt x="29718" y="0"/>
                </a:lnTo>
                <a:lnTo>
                  <a:pt x="41273" y="2988"/>
                </a:lnTo>
                <a:lnTo>
                  <a:pt x="50720" y="11144"/>
                </a:lnTo>
                <a:lnTo>
                  <a:pt x="57096" y="23252"/>
                </a:lnTo>
                <a:lnTo>
                  <a:pt x="59436" y="38100"/>
                </a:lnTo>
                <a:lnTo>
                  <a:pt x="57096" y="52947"/>
                </a:lnTo>
                <a:lnTo>
                  <a:pt x="50720" y="65055"/>
                </a:lnTo>
                <a:lnTo>
                  <a:pt x="41273" y="73211"/>
                </a:lnTo>
                <a:lnTo>
                  <a:pt x="29718" y="76200"/>
                </a:lnTo>
                <a:lnTo>
                  <a:pt x="18162" y="73211"/>
                </a:lnTo>
                <a:lnTo>
                  <a:pt x="8715" y="65055"/>
                </a:lnTo>
                <a:lnTo>
                  <a:pt x="2339" y="52947"/>
                </a:lnTo>
                <a:lnTo>
                  <a:pt x="0" y="381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479611" y="3130105"/>
            <a:ext cx="70484" cy="842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478087" y="3451669"/>
            <a:ext cx="70484" cy="8572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769171" y="3346513"/>
            <a:ext cx="68961" cy="857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860611" y="3206305"/>
            <a:ext cx="70484" cy="842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859087" y="3527869"/>
            <a:ext cx="70484" cy="8572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692971" y="2889313"/>
            <a:ext cx="68961" cy="857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782887" y="3070669"/>
            <a:ext cx="70484" cy="8572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464371" y="2889313"/>
            <a:ext cx="68961" cy="857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235771" y="2660713"/>
            <a:ext cx="68961" cy="857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327211" y="2520505"/>
            <a:ext cx="70484" cy="842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126043" y="3064573"/>
            <a:ext cx="70484" cy="8572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159571" y="2889313"/>
            <a:ext cx="68961" cy="857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249487" y="3070669"/>
            <a:ext cx="148208" cy="14363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470211" y="2977705"/>
            <a:ext cx="70484" cy="842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241611" y="2977705"/>
            <a:ext cx="70484" cy="842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073971" y="2965513"/>
            <a:ext cx="68961" cy="857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241611" y="2749105"/>
            <a:ext cx="70484" cy="842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997771" y="3498913"/>
            <a:ext cx="68961" cy="857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165411" y="3434905"/>
            <a:ext cx="70484" cy="842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073971" y="3346513"/>
            <a:ext cx="68961" cy="857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165411" y="3206305"/>
            <a:ext cx="70484" cy="842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2750883" y="4015549"/>
            <a:ext cx="70485" cy="84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964243" y="4026217"/>
            <a:ext cx="70484" cy="8572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2964243" y="3750373"/>
            <a:ext cx="70484" cy="8572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2935287" y="3908869"/>
            <a:ext cx="70484" cy="8572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2860611" y="3663505"/>
            <a:ext cx="70484" cy="842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2540571" y="2736913"/>
            <a:ext cx="68961" cy="857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2632011" y="2596705"/>
            <a:ext cx="70484" cy="842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3150171" y="2813113"/>
            <a:ext cx="68961" cy="857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2921571" y="2813113"/>
            <a:ext cx="68961" cy="857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2616771" y="2432113"/>
            <a:ext cx="68961" cy="857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2784411" y="2444305"/>
            <a:ext cx="70484" cy="842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2616771" y="3194113"/>
            <a:ext cx="68961" cy="857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3378771" y="2813113"/>
            <a:ext cx="68961" cy="857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2997771" y="2660713"/>
            <a:ext cx="68961" cy="857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3089211" y="2520505"/>
            <a:ext cx="70484" cy="842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278443" y="3950017"/>
            <a:ext cx="70484" cy="8572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2083371" y="3575113"/>
            <a:ext cx="68961" cy="857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2331974" y="3363468"/>
            <a:ext cx="60960" cy="74930"/>
          </a:xfrm>
          <a:custGeom>
            <a:avLst/>
            <a:gdLst/>
            <a:ahLst/>
            <a:cxnLst/>
            <a:rect l="l" t="t" r="r" b="b"/>
            <a:pathLst>
              <a:path w="60960" h="74929">
                <a:moveTo>
                  <a:pt x="30479" y="0"/>
                </a:moveTo>
                <a:lnTo>
                  <a:pt x="18591" y="2940"/>
                </a:lnTo>
                <a:lnTo>
                  <a:pt x="8905" y="10953"/>
                </a:lnTo>
                <a:lnTo>
                  <a:pt x="2387" y="22824"/>
                </a:lnTo>
                <a:lnTo>
                  <a:pt x="0" y="37337"/>
                </a:lnTo>
                <a:lnTo>
                  <a:pt x="2387" y="51851"/>
                </a:lnTo>
                <a:lnTo>
                  <a:pt x="8905" y="63722"/>
                </a:lnTo>
                <a:lnTo>
                  <a:pt x="18591" y="71735"/>
                </a:lnTo>
                <a:lnTo>
                  <a:pt x="30479" y="74675"/>
                </a:lnTo>
                <a:lnTo>
                  <a:pt x="42368" y="71735"/>
                </a:lnTo>
                <a:lnTo>
                  <a:pt x="52054" y="63722"/>
                </a:lnTo>
                <a:lnTo>
                  <a:pt x="58572" y="51851"/>
                </a:lnTo>
                <a:lnTo>
                  <a:pt x="60959" y="37337"/>
                </a:lnTo>
                <a:lnTo>
                  <a:pt x="58572" y="22824"/>
                </a:lnTo>
                <a:lnTo>
                  <a:pt x="52054" y="10953"/>
                </a:lnTo>
                <a:lnTo>
                  <a:pt x="42368" y="2940"/>
                </a:lnTo>
                <a:lnTo>
                  <a:pt x="3047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2331974" y="3363468"/>
            <a:ext cx="60960" cy="74930"/>
          </a:xfrm>
          <a:custGeom>
            <a:avLst/>
            <a:gdLst/>
            <a:ahLst/>
            <a:cxnLst/>
            <a:rect l="l" t="t" r="r" b="b"/>
            <a:pathLst>
              <a:path w="60960" h="74929">
                <a:moveTo>
                  <a:pt x="0" y="37337"/>
                </a:moveTo>
                <a:lnTo>
                  <a:pt x="2387" y="22824"/>
                </a:lnTo>
                <a:lnTo>
                  <a:pt x="8905" y="10953"/>
                </a:lnTo>
                <a:lnTo>
                  <a:pt x="18591" y="2940"/>
                </a:lnTo>
                <a:lnTo>
                  <a:pt x="30479" y="0"/>
                </a:lnTo>
                <a:lnTo>
                  <a:pt x="42368" y="2940"/>
                </a:lnTo>
                <a:lnTo>
                  <a:pt x="52054" y="10953"/>
                </a:lnTo>
                <a:lnTo>
                  <a:pt x="58572" y="22824"/>
                </a:lnTo>
                <a:lnTo>
                  <a:pt x="60959" y="37337"/>
                </a:lnTo>
                <a:lnTo>
                  <a:pt x="58572" y="51851"/>
                </a:lnTo>
                <a:lnTo>
                  <a:pt x="52054" y="63722"/>
                </a:lnTo>
                <a:lnTo>
                  <a:pt x="42368" y="71735"/>
                </a:lnTo>
                <a:lnTo>
                  <a:pt x="30479" y="74675"/>
                </a:lnTo>
                <a:lnTo>
                  <a:pt x="18591" y="71735"/>
                </a:lnTo>
                <a:lnTo>
                  <a:pt x="8905" y="63722"/>
                </a:lnTo>
                <a:lnTo>
                  <a:pt x="2387" y="51851"/>
                </a:lnTo>
                <a:lnTo>
                  <a:pt x="0" y="37337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2325687" y="3680269"/>
            <a:ext cx="70484" cy="8572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2632011" y="3587305"/>
            <a:ext cx="70484" cy="842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4724654" y="4262246"/>
            <a:ext cx="2743200" cy="76200"/>
          </a:xfrm>
          <a:custGeom>
            <a:avLst/>
            <a:gdLst/>
            <a:ahLst/>
            <a:cxnLst/>
            <a:rect l="l" t="t" r="r" b="b"/>
            <a:pathLst>
              <a:path w="2743200" h="76200">
                <a:moveTo>
                  <a:pt x="2666978" y="44408"/>
                </a:moveTo>
                <a:lnTo>
                  <a:pt x="2666872" y="76200"/>
                </a:lnTo>
                <a:lnTo>
                  <a:pt x="2730905" y="44450"/>
                </a:lnTo>
                <a:lnTo>
                  <a:pt x="2679699" y="44450"/>
                </a:lnTo>
                <a:lnTo>
                  <a:pt x="2666978" y="44408"/>
                </a:lnTo>
                <a:close/>
              </a:path>
              <a:path w="2743200" h="76200">
                <a:moveTo>
                  <a:pt x="2667021" y="31708"/>
                </a:moveTo>
                <a:lnTo>
                  <a:pt x="2666978" y="44408"/>
                </a:lnTo>
                <a:lnTo>
                  <a:pt x="2679699" y="44450"/>
                </a:lnTo>
                <a:lnTo>
                  <a:pt x="2679699" y="31750"/>
                </a:lnTo>
                <a:lnTo>
                  <a:pt x="2667021" y="31708"/>
                </a:lnTo>
                <a:close/>
              </a:path>
              <a:path w="2743200" h="76200">
                <a:moveTo>
                  <a:pt x="2667126" y="0"/>
                </a:moveTo>
                <a:lnTo>
                  <a:pt x="2667021" y="31708"/>
                </a:lnTo>
                <a:lnTo>
                  <a:pt x="2679699" y="31750"/>
                </a:lnTo>
                <a:lnTo>
                  <a:pt x="2679699" y="44450"/>
                </a:lnTo>
                <a:lnTo>
                  <a:pt x="2730905" y="44450"/>
                </a:lnTo>
                <a:lnTo>
                  <a:pt x="2743199" y="38354"/>
                </a:lnTo>
                <a:lnTo>
                  <a:pt x="2667126" y="0"/>
                </a:lnTo>
                <a:close/>
              </a:path>
              <a:path w="2743200" h="76200">
                <a:moveTo>
                  <a:pt x="0" y="22987"/>
                </a:moveTo>
                <a:lnTo>
                  <a:pt x="0" y="35687"/>
                </a:lnTo>
                <a:lnTo>
                  <a:pt x="2666978" y="44408"/>
                </a:lnTo>
                <a:lnTo>
                  <a:pt x="2667021" y="31708"/>
                </a:lnTo>
                <a:lnTo>
                  <a:pt x="0" y="229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5250243" y="3797617"/>
            <a:ext cx="70485" cy="8572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5463603" y="3974401"/>
            <a:ext cx="70484" cy="8572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5600763" y="4021645"/>
            <a:ext cx="70485" cy="8572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5494083" y="3786949"/>
            <a:ext cx="70485" cy="84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5478843" y="3597973"/>
            <a:ext cx="70485" cy="8572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5131371" y="3346513"/>
            <a:ext cx="68961" cy="857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5222811" y="3206305"/>
            <a:ext cx="70485" cy="842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4992687" y="3299269"/>
            <a:ext cx="70485" cy="8572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4646903" y="2382392"/>
            <a:ext cx="177800" cy="19304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230"/>
              </a:lnSpc>
            </a:pPr>
            <a:r>
              <a:rPr sz="1200" dirty="0">
                <a:latin typeface="Consolas" panose="020B0609020204030204"/>
                <a:cs typeface="Consolas" panose="020B0609020204030204"/>
              </a:rPr>
              <a:t>x2</a:t>
            </a:r>
            <a:endParaRPr sz="1200"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4777612" y="2023871"/>
            <a:ext cx="76200" cy="2386330"/>
          </a:xfrm>
          <a:custGeom>
            <a:avLst/>
            <a:gdLst/>
            <a:ahLst/>
            <a:cxnLst/>
            <a:rect l="l" t="t" r="r" b="b"/>
            <a:pathLst>
              <a:path w="76200" h="2386329">
                <a:moveTo>
                  <a:pt x="31710" y="76178"/>
                </a:moveTo>
                <a:lnTo>
                  <a:pt x="24511" y="2386203"/>
                </a:lnTo>
                <a:lnTo>
                  <a:pt x="37211" y="2386203"/>
                </a:lnTo>
                <a:lnTo>
                  <a:pt x="44410" y="76221"/>
                </a:lnTo>
                <a:lnTo>
                  <a:pt x="31710" y="76178"/>
                </a:lnTo>
                <a:close/>
              </a:path>
              <a:path w="76200" h="2386329">
                <a:moveTo>
                  <a:pt x="69839" y="63500"/>
                </a:moveTo>
                <a:lnTo>
                  <a:pt x="44450" y="63500"/>
                </a:lnTo>
                <a:lnTo>
                  <a:pt x="44410" y="76221"/>
                </a:lnTo>
                <a:lnTo>
                  <a:pt x="76200" y="76326"/>
                </a:lnTo>
                <a:lnTo>
                  <a:pt x="69839" y="63500"/>
                </a:lnTo>
                <a:close/>
              </a:path>
              <a:path w="76200" h="2386329">
                <a:moveTo>
                  <a:pt x="44450" y="63500"/>
                </a:moveTo>
                <a:lnTo>
                  <a:pt x="31750" y="63500"/>
                </a:lnTo>
                <a:lnTo>
                  <a:pt x="31710" y="76178"/>
                </a:lnTo>
                <a:lnTo>
                  <a:pt x="44410" y="76221"/>
                </a:lnTo>
                <a:lnTo>
                  <a:pt x="44450" y="63500"/>
                </a:lnTo>
                <a:close/>
              </a:path>
              <a:path w="76200" h="2386329">
                <a:moveTo>
                  <a:pt x="38354" y="0"/>
                </a:moveTo>
                <a:lnTo>
                  <a:pt x="0" y="76073"/>
                </a:lnTo>
                <a:lnTo>
                  <a:pt x="31710" y="76178"/>
                </a:lnTo>
                <a:lnTo>
                  <a:pt x="31750" y="63500"/>
                </a:lnTo>
                <a:lnTo>
                  <a:pt x="69839" y="63500"/>
                </a:lnTo>
                <a:lnTo>
                  <a:pt x="383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5798883" y="4015549"/>
            <a:ext cx="70485" cy="84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5664771" y="2432113"/>
            <a:ext cx="68961" cy="857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4863718" y="2520505"/>
            <a:ext cx="1927987" cy="159143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7772653" y="4262246"/>
            <a:ext cx="2743200" cy="76200"/>
          </a:xfrm>
          <a:custGeom>
            <a:avLst/>
            <a:gdLst/>
            <a:ahLst/>
            <a:cxnLst/>
            <a:rect l="l" t="t" r="r" b="b"/>
            <a:pathLst>
              <a:path w="2743200" h="76200">
                <a:moveTo>
                  <a:pt x="2666978" y="44408"/>
                </a:moveTo>
                <a:lnTo>
                  <a:pt x="2666873" y="76200"/>
                </a:lnTo>
                <a:lnTo>
                  <a:pt x="2730905" y="44450"/>
                </a:lnTo>
                <a:lnTo>
                  <a:pt x="2679700" y="44450"/>
                </a:lnTo>
                <a:lnTo>
                  <a:pt x="2666978" y="44408"/>
                </a:lnTo>
                <a:close/>
              </a:path>
              <a:path w="2743200" h="76200">
                <a:moveTo>
                  <a:pt x="2667021" y="31708"/>
                </a:moveTo>
                <a:lnTo>
                  <a:pt x="2666978" y="44408"/>
                </a:lnTo>
                <a:lnTo>
                  <a:pt x="2679700" y="44450"/>
                </a:lnTo>
                <a:lnTo>
                  <a:pt x="2679700" y="31750"/>
                </a:lnTo>
                <a:lnTo>
                  <a:pt x="2667021" y="31708"/>
                </a:lnTo>
                <a:close/>
              </a:path>
              <a:path w="2743200" h="76200">
                <a:moveTo>
                  <a:pt x="2667127" y="0"/>
                </a:moveTo>
                <a:lnTo>
                  <a:pt x="2667021" y="31708"/>
                </a:lnTo>
                <a:lnTo>
                  <a:pt x="2679700" y="31750"/>
                </a:lnTo>
                <a:lnTo>
                  <a:pt x="2679700" y="44450"/>
                </a:lnTo>
                <a:lnTo>
                  <a:pt x="2730905" y="44450"/>
                </a:lnTo>
                <a:lnTo>
                  <a:pt x="2743200" y="38354"/>
                </a:lnTo>
                <a:lnTo>
                  <a:pt x="2667127" y="0"/>
                </a:lnTo>
                <a:close/>
              </a:path>
              <a:path w="2743200" h="76200">
                <a:moveTo>
                  <a:pt x="0" y="22987"/>
                </a:moveTo>
                <a:lnTo>
                  <a:pt x="0" y="35687"/>
                </a:lnTo>
                <a:lnTo>
                  <a:pt x="2666978" y="44408"/>
                </a:lnTo>
                <a:lnTo>
                  <a:pt x="2667021" y="31708"/>
                </a:lnTo>
                <a:lnTo>
                  <a:pt x="0" y="229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8298243" y="3797617"/>
            <a:ext cx="70485" cy="8572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8511603" y="3974401"/>
            <a:ext cx="70484" cy="8572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8648763" y="4021645"/>
            <a:ext cx="70485" cy="8572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8542083" y="3786949"/>
            <a:ext cx="70484" cy="84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8526843" y="3597973"/>
            <a:ext cx="70485" cy="8572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8179371" y="3346513"/>
            <a:ext cx="68960" cy="857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8270811" y="3206305"/>
            <a:ext cx="70485" cy="842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8040687" y="3299269"/>
            <a:ext cx="70485" cy="8572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 txBox="1"/>
          <p:nvPr/>
        </p:nvSpPr>
        <p:spPr>
          <a:xfrm>
            <a:off x="10099548" y="4285233"/>
            <a:ext cx="1930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onsolas" panose="020B0609020204030204"/>
                <a:cs typeface="Consolas" panose="020B0609020204030204"/>
              </a:rPr>
              <a:t>x1</a:t>
            </a:r>
            <a:endParaRPr sz="1200"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7695538" y="2382392"/>
            <a:ext cx="177800" cy="19304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230"/>
              </a:lnSpc>
            </a:pPr>
            <a:r>
              <a:rPr sz="1200" dirty="0">
                <a:latin typeface="Consolas" panose="020B0609020204030204"/>
                <a:cs typeface="Consolas" panose="020B0609020204030204"/>
              </a:rPr>
              <a:t>x2</a:t>
            </a:r>
            <a:endParaRPr sz="1200"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7825613" y="2023871"/>
            <a:ext cx="76200" cy="2386330"/>
          </a:xfrm>
          <a:custGeom>
            <a:avLst/>
            <a:gdLst/>
            <a:ahLst/>
            <a:cxnLst/>
            <a:rect l="l" t="t" r="r" b="b"/>
            <a:pathLst>
              <a:path w="76200" h="2386329">
                <a:moveTo>
                  <a:pt x="31710" y="76178"/>
                </a:moveTo>
                <a:lnTo>
                  <a:pt x="24510" y="2386203"/>
                </a:lnTo>
                <a:lnTo>
                  <a:pt x="37210" y="2386203"/>
                </a:lnTo>
                <a:lnTo>
                  <a:pt x="44410" y="76221"/>
                </a:lnTo>
                <a:lnTo>
                  <a:pt x="31710" y="76178"/>
                </a:lnTo>
                <a:close/>
              </a:path>
              <a:path w="76200" h="2386329">
                <a:moveTo>
                  <a:pt x="69839" y="63500"/>
                </a:moveTo>
                <a:lnTo>
                  <a:pt x="44450" y="63500"/>
                </a:lnTo>
                <a:lnTo>
                  <a:pt x="44410" y="76221"/>
                </a:lnTo>
                <a:lnTo>
                  <a:pt x="76200" y="76326"/>
                </a:lnTo>
                <a:lnTo>
                  <a:pt x="69839" y="63500"/>
                </a:lnTo>
                <a:close/>
              </a:path>
              <a:path w="76200" h="2386329">
                <a:moveTo>
                  <a:pt x="44450" y="63500"/>
                </a:moveTo>
                <a:lnTo>
                  <a:pt x="31750" y="63500"/>
                </a:lnTo>
                <a:lnTo>
                  <a:pt x="31710" y="76178"/>
                </a:lnTo>
                <a:lnTo>
                  <a:pt x="44410" y="76221"/>
                </a:lnTo>
                <a:lnTo>
                  <a:pt x="44450" y="63500"/>
                </a:lnTo>
                <a:close/>
              </a:path>
              <a:path w="76200" h="2386329">
                <a:moveTo>
                  <a:pt x="38353" y="0"/>
                </a:moveTo>
                <a:lnTo>
                  <a:pt x="0" y="76073"/>
                </a:lnTo>
                <a:lnTo>
                  <a:pt x="31710" y="76178"/>
                </a:lnTo>
                <a:lnTo>
                  <a:pt x="31750" y="63500"/>
                </a:lnTo>
                <a:lnTo>
                  <a:pt x="69839" y="63500"/>
                </a:lnTo>
                <a:lnTo>
                  <a:pt x="383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8694483" y="3939349"/>
            <a:ext cx="70484" cy="84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8269287" y="3527869"/>
            <a:ext cx="70485" cy="8572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8574087" y="3451669"/>
            <a:ext cx="70485" cy="8572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9566211" y="2977705"/>
            <a:ext cx="70485" cy="842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9337611" y="2977705"/>
            <a:ext cx="70485" cy="842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9169971" y="2965513"/>
            <a:ext cx="68960" cy="857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9337611" y="2749105"/>
            <a:ext cx="70485" cy="842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8846883" y="4015549"/>
            <a:ext cx="70484" cy="84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9246171" y="2813113"/>
            <a:ext cx="68960" cy="857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9017571" y="2813113"/>
            <a:ext cx="68960" cy="857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8712771" y="2432113"/>
            <a:ext cx="68960" cy="857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8880411" y="2444305"/>
            <a:ext cx="70485" cy="842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8712771" y="3194113"/>
            <a:ext cx="68960" cy="857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9474771" y="2813113"/>
            <a:ext cx="68960" cy="857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9093771" y="2660713"/>
            <a:ext cx="68960" cy="857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7971154" y="2520505"/>
            <a:ext cx="1436370" cy="164268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9185211" y="2520505"/>
            <a:ext cx="70485" cy="842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8374443" y="3950017"/>
            <a:ext cx="70485" cy="8572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8179371" y="3575113"/>
            <a:ext cx="68960" cy="857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8421687" y="3680269"/>
            <a:ext cx="70485" cy="8572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 txBox="1"/>
          <p:nvPr/>
        </p:nvSpPr>
        <p:spPr>
          <a:xfrm>
            <a:off x="2333497" y="1880615"/>
            <a:ext cx="1522730" cy="238125"/>
          </a:xfrm>
          <a:prstGeom prst="rect">
            <a:avLst/>
          </a:prstGeom>
          <a:solidFill>
            <a:srgbClr val="EEEEEE"/>
          </a:solidFill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3345">
              <a:lnSpc>
                <a:spcPts val="1835"/>
              </a:lnSpc>
            </a:pPr>
            <a:r>
              <a:rPr sz="1600" spc="-10" dirty="0">
                <a:latin typeface="Consolas" panose="020B0609020204030204"/>
                <a:cs typeface="Consolas" panose="020B0609020204030204"/>
              </a:rPr>
              <a:t>Underfitting</a:t>
            </a:r>
            <a:endParaRPr sz="1600"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5311393" y="1880615"/>
            <a:ext cx="1522730" cy="238125"/>
          </a:xfrm>
          <a:prstGeom prst="rect">
            <a:avLst/>
          </a:prstGeom>
          <a:solidFill>
            <a:srgbClr val="EEEEEE"/>
          </a:solidFill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60350">
              <a:lnSpc>
                <a:spcPts val="1870"/>
              </a:lnSpc>
            </a:pPr>
            <a:r>
              <a:rPr sz="1800" spc="-5" dirty="0">
                <a:latin typeface="Consolas" panose="020B0609020204030204"/>
                <a:cs typeface="Consolas" panose="020B0609020204030204"/>
              </a:rPr>
              <a:t>Good</a:t>
            </a:r>
            <a:r>
              <a:rPr sz="1800" spc="-35" dirty="0">
                <a:latin typeface="Consolas" panose="020B0609020204030204"/>
                <a:cs typeface="Consolas" panose="020B0609020204030204"/>
              </a:rPr>
              <a:t> </a:t>
            </a:r>
            <a:r>
              <a:rPr sz="1800" spc="-5" dirty="0">
                <a:latin typeface="Consolas" panose="020B0609020204030204"/>
                <a:cs typeface="Consolas" panose="020B0609020204030204"/>
              </a:rPr>
              <a:t>fit</a:t>
            </a:r>
            <a:endParaRPr sz="1800"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8402065" y="1880615"/>
            <a:ext cx="1522730" cy="238125"/>
          </a:xfrm>
          <a:prstGeom prst="rect">
            <a:avLst/>
          </a:prstGeom>
          <a:solidFill>
            <a:srgbClr val="EEEEEE"/>
          </a:solidFill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1130">
              <a:lnSpc>
                <a:spcPts val="1835"/>
              </a:lnSpc>
            </a:pPr>
            <a:r>
              <a:rPr sz="1600" spc="-10" dirty="0">
                <a:latin typeface="Consolas" panose="020B0609020204030204"/>
                <a:cs typeface="Consolas" panose="020B0609020204030204"/>
              </a:rPr>
              <a:t>Overfitting</a:t>
            </a:r>
            <a:endParaRPr sz="1600"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113" name="object 2"/>
          <p:cNvSpPr txBox="1">
            <a:spLocks noGrp="1"/>
          </p:cNvSpPr>
          <p:nvPr/>
        </p:nvSpPr>
        <p:spPr>
          <a:xfrm>
            <a:off x="2856865" y="419735"/>
            <a:ext cx="6478270" cy="8318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5300" b="0" i="0">
                <a:solidFill>
                  <a:schemeClr val="tx1"/>
                </a:solidFill>
                <a:latin typeface="微软雅黑" panose="020B0503020204020204" charset="-122"/>
                <a:ea typeface="+mj-ea"/>
                <a:cs typeface="微软雅黑" panose="020B0503020204020204" charset="-122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b="1" spc="25" dirty="0">
                <a:sym typeface="+mn-ea"/>
              </a:rPr>
              <a:t>分类问题中的拟合</a:t>
            </a:r>
            <a:endParaRPr b="1" spc="20" dirty="0"/>
          </a:p>
        </p:txBody>
      </p:sp>
      <p:sp>
        <p:nvSpPr>
          <p:cNvPr id="114" name="灯片编号占位符 113"/>
          <p:cNvSpPr>
            <a:spLocks noGrp="1"/>
          </p:cNvSpPr>
          <p:nvPr>
            <p:ph type="sldNum" sz="quarter" idx="7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r="1233" b="831"/>
          <a:stretch>
            <a:fillRect/>
          </a:stretch>
        </p:blipFill>
        <p:spPr>
          <a:xfrm>
            <a:off x="3221355" y="1402080"/>
            <a:ext cx="5748655" cy="4848860"/>
          </a:xfrm>
          <a:prstGeom prst="rect">
            <a:avLst/>
          </a:prstGeom>
        </p:spPr>
      </p:pic>
      <p:sp>
        <p:nvSpPr>
          <p:cNvPr id="113" name="object 2"/>
          <p:cNvSpPr txBox="1">
            <a:spLocks noGrp="1"/>
          </p:cNvSpPr>
          <p:nvPr/>
        </p:nvSpPr>
        <p:spPr>
          <a:xfrm>
            <a:off x="2856865" y="419735"/>
            <a:ext cx="6478270" cy="8318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5300" b="0" i="0">
                <a:solidFill>
                  <a:schemeClr val="tx1"/>
                </a:solidFill>
                <a:latin typeface="微软雅黑" panose="020B0503020204020204" charset="-122"/>
                <a:ea typeface="+mj-ea"/>
                <a:cs typeface="微软雅黑" panose="020B0503020204020204" charset="-122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lang="zh-CN" b="1" spc="25" dirty="0">
                <a:sym typeface="+mn-ea"/>
              </a:rPr>
              <a:t>回归</a:t>
            </a:r>
            <a:r>
              <a:rPr b="1" spc="25" dirty="0">
                <a:sym typeface="+mn-ea"/>
              </a:rPr>
              <a:t>问题中的拟合</a:t>
            </a:r>
            <a:endParaRPr b="1" spc="2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7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7000" y="3056255"/>
            <a:ext cx="6293485" cy="380174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76200"/>
            <a:ext cx="7362825" cy="27813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19600"/>
            <a:ext cx="304800" cy="2857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81100"/>
            <a:ext cx="304800" cy="285750"/>
          </a:xfrm>
          <a:prstGeom prst="rect">
            <a:avLst/>
          </a:prstGeom>
        </p:spPr>
      </p:pic>
      <p:sp>
        <p:nvSpPr>
          <p:cNvPr id="113" name="object 2"/>
          <p:cNvSpPr txBox="1">
            <a:spLocks noGrp="1"/>
          </p:cNvSpPr>
          <p:nvPr/>
        </p:nvSpPr>
        <p:spPr>
          <a:xfrm>
            <a:off x="-1828800" y="1143000"/>
            <a:ext cx="6478270" cy="3238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5300" b="0" i="0">
                <a:solidFill>
                  <a:schemeClr val="tx1"/>
                </a:solidFill>
                <a:latin typeface="微软雅黑" panose="020B0503020204020204" charset="-122"/>
                <a:ea typeface="+mj-ea"/>
                <a:cs typeface="微软雅黑" panose="020B0503020204020204" charset="-122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lang="zh-CN" sz="2000" dirty="0">
                <a:solidFill>
                  <a:srgbClr val="333333"/>
                </a:solidFill>
                <a:ea typeface="微软雅黑" panose="020B0503020204020204" charset="-122"/>
                <a:sym typeface="+mn-ea"/>
              </a:rPr>
              <a:t>回归</a:t>
            </a:r>
            <a:r>
              <a:rPr sz="2000" dirty="0">
                <a:solidFill>
                  <a:srgbClr val="333333"/>
                </a:solidFill>
                <a:ea typeface="微软雅黑" panose="020B0503020204020204" charset="-122"/>
                <a:sym typeface="+mn-ea"/>
              </a:rPr>
              <a:t>问题中的</a:t>
            </a:r>
            <a:r>
              <a:rPr lang="zh-CN" sz="2000" dirty="0">
                <a:solidFill>
                  <a:srgbClr val="333333"/>
                </a:solidFill>
                <a:ea typeface="微软雅黑" panose="020B0503020204020204" charset="-122"/>
                <a:sym typeface="+mn-ea"/>
              </a:rPr>
              <a:t>过</a:t>
            </a:r>
            <a:r>
              <a:rPr sz="2000" dirty="0">
                <a:solidFill>
                  <a:srgbClr val="333333"/>
                </a:solidFill>
                <a:ea typeface="微软雅黑" panose="020B0503020204020204" charset="-122"/>
                <a:sym typeface="+mn-ea"/>
              </a:rPr>
              <a:t>拟合</a:t>
            </a:r>
            <a:endParaRPr sz="2000" dirty="0">
              <a:solidFill>
                <a:srgbClr val="333333"/>
              </a:solidFill>
              <a:ea typeface="微软雅黑" panose="020B0503020204020204" charset="-122"/>
              <a:sym typeface="+mn-ea"/>
            </a:endParaRPr>
          </a:p>
        </p:txBody>
      </p:sp>
      <p:sp>
        <p:nvSpPr>
          <p:cNvPr id="7" name="object 2"/>
          <p:cNvSpPr txBox="1">
            <a:spLocks noGrp="1"/>
          </p:cNvSpPr>
          <p:nvPr/>
        </p:nvSpPr>
        <p:spPr>
          <a:xfrm>
            <a:off x="-1752600" y="4400550"/>
            <a:ext cx="6478270" cy="3238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5300" b="0" i="0">
                <a:solidFill>
                  <a:schemeClr val="tx1"/>
                </a:solidFill>
                <a:latin typeface="微软雅黑" panose="020B0503020204020204" charset="-122"/>
                <a:ea typeface="+mj-ea"/>
                <a:cs typeface="微软雅黑" panose="020B0503020204020204" charset="-122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lang="zh-CN" sz="2000" dirty="0">
                <a:solidFill>
                  <a:srgbClr val="333333"/>
                </a:solidFill>
                <a:ea typeface="微软雅黑" panose="020B0503020204020204" charset="-122"/>
                <a:sym typeface="+mn-ea"/>
              </a:rPr>
              <a:t>分类</a:t>
            </a:r>
            <a:r>
              <a:rPr sz="2000" dirty="0">
                <a:solidFill>
                  <a:srgbClr val="333333"/>
                </a:solidFill>
                <a:ea typeface="微软雅黑" panose="020B0503020204020204" charset="-122"/>
                <a:sym typeface="+mn-ea"/>
              </a:rPr>
              <a:t>问题中的</a:t>
            </a:r>
            <a:r>
              <a:rPr lang="zh-CN" sz="2000" dirty="0">
                <a:solidFill>
                  <a:srgbClr val="333333"/>
                </a:solidFill>
                <a:ea typeface="微软雅黑" panose="020B0503020204020204" charset="-122"/>
                <a:sym typeface="+mn-ea"/>
              </a:rPr>
              <a:t>过</a:t>
            </a:r>
            <a:r>
              <a:rPr sz="2000" dirty="0">
                <a:solidFill>
                  <a:srgbClr val="333333"/>
                </a:solidFill>
                <a:ea typeface="微软雅黑" panose="020B0503020204020204" charset="-122"/>
                <a:sym typeface="+mn-ea"/>
              </a:rPr>
              <a:t>拟合</a:t>
            </a:r>
            <a:endParaRPr sz="2000" dirty="0">
              <a:solidFill>
                <a:srgbClr val="333333"/>
              </a:solidFill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2204" y="990422"/>
            <a:ext cx="22352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27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09295" y="162560"/>
            <a:ext cx="3587750" cy="828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300" i="0" kern="1200" spc="25" dirty="0">
                <a:solidFill>
                  <a:schemeClr val="tx1"/>
                </a:solidFill>
              </a:rPr>
              <a:t>偏差和方差</a:t>
            </a:r>
            <a:endParaRPr sz="5300" i="0" kern="1200" spc="25" dirty="0">
              <a:solidFill>
                <a:schemeClr val="tx1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9066" y="1492758"/>
            <a:ext cx="5511800" cy="3830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10000"/>
              </a:lnSpc>
              <a:spcBef>
                <a:spcPts val="100"/>
              </a:spcBef>
            </a:pPr>
            <a:r>
              <a:rPr sz="24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方差</a:t>
            </a:r>
            <a:r>
              <a:rPr sz="2400" b="1" dirty="0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Variance</a:t>
            </a:r>
            <a:r>
              <a:rPr sz="24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5080" algn="just">
              <a:lnSpc>
                <a:spcPct val="110000"/>
              </a:lnSpc>
              <a:spcBef>
                <a:spcPts val="1800"/>
              </a:spcBef>
            </a:pP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描述的是预测值的变化范围，离散程度， 也就是离其期望值的距离。方差越大，数据的分布越分散，如右图右列所示。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80000"/>
              </a:lnSpc>
              <a:spcBef>
                <a:spcPts val="20"/>
              </a:spcBef>
            </a:pP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80000"/>
              </a:lnSpc>
              <a:spcBef>
                <a:spcPts val="5"/>
              </a:spcBef>
            </a:pPr>
            <a:r>
              <a:rPr sz="24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偏差</a:t>
            </a:r>
            <a:r>
              <a:rPr sz="2400" b="1" dirty="0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Bias</a:t>
            </a:r>
            <a:r>
              <a:rPr sz="24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5080" algn="just">
              <a:lnSpc>
                <a:spcPct val="140000"/>
              </a:lnSpc>
              <a:spcBef>
                <a:spcPts val="1800"/>
              </a:spcBef>
            </a:pP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描述的是预测值（估计值）的期望与真实值之间的差距。偏差越大，越偏离真实数据，如右图第二行所示。</a:t>
            </a:r>
            <a:endParaRPr sz="200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112000" y="1411605"/>
            <a:ext cx="4702810" cy="42291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文本框 5"/>
          <p:cNvSpPr txBox="1"/>
          <p:nvPr/>
        </p:nvSpPr>
        <p:spPr>
          <a:xfrm>
            <a:off x="652145" y="5454650"/>
            <a:ext cx="639445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2000" b="1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欠拟合</a:t>
            </a:r>
            <a:r>
              <a:rPr sz="24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模型不能适配训练样本，有一个很大的</a:t>
            </a:r>
            <a:r>
              <a:rPr sz="2000" kern="0" dirty="0">
                <a:solidFill>
                  <a:srgbClr val="FFA4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偏差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20" y="5541645"/>
            <a:ext cx="304800" cy="28575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52145" y="5983605"/>
            <a:ext cx="1100645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sz="2000" b="1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</a:t>
            </a:r>
            <a:r>
              <a:rPr sz="2000" b="1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拟合</a:t>
            </a:r>
            <a:r>
              <a:rPr sz="24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模型很好的适配训练样本，但在</a:t>
            </a:r>
            <a:r>
              <a:rPr sz="2000" kern="0" dirty="0">
                <a:solidFill>
                  <a:srgbClr val="FFA4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测试集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上表现很糟，有一个很大的</a:t>
            </a:r>
            <a:r>
              <a:rPr sz="2000" kern="0" dirty="0">
                <a:solidFill>
                  <a:srgbClr val="FFA4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方差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495" y="6070600"/>
            <a:ext cx="304800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 txBox="1">
            <a:spLocks noGrp="1"/>
          </p:cNvSpPr>
          <p:nvPr/>
        </p:nvSpPr>
        <p:spPr>
          <a:xfrm>
            <a:off x="86360" y="98425"/>
            <a:ext cx="5316855" cy="8318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5300" b="0" i="0">
                <a:solidFill>
                  <a:schemeClr val="tx1"/>
                </a:solidFill>
                <a:latin typeface="微软雅黑" panose="020B0503020204020204" charset="-122"/>
                <a:ea typeface="+mj-ea"/>
                <a:cs typeface="微软雅黑" panose="020B0503020204020204" charset="-122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b="1" spc="25" dirty="0">
                <a:sym typeface="+mn-ea"/>
              </a:rPr>
              <a:t>欠拟合的处理</a:t>
            </a:r>
            <a:endParaRPr b="1" spc="25" dirty="0">
              <a:sym typeface="+mn-ea"/>
            </a:endParaRPr>
          </a:p>
        </p:txBody>
      </p:sp>
      <p:sp>
        <p:nvSpPr>
          <p:cNvPr id="6" name="object 3"/>
          <p:cNvSpPr txBox="1"/>
          <p:nvPr/>
        </p:nvSpPr>
        <p:spPr>
          <a:xfrm>
            <a:off x="361950" y="1094740"/>
            <a:ext cx="11002645" cy="48602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p>
            <a:pPr marL="12700">
              <a:lnSpc>
                <a:spcPct val="100000"/>
              </a:lnSpc>
              <a:spcBef>
                <a:spcPts val="105"/>
              </a:spcBef>
            </a:pPr>
            <a:endParaRPr sz="14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785495" indent="-213360">
              <a:lnSpc>
                <a:spcPct val="100000"/>
              </a:lnSpc>
              <a:buClr>
                <a:srgbClr val="333333"/>
              </a:buClr>
              <a:buSzPct val="95000"/>
              <a:buFont typeface="Tahoma" panose="020B0604030504040204"/>
              <a:buAutoNum type="arabicPeriod"/>
              <a:tabLst>
                <a:tab pos="786130" algn="l"/>
              </a:tabLst>
            </a:pPr>
            <a:r>
              <a:rPr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添加新特征</a:t>
            </a:r>
            <a:endParaRPr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72770" marR="5080">
              <a:lnSpc>
                <a:spcPct val="150000"/>
              </a:lnSpc>
              <a:spcBef>
                <a:spcPts val="5"/>
              </a:spcBef>
            </a:pP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当特征不足或者现有特</a:t>
            </a: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征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与样</a:t>
            </a: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标签</a:t>
            </a: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相关</a:t>
            </a: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不强</a:t>
            </a: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，模</a:t>
            </a: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型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容易</a:t>
            </a: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现欠</a:t>
            </a: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拟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合。通过挖掘组合特征等新的</a:t>
            </a: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征，</a:t>
            </a: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往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往能</a:t>
            </a: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够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取得</a:t>
            </a: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好的</a:t>
            </a: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果。</a:t>
            </a:r>
            <a:endParaRPr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</a:pPr>
            <a:endParaRPr sz="2450">
              <a:latin typeface="Times New Roman" panose="02020603050405020304"/>
              <a:cs typeface="Times New Roman" panose="02020603050405020304"/>
            </a:endParaRPr>
          </a:p>
          <a:p>
            <a:pPr marL="786130" indent="-213995">
              <a:lnSpc>
                <a:spcPct val="100000"/>
              </a:lnSpc>
              <a:buSzPct val="95000"/>
              <a:buFont typeface="Tahoma" panose="020B0604030504040204"/>
              <a:buAutoNum type="arabicPeriod" startAt="2"/>
              <a:tabLst>
                <a:tab pos="786765" algn="l"/>
              </a:tabLst>
            </a:pPr>
            <a:r>
              <a:rPr sz="20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增加模型复杂度</a:t>
            </a:r>
            <a:endParaRPr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72770" marR="5080" algn="just">
              <a:lnSpc>
                <a:spcPct val="150000"/>
              </a:lnSpc>
            </a:pP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简单模型的学习能力较</a:t>
            </a: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，通</a:t>
            </a: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增加</a:t>
            </a: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型的</a:t>
            </a: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杂度</a:t>
            </a: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以使</a:t>
            </a: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型拥</a:t>
            </a: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更强</a:t>
            </a: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拟合能 力。例如，在线性模型</a:t>
            </a: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添加</a:t>
            </a: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次项</a:t>
            </a: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在神</a:t>
            </a: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</a:t>
            </a: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型中</a:t>
            </a: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加网</a:t>
            </a: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络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层数</a:t>
            </a: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神经元 个数等。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100">
              <a:latin typeface="Times New Roman" panose="02020603050405020304"/>
              <a:cs typeface="Times New Roman" panose="02020603050405020304"/>
            </a:endParaRPr>
          </a:p>
          <a:p>
            <a:pPr marL="785495" indent="-213360">
              <a:lnSpc>
                <a:spcPct val="100000"/>
              </a:lnSpc>
              <a:buSzPct val="95000"/>
              <a:buFont typeface="Tahoma" panose="020B0604030504040204"/>
              <a:buAutoNum type="arabicPeriod" startAt="3"/>
              <a:tabLst>
                <a:tab pos="786130" algn="l"/>
              </a:tabLst>
            </a:pPr>
            <a:r>
              <a:rPr sz="20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减小正则化系数</a:t>
            </a:r>
            <a:endParaRPr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7277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正则化是用来防止过拟</a:t>
            </a:r>
            <a:r>
              <a:rPr sz="2000" spc="-1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的，</a:t>
            </a:r>
            <a:r>
              <a:rPr sz="2000" spc="-1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当模</a:t>
            </a:r>
            <a:r>
              <a:rPr sz="2000" spc="-1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型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出现</a:t>
            </a:r>
            <a:r>
              <a:rPr sz="2000" spc="-1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欠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拟合</a:t>
            </a:r>
            <a:r>
              <a:rPr sz="2000" spc="-1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象时</a:t>
            </a:r>
            <a:r>
              <a:rPr sz="2000" spc="-1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则需</a:t>
            </a:r>
            <a:r>
              <a:rPr sz="2000" spc="-1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有针</a:t>
            </a:r>
            <a:r>
              <a:rPr sz="2000" spc="-1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性地减</a:t>
            </a:r>
            <a:endParaRPr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72770">
              <a:lnSpc>
                <a:spcPct val="100000"/>
              </a:lnSpc>
              <a:spcBef>
                <a:spcPts val="1205"/>
              </a:spcBef>
            </a:pP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小正则化系数。</a:t>
            </a:r>
            <a:endParaRPr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 txBox="1">
            <a:spLocks noGrp="1"/>
          </p:cNvSpPr>
          <p:nvPr/>
        </p:nvSpPr>
        <p:spPr>
          <a:xfrm>
            <a:off x="114935" y="98425"/>
            <a:ext cx="5316855" cy="8318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5300" b="0" i="0">
                <a:solidFill>
                  <a:schemeClr val="tx1"/>
                </a:solidFill>
                <a:latin typeface="微软雅黑" panose="020B0503020204020204" charset="-122"/>
                <a:ea typeface="+mj-ea"/>
                <a:cs typeface="微软雅黑" panose="020B0503020204020204" charset="-122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b="1" spc="25" dirty="0">
                <a:sym typeface="+mn-ea"/>
              </a:rPr>
              <a:t>过拟合的处理</a:t>
            </a:r>
            <a:endParaRPr b="1" spc="25" dirty="0">
              <a:sym typeface="+mn-e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1950" y="866140"/>
            <a:ext cx="11098530" cy="5896610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p>
            <a:pPr marL="12700">
              <a:lnSpc>
                <a:spcPct val="100000"/>
              </a:lnSpc>
              <a:spcBef>
                <a:spcPts val="1085"/>
              </a:spcBef>
            </a:pPr>
            <a:endParaRPr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01040" indent="-215900">
              <a:lnSpc>
                <a:spcPct val="100000"/>
              </a:lnSpc>
              <a:buClr>
                <a:srgbClr val="333333"/>
              </a:buClr>
              <a:buSzPct val="95000"/>
              <a:buFont typeface="Arial" panose="020B0604020202020204"/>
              <a:buAutoNum type="arabicPeriod"/>
              <a:tabLst>
                <a:tab pos="701675" algn="l"/>
              </a:tabLst>
            </a:pPr>
            <a:r>
              <a:rPr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获得更多的训练数据</a:t>
            </a:r>
            <a:endParaRPr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85775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使用更多的训练数据是</a:t>
            </a:r>
            <a:r>
              <a:rPr sz="2000" spc="-1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决过</a:t>
            </a:r>
            <a:r>
              <a:rPr sz="2000" spc="-1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拟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合问</a:t>
            </a:r>
            <a:r>
              <a:rPr sz="2000" spc="-1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最有</a:t>
            </a:r>
            <a:r>
              <a:rPr sz="2000" spc="-1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的手</a:t>
            </a:r>
            <a:r>
              <a:rPr sz="2000" spc="-1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段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，因</a:t>
            </a:r>
            <a:r>
              <a:rPr sz="2000" spc="-1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更多</a:t>
            </a:r>
            <a:r>
              <a:rPr sz="2000" spc="-1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样本</a:t>
            </a:r>
            <a:r>
              <a:rPr sz="2000" spc="-1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够让</a:t>
            </a:r>
            <a:r>
              <a:rPr sz="2000" spc="-1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型学习</a:t>
            </a:r>
            <a:endParaRPr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85775">
              <a:lnSpc>
                <a:spcPct val="100000"/>
              </a:lnSpc>
              <a:spcBef>
                <a:spcPts val="1205"/>
              </a:spcBef>
            </a:pP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到更多更有效的特征，</a:t>
            </a: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减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小噪</a:t>
            </a: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声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的影</a:t>
            </a: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响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25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699135" indent="-213995">
              <a:lnSpc>
                <a:spcPct val="100000"/>
              </a:lnSpc>
              <a:buSzPct val="95000"/>
              <a:buFont typeface="Tahoma" panose="020B0604030504040204"/>
              <a:buAutoNum type="arabicPeriod" startAt="2"/>
              <a:tabLst>
                <a:tab pos="699770" algn="l"/>
              </a:tabLst>
            </a:pPr>
            <a:r>
              <a:rPr sz="20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降维</a:t>
            </a:r>
            <a:endParaRPr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85775" marR="16510">
              <a:lnSpc>
                <a:spcPct val="150000"/>
              </a:lnSpc>
              <a:spcBef>
                <a:spcPts val="5"/>
              </a:spcBef>
            </a:pP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即丢弃一些不能帮助我</a:t>
            </a: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们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正确</a:t>
            </a: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测的</a:t>
            </a: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征。</a:t>
            </a: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以是</a:t>
            </a: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工选</a:t>
            </a: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择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</a:t>
            </a: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哪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些特</a:t>
            </a: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征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，或</a:t>
            </a: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者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使用一些模型选择的算法来帮</a:t>
            </a: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忙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（例</a:t>
            </a:r>
            <a:r>
              <a:rPr sz="2000" spc="-1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</a:t>
            </a:r>
            <a:r>
              <a:rPr sz="2000" spc="5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PCA）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699135" indent="-213995">
              <a:lnSpc>
                <a:spcPct val="100000"/>
              </a:lnSpc>
              <a:spcBef>
                <a:spcPts val="2100"/>
              </a:spcBef>
              <a:buClr>
                <a:srgbClr val="333333"/>
              </a:buClr>
              <a:buSzPct val="95000"/>
              <a:buFont typeface="Tahoma" panose="020B0604030504040204"/>
              <a:buAutoNum type="arabicPeriod" startAt="3"/>
              <a:tabLst>
                <a:tab pos="699770" algn="l"/>
              </a:tabLst>
            </a:pPr>
            <a:r>
              <a:rPr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正则化</a:t>
            </a:r>
            <a:endParaRPr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85775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正则化</a:t>
            </a:r>
            <a:r>
              <a:rPr sz="2000" spc="3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(regularization)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的技术</a:t>
            </a: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</a:t>
            </a: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有的</a:t>
            </a: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征，</a:t>
            </a: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是减</a:t>
            </a: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少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</a:t>
            </a: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大小</a:t>
            </a:r>
            <a:r>
              <a:rPr sz="2000" spc="6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（magnitude）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sz="200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85775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它可以改善或者减少</a:t>
            </a: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拟合</a:t>
            </a: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题。</a:t>
            </a:r>
            <a:endParaRPr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699135" indent="-213995">
              <a:lnSpc>
                <a:spcPct val="100000"/>
              </a:lnSpc>
              <a:spcBef>
                <a:spcPts val="2105"/>
              </a:spcBef>
              <a:buSzPct val="95000"/>
              <a:buFont typeface="Tahoma" panose="020B0604030504040204"/>
              <a:buAutoNum type="arabicPeriod" startAt="4"/>
              <a:tabLst>
                <a:tab pos="699770" algn="l"/>
              </a:tabLst>
            </a:pPr>
            <a:r>
              <a:rPr sz="20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集成学习方法</a:t>
            </a:r>
            <a:endParaRPr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85775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集成学习是把多个模型</a:t>
            </a: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成在</a:t>
            </a: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起，</a:t>
            </a: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降低</a:t>
            </a: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一模</a:t>
            </a: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型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的过</a:t>
            </a: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拟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合风</a:t>
            </a: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险</a:t>
            </a: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0" y="3051810"/>
            <a:ext cx="6826250" cy="7543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zh-CN" sz="4800" b="1" spc="25" dirty="0"/>
              <a:t>复现回归任务中的</a:t>
            </a:r>
            <a:r>
              <a:rPr sz="4800" b="1" spc="25" dirty="0"/>
              <a:t>拟合</a:t>
            </a:r>
            <a:endParaRPr sz="4800" b="1" spc="25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24272" y="97739"/>
            <a:ext cx="2732405" cy="81661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zh-CN" sz="5200" b="1" spc="25" dirty="0"/>
              <a:t>实验步骤：</a:t>
            </a:r>
            <a:endParaRPr lang="zh-CN" sz="5200" b="1" spc="25" dirty="0"/>
          </a:p>
        </p:txBody>
      </p:sp>
      <p:sp>
        <p:nvSpPr>
          <p:cNvPr id="30" name="object 3"/>
          <p:cNvSpPr txBox="1"/>
          <p:nvPr/>
        </p:nvSpPr>
        <p:spPr>
          <a:xfrm>
            <a:off x="1905000" y="685800"/>
            <a:ext cx="9517380" cy="6534785"/>
          </a:xfrm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p>
            <a:pPr marL="12700">
              <a:lnSpc>
                <a:spcPct val="100000"/>
              </a:lnSpc>
              <a:spcBef>
                <a:spcPts val="1535"/>
              </a:spcBef>
            </a:pPr>
            <a:r>
              <a:rPr 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实验步骤</a:t>
            </a:r>
            <a:r>
              <a:rPr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如下：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L="469900" indent="-457200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469900" algn="l"/>
              </a:tabLst>
            </a:pPr>
            <a:r>
              <a:rPr 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生成随特定函数分布的几百个随机数据点，例如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y=sin(x)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57200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469900" algn="l"/>
              </a:tabLst>
            </a:pPr>
            <a:endParaRPr lang="zh-CN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57200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469900" algn="l"/>
              </a:tabLst>
            </a:pPr>
            <a:r>
              <a:rPr 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将其分为训练集和测试集，并可视化数据点；</a:t>
            </a:r>
            <a:endParaRPr lang="zh-CN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57200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469900" algn="l"/>
              </a:tabLst>
            </a:pPr>
            <a:endParaRPr 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57200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469900" algn="l"/>
              </a:tabLst>
            </a:pPr>
            <a:r>
              <a:rPr 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利用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sklearn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框架拟合</a:t>
            </a:r>
            <a:r>
              <a:rPr 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12800" lvl="1" indent="-342900">
              <a:lnSpc>
                <a:spcPct val="100000"/>
              </a:lnSpc>
              <a:spcBef>
                <a:spcPts val="1440"/>
              </a:spcBef>
              <a:buFont typeface="Arial" panose="020B0604020202020204" pitchFamily="34" charset="0"/>
              <a:buChar char="•"/>
              <a:tabLst>
                <a:tab pos="469900" algn="l"/>
              </a:tabLst>
            </a:pPr>
            <a:r>
              <a:rPr 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提示：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sklearn.preprocessing.PolynomialFeatures()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12800" lvl="1" indent="-342900">
              <a:lnSpc>
                <a:spcPct val="100000"/>
              </a:lnSpc>
              <a:spcBef>
                <a:spcPts val="1440"/>
              </a:spcBef>
              <a:buFont typeface="Arial" panose="020B0604020202020204" pitchFamily="34" charset="0"/>
              <a:buChar char="•"/>
              <a:tabLst>
                <a:tab pos="469900" algn="l"/>
              </a:tabLst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官方文档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 action="ppaction://hlinkfile"/>
              </a:rPr>
              <a:t>https://scikit-learn.org/stable/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1" action="ppaction://hlinkfile"/>
            </a:endParaRPr>
          </a:p>
          <a:p>
            <a:pPr marL="812800" lvl="1" indent="-342900">
              <a:lnSpc>
                <a:spcPct val="100000"/>
              </a:lnSpc>
              <a:spcBef>
                <a:spcPts val="1440"/>
              </a:spcBef>
              <a:buFont typeface="Arial" panose="020B0604020202020204" pitchFamily="34" charset="0"/>
              <a:buChar char="•"/>
              <a:tabLst>
                <a:tab pos="469900" algn="l"/>
              </a:tabLst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中文文档：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2" action="ppaction://hlinkfile"/>
              </a:rPr>
              <a:t>https://sklearn.apachecn.org/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None/>
              <a:tabLst>
                <a:tab pos="469900" algn="l"/>
              </a:tabLst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0">
              <a:lnSpc>
                <a:spcPct val="100000"/>
              </a:lnSpc>
              <a:spcBef>
                <a:spcPts val="1440"/>
              </a:spcBef>
              <a:buNone/>
              <a:tabLst>
                <a:tab pos="469900" algn="l"/>
              </a:tabLst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改变传入PolynomialFeatures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()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中的系数来调整曲线拟合程度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0">
              <a:lnSpc>
                <a:spcPct val="100000"/>
              </a:lnSpc>
              <a:spcBef>
                <a:spcPts val="1440"/>
              </a:spcBef>
              <a:buNone/>
              <a:tabLst>
                <a:tab pos="469900" algn="l"/>
              </a:tabLst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  </a:t>
            </a:r>
            <a:r>
              <a:rPr 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可视化拟合结果；（三幅图：欠拟合、过拟合、正常拟合）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57200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469900" algn="l"/>
              </a:tabLst>
            </a:pP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0" y="4038600"/>
            <a:ext cx="3306241" cy="26064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05535"/>
            <a:ext cx="4980940" cy="250888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4037330"/>
            <a:ext cx="3295015" cy="260794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4001135"/>
            <a:ext cx="3297446" cy="26064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7400" y="1140460"/>
            <a:ext cx="6076950" cy="243840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81000" y="533400"/>
            <a:ext cx="455485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生成随特定函数分布的几百个随机数据点</a:t>
            </a:r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867400" y="533400"/>
            <a:ext cx="432625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 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分为训练集和测试集，并可视化数据点</a:t>
            </a:r>
            <a:endParaRPr lang="zh-CN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05400" y="3505200"/>
            <a:ext cx="2269490" cy="17907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0030" y="5221605"/>
            <a:ext cx="2055495" cy="163766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865" y="380365"/>
            <a:ext cx="4524375" cy="308483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227965"/>
            <a:ext cx="6182360" cy="326771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562350"/>
            <a:ext cx="2105660" cy="159194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2130" y="5268595"/>
            <a:ext cx="2158365" cy="159956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0600" y="3550920"/>
            <a:ext cx="2172970" cy="163068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10600" y="5181600"/>
            <a:ext cx="2210435" cy="170561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8077200" y="0"/>
            <a:ext cx="204025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4. 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可视化拟合结果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762000" y="0"/>
            <a:ext cx="251841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3.sklearn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框架拟合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18" name="直接箭头连接符 17"/>
          <p:cNvCxnSpPr/>
          <p:nvPr/>
        </p:nvCxnSpPr>
        <p:spPr>
          <a:xfrm>
            <a:off x="3938270" y="1468120"/>
            <a:ext cx="1548130" cy="203708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533400" y="4953000"/>
            <a:ext cx="116014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degree = 2</a:t>
            </a:r>
            <a:endParaRPr lang="en-US" altLang="zh-CN"/>
          </a:p>
        </p:txBody>
      </p:sp>
      <p:sp>
        <p:nvSpPr>
          <p:cNvPr id="22" name="文本框 21"/>
          <p:cNvSpPr txBox="1"/>
          <p:nvPr/>
        </p:nvSpPr>
        <p:spPr>
          <a:xfrm>
            <a:off x="10820400" y="4953000"/>
            <a:ext cx="127571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degree = 25</a:t>
            </a:r>
            <a:endParaRPr lang="en-US" altLang="zh-CN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76200"/>
            <a:ext cx="6720840" cy="64312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90600" y="6400800"/>
            <a:ext cx="990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https://scikit-learn.org/0.20/auto_examples/linear_model/plot_ols.html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62000" y="228600"/>
            <a:ext cx="196596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/>
              <a:t>参考示例</a:t>
            </a:r>
            <a:endParaRPr lang="zh-CN" altLang="en-US" b="1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" name="图片 15" descr="tes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9180" y="1676400"/>
            <a:ext cx="4782820" cy="3587115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371600"/>
            <a:ext cx="6648450" cy="250507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85800" y="304800"/>
            <a:ext cx="400685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marL="12700" algn="l">
              <a:lnSpc>
                <a:spcPct val="100000"/>
              </a:lnSpc>
              <a:spcBef>
                <a:spcPts val="1535"/>
              </a:spcBef>
            </a:pPr>
            <a:r>
              <a:rPr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polynomial features</a:t>
            </a:r>
            <a:r>
              <a:rPr 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多项式特征</a:t>
            </a:r>
            <a:r>
              <a:rPr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343400"/>
            <a:ext cx="5410200" cy="168592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7848600" y="1402080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X</a:t>
            </a:r>
            <a:r>
              <a:rPr lang="zh-CN" altLang="en-US"/>
              <a:t>的特征</a:t>
            </a:r>
            <a:endParaRPr lang="zh-CN" altLang="en-US"/>
          </a:p>
        </p:txBody>
      </p:sp>
      <p:pic>
        <p:nvPicPr>
          <p:cNvPr id="12" name="图片 11" descr="58d06eb9b8003c392af19e09ce5ab1a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9200" y="1447800"/>
            <a:ext cx="755650" cy="27749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6629400" y="5442585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新的</a:t>
            </a:r>
            <a:r>
              <a:rPr lang="en-US" altLang="zh-CN"/>
              <a:t>X</a:t>
            </a:r>
            <a:r>
              <a:rPr lang="zh-CN" altLang="en-US"/>
              <a:t>的特征</a:t>
            </a:r>
            <a:endParaRPr lang="zh-CN" altLang="en-US"/>
          </a:p>
        </p:txBody>
      </p:sp>
      <p:pic>
        <p:nvPicPr>
          <p:cNvPr id="14" name="图片 13" descr="6b474f60cd7fcc77b4a950334fc6483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7200" y="5486400"/>
            <a:ext cx="2133600" cy="28003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1143000" y="762000"/>
            <a:ext cx="717105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该预处理器将输入数据矩阵转换为给定度的新数据矩阵</a:t>
            </a:r>
            <a:endParaRPr sz="200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任意多边形 26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-1" y="76412"/>
            <a:ext cx="12204701" cy="347616"/>
          </a:xfrm>
          <a:custGeom>
            <a:avLst/>
            <a:gdLst>
              <a:gd name="connsiteX0" fmla="*/ 0 w 9153526"/>
              <a:gd name="connsiteY0" fmla="*/ 0 h 260712"/>
              <a:gd name="connsiteX1" fmla="*/ 9153526 w 9153526"/>
              <a:gd name="connsiteY1" fmla="*/ 0 h 260712"/>
              <a:gd name="connsiteX2" fmla="*/ 9153526 w 9153526"/>
              <a:gd name="connsiteY2" fmla="*/ 60325 h 260712"/>
              <a:gd name="connsiteX3" fmla="*/ 5009013 w 9153526"/>
              <a:gd name="connsiteY3" fmla="*/ 60325 h 260712"/>
              <a:gd name="connsiteX4" fmla="*/ 4576763 w 9153526"/>
              <a:gd name="connsiteY4" fmla="*/ 260712 h 260712"/>
              <a:gd name="connsiteX5" fmla="*/ 4144513 w 9153526"/>
              <a:gd name="connsiteY5" fmla="*/ 60325 h 260712"/>
              <a:gd name="connsiteX6" fmla="*/ 0 w 9153526"/>
              <a:gd name="connsiteY6" fmla="*/ 60325 h 260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53526" h="260712">
                <a:moveTo>
                  <a:pt x="0" y="0"/>
                </a:moveTo>
                <a:lnTo>
                  <a:pt x="9153526" y="0"/>
                </a:lnTo>
                <a:lnTo>
                  <a:pt x="9153526" y="60325"/>
                </a:lnTo>
                <a:lnTo>
                  <a:pt x="5009013" y="60325"/>
                </a:lnTo>
                <a:cubicBezTo>
                  <a:pt x="4904129" y="181194"/>
                  <a:pt x="4748392" y="260712"/>
                  <a:pt x="4576763" y="260712"/>
                </a:cubicBezTo>
                <a:cubicBezTo>
                  <a:pt x="4405136" y="260712"/>
                  <a:pt x="4249399" y="181194"/>
                  <a:pt x="4144513" y="60325"/>
                </a:cubicBezTo>
                <a:cubicBezTo>
                  <a:pt x="0" y="60325"/>
                  <a:pt x="0" y="60325"/>
                  <a:pt x="0" y="60325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F3F989F-8D12-475D-9C50-23F49E8F4161}" type="slidenum">
              <a:rPr lang="zh-CN" altLang="en-US"/>
            </a:fld>
            <a:endParaRPr lang="zh-CN" altLang="en-US"/>
          </a:p>
        </p:txBody>
      </p:sp>
      <p:sp>
        <p:nvSpPr>
          <p:cNvPr id="2" name="任意多边形 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10800000">
            <a:off x="43814" y="6401012"/>
            <a:ext cx="12204701" cy="347616"/>
          </a:xfrm>
          <a:custGeom>
            <a:avLst/>
            <a:gdLst>
              <a:gd name="connsiteX0" fmla="*/ 0 w 9153526"/>
              <a:gd name="connsiteY0" fmla="*/ 0 h 260712"/>
              <a:gd name="connsiteX1" fmla="*/ 9153526 w 9153526"/>
              <a:gd name="connsiteY1" fmla="*/ 0 h 260712"/>
              <a:gd name="connsiteX2" fmla="*/ 9153526 w 9153526"/>
              <a:gd name="connsiteY2" fmla="*/ 60325 h 260712"/>
              <a:gd name="connsiteX3" fmla="*/ 5009013 w 9153526"/>
              <a:gd name="connsiteY3" fmla="*/ 60325 h 260712"/>
              <a:gd name="connsiteX4" fmla="*/ 4576763 w 9153526"/>
              <a:gd name="connsiteY4" fmla="*/ 260712 h 260712"/>
              <a:gd name="connsiteX5" fmla="*/ 4144513 w 9153526"/>
              <a:gd name="connsiteY5" fmla="*/ 60325 h 260712"/>
              <a:gd name="connsiteX6" fmla="*/ 0 w 9153526"/>
              <a:gd name="connsiteY6" fmla="*/ 60325 h 260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53526" h="260712">
                <a:moveTo>
                  <a:pt x="0" y="0"/>
                </a:moveTo>
                <a:lnTo>
                  <a:pt x="9153526" y="0"/>
                </a:lnTo>
                <a:lnTo>
                  <a:pt x="9153526" y="60325"/>
                </a:lnTo>
                <a:lnTo>
                  <a:pt x="5009013" y="60325"/>
                </a:lnTo>
                <a:cubicBezTo>
                  <a:pt x="4904129" y="181194"/>
                  <a:pt x="4748392" y="260712"/>
                  <a:pt x="4576763" y="260712"/>
                </a:cubicBezTo>
                <a:cubicBezTo>
                  <a:pt x="4405136" y="260712"/>
                  <a:pt x="4249399" y="181194"/>
                  <a:pt x="4144513" y="60325"/>
                </a:cubicBezTo>
                <a:cubicBezTo>
                  <a:pt x="0" y="60325"/>
                  <a:pt x="0" y="60325"/>
                  <a:pt x="0" y="60325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2" name="PA_圆角矩形 11"/>
          <p:cNvSpPr/>
          <p:nvPr>
            <p:custDataLst>
              <p:tags r:id="rId3"/>
            </p:custDataLst>
          </p:nvPr>
        </p:nvSpPr>
        <p:spPr>
          <a:xfrm>
            <a:off x="1984799" y="3044826"/>
            <a:ext cx="8235951" cy="76834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0">
            <a:spAutoFit/>
          </a:bodyPr>
          <a:p>
            <a:pPr algn="di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THANK YOU FOR WATCHING</a:t>
            </a:r>
            <a:endParaRPr lang="en-US" altLang="zh-CN" sz="4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bldLvl="0" animBg="1"/>
      <p:bldP spid="2" grpId="0" bldLvl="0" animBg="1"/>
      <p:bldP spid="12" grpId="0" bldLvl="0" animBg="1"/>
    </p:bld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UNIT_TABLE_BEAUTIFY" val="smartTable{7b22e6d5-f67d-46b4-b159-7d760e0a816a}"/>
</p:tagLst>
</file>

<file path=ppt/tags/tag3.xml><?xml version="1.0" encoding="utf-8"?>
<p:tagLst xmlns:p="http://schemas.openxmlformats.org/presentationml/2006/main">
  <p:tag name="KSO_WM_UNIT_TABLE_BEAUTIFY" val="smartTable{b7f20dba-ccde-4f5c-ba12-d0adb0e3bcfe}"/>
</p:tagLst>
</file>

<file path=ppt/tags/tag4.xml><?xml version="1.0" encoding="utf-8"?>
<p:tagLst xmlns:p="http://schemas.openxmlformats.org/presentationml/2006/main">
  <p:tag name="KSO_WM_UNIT_TABLE_BEAUTIFY" val="smartTable{7f14935c-8c58-4880-b83b-7118670171d0}"/>
</p:tagLst>
</file>

<file path=ppt/tags/tag5.xml><?xml version="1.0" encoding="utf-8"?>
<p:tagLst xmlns:p="http://schemas.openxmlformats.org/presentationml/2006/main">
  <p:tag name="KSO_WM_UNIT_TABLE_BEAUTIFY" val="smartTable{8d437a97-bfa3-4e43-bdef-ea3ed7e43cb2}"/>
</p:tagLst>
</file>

<file path=ppt/tags/tag6.xml><?xml version="1.0" encoding="utf-8"?>
<p:tagLst xmlns:p="http://schemas.openxmlformats.org/presentationml/2006/main">
  <p:tag name="KSO_WM_UNIT_TABLE_BEAUTIFY" val="smartTable{fb65cfbd-dfbe-4e25-a3f3-d23c997a5973}"/>
</p:tagLst>
</file>

<file path=ppt/tags/tag7.xml><?xml version="1.0" encoding="utf-8"?>
<p:tagLst xmlns:p="http://schemas.openxmlformats.org/presentationml/2006/main">
  <p:tag name="PA" val="v3.0.1"/>
</p:tagLst>
</file>

<file path=ppt/tags/tag8.xml><?xml version="1.0" encoding="utf-8"?>
<p:tagLst xmlns:p="http://schemas.openxmlformats.org/presentationml/2006/main">
  <p:tag name="PA" val="v3.0.1"/>
</p:tagLst>
</file>

<file path=ppt/tags/tag9.xml><?xml version="1.0" encoding="utf-8"?>
<p:tagLst xmlns:p="http://schemas.openxmlformats.org/presentationml/2006/main">
  <p:tag name="PA" val="v3.0.1"/>
</p:tagLst>
</file>

<file path=ppt/tags/tag11.xml><?xml version="1.0" encoding="utf-8"?>
<p:tagLst xmlns:p="http://schemas.openxmlformats.org/presentationml/2006/main">
  <p:tag name="KSO_WPP_MARK_KEY" val="7bb0cd74-c093-4e27-b494-a9dcf7aeb614"/>
  <p:tag name="COMMONDATA" val="eyJoZGlkIjoiZmM5MzI1YTRjNGNiNTEyMDQ5OTAwYmFmMmE0NWM1Zjg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999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C9F754DE-2CAD-44b6-B708-469DEB6407EB-1">
      <extobjdata type="C9F754DE-2CAD-44b6-B708-469DEB6407EB" data="ewoJIkZpbGVJZCIgOiAiMTU3MDg3MTU0OTE2IiwKCSJHcm91cElkIiA6ICI1NzU2ODI1NjUiLAoJIkltYWdlIiA6ICJpVkJPUncwS0dnb0FBQUFOU1VoRVVnQUFBelVBQUFJRUNBWUFBQUFndlFCUUFBQUFDWEJJV1hNQUFBc1RBQUFMRXdFQW1wd1lBQUFnQUVsRVFWUjRuT3pkZDFnVTE4SUc4SGNiZGVrZ0tBb1diS0NnMkFWTHNNU0NKWllrVjI5TWpLWllvb214WEtNbUdsdlVtR0tLMkEwYXZVYlJlQlVEaWoxWUVFUXhZcXlJZ29wMDJBV1diZDhmZkR0eGFXS0YxZmYzUEhsdW1EbHo1c3l1MTh6TGFTSzlYcThIRVJFUkVSR1JDUkNKUktMU3g4VFYwUkFpSWlJaUlxS25oYUdHaUlpSWlJaE1Ha01ORVJFUkVSR1pOSVlhSWlJaUlpSXlhUXcxUkVSRVJFUmswaGhxaUlpSWlJaklwREhVRUJFUkVSR1JTV09vSVNJaUlpSWlrOFpRUTBSRVJFUkVKbzJoaG9pSWlJaUlUQnBERFJFUkVSRVJtVFNHR2lJaUlpSWlNbWtNTlVSRVJFUkVaTklZYW9pSWlJaUl5S1F4MUJBUkVSRVJrVWxqcUNFaUlpSWlJcFBHVUVORVJFUkVSQ2FOb1lhSWlJaUlpRXdhUXcwUkVSRVJFWmswaGhvaUlpSWlJakpwRERWRVJFUkVSR1RTR0dxSWlJaUlpTWlrTWRRUUVSRVJFWkZKWTZnaElpSWlJaUtUeGxCRFJFUkVSRVFtamFHR2lJaUlpSWhNR2tNTkVSRVJFUkdaTklZYUlpSWlJaUl5YVF3MVJFUkVSRVJrMGhocWlJaUlpSWpJcERIVUVCRVJFUkdSU1dPb0lTSWlJaUlpazhaUVEwUkVSRVJFSm8yaGhvaUlpSWlJVEJwRERSRVJFUkVSbVRTR0dpSWlJaUlpTW1rTU5VUkVSRVJFWk5JWWFvaUlpSWlJeUtReDFCQVJFUkVSa1VsanFDRWlJaUlpSXBQR1VFTkVSRVJFUkNhTm9ZYUlpSWlJaUV3YVF3MFJFUkVSRVprMGhob2lJaUlpSWpKcEREVkVSRVJFUkdUU0dHcUlpSWlJaU1pa01kUVFFUkVSRVpGSlk2Z2hJaUlpSWlLVHhsQkRSRVJFUkVRbWphR0dpSWlJaUloTUdrTU5FUkVSRVJHWk5JWWFJaUlpSWlJeWFRdzFSRVJFUkVSazBoaHFpSWlJaUlqSXBESFVFQkVSRVJHUlNXT29JU0lpSWlJaWs4WlFRMFJFUkVSRUpvMmhob2lJaUlpSVRCcEREUkVSRVJFUm1UU0dHaUlpSWlLaXg2QlNxYkJ4NDBZa0pTVTlkaDE1ZVhtNGNPRUM5SHE5VWIxWHIxNkZUcWQ3R3MxOEtVaXJ1d0ZFUkVSRVZEbEZmajRPUlVVaThjSUZaR1ZsR3IwQVB5MjkrdlJENzc3OUgrdmEwYU5IbHprbUZvdGhaMmVIVnExYTRiWFhYb09OamMwajE1dWVuZzRYRnhlait3UUVCR0RzMkxHUDFjNm5UU1FTSVNrcENZbUppWmcvZno3TXpjMnJkSjFlcjRkSUpBSUEzTDkvSDk5ODh3M1dyVnRuZEd6Um9rVll0MjdkTTJ2N2k0YWhob2lJaUtnR3UzRCtITUsyYllWR280RkgvZnJ3YWVrTGN3dUxwMzZmUm8yYlBOSDFUWm8wUWZmdTNZV2Z0Vm90N3R5NWc2aW9LRnk5ZWhWejU4NkZSQ0twY24zTGx5K0huWjFkalFrd0twVUtSVVZGWlk0UEhqd1lHemR1eE0yYk4rSG01bGJtdksydHJSQldBQ0FoSVFFUkVSRVlQMzQ4NUhJNUxDMHRBUUJxdFJxWm1abVF5V1RJejg4SEFHUmxaUUVvK1N3dExDeGdaMmYzTEI3dGhjQlFRMFJFUkZSRFhUaC9EcUhyMThDM2xUK0dESDhEMW5KNWRUZXBRaTR1THVqVXFWTzV4ME5EUXhFYkc0c09IVHBVdWI2Ly92b0xBUUVCVDdPSlR5UXFLZ283ZHV5bzhQeFhYMzFWN3ZFMWE5WkFLdjNubGJ0MjdkcFFLcFZZdkhneDVzeVpBN0c0WkRiSXpaczM4YzAzMzBBbWt3azljZlBtelFOUUVtcDY5KzZOd1lNSFA2M0hlZUV3MUJBUkVSSFZRSXI4ZklUOXRoVytyZnp4MXVneDFkMmN4OWErZlh1RWhvYmkyclZyanhScWFocERqOHJxMWF1RlkzZnYzb1c1dVRrY0hSM0xsRDkyN0JnMmI5NWNwbmZLeGNVRi8vblBmM0Q2OUdsWVdGaEFxOVVDQUpvMmJZcFZxMVlKOVg3MjJXZjQ0WWNmbnRYanZIQVlhb2lJaUlocW9FTlJrZENvTlJneS9JM3Fic29Ua2Nsa0FFcDZHM2JzMklIdzhIQXNYTGdRZGVyVUVjcm85WHBNbVRJRlhsNWVtREJoZ2pCSEp6bzZHdEhSMGRpd1lZTlJuZnYzNzBkVVZCU3lzN05SdTNadERCNDhHUDcrL2tabEZBb0Z3c0xDY1Bic1dSUVVGTURWMVJVOWV2VEFLNis4SXBRWlBYbzBoZzBiQnFsVWlvTUhEeUk3T3h1dXJxNFlPSEFnMnJkdmIxU2ZXcTAyZWg1RE8rTGk0ckI0OFdMWTI5c2JsVGYwd0dnMEdxTnJnSktBVks5ZVBZU0dodUwwNmRQQzhieThQS2hVS21Sblp3TUFNakl5b05mcm9kVnF5eDNhUnY5Z3FDRWlJaUtxZ1JJdlhJQkgvZm8xZXNoWlZWeTZkQWtBNE9ucGlVYU5HaUU4UEJ3eE1URkdRNm4rL3Z0djVPVGtvR1BIamdDQTk5OS9INnRYcnk0elR3Y0F6cHc1ZzhURVJQVHMyUlBtNXVhSWpJekVqei8raUxsejU4TER3d01Bb0ZRcXNXREJBdVRrNUtCWHIxNXdjWEhCMmJObkVSb2FpbnYzN3VGZi8vcVhVTi9odzRjaEZvdlJvMGNQaU1WaUhEaHdBQ0VoSVhCMGRJU1hsNWRRcmtlUEh1alNwWXZ3czFLcFJHeHNMUHIwNlZNbTBBQkEyN1p0MGFCQkE2T2Vtc0xDUXV6ZHV4Y3hNVEhRYURUbzJiTW5KazZjaUtWTGwwS3YxeU15TWhLSER4K0dSQ0tCWEM3SHZIbnpvTmZyWVdOamc4V0xGei9CdC9EaVk2Z2hJcW9DUlg0ZWNySnpvRlFvb0ZZWGM1bE5vaGVRV0N5R1RHWUdhN2tjOWc3MmtOdllWbXQ3c3JJeTRkUFN0MXJiOENnMEdnMFVDb1h3YzNGeE1hNWR1NGF0VzdmQ3djRUJIVHQyaExtNU9lcldyWXN6Wjg0WWhacVltQmhZV2xyQ3o4OFBBTkNwVXllc1hyMjZ3bms2czJiTmdwT1RFd0NnZnYzNldMQmdBV0pqWTRWUXMyL2ZQcVNscFdINjlPbG8zcnc1QUtCcjE2NElDUW5CL3YzNzBiVnJWN2k3dXdNbzZkRlpzbVNKTUFuZnk4c0xYMzc1SmVMaTRvUlFVMWhZQ0pWS0JhbFVLanhqWkdRazlIbzlPbmZ1YlBUY0JpS1JDSTZPanNqT3poYmFhbWxwQ2JWYWpjR0RCNk5qeDQ2UVNDUklUazRHQUZ5NWNnVU5HalRBOE9IREgvY3JlS2t4MUJBUlZVS2xVaUhsVmpLMFdpMGNuWnpnVXFzV1pHWm13ckFDSW5weDZIUTZxSXVMa1orZmh6dXBxWkJJN3FHdWgyZVZsK2w5MnZSNi9UTlo1ZXhaT1gzNnRORlFLb01HRFJwZ3pKZ3h3dWZZc1dOSDdOaXhBNm1wcVhCM2Q0ZE9wME5zYkN6YXRHbGpOS0crSWsyYk5oVkNncUYrQU1qTnpSV09uVHQzRGg0ZUhrS2dNZWpidHk5T256Nk4rUGg0SWRRMGFkTEVhRld4QjN0N0RFNmRPb1hRME5CeTJ6Tmp4b3lIdHZuQjRYTWpSb3d3T3VmaDRZSFZxMWNqUGo0ZUd6ZHVSSk1tVFdCclc3MkIyaFF4MUJBUlZVQ3BVQ0E1NlFaY2E5ZUdrN1BMd3k4Z0lwTW1Gb3RoYm1FQmN3c0xPTHZVUW1aR09xNWZ1UXpQQmcxTmZnalk4OUNpUlF2MDdkdFgrRmttazhIRnhhWE0wS3lPSFRzaUxDd01aODZjZ2J1N08vNzY2eThvRklweWUyVEtVL3FGMy9CTEpzT0VlNkJrZjV2U2Myd0FDRUVtTXpOVE9GWjYveHpEY0xFSGUrUzdkT21DZ0lBQXlHUXlpRVFpN05tekIzLzg4UWNXTFZwazlIeEZSVVdZTW1VS09uVG9nTGZmZmhzNm5RNHFsY3FvL3N1WEw4UFcxcmJNUEpzR0RSckF5Y2tKS1NrcHFGV3JsdEU1blU0SGpVWmpOQStKakRIVUVCR1ZRNlZTSVRucEJqd2FOSUJjL3VnYnhoR1I2WE55ZG9HNWhRV1NrMjZnVVpPbTFkWmpZeXJzN096ZzdlMzkwSEpPVGs3dzh2SVM1dFhFeE1UQXpzNE96Wm8xZTJwdHFXaHowdktPUDdpSFRFVWU3RUc2Zi84Kzl1N2RpK0hEaDVjSmJQdjM3MGR4Y1RINjllc0hvQ1J3R1ZaTk0xaTZkQ2xrTWxtWkh2K2lvaUxvOVhyOCtPT1BaZTV2Q0ZnaElTRVBiZXZMaXFHR2lLZ2NLYmVTNFZxN05nTU4wVXRPTHJlQmErM2FTTG1WL01TYlU5SS9PblhxaE5EUVVLU2twT0RjdVhQbzNMbnpVeDNXNit6c2pEdDM3cFE1YmpqMjRQQzFSeFVWRlFXTlJvTTllL2JnMnJWcmFOR2lCWHg5ZlpHZm40L3c4SEQwNjljUExpNFY5KzZ2VzdmTzZHZWRUb2VkTzNjaUlTRUJZckVZYmR1MlJYQndzSEErTVRHeFNtSHhaY2RCNFVSRXBTank4NkRWYWpua2pJZ0FsUFRZYUxWYUtQTHpxcnNwTDR4MjdkcEJJcEhnOTk5L2gxS3BMSGYvbXFyMG9GU2tWYXRXdUgzN3RyRHltc0grL2ZzQkFDMWJ0bnpzdWtlTUdJR2ZmLzRaWThhTWdiVzFOWGJ1M0ltUFAvNFk4K2ZQaDVXVmxkRVF2SWU1Y2VNR0ZpNWNDSVZDZ2RtelorTzk5OTdEM3IxN2taaVlDQUNJaUlqQTExOS9qZmo0K01kdTc4dUNQVFZFUktYa1pPZkE4UWwraTBkRUx4NUhKeWZrWk9kVSs0cG9Md3E1WEk0V0xWb2dMaTRPTGk0dWFOU29VYmxscmw2OWl1UEhqeU1nSU9DUmVuTDY5KytQTTJmTzRQdnZ2MGZ2M3IzaDdPeU1jK2ZPSVQ0K0hqMTc5b1NucCtjVHRkL2MzQnkrdnI1bzJMQWhwRklwOXUvZkR6YzNONlNtcG1McTFLbm8zcjA3ZXZYcVZlNVN6enFkRGdrSkNUaDQ4Q0R1MzcrUCsvZnZZK3pZc1RBek00Tzd1enZlZlBOTnJGaXhBdDdlM2toTlRjV01HVFBRdEduVEoycnZ5NENoaG9pb0ZLVkNBWmRTa3pTSjZPVm1ZMk9MelBTTTZtN0dDNlZUcDA0NGYvNTh1YjAwQURCa3lCQ0VoWVVoTkRRVVRaczJMVE41dmpKeXVSeXpaODlHV0ZnWWpodzVBcVZTQ1RjM043ejExbHNJQ2dwNm9uWm5aV1hoNzcvL3h2bno1eEVmSHc5cmEydU1IVHNXQVFFQnlNL1B4NEVEQnhBVkZZV29xQ2dFQlFVaE9EZ1kxdGJXQUlCNzkrNWg4ZUxGME9sMDZOKy9QeVpObW9UMzMzOGZDb1VDRVJFUnVIdjNMa2FQSG8zYzNGenMzcjBicjcvK091clhyLzlFN1gxWmlQUVZ6YVFpSW5wSi9YWCtITHhiK25MWlppSVM2SFE2SkY1SVFBdS9Wcy90bnRNbVQwQ3ZQdjNRdTIvLzUzYlA1K24wNmRNSUNRbkJ3b1VMYS95cVhucTlIai84OEFPdVhMa0NwVklKc1ZpTVpzMmFvWFBuenVqUW9VT1pwYWdWQ2dWMjc5Nk5RNGNPb1ZPblRoZzdkcXh3N3RxMWE2aFhyeDdNemMxeDZkSWxMRjI2RkNLUkNBNE9EaGc4ZUxDd3dlZlpzMmV4ZGV0VzVPWGxvWDc5K21qY3VER0dEUnYyWEorN3BoS1ZNemFSUFRWRVJLWG9kRG9HR2lJeUloYUx1ZW51VTNiczJERTBiTml3eGdjYW9HUitUMEJBQUJ3Y0hOQ3NXVFA0K1BqQXlzcXF3dkp5dVJ3alI0NUVZR0JnbVNXb0RSdDZHdjY5WGJ0MjhQTHlRbEJRa0ZFNDh2ZjNSNnRXclpDWW1Jano1ODhMKytkUStSaHFpSWlJaU9pNTBPbDBXTDE2TmJLenMzSGx5aFZNbkRpeHVwdFVaVzNhdEVHYk5tMGU2WnFIemQyUnlXUVlQMzU4aGVmRllqRmF0R2lCRmkxYVBOSjlYMFlNTlVSRVJFVDBYSWpGWWlRbkp5TTNOeGVEQmcxNjVKQkFWQkdHR2lJaUlpSjZiaFl2WGx6ZFRhQVhFQWVORXhFUkVSR1JTV09vSVNJaUlpSWlrOFpRUTBSRVJFUkVKbzJoaG9pSXFvVkNvWGhtZGVmazVPRGt5WlBJeTh1cmN2bU1qQXd1MlV0RVpLSVlhb2lJNkxsTFRVM0YxS2xUY2ZqdzRTZXFSNnZWWXNTSUViaHg0NGJSOFR0Mzd1Q0hIMzVBZW5wNmxlbzVkT2dRSmsyYWhMLysrdXVKMmtQRzB0TFNzSGZ2WGlRbEpWWDVHcjFlRDVWS0JhVlNXZUg1aVJNbll0ZXVYVStybVVUMEF1RHFaMFJFejhpSUVTUEtQVzVtWmdabloyZTBiZHNXQXdjT3JIUUR0OHBvdFZyczI3Y1BBd1lNS0hOZlQwL1BHcjNDa0p1YkcxeGNYQkFhR29vV0xWckF4Y1dsU3RkbFpXVmgwNlpOR0Rac0dOemQzWVZOVXMzTnphRlNxU0NSU0NDUlNJUU43QXovcTlmclVWeGNERE16TTVTekViWFFhL1RncG5pUG82Q2dBUHYyN2NPWk0yZHc3OTQ5NkhRNk9Eczd3OGZIQi8zNjlTdXp5V0JWdnl0VCtFN0xrNTZlamkxYnRtRGN1SEZvMEtBQkFHRHMyTEVvS0NpbzB2VmJ0bXdSL2wydFZrTXNGa09sVWlFckt3dm01dWJRYXJYQ2ViRllqT0xpWW1SbVpwYXB4OWJXRm5LNS9BbWZob2hxTW9ZYUlxSm55TTdPRGoxNzlqUTZWbHhjakd2WHJ1Ri8vL3NmenAwN2gvbno1ME1ta3oxeTNjdVdMVU5DUWtLWlVGT1RhTFZhcEtXbGxYdXVWNjllMkxwMUsyN2Z2ZzIxV2wzbXZKV1ZGZXp0N1kyT0ZSUVU0UGJ0MjVnMWF4WkdqeDZOYnQyNkFTalo3WHYxNnRVNGVmS2tVZm1aTTJjYS9menp6eitYcVJNb0dYNW1ZV0dCczJmUFZ1bTVkRG9kaW91TDBiMTdkeUU0WldWbFllN2N1Y2pNeklTdnJ5LzgvUHdna1VpUWtwS0NvMGVQNHZqeDQvajQ0NC9SdW5Yckt0M2pSV0J0YlEwQXNMQ3dFSTZKeFdJTUdEQUFmZnYycmZBNnJWYUx3c0pDbzJPZmYvNDVrcE9UaFo4M2I5Nk16WnMzQ3ovUG56OGZLcFVLQ3hZc0tGUGZ5SkVqMGI5Ly84ZCtEaUtxK1JocWlJaWVJWHQ3ZXd3ZE9yVGNjMnZYcnNXaFE0ZHc4T0JCOU9uVDU1SHJ6czNOZmRMbVBYTkZSVVdZT25WcXBXVysvdnJyY284SEJRVmg3Tml4UnNmcTFxMkwrZlBuWThtU0pXV0MwS2hSb3pCeTVFaElwVkxjdkhrVFgzMzFGV2JQbm8xNjllb0pQVFcydHJibDNpc3pNeE1xbFFwcjFxeXAwbk5wdFZyb2REcDA3dHhaQ0RWYnQyNUZSa1lHcGsrZmpsYXRXaG1WdjNyMUtoWXNXSUNRa0JDc1dMRUM1dWJtVmJxUHFUTjhOcVY3eHl3c0xNb05sNVdaT0hFaXhHSXhMbCsrak5XclYyUEtsQ21vVjY4ZXpwOC9qNDBiTjhMR3hnWjZ2UjRBOFAzMzN3dTlmeU5Hakhpc1h4b1FrV2xocUNFaXFpYkJ3Y0U0ZE9nUXpwOC8vMWloeGhRWWh0YjE2ZE1IbzBhTkVvNG5KeWZEMWRYVjZEZjREeG94WWdUTXpNektQV2RwYVlrNWMrWkFMQllqTmpaV09HNW5aMWZtdnRiVzFyQ3hzWGxvTzlQVDA5R3hZMGQ4OU5GSEQzK28vNmZWYWlHUlNJU2Z6NTQ5aTlxMWE1Y0pOQURRdUhGamRPN2NHVWVQSHNYbHk1Zmg2K3RiNWZ1WW9vU0VCRmhiV3lNN094c0FrSkdSZ2N1WEx3czlOMERKWjU2ZW5nNWJXMXRoR0NGUTBwT1puWjBOYjI5dm8vRG43dTRPQUlpSmlZRklKSUszdHplc3JLeUU3N2Vpb1lVQWpPcC9VdE1tVDNocWRWWEY5V3RYbit2OWlFd1ZRdzBSVmF2c0xDWCtTa2pCNVV0M2taV2xRRjV1SVZRcVRiVzI2YTEzbWo2WCt6ZzdPd1A0Wno3SHJsMjdzSDM3ZHJ6MzNudDQ1WlZYak1wbVpHUmc4dVRKNk55NU15Wk1tR0EwWDhmdzd3L09Qd0NBcEtRa2JOKytIWmN2WDRaZXIwZjkrdlV4YU5BZytQbjVHWlhUNi9VNGVQQWdEaDgrakpTVUZFZ2tFalJvMEFEQndjRmxoa29aNW5aTW1USUYvLzN2ZjNIaHdnV29WQ3A0ZW5yaXRkZGVLMU5lb3luL3UxeTdkaTB5TWpLd1pNbVNDbnRQS3JwV3BWTGh4SWtUMkxkdkgxSlRVNDNPM2J0M0QxS3BWRmoxTERjM0YxbFpXZEJvTkxDMnRqWjZxVFlvTGk1R2JtNnU4SDFVMVlPQkJpZ1prcGFkblkyOHZMeHlueWs0T0JodDI3WkYvZnIxSzYwM0xDd01ZV0ZoOFBYMXhhZWZmbHBoTDROZXI4ZUJBd2R3K1BCaDNMbHpCK2JtNW1qZXZEbUdEUnVHZXZYcUdaWE55OHZEbmoxN2NQYnNXV1JtWmtLbjA4SEZ4UVZkdTNaRmNIQ3c4Q3lHNzNmZ3dJSFl2SGt6bEVvbEFnSUM4TjU3N3ozU2Q3OTY5V29VRmhZS1BTZS8vZlliQUtCNzkrNUNtYi8vL2hzYk5teUFWQ3FGV3EyR1NxV0NYQzZIWHErSFdxM0cxMTkvWFc2UFZteHNMRHc5UFlYZ2F1aXhNL1FLUFdzTnZSby9sL3NBd0kxclYrSG82UFRjN2tka3loaHFpS2hhWkdUazQ0ODk1NUZ3N2pZQW9LNkhJK3A1T01IR3hnSm01dFg5VjFQWitSM1BnbUZsTGtkSFJ3QkFZR0FnZHV6WWdlam82REtoSmpvNkducTlIbDI2ZEFFQURCMDZGRkZSVWNqTnpTMTNlRnQ2ZWpybXpwMkwrdlhybzJmUG5zakp5Y0dKRXlld2RPbFN6SjQ5RzgyYk53ZFE4bUs4WXNVS25ENTlHbTV1YnVqZHV6ZlVhalZPblRxRlpjdVdZY1NJRVFnT0RqYXFPejgvSDE5ODhRWGMzTndRRkJTRXpNeE1uRHAxQ2w5Ly9UVm16cHlKRmkxYUNHWEZZakUrKyt3ek9Ebjk4MkoyNDhZTlhMOStIVysrK1dhRmdlYWRkOTRwTTZsZXFWUWlMQ3dNeDQ0ZGcxYXJSZmZ1M1RGcDBpVE1tREZEZUhsZXZIZ3hzckt5SUJhTElaUEpzSHo1Y2dBbEFXbnMyTEZsUGxlZ1pJVXV2VjVmNWNVS0t0S2lSUXZFeGNWaHpwdzU2TnUzTDlxMmJXc1VsTnpkM1lYZWhvcEVSRVFnTEN3TTN0N2VtREpsU3FYRHBuNzY2U2VjT0hFQ1hsNWU2Tk9uRC9MejgzSHk1RWtrSkNUZ3M4OCtRK1BHSlMvZkJRVUZtRE5uRHJLeXN0QytmWHQwN05nUitmbjVpSW1Kd2JadDI2QlFLREJ5NUVpaDNveU1ES3hkdXhZQkFRSFFhRFJvMHFTSmNLNnEzLzJQUC80SUFOaXhZd2QyN3R5SjhlUEhvMjNidGdDQVAvLzhFd0RRcFVzWDRjOXpWRlFVMXE5ZmorWExsMWZhc3hZZkh5LzgyVEV3OUFiSlpESmg0WUM4dkR5ano2NmlnUHc0eG4zMDhWT3I2MkdtVFo0QWgvLy8rNEdJS2xmZGJ3NUU5SkxSNjRGamgvL0d2ajNuWUcxdGpvR3YrY1BQM3dPMnRwYlYzVFJCUW56Vkpvcy9DWjFPaHgwN2RnQ0E4TExuNHVLQ1pzMmE0ZEtsUzhqSnlUR2FjL0RubjMvQzN0NWVlR2tjT25Rb1ltTmpLd3cxQlFVRkdEeDRNRjUvL1hYaG1JK1BEMEpDUW5EbzBDRWgxUHo1NTU4NGZmbzBXclZxaFNsVHBnaS83UjR5WkFqbXpwMkxyVnUzd3RmWEZ4NGVIa0k5V1ZsWkdEcDBxTkY5Vzdac2laQ1FFQnc4ZUZCb28xNnZoMDZuZzQrUGo5R3dvQjA3ZHNEUjBiSFNpZUs5ZS9lR1ZxdEZVVkdSTUVUTjJ0b2FLcFVLd2NIQjZOV3JGNnl0clZGVVZBU2dKUEJFUkVUZzg4OC9Od3BRQm5xOVhnZytwZDI3ZDAvNDl6dDM3bFRZcHRJc0xTM2g0T0FnL1B6MjIyL2oxcTFiU0U5UFIyaG9LRUpEUStIaTRnSnZiMiswYXRVSy92NytsWWFVNDhlUFk5T21UV2phdENtbVRadFc0ZkE3QURoNThpUk9uRGlCNE9CZ28xNjc0T0JnZlA3NTUxaTVjaVdXTDE4T2tVaUVxS2dvcEtlblk5eTRjVUtJQUVxKzQ4bVRKeU02T3RvbzFDaVZTa3llUEJrZE9uUW9jOStxZnZjR3AwNmRBbERTdTVhV2xnWlhWMWZobkZhcmhVcWxLdk9jYXJVYUdvMEdscGJHZnlkY3ZIZ1JQLzMwRTF4Y1hOQ3JWeTljdVhJRmh3NGR3dW5UcDJGcmF3dHpjM01VRnhjREFPYk1tVk9tVGlKNnNUSFVFTkZ6bzlYcXNIM3JhY1NkdVlsdXJ6UkRyNzR0WVY3dHZUTFBWazVPRHNMQ3dvU2Y5WG85bEVvbExseTRnRHQzN3FCbHk1WUlEQXdVem5mcDBnV1hMbDNDaVJNbjBLOWZQd0RBelpzM2tacWFpbjc5K2xWNWJvQzV1VG1HREJsaWRLeGR1M1lJQ1FreFdvM3MyTEZqQUVwNlJoNGN2bU5yYTRzMzMzd1QzMzMzSFk0ZVBZcTMzbnBMT0NlVHlUQnc0TUJ5Njg3SXlCQ09aV2RuWStMRWlSVzI4ZTIzMzY3U3N6dzRyTzY5OTk0ek9tZHVibzd2di84ZU1wa01QL3p3QXk1Y3VJQnAwNmFWcVVNa0VsVTQzK0x1M2JzQWdQWHIxMWVwUFFhbDV3azVPenRqeVpJbGlJeU14UEhqeDNIbnpoMmtwNmZqNk5Hak9IcjBLQndjSFBEZWUrK1ZPK2NtTGk0T3ExZXZSc09HRFRGanhveUhMaVJ3OU9oUldGaFlHSVZXQUtoVHB3NkNnb0t3ZCs5ZVhMbHlCVTJiTm9XdnJ5L2tjams2ZCs1c1ZOYmUzaDV1Ym01SVNVa3hPaTZUeVlTZ1hWcFZ2M3NBK091dnY0VFA5cGRmZm9HRGd3TysrdW9yNFh4U1VoSSsvL3h6bzJzKytPQURBQ2l6ZkhWaVlpSVdMVm9FR3hzYlRKczJEWmFXbHFoYnR5NWlZMk9GM3NqazVHUTBiZG9VYTlldUxiZmRSUFJpZTdIZkpvaW9SdGtkRm9keloyOWh4S2pPYU4zR3M3cWI4MXprNXVZYWhScVJTQVJMUzB2VXFWTUhJMGVPeEt1dnZtcjBzdDJ4WTBmODhzc3ZScUVtT2pvYUFJeCt5LzR3enM3T1plWVlHSDd6L2VCdnJaT1RrK0hvNkloYXRXcVZxY1BRbS9QZ01ycUd1a3UvSkJycWZuQ1lqNTJkSGI3NzdqdVltWmtKY3phV0wxOHVMSDFjdW83bHk1Y2pKU1VGUzVjdWhWUXFoVTZuZzBxbE1pcVRrWkVCR3hzYllWSzRTQ1FTaG8yOThjWWJPSFRva0ZIdmpvRmVyNGRHbzRGT3B5c1RHQVlPSEZqbVJiMHl0Mjdkd24vKzh4KzR1Ym1WT1dkaFlZRkJnd1poMEtCQlNFOVB4OFdMRjNIaHdnWEV4OGNqT3pzYnk1Y3Z4OXk1YzlHb1VTT2paMXF4WWdXMFdpMmFOV3RXNGVJSkQwcEtTb0tabVJsMjc5NWQ1cHdoU0JoZTh1dlhyNC82OWV1anFLZ0lWNjllUlZwYUd1N2V2WXNiTjI3Z3pwMDdaWHF3bkp5Y3lzd1hNcWpxZDYvWDY3RnQyemEwYXRVSzhmSHg2Tm16SjM3Ly9YZkV4TVFJWlR3OFBQRDk5OTlESXBFZ09qb2FXN2R1eGJKbHkyQmxaV1cwL3d3QWVIdDdJemc0R0QxNzloUytieXNySzZ4Y3VSSXltUXpoNGVINDZhZWZzR0hEaHNmZTk0bUlUQnRERFJFOUY2ZFBYc2ZKNkdzWS9xLzJMMDJnQWNyK3h2bGhMQ3dzMExadFcwUkhSeU10TFEyMWF0WENpUk1uVUs5ZVBYaDZWdjF6cStxazZjTENRcU1oVkE4eXZCeVczaStrc21GUkQ1SklKRVpoNmN5Wk03aHk1UW8rL2ZSVFlSNlJ3WTBiTjNEbHloVU1HalNvekxrSFRabzA2YUgzZmZmZGR5czhGeEFRZ0FrVG5tejFLc1BtanVVRndRZTV1TGlnZS9mdTZONjlPd29LQ2hBU0VvTFkyRmhFUkVRWXRVR3BWTUxkM1IxYXJSWVJFUkVJREF4ODZIZGRVRkFBclZackZKaExVeXFWQUVwQzdPYk5tM0hreUJFaDBOcmIyNk5aczJhd3NiRkJUazZPMFhXVjlSSlY5YnVQakl6RWpSczNNSFhxVk1USHg2Tmh3NGJvMnJXcjBaQXlNek16SWFBWWp0dmEycFk3cDBhcFZLSmp4NDRvTGk0dWQ0aWc0YzlvUmtaR3VUMXlXcTBXeGNYRjhQRHdZSzhOMFF1S29ZYUlucmtDcFFwN2Q4ZWpiZnNHYU4reDBjTXZlTWwxNmRJRjBkSFJPSEhpQkpvMmJZcnM3T3hLNTU4OENRc0xDK0hsdHpURDhkSnpHeDZIUXFIQWhnMGJJSkZJa0ppWUNLbFVDbTl2Yjhoa011ajFlb1NHaHNMT3p1NmhHNG1XN3ZrQlNvYm5mZnZ0dDNCMmRzYmR1M2N4ZS9ac28wVUc4dkx5WUdGaEFaRklaSFJkV2xvYU1qSXlJSlBKSGpxc3ovQlMzTEpsU3lIVVBMZ0l3SkVqUjdCOSszYTg4ODQ3YU5ldVhabnJyYXlzOE82Nzd5STJObGJvU1RHd3RiWEZyRm16Y1B2MmJTeGV2QmhyMTY3RmwxOStXZUZ3T2FBa2VOaloyUWtMSVZSbTgrYk5PSERnQUFJQ0FoQVVGSVI2OWVwQkxwY0RBS1pObTFZbTFEeXBlL2Z1WWN1V0xRZ01ERFQ2akQ3ODhFT2pjc1hGeFpCSUpPWDJDaG4yQVRJRWtDdFhybURac21VUHZYZDVRdzhmOU9EK05VVDBZbUdvSWFKbjd1RCtpOUJvZE9nVDdQZnd3b1NXTFZ2Q3djRUJzYkd4VUNnVUVJbEVaZVpEUEMyZW5wNUlURXdzTTRrYkFDNWR1Z1FBWlpZSGZoem01dWFZTUdFQ0VoTVRjZUhDQlVSRVJNRE16QXd0V3JTQXVibTUwSVB6c0tGREQvYU82UFY2SERwMENKczJiVUx6NXMzeDhjY2ZZLzM2OVZpL2ZqM216WnNIQ3dzTDVPZm40OGNmZjBTZE9uVXdmdng0b3hmb1AvLzhzOUtlanZKczJiS2wzRkJqWTJPRDdPeHNuRGx6cHR4UTg2RFNQV01PRGc2d3Q3ZUh2YjA5T25ic2lGT25UaUV5TXJMU3ZZczhQRHh3NWNvVktCUUtJYUFZbkR0M0R0ZXVYVU9uVHAzZzd1Nk82T2hvT0RvNll2ejQ4VVpCcWJpNFdKZ0hvOWZyS3cxUmo4TE56UTJ2dlBJS0JnNGNpSUtDZ2dyTGJkeTRFVWVPSERFNlpwaFRBd0J2dmZXV0VPYTl2YjBSRWhJQ2EydHJvKzl3L2ZyMWlJcUtncWVuSjVLVGsrSHQ3UTBuSnlkOCtPR0h3dk1ZTmw1VktwVkdleGtSMFl1Rm9ZYUluaW10Vm9jenA1UFFya05EMk5uVm5CWE9haktSU0lUQXdFRHMzYnNYdWJtNThQSHhLWGRJbG1HSW1VYWplZXc5T3JwMTY0YkV4RVQ4OHNzdlJxdWY1ZWZuNDdmZmZvTklKSHFrdVR3VmtjbGs4UEh4Z1krUEQ0WVBINDZjbkJ4RVJrWUtjMElrRWduT256OFBGeGNYbzVYV0twS1FrSUR0Mjdmait2WHJBQy90N3RZQUFDQUFTVVJCVklDcFU2ZENJcEhnblhmZXdjeVpNN0Y4K1hJTUhUb1VxMWF0Z2xRcXhTdXZ2RkttUjZCcjE2NW8yYkpsbFhwcUhwemZrNTZlRHJsY2JqVDN4Yy9QRDY2dXJvaU9qa2FUSmszUW8wY1BvNUJnR0FKbXVHOUYvdjN2ZitQY3VYUDQ3YmZmMEs1ZHUzSlhjZ05LdnJlLy8vNGJvYUdoR0RkdW5IQ3ZuSndjckYyN0ZybTV1ZWpXclp0UVhxVlNvYWlvU09oMTArbDBDQTBORlo1SnE5VSsxWDFlUm84ZURRQ1ZocHJodzRkanlKQWg1ZDVYbzlFWWZiN201dVpHdytLMFdpMUNRME1SRlJXRmZ2MzZ3YzNORGV2WHI4ZjQ4ZU14ZS9ac2ZQZmRkL2pnZ3c5Z1pXVUZrVWhVNW5vaWV2RXcxQkRSTTNYajJuMFVGaGFqcGQrVC83Yi9aZEtsU3hmczJiTUhXVmxaZU9PTk44b3Q0K3pzak92WHIyUEZpaFdvVTZjT2hnNGQrc2p6QlFJREF4RVhGNGVZbUJoTW56NGRiZHEwRWZhcHljdkx3OUNoUTlHd1ljT244VWlDckt3c1JFVkZZZi8rL2JDeXNzSWJiN3lCNU9Sa0hEdDJERkZSVVdqUm9nVUdEeDRNYjI5dm8rc3lNakp3OHVSSkhEOStIQ2twS2ZEMjlzWUhIM3lBVmF0V1FTS1JJRGMzRjBWRlJaZzZkU3Jtelp1SEw3LzhFajE2OU1Db1VhUEsvVnhjWEZ3ZWF5aFNXbHBhbWJBaGxVcnh5U2VmNEt1dnZzTDY5ZXNSSGg0T0h4OGYyTmpZSURjM0Z3a0pDY2pLeWtLdlhyMHE3Y2x4ZEhURXNHSERzSG56Wm16Y3VCR2ZmdnBwdWVXNmR1MksyTmhZL1Bubm4waE9Ub2FmbngrS2k0dUY3KzJOTjk0UW5pMGdJQUFIRGh6QTdObXowYlp0VzZqVmFwdy9meDc1K2ZsbzBLQUJrcEtTb0ZBb2pKWVFmeDRxbXN2MU1FbEpTVmkvZmoyU2twS0VmWlNpb3FJQWxIeCtjK2JNd2FKRml6Qmx5aFM4OXRwcjZONjlPd01OMFV1QW9ZYUlucW5yMSs1REtoV2pZU09PWTM4VWRldldoYnU3T3pJeU1pcDhDWDdqalRlUWxaV0Y4K2ZQNDhLRkMraldyUnRxMTY3OVNQY1JpVVNZUEhteXNEUDkvdjM3SVJhTDBhaFJJL1RyMXcvKy92NVA5Qng2dlI2NXVibElTVW5COWV2WGNmNzhlVnkrZkJsU3FSVGR1blhEMEtGRGhTRkJ3NGNQeDU0OWU3Qi8vMzRzV0xBQXpabzF3NGdSSStEbDVRV2daSithdUxnNE9Eczc0NTEzM29HM3Q3ZlFVN05seXhaRVJVV2hmLy8rR0RwMEtPYk1tWVBseTVjakppWUdWbFpXYU4yNk5UdzhQSjU0WmF3N2QrN2cxcTFiOFBNck81VFN3OE1EUzVjdVJXUmtKTTZlUFlzVEowNUFwVkxCMnRvYWpSbzF3dWpSbzlHbVRadUgzdVBWVjEvRjBhTkhoYkRadm4zN01tVkVJaEUrK2VRVFJFWkc0dWpSbzRpTWpJUllMSWFucHlkR2p4NXR0TWZNdi8vOWI1aWJtK1BFaVJQWXQyOGY3TzN0NGUvdmo5ZGVldzBuVHB4QVVsSVNFaE1UbjhrUVI4T0thQSt1c0tiVDZWQlVWRlRwWEI2MVdnMjFXZzAzTnplSXhXTG85WHBjdm53WmtaR1JpSW1KUVowNmRmRDU1NThiYlF4cVVMdDJiU3hjdUJDclZxM0NMNy84Z3UzYnQ2TnQyN2J3OWZWRm16WnRHSENJWGxBaWZVVzdrUkVSUFFYYnRwekdqV3YzTWZQenlpZUExeVFKOFdmaDIvckpYdWFmVkVGQkFjYU5HNGNPSFRwZy9QangxZHFXSjdGMzcxNWhueG1SU0lTR0RSdWlZOGVPQ0F3TXJIQitRMXBhR243NTVSZWNPM2NPNDhlUE45ckhwL1RjajAyYk51R1BQLzZBcTZzcmhnd1pnb0NBQUdFb21VcWxRbmg0T0E0ZVBDanNPbCs2dnFxSWpvN0dsaTFib05WcWtaK2ZENzFlajRrVEp6NnplVTR2a2l0WHJtRHUzTG1ZTkdrU09uYnNDS0Jrcmt6cEpac3JzbXJWS3RqWTJHRDM3dDNZdG0wYjdPenNNSGp3WVBUczJkTm9PT0dCQXdld1ljTUcvUHJycjBaL1BzNmVQWXRkdTNiaCt2WHJlT1dWVnpCMjdOZ25tanYwdlA5dW1EWjVBbnIxNllmZWZmcy90M3NTbVFKUk9mOUhaazhORVQxVGVia0ZzTEY1K0w0YlpHemZ2bjFRcTlVSUNncXE3cVk4a1Q1OStpQXJLd3NOR3paRXk1WXRxelJSMjlYVkZkT25UOGUxYTllRVhocUQwdjhkQ3dvS2dwdWJHNEtDZ3NyTW1URnNRUHJhYTYvaCt2WHJ1SExsQ2dJQ0FoNzVHVHAwNklEdzhIREk1WExVclZzWGJkcTBnWStQenlQWDh6SXlyS0JYWEZ3c0hOdTBhZE5EcjlOb05GQXFsYkMydGdZQTlPM2JGNWFXbHVqV3JWdTVQUzJHcGFyVmFyWFJzdFArL3Y3dzkvZkg5ZXZYNGVucCtkUVdReUNpbW9laGhvaWVLWTFHQjRtMDhrblk5SThGQ3hZZ056Y1hxYW1wOFBIeFFiTm16YXE3U1U5RUtwVmkxS2hSajNWdDZVQlRIbmQzZDdpN3UxZGFSaVFTd2N2THEwcjFsVWNxbFdMUm9rV1BkZTNMcmxXclZ0aTBhZE5ERjJJb1RTcVZHZ1ZnTXpNejlPN2R1OUw3VkxacDZJT2JuUkxSaTRtaGhvaW9GTEZZREoxTzk4Z3ZZaytEbVprWjd0Ky9qNVl0VzVyMHNETWlBR1gyQm5wVzZ0U3BZN1EzMGJOUVhYOG5FRkhWTU5RUUVaVWlrNWxCWFZ3TWM0dm5QMnh1K3ZUcHovMmVSUFJ3NnVKaXlHUm1EeTlJUk5XQ3YzSWdJaXJGV2k1SGZuNWVkVGVEaUdxUS9QdzhXSmZhNkpTSWFnNkdHaUtpVXV3ZDdKSDEvN3ZHRXhFQlFGWkdKdXdkbnU5ZVBvRHhjdGhFVkRHR0dpS2lVdVEydHBCSUpNak1TSy91cGhCUkRaQ1prUTZKVkFLNWplMXp2YSs1dVRsL3dVSlVSUXcxUkVUbHFPdmhpYlM3ZDZGUTVGZDNVNGlvR2lueTg1RjI5eTdxZW5nKzkzdDcxbStBMUpUYnovMitSS2FJb1lhSXFCem01dWJ3Yk5BUXQ1S1MyR05EOUpMS3pFakhyWnRKOEd6UXNOejljWjYxamdGZGtIYnZMaExPblgzdTl5WXlOVno5aklpb0F0WnlPUm8xYVlxVVc4bkl6TWlBbzVNVGJHeHNJVE16NDlLdVJDOGduVTRIZFhFeDh2UHprSldaQ1lsRWdrWk5tbFpMb0FHQWxuNnQ0TmU2RFhiK3RnM09MclZReDcxdXRiU0R5QlNJOUp5QlJrVFAwTW9mRGdJQXhuM1VvNXBiOG1RVStYbkl5YzZCVXFHQVdsME1uVTVYM1UwaW9xZE1MQlpESmpPRHRWd09ld2Y3NXo2SHBqd0ZTaVZXLy93RDd0NUpSYmVnbm1qdTB3SzE2N2pEb2hxV25LZG5iOGVPSGZEMzkwZkRoZzJydXlrMW1rZ2tFcFUreHA0YUlxSXFrTnZZMW9nWEhDSjZ1VmhaVytPaktkTnc2RUFrb2lML3dPR28vYy9zWHIzNjlFUHZ2djBmKy9yVTFGU0VoNGZqMHFWTHlNL1BoMXd1UitQR2pkRzdkMjgwYnR6WXFPem8wYU1SRUJDQXNXUEhWbGhmVmNyVUJKY3ZYOGFQUC82SXhZc1hRMTdGWmIvVmFqVjBPbDJaWHNESXlFajQrL3MvaTJhKzhCaHFpSWlJaUdvd2lVU0NYbjM2b1hPWHJ2ZzdNUkZabVJuUFpLbm5SbzJiUFBhMVNVbEorT3FycitEczdJeGV2WHJCMXRZV3VibTVPSDc4T0JZdlhvd1BQL3dRN2R1M2Y0cXRyVG5NemMyaFVDaGdhV2tKQUNnc0xNVDQ4ZU1ySGFhczArbmc1dWFHeFlzWEl6dzhIRHQyN0JET3paOC8zNmpzcWxXck1HN2N1SEpIQ0lTRWhGVGI4TWlhaHFHR2lJaUl5QVJZVzh2UnBsM05EQWJidDIrSHJhMHR2dmppQzVpWm1RbkhnNEtDOE1VWFgrRFhYMzlGbXpadElKRklxckdWejRZaFZCaWU3ZmJ0a2hYcjFxMWJWK2wxYXJVYUFOQ2xTeGZocy9uc3M4OHdmUGh3K1B2NzQvNzkrMWkyYkpsd2o0a1RKNkpXclZvQUlKeVR5V1RQNUpsTUVXZTZFaEVSRWRFVHVYcjFLaG8xYW1RVWFBREEwdElTZ1lHQlVDZ1VTRXRMcTZiV1BSczVPVG5JemMyRlNxVUNBT1RuNStQZXZYc29MaTRXeXR5L2Z4OUtwUklxbFVyNEp5OHZEMWxaV1VJZ3NiVzFoWnViR3dvTEM2SFJhTkNzV1RNNE96dkR4c1lHQUNDVlNpRVdpK0hnNEFCbloyYzRPenZEd2NFQkFMaG96UVBZVTBORVJFUkVUOFRLeWdxSmlZbElTMHVEcTZ1cjBibmc0R0FNR0RBQTVjenRGcVNtcG1MeDRzV3dzN1BEZi83ekgrR0Z2alNGUW9Hd3NEQ2NQWHNXQlFVRnFGMjdObDU5OVZVRUJBUVlsVXRLU3NLZVBYdHc5ZXBWRkJZV3dzYkdCcjYrdm5qOTlkZGhiVzBOb0dUT3pvQUJBM0RyMWkxY3ZIZ1J0V3JWd3Z6NTh6Rm16QmdNR3pZTVVxa1VCdzhlUkhaMk5seGRYVEZ3NEVDaklYUmhZV0dJaVlrUmZwNCtmVG8wR2czR2pSc0hvR1NJMmF4WnN5Q1R5YURWYWxGY1hBeExTMHZvOVhwNGVYbmgwMDgvTldyemlSTW5ZR2RuaDNyMTZnRUFpb3FLSUJhTEt3MHVlcjIrMHMvMVpjSlFRMFJFUkVSUEpEQXdFUHYyN2NPc1diUGc2K3NMWDE5ZmVIdDdvMWF0V2cvdFRjak16TVRYWDM4TmEydHJUSnMycmNKQVUxUlVoSVVMRjZLb3FBaTllL2VHalkwTnpwMDdoN1ZyMXlJbkp3ZjkrNWNzY21BSVNQWHExY1Bnd1lNaGs4bHc4ZUpGSER0MkRBVUZCWmd3WVlKUVoyUmtKSm8wYVlLUkkwZWl1TGhZYU92aHc0Y2hGb3ZSbzBjUGlNVmlIRGh3QUNFaElYQjBkSVNYbHhjQVlNeVlNUmd6Wmd3aUlpS3diZHMyckZ5NUVnQ1FtSmdJb0tRWFpjMmFOUUNBMDZkUEl5UWtCRC8vL0hPNXozYno1azBjT25RSWd3WU5nazZuUTE1ZUhrNmZQaTNNMDlGcXRjak96aFo2ZDdLenM0WGpVaWxmNXdHR0dpSWlJaUo2UWtPR0RFRmhZU0dPSERtQytQaDR4TWZIQXdEYzNOelFyVnMzOU9yVnE5ejVOSGw1ZVZpMmJCa2tFZ21tVDU4T2UzdjdDdSt4Yjk4KzVPYm1ZdUhDaGNMd3E2NWR1Mkw5K3ZYNC9mZmYwYVZMRjlqYTJ1TGd3WU9RU3FXWU5tMmFzUFIxMTY1ZGtadWJpd3NYTGhqVktaVks4ZEZISDVVWk5xZFFLTEJreVJMWTJka0JBTHk4dlBEbGwxOGlMaTVPQ0RVR2htZE5UMCtIbzZPajBUbTFXbDNtdWJWYUxVUWlrUkNnb3FPanNYbnpaalJ2M2h4OSsvYkZvVU9IOE91dnYwSWtFcUZ2Mzc0QWdPTGlZbUYrVGVuNkdXcEs4Rk1nSWlJaW9pY2lrVWd3YXRRbzlPM2JGekV4TWJodzRRS3VYYnVHZS9mdVlkdTJiYmh3NFFJKy9mUlRvMTZib3FJaWZQUE5OOGpLeXNLQ0JRdmc1T1JVNlQzT25qMkxKazJhUUNhVFFhRlFDTWZidEdtRDQ4ZVA0K0xGaStqVXFSUGVldXN0REJreXhHZ3ZINFZDQVpsTVpqVGZCUUFhTm14WUp0QUFRSk1tVFlSQUF3QWVIaDRBQUtWU2FWVHUvdjM3dUg3OU9nRGd5eSsveFBEaHcrSHM3Q3ljbnpsekpqSXpNNFVoWW1QR2pJRk9wOE1iYjd5QlBuMzZvTGk0R0hGeGNlallzU05Hamh3cDlBN1oyTmlnU1pNbStQYmJiOUc1YytlSExqcEFERFZFUkVSRTlKUzR1TGlnZi8vKzZOKy9QNHFLaWhBYkc0dXdzREFrSmliaTlPblQ2TlNwazFBMkxpNE9JcEVJZXIwZU4yL2VGRmIycWtoNmVqcFNVMVB4MFVjZmxYcytLeXNMQUNBU2laQ1JrWUgvL2U5L1NFbEpRVnBhbW5DdXRJcUd1cFUrYnVodEtiMnNjbmg0T0h4OGZKQ1FrSUNBZ0FDRWg0ZmozLy8rdDNCKzRjS0ZrTWxrT0hQbURFSkNRckJ1M1Rwb3RWcGhTVzR6TXpOODhNRUhNRE16RTRLUFNDUkNodzRkaEdjdWoxNnZoMWFyQlFEMjFQdy9mZ3BFUkVSRTlOaXVYTG1DdUxnNDlPM2IxMmo0bUlXRkJRSURBMUczYmwzTW16Y1BWNjllTlFvMWxwYVcrT1NUVDdCbXpScHMyYklGTFZ1MkZPYVFsRWVuMDZGNTgrWUlEZzR1OTd5TGl3c0E0T1RKazFpelpnMmNuWjNSckZreitQcjZvbEdqUmpoOCtEQk9uanhwZEUxRjgzMnFNdmsrT1RrWmYvNzVKOGFORzRlRWhBUjA3ZG9WeGNYRjBHZzBRcG55OXBCNWNEaWFXcTNHaHg5K1dPbDlacytlWGVHNVljT0dDWE9KWG5ZTU5VUkVSRVQwMk83ZHU0ZjkrL2ZEMDlNVG5UdDNMbk8rZHUzYUFGQm1UeFYvZjM4MGJ0d1lJMGVPeEhmZmZZZnQyN2RqMUtoUkZkN0h5Y2tKS3BVSzN0N2VSc2R6YzNOeDQ4WU5JVURzM0xrVGRldld4UmRmZkdFVUlQYnUzZnZZejFpZURSczJ3TnZiRys3dTdnQ0FPblhxWU5Tb1VjSkNBVHFkcnR5Si9IcTlIbXExR21abVpwQktwVmk0Y0NIa2NybFJ1ZTNidCtQaXhZdkl6YzFGbzBhTlVGaFlpTW1USnd0RDVYUTZIWXFLaXNvZE92ZXk0dUxXUkVSRVJQVFlXclZxQlRNek0remV2UnU1dWJsbHpoODdka3dvVng0L1B6KzBidDBhUjQ0Y0VlYW5WSFNmcEtRa1hMNTgyZWo0cmwyN3NHTEZDbUdJV1U1T0R1enQ3WTBDVFdwcUtpNWR1Z1NnN0JDeXh6Vm8wQ0FNSGp5NHd2TkpTVWw0Ly8zM01XYk1HS3hldlJwaXNWaFlNZTJERHo2QVRxZURTQ1JDblRwMVlHdHJDeXNySzVpWm1XSDc5dTA0ZCs0Y3BreVpBb2xFZ24vOTYxK1F5K1g0NmFlZm9GS3BZR1ZsQmJsY0RtZG5aOWphMmo2Vloza1JzS2VHaUlpSWlCNmJyYTB0M25ubkhheGR1eGF6WnMxQzU4NmQ0ZTd1RG8xR2c4VEVSTVRIeDZOTGx5NW8zcng1aFhXTUhEa1NGeTlleE1hTkd6RnYzcnh5aDRVRkJ3Y2pOallXMzM3N0xYcjI3SWxhdFdyaDRzV0xpSW1KUWFkT25WQy9mbjBBZ0krUEQ4NmZQNDlObXpiQjA5TVQ5KzdkdzVFalIrRHM3SXk3ZCsraXNMQlEyS3ZtU2JSdTNSb0FjUGZ1M1hMUE4yalFBR3ZYcmkxMzFUZU5SbFBtR2VQajQvSGJiNy9Cd3NJQ3MyZlBGaFpPa0VxbCtQampqL0hycjc5aTVzeVplUFhWVnhFVUZHUzBrQUV4MUJBUkVSSFJFK3JVcVJQYzNOd1FFUkdCMk5oWVlWbmx1blhyWXZUbzBRZ01ES3owZWljbkp3d1lNQUJoWVdHSWlJaEF2Mzc5eXBTUnkrV1lQWHMyZHU3Y2llUEhqME9oVU1ESnlRbURCdzgybW1mejdydnZZdE9tVFRoNThpU09IejhPVDA5UGZQamhoOUJxdFZpeFlnV3VYYnNHUHorL3AvYnNocDRmdzBhWWhwOGZ0aitQU3FWQ1lXRWhUcDA2aGVqb2FOeS9meC85K3ZWRC8vNzl5d3haTTZ3dTUrL3ZqNjFidDJMdjNyMW8zTGd4K3ZYckIxOWYzNmYyTEtaTXBEY3N2MEJFOUF5cy9PRWdBR0RjUnoycXVTVkVSRVJQMzgyYk56RnYzanlzV2JNR1Vxa1VjWEZ4K1BISEh4OTZuVnd1eDlLbFN6RjM3bHcwYTlZTWd3WU5LclBQelljZmZvZzVjK1lJODNhQWt2Q1VrSkNBWThlT29YZnYzbWphdE9sVGY2YWFUbFRPU2c3c3FTRWlJaUlpZWt3cWxRcTJ0cmJDUnBodDJyVEJoZzBiS3IxR3E5V2lvS0FBbHBhV1dMUm9VYmxEMUFDZ2Z2MzZaVlppRTRsRThQUHplNnE5VFM4Qzl0UVEwVFBGbmhvaUlpSjZtc3JycWVIcVowUkVSRVJFWk5JWWFvaUlpSWlJeUtReDFCQVJFUkVSa1VsanFDRWlJaUlpSXBQR1VFTkVSRVJFUkNhTm9ZYUlpSWlJaUV3YVF3MFJFUkVSRVprMGhob2lJaUlpSWpKcEREVkVSRVJFUkdUU0dHcUlpSWlJaU1pa01kUVFFUkVSRVpGSlk2Z2hJaUlpSWlLVHhsQkRSRVJFUkVRbWphR0dpSWlJaUloTUdrTU5FUkVSRVJHWk5JWWFJaUlpSWlJeWFRdzFSRVJFUkVSazBoaHFpSWlJaUlqSXBESFVFQkVSRVJHUlNXT29JU0lpSWlJaWs4WlFRMFJFUkVSRUpvMmhob2lJaUlpSVRCcEREUkVSRVJFUm1UU0dHaUlpSWlJaU1ta01OVVJFUkVSRVpOSVlhb2lJaUlpSXlLUXgxQkFSRVJFUmtVbGpxQ0VpSWlJaUlwUEdVRU5FUkVSRVJDYU5vWWFJaUlpSWlFd2FRdzBSRVJFUkVaazBoaG9pSWlJaUlqSnBERFZFUkVSRVJHVFNHR3FJaUlpSWlNaWtNZFFRRVJFUkVaRkpZNmdoSWlJaUlpS1R4bEJEUkVSRVJFUW1qYUdHaUlpSWlJaE1Ha01ORVJFUkVSR1pOSVlhSWlJaUlpSXlhUXcxUkVSRVJFUmswaGhxaUlpSWlJaklwREhVRUJFUkVSR1JTV09vSVNJaUlpSWlrOFpRUTBSRVJFUkVKbzJoaG9pSWlJaUlUQnBERFJFUkVSRVJtVFNHR2lJaUlpSWlNbWtNTlVSRVJQVEMwK3YxT0hic0dGUXExV05kZisvZVBheFlzUUlLaGFMTXVaeWNIT2oxZWdDQVRxZERlbm82ZERwZGxldmV2MzgvYnQyNjlWanRJcUlTMHVwdUFCRVJFWm1tQytmUDRWVDBjU1RmVEhyc3NGQ1pYbjM2b1hmZi9rK2xydXZYcjJQRGhnM0l6YzNGZ0FFREh2bDZsVXFGK1BoNGlFUWlvK09GaFlYNDdMUFBNR2JNR0xScDB3YUZoWVdZUG4wNlpzMmFCUzh2cjRmV2UrdldMV3pidGczMTY5ZkhuRGx6SHJsZFJGU0NvWWFJaUlnZWlWS3B3Szd0MjNBKy9peGMzV3JEcDZVZkhKMmN5cnp3UDZsR2paczh0YnFPSFRzR2EydHI5TzdkKzdHdWwwcExYcG5NemMwQkFFcWxFZ2tKQ2ZEeDhZR1Bqdy8yN05tRE5tM2FDT1dzckt3ZVdxZGFyY2FhTld2UW9FRURwS2VuSXp3OEhQMzdQNTBRUi9TeVlhZ2hJaUtpS3ROcXRWano4NC9JeWM3R1c2UEh3TGVWZjNVMzZhRnljM054OHVSSjlPL2ZYd2dsVlpXWm1RbWRUaWNNTzh2UHo0ZE9wNE5LcGNMcTFhc3hkKzVjOU83ZEc0c1dMVUpDUWdLYU4yOE80SjhRVkJHOVhvKzFhOWNpTHk4UGMrZk9SVVpHQnBZdVhRb3JLeXU4OHNvcmovZWdSQzh4aGhvaUlpS3Fzb1A3STNEM1Rpb21UNTJCT3U1MXE3czVWUkllSGc2TlJvUGR1M2RqOSs3ZGxaYVZ5K1g0NXB0dklKUEpBQUM3ZHUxQ2RIUzBjSDdLbENsd2QzZkhwRW1UQUpUMDNIaDZlc0xUMHhPUmtaSHc5dlorYUh2MGVqMSsrZVVYbkR0M0R0T21UWU9EZ3dNY0hCencvdnZ2SXlRa0JFcWxFdjM3OTMvcVBWOUVMektHR2lJaUlxb1NwVktCZy9zajBMMUhMNU1KTkdscGFUaDgrREQ2OU9tRHJsMjdWbGl1dUxnWUN4WXNRR0Jnb0JCb0FPRHR0OS9HNk5HamtaYVdobG16Wm1IOSt2VlFxOVhJeThzREFJakZKV3N1RFJreUJCWVdGc0oxRlMwVW9GS3BzSGJ0V2x5NGNBR1RKMDgybW5mVHJsMDdvUWZuNHNXTEdEVnFGR3JYcnYxRXowLzBzbUNvSVNJaW9pcjVPekVST3AwT3piMWJWSGRUcWtTdjF5TTBOQlJ5dVJ5REJ3OFdocDV0MkxBQitmbjVHRDkrdkRCTTdOaXhZOUJvTk9qZXZidFJIWWFBWStnMUVZbEVNRE16SzNNdlgxOWZBQ1h6WkNweTllcFZyRnUzRGtxbEVoOS8vREdhTm0xYXBreTdkdTFnWjJlSHRXdlhZdmJzMmVqUW9RTzZkZXVHSmsyYXNPZUdxQklNTlVSRVJGUWxXWmtaQUFDM09uV3F1U1ZWczN2M2JpUW1KbUw4K1BGR2MyblMwdEtRbFpWbE5PL2w2dFdyYU42OE9WeGRYU3V0TXlrcENlZlBuMGRnWUdDNTV6VWFEWUIvZW5DQWtsNmJ0V3ZYNHRTcFUyallzQ0hlZnZ0dExGbXlwTkw3TEZteUJNZU9IY09CQXdlUW1wcUsyYk5uRy9VZ0VaRXhoaG9pSWlLcUVzTmVMQThPczZxcDlIbzk3T3pzMEtOSEQ3UnIxODdvWEU1T0RvcUtpb3lPalJrelJuaSswcFJLSmM2Y09RTUFXTFpzR1Y1OTlkVXlaVFFhRGFSU3FWRHZnNStSV0N4R3UzYnQ0T3JxaWdFREJrQ3IxV0x1M0xtUXlXUmxlbC8wZWozVWFqV2NuSnd3Yk5ndzlPN2RHd3FGZ29HRzZDRVlhb2lJaU9pRkl4S0p5bDFGTEM4dkQvZnYzNGRlcjBkeWNqSThQVDJOcmludHYvLzlMdzRlUENnczBmek5OOS9Bd3NJQ0dSa1pRcG5jM0Z5c1hMa1MwNlpOUTNaMk5zUmlNZVJ5dVZFOXJWdTNSdXZXcmFIUmFLQldxK0hpNGxKcCsxVXFGU3dzTEdCcmF3dGJXOXRIZW5haWx4RkREUkVSRWIwMGpoMDdCcGxNQmhzYkcremJ0dy9qeG8ycnRIeno1czNoNmVrSkR3OFB6SjQ5dTB3dlZYRnhNVmF0V2dXOVhnK05Sb09VbEJTNHVMZ1lEVDk3MEtsVHA3QnUzYm9xdFhYR2pCbG8xcXhaMVI2TTZDWEhVRU5FUkVRdmhmVDBkT3pidHcvZHVuV0RsNWNYVnE1Y2ljNmRPOFBQejYvQ2F3em43dDY5YTNUY01GUnQzYnAxVUt2Vm1EbHpKc3pOelJFWEZ3Y3pNelBvZExweWc0MWhHTmxQUC8xVTRUMVRVbEt3ZVBIaWgrNTFRMFQvS1AvWENFUkVSRVF2a1B6OGZIei8vZmN3TnpmSDRNR0QwYjU5ZTdSdTNSb2hJU0c0ZXZYcUk5ZDM4K1pOQUlCQ29jRFVxVk5oYlcyTmhJUUVKQ1FrNFA3OSs5aTFhMWU1MXhtQ2pwV1ZWWVgvR0hxRHVOb1pVZFV4MUJBUkVkRUw3Y2FORy9qeXl5K1JtWm1KeVpNbkMvTmozbnZ2UGJpNnVtTHAwcVhZdDIrZnNISlpWVGc2T3FKV3JWcjQ5Tk5QWVc5dmo4dVhMMlBseXBYbzJyVXJSbzhlamZEd2NGeStmTG5NZFF3cVJNOEcreldKaUlqb2haU1hsNGYvL2U5L09IejRNSnlkblRGcjFpelVyZnZQcHFHV2xwYVlNV01HMXE5ZmorM2J0K1BBZ1FQbzNMa3pXclpzaVlZTkd3cjcwUlFVRk9DdnYvNHlDaVNOR2pYQzRzV0xJUktKOE1jZmYyRG56cDN3OGZIQnFGR2pJSkZJY1BEZ1FheGZ2eDRMRnk0MEdrWm0ySlJ6OU9qUkQyMS9SYXV4RVZGWkREVkVSRVQwd3RtNWN5Y2lJaUtnMFdnUUZCU0U0Y09IRysxVlkyQnBhWWtKRXliZy9QbnoyTFZyRi9idDI0ZXJWNi9pMDA4L0ZjcXNXYk1HNTg2ZFErdldyWTJ1emNyS3dnOC8vSUJidDI0aEtDZ0lJMGFNZ0VRaUFRQzgvdnJyMkxWckY5UnFkYm1oWnRteVpSVzIvYzZkTy9qMjIyK0Zza1QwY0F3MVJFUkU5TUxwM0xremJ0KytqZGRlZXcwZUhoNFBMZS9uNXdjL1B6OWN2WG9WZG5aMlJnSG96VGZmeE91dnY0N2F0V3NiWGVQczdBdy9QejhNSFRvVXZyNitSdWU4dkx3d2RlclVNc1BOYkcxdDBicDFhemc3TzFmWUZqTXpNd3daTWdRT0RnNVZlVlFpQWlEU3MyK1RpSjZobFQ4Y0JBQ00rNmhITmJlRWlKN1Uvai9DY1NCaUg1WjlYL0hLWFVSRXo1cW9uTWxwWENpQWlJaUlpSWhNR2tNTkVSRVJFUkdaTklZYUlpSWlJaUl5YVF3MVJFUkVSRVJrMGhocWlJaUlpSWpJcERIVUVCRVJFUkdSU1dPb0lTSWlJaUlpazhaUVEwUkVSRVJFSm8yaGhvaUlpSWlJVEJwRERSRVJFUkVSbVRTR0dpSWlJaUlpTW1rTU5VUkVSRVJFWk5JWWFvaUlpSWlJeUtReDFCQVJFUkVSa1VtVFZuY0RpSWhNZ1NJL0R6blpPVkFxRkZDcmk2SFQ2YXE3U2ZRU0VJdkZrTW5NWUMyWHc5N0JIbkliMitwdUVoRlJqY1JRUTBSVUNaVktoWlJieWRCcXRYQjBjb0pMclZxUW1abEJMR1pITnoxN09wME82dUppNU9mbjRVNXFLaVNTZTZqcjRRbHpjL1BxYmhvUlVZM0NVRU5FVkFHbFFvSGtwQnR3clYwYlRzNHUxZDBjZWdtSnhXS1lXMWpBM01JQ3ppNjFrSm1SanV0WExzT3pRVU5ZeStYVjNUd2lvaHFEdjJva0lpcUhTcVZDY3RJTmVEUm93RUJETllhVHN3czhHalJBY3RJTnFGU3E2bTRPRVZHTndWQkRSRlNPbEZ2SmNLMWRHM0s1VFhVM2hjaUlYRzREMTlxMWtYSXJ1YnFiUWtSVVl6RFVFQkdWb3NqUGcxYXJaUThOMVZoT3ppN1FhclZRNU9kVmQxT0lpR29FaGhvaW9sSnlzblBnNk9SVTNjMGdxcFNqa3hOeXNuT3F1eGxFUkRVQ1F3MFJVU2xLaFFJMlhEcVhhamdiRzFzb0ZZcnFiZ1lSVVkzQVVFTkVWSXBhWFF5Wm1WbDFONE9vVWpJek02alZ4ZFhkRENLaUdvR2hob2lvRkoxT3gzMW9xTVlUaThYY0JKYUk2UC94djlwRVJFUkVSR1RTR0dxSWlJaUlpTWlrTWRRUUVSRVJFWkZKWTZnaElpSWlJaUtUeGxCRFJFUkVSRVFtamFHR2lJaUlpSWhNR2tNTkVkRkxUS1BSb0tpbzZLbldtWk9UZzR5TWpCcTUzTEJhclVaYVd0cFRmK2JTcmx5NThzenZRVVJFLzJDb0lTSjZSdExTMHZEVlYxL2gvdjM3RHkyclZxdVJuSnlNcUtnb0xGdTJEQ2twS1pXVzM3NTlPOExEdzFGUVVDQWNpNGlJd0xKbHk2QldxNnZjeHQ5Kyt3M3Z2dnN1Q2dzTEt5enorKysvWStMRWlWVitTVDkwNkJBbVRacUV2Lzc2cThydHFJaEtwYXBTdWJ5OFBIejMzWGM0Y09CQXBlV1NrcEx3eVNlZklDNHVyc3c1alVhRHlNaElvODgrUGo0ZVlXRmhVQ3FWVlc2elVxbkU4dVhMTVhQbVRHaTEyaXBmUjBSRWowOWEzUTBnSW5wUjNiNTlHNWN2WDhabm4zMkc5OTkvSCszYnQwZEVSQVR1M3IyTG9xSWlLQlFLNU9ibUlqczdHems1T2REcjljSzFVcWtVbjN6eVNibjFxbFFxUkVSRXdNN09EajE3OWhTT3A2V2xJVDQrSGxKcDFmOXFOek16TS9wZm9HVHowVDE3OXNEZjQ2a21ZUUFBSUFCSlJFRlUzeC8xNnRXRFZxdEZWbFlXWkRKWmxlcFVLQlFBQUM4dnJ5cTNvenp4OGZGWXMyWU5ac3lZQVU5UHowckxTaVFTeE1URXdOYld0dEp5aG1ld3NySXFjMDZ0Vm1QNzl1MUlURXo4UC9idVBENm1lLy9qK0d1MkxKS1FSUktTSVBZdFVXdEpyZFdpUlJTdEZxMnQzTzdLVDZ0VlZMVlh0UWlxMUZMYnJWcXFGSzFyNTlwMzE5NVlTaUpwWkpPUWtHV1MyWDUvNU02cE1aTUYwUWlmNStOeEg1eHp2dWZNOTR5azk3elBkMU8rKzB1WExyRjI3Vm82ZGVwVTVIb3ZXYktFek14TU1qSXlPSExrQ0dGaFlVVStWd2doeEwyUlVDT0VFQTlJMDZaTitlS0xMNGlJaUdER2pCbU1HemNPbFVyRi92Mzc4Zkh4d2R2Ym0rRGdZQm8zYnF4c2UzdDc0K1hsNWZDaDIycnYzcjFrWjJmejFsdHY0ZXpzck94WHFWUTJmMW9sSkNUZzUrZUhScU94dTVaYXJiYjVFL0xDMGNxVkszRnpjNk5TcFVyS01VZm5PNUtXbG9hTGl3dkhqeDh2VW5tejJVeHViaTd0MnJXekNXUTZuWTVidDI0eGE5WXNKazZjV0dDb3NuNFBoUVU2NjczY0h1TE9uajNMOGVQSDZkbXpKODgrK3l5Ly9mWWJWNjVjSVRnNFdMbm4yNy9uZ3V6Y3VaTzllL2ZTdTNkdmNuSnltRHQzTGg0ZUhvU0VoQlRwZkZFeUVoTVRpWXVMbzBHREJqWS9HM2VXc2Jac3VydTcyeHhMUzB1alhMbHlxRlFxekdZenFhbXArUGo0MlB4ZUZXVHIxcTNVcVZPSHlwVXIzL2U5Q1BHNGVxUkN6YlhrWk9LdnhuRTlOUlc5UGh1ajBWalNWUkxpcm1pMVdseGNYUEgyOFNFZ01BaGZQNytTcnBLNFQ1VXFWZUtMTDc3ZzZOR2oxSzVkbTlxMWE5dTg5ZCs3ZHkrLy8vNDdQWHYyTE5MMWpFWWp2LzMyRy83Ky9qUnQyclRROHJtNXVVUkVSRkN1WERsR2poeUpxNnNyQUZsWldiaTZ1aW9CNk1pUkk2U21wdEs1YzJkaVkyTUJxRnUzcnNOcm1rd21EQVlETGk0dURvK25wcWFTazVQRC9QbnppM1JQSnBNSnM5bk1VMDg5WlJOS1FrSkM2Tm16SjZ0V3JXTGx5cFc4OXRwclJFZEhvOVBwN0I0V3JhMWNtWm1aWEwxNkZhUFJpSnViRytYTGx3Zmd3b1VMdUxpNGtKS1NBc0QxNjllSmlZbkIxOWVYMk5oWU5tL2V6RXN2dmNSenp6M0hwazJiV0xObURTTkdqTGlyUUhmaXhBa1dMVnBFa3laTkNBOFBCL0llaEtkT25jcUhIMzVJL2ZyMWkvUjlpT0p6K3ZScG9xS2k2TjY5ZTRIbHpwNDl5N0pseS9qbW0yL3lEVFU1T1RtY09ISEM3cVZCZG5ZMm8wZVBadkRnd1RScDBvVHM3R3crK3Vnanhvd1pVNlRXeXRqWVdGYXVYRWx3Y0RDZmZ2cHAwVzlPQ0dIamtRZzFtUmtabkR4eEhLTWhsOHBWcWxLOVJrMWN5N2lpMFR3U3R5Y2VJeWFUa2V5c2JLNGxKeE41OWpSYW5STU5HelhHN1k2M2dxSjB1Yk9iMk8xaVltTFlzMmNQclZxMUt0TGIvSTBiTjVLU2trS25UcDNzSHE0Y21UOS9QZ2tKQ1RScDBrUUpOQURmZi84OVdWbFpTbkJKVGs1bTdkcTF0Ry9mbnBpWUdBQkdqaHhwYzYyK2Zmc3FmMWVyMVN4ZHV0VGhaMTY3ZG8wV0xWb3dkT2pRUXV0blpUS1pIQWFIYnQyNmNlclVLVHc4UEFENDRvc3ZDaHhuczNmdlh2YnUzUXRBZUhnNGZmcjBBV0Rtekpsa1oyY3IzOW5peFl1eFdDeDg4TUVIU3BCeWRuYW1USmt5dEd6Wmt0MjdkNU9Ra0ZDazd4amcyTEZqekp3NWs2cFZxL0xlZSs4cDU3Mzk5dHRNbXphTlNaTW0wYTlmUHpwMDZGREViNlRvMXY3eU0rZk9uaW4yNnpweTQvcDFBTFp1MnZDM2ZGNzFtcldvWHFQbVBaOS80TUFCamh3NVFvMGFOUXI4L2JMK2JoVFUwbmY3endua0JlalRwMDlUdjM1OTZ0ZXZ6L3IxNjJuU3BJbFNycURXVml1RHdjRDgrZk9wV3JVcTE2NWRZOE9HRFhUcDBxWEk5eWVFK0V1cGYrcS9ucHJDc1NPSHFWV25Mc0ZWcTVWMGRZUzRMeHFORm5jUEQ5dzlQS2hhdlRwWG9xUFl2M2MzVFo5c2pyZFArWkt1M2dOak5sdjRNemFWNjZtWjNMeVpUWTYrNkFQZEg0UUtGZTcvR3V2V3JlUGF0V3U4K09LTGVIdDc1MXZ1aFJkZVlPdldyYXhaczZiUVVKT1VsTVRhdFdzQit5NW1qaXhidG96OSsvZno3TFBQMmdRU3lBc2V3Y0hCeW5icjFxMzU2YWVmT0hMa0NKR1JrZFNzV1pQT25Uc0RlYTA0Qnc4ZVpOaXdZVUJlZDdIOEppUEl6YzBsUFQxZGFTRXBxdnhhUWpRYURaOTk5cGx5djNQbXpNSFoyZG5oL2ZmdDI1Zm5ubnVPMTE1N3phNmxmdGFzV1VEZU9LZVBQLzZZanovK21OcTFhd041clNtMzE2RkxseTdVclZ1WENyZjlJSmpOWm9kZGlTd1dDeHMyYkdERmloVlVyMTZkVWFORzJYUlYwMnExakJneGdubno1ckY0OFdLT0hqMUt2Mzc5cUZTcFVwRy9tOEtjTzN0R0NSdC9sMjJiTi81dG4zVS9vV2JRb0VGRVIwZXphTkVpSmt5WVFGWldGbnE5M3U3bjdkYXRXMERlNzVoT3AwT3IxVkt4WWtVZ3IrWFJiRFlyWThWdTNicUYyV3dtSnllSDc3Ly9udkhqeDlPeFkwY21UcHpJNmRPbmxSY0ZoWFdGdEZnc0xGaXdnSnMzYnpKKy9IaFNVbEtZUEhreVpjcVU0ZW1ubjc3bmV4YmljVldxUTAxbVJnYkhqaHltY2JNbktWL2V0NlNySTBTeEM2NWFEWGNQRDQ0ZE9VekwxbTBmdVJhYmhQZzA5dXk2UU9UWnEyUmxGbTJXcTc5RHY0RzE3K3Q4aThWQ1Nrb0t1M2Z2WnQrK2ZYVHQycFZ1M2JyaDdPeE1WbFlXenM3T3FOVnFWQ29WSGg0ZWhJZUgyd1FNUnd3R0F6Tm56a1NqMGVUYlBlYjJ6MSsyYkJrYk4yNmtmZnYyREJvMHlPNTRRa0lDWVdGaFNqang5UFNrUllzV3BLZW44OGNmZjlDdlh6K2FOMjhPUUh4OFBJQ3lYWkNrcENRc0ZndSt2dmYzMytUTXpFeWNuSnpRYXJVMkFjYkZ4WVhrNUdRdVhMaEE2OWF0SFo2clZxc0wvWTRLRWhnWVNHQmdJSURONUExM1NraElZUDc4K1p3L2Y1NWF0V3J4MFVjZk9YdzdyOUZvR0RKa0NGV3FWR0hWcWxXTUdqV0taczJhOGZUVFR4TVNFbExrc1VyNUdmM1pQKy9yL0x1eGRkTUd0bTNleUpRWjMvMXRuM2svbkoyZEdUaHdJR3ZYcmlVN081c05HemF3YTlldWZNdi84NTk1MzJXOWV2V1Vsc3ExYTlleWYvOStwY3lJRVNNSURBemsvZmZmVno2alNwVXFWS2xTaFMxYnRsQ3ZYcjFDNjJXeFdQamhoeDg0ZWZJa0kwZU94TXZMQ3k4dkw5NTQ0dzNtenAxTFptWW1YYnAwS1hKTG9SQ2lsSWVha3llT1U2dE9YUWswNHBGV3Zyd3Z0ZXJVNWVTSjQ3UnMzYWFrcTFNc01qTnkrUGR2Si9udmtTamMzVjE0b21FbDZ0WVB4TmZmQXc4UFY1eWRTL1kvVGFkUEZHMkFlMzVVS2hWRGhneWhjK2ZPekpzM2o0MGJOOUs4ZVhNcVY2N01rQ0ZEaW5TTkdqVnE4TVVYWHdCNVhiTysrKzQ3b3FLaUdEWnNHQXNYTGl6dzNObXpaN04vLzM2ZWUrNDUrdlhyWi9kZ2xKeWNqRjZ2Snlnb2lPam9hR1gvMEtGRFdibHlKU3FWaWhZdFd0emxYZWV4dG5yQVgyR29LRnhkWGZIeThsSzJaOHlZWVRNbGRMdDI3WGpqalRlVVkzRnhjZFN2WDcvQVZyRENIRHQyck5CWjFhd3RQbmUyMHZ6NDQ0OXMzYm9WazhsRTU4NmQyYmh4WTZIL3R0T25UNmRKa3lZc1c3YU1JMGVPY1BueVpiNzY2aXU3UWVlaWVOV3RXNWM2ZGVxZ1VxbDQ5ZFZYNmRldm45Mi81K0hEaDVrN2R5NnpaczNDMmRuWlppcnVBUU1HTUdqUUlKS1NraGd6Wmd5TEZpM0NZREJ3OCtaTjRLK2ZqWjQ5ZTlxTU04dHZuYWFjbkJ3V0xGakFtVE5uR0Rac21NMjRtMmJObWlrdE9MLy8vanY5Ky9kWFdveUVFQVVydGFIbVduSXlSa091ZERrVGo0WGdxdFdJaVk3aVduSnlxWjg4SVA1cUd2OWFzQWU5M2tDWEZ4clJzbFZOdExyN2UxUDlzQW9JQ09Denp6NGpLaXBLbWRYb2pUZmV3TW5KeWVIYitYUG56ckYxNjFaY1hGeHN1cC9rNXVhaTErdnAyclVyelpzM0x6VFVIRHAwaUlFREI5S3hZMGVIeDZPaW9nQ29YTG15VGFpQnZMZk9yVnExd3RQVDg2N3UxU29oSVFHQVJZc1czZFY1enozM0hQMzc5MWUyQncwYWhORm9SSzFXTTNMa1NKdVdsNWRlZW9rcFU2YXdidDA2WG4vOTlidjZIR3MzbytuVHA1T1ZsYVc4bWM5UFRrNE9UazVPZGcvQklTRWhIRDU4bUNGRGh0Q3dZVU9hTjIrT2k0dUx3MzlYczltTVhxL0h5OHNMSnljblB2endRNktpb3REcjlSSm9IcUNZbUJpbEt4bUFyNjh2V3EyV3BLUWtqaHc1b2t6bWNEdVZTb1ZXcTdXYmhjOTZ6UHFubzViQUJnMGFBQlM0VHRRZmYvekJ3b1VMeWN6TVpQanc0VW9YeU5zMWE5YU1jdVhLc1dEQkFzYU9IVXZ6NXMxcDI3WXR0V3JWa3BZYklRcFFha05OL05VNEtsZXBXdExWRU9KdlU2bEtNUEh4Y2FVNjFNVEdwREozMWc3OC9Ncnl6dnZQNHVsVitFRGEwazZ0VnR1OGlXM1hycDNEY3BHUmtlemV2UnRmWDE4Kyt1Z2pwZnNUNUxWaWZQamhod1YyVXpweTVBaDc5dXdCNE9PUFB5NXdmRTVZV0JqVnFsVnoyTXJSdlh0M3NyS3lPSG55SkRxZERwVkt4YlZyMTVRNlFsN0xrYk96TTdWcTFiSTd2MXUzYm5UcjFpM2Z6NzVUYkd3c28wYU5zaG0vQXRpOW5iNDlWRFJxMUlqQXdFQjI3OTdOU3krOVZPamFOQWFEZ2YzNzk3Ti8vMzdsSHNMQ3d1alJvd2RseTVibGp6LytzQ20vZGV0V25ubm1HVFFhRFRkdjNuUjQvVWFOR3ZITk45OG9ENzgxYTk3ZHVJOXExZVNGM0lNMmMrWk1VbE5UbGUzdnYvOGVuVTdIb1VPSFdMZHVIZlhxMWFONjllcDNmZDNvNkdoT25UcEZxMWF0SEI1MzFMcG5OcHRac0dBQmh3NGRvbHExYWd3WU1JQkpreVlWK0RtVEprMWl6NTQ5Yk51MmphdFhyekoyN05naXJ4VWx4T09vMUlhYTY2bXA5elY0VUlqU3hzL1BuNWc3M3FxWEpqZlRzL2xod1Y0Q0FyeDQ4OTMyNkp3ZXpkWVpSODZlUFl1VGs1UERFQUR3KysrL0V4RVJnYisvUDZOR2pYTFlTcExmb09QcjE2K3piTmt5RGg0OHFEendGR1VXTlg5Ly8zeVBKU1ltTW5ueVpMdjlFeVpNVVA1ZXQyN2RZcGwrMXZyUTZYZVhZYjE3OSs0WURJWWl0WFJvTkJyV3IxK1BpNHNMdlh2M1pzV0tGYlJvMGNKaFdEbDQ4Q0EvL1BBRFhsNWVOR3ZXak1URXhIeS9LK3UvU1VKQ1FvRmpiKzVVc1dKRmVlUCtOL2p5eXkvUmFEVHMyYk9ISDMvOFVmbjM2dFNwRTl1MmJXUDkrdlVNSHo2OFNOZkt6TXprNk5HakFFeVpNc1hoWXF4R294R3RWb3RlcndldzZZcW1WcXRwMXF3Wi92NytoSWVIWXpLWkdEOSt2UExpNEhZV2l3V0R3WUNQanc4dnZmUVNIVHQySkNNalF3S05FSVVvdGFGR3I4L0d0WXhyNFFXRmVFUzRsbkZGcjg4dTZXcmNFNHNGVmk0N2hFb0ZBd2EzZnF3Q2pjVmlZY1dLRlNRbkp6Tno1a3k3dFYzT25EbkQxS2xUcVZxMUtpTkhqaXpTTkxCV08zYnNZT25TcFJpTlJsNSsrV1hTMDlQWnNtWExmZGU1VXFWS3pKZ3hRK2wydFhIalJuNzk5VmZtelpzSDVMWFUzUGtRbjVTVVJFcEtpc00xWk81a01wbkl6YzBsTkRSVUNUVjNPMXRheTVZdGkxeFdyVmJ6eVNlZlVMNThlZjc4ODA5V3JGamhzRnhrWkNSejVzeWhYYnQyTkczYWxKeWNISzVjdWNMenp6OWY0UFUvL3ZqanUxb1g3Vi8vK3RkOVRXUWdpc1k2QzkyZGk5SzZ1TGpRc21WTDl1L2ZUM1oydHMxVTU0Nzg5Tk5QN05peFEvbmRuRFp0bXMyYVJ3RHA2ZW5NbVRPSGtTTkhjdVBHRGRScXRWM2didFNvRVkwYU5jSm9OR0l3R0FxZFRDTW5Kd2NYRnhmS2xpMWJhR3VrRUtJVWh4cWowU2pyMElqSGlrYWpMYlVMeXVxemM0bU9UNlBmb0paNGxIVzhZT09qYXRldVhVUkhSOU9qUncrN1FIUHk1RW1tVDU5T1NFZ0l3NFlOdStzSDNTZWVlSUxEaHcvejJtdXZVYmx5WlpZc1dWSXNkZGJwZERZUFhOWjZXZGVLY1dUZnZuMzg4c3N2ZC9VNXk1Y3Z2K2RRY3lkckY3bjhBbFZCMTdmK1hrVkVSTkNzV1RPR0RCbUNTcVZpNzk2OUdBd0dMbDY4bU84Nk9wRDNmVDM3N0xNMlk0SWNXYkprQ1pzM2I1WTM3ZytCenAwNzA2MWJ0MElERGVTMVNsYXBVb1hLbFNzemR1eFl1OS9qM054YzVzMmJoOFZpd1dnMEVoY1hoNit2Yjc0L2k0Y09IU3AwWEp6Vnh4OS9USjA2ZFlwVVZvakhuYVFDSWNRRGQrTjZKb0ZCWG9RK1VibWtxL0szU2s5UFo4V0tGUVFHQnRLalJ3K2JZMGVQSG1YbXpKbTBhdFdLd1lNSDM5TzB2dVhMbDJmMDZORkZLbnZ3NEVFYU4yNXNzNFpLY1dyVHBnMmhvYUZGYXFteHJ2RUJlV0hFM2QzZDdrSFJxcUNGTmdGKytlVVhkdXpZUVdabUpvRGQySnlpT0hUb0VBQjE2dFRoblhmZVFhVlNrWmlZeUU4Ly9VUkFRQUFYTGx4ZytmTGw5T3ZYeitINWhkM3ZuYVRyV2NrclY2NmN6YloxY0wramY1c25ubmdDK0dzU0RDdHJhK1hDaFFzeEdBeDg4c2tuT0RzNzg5Ly8vaGNuSjZkODF6YXlodHJ2dnN0L1d1eTR1RGkrK3VxclF0ZTZFVUw4Ulg1YmhCQVBsTkZvUnE4MzhHU0w2anhPejNJV2k0VzVjK2VTa1pIQjhPSEQwV3ExbUV3bU5tM2F4SUVEQjRpTmphVng0OGJLTk1YRi9kbTNQNXhaTEJibXo1K1BzN016YytiTUtmYlBnN3lacGU1bGJacWtwQ1I4Zkh3Y0hrdEpTV0hxMUtrQTdOeTVrNENBQU5xM2IyL3pvQmdhR3NxR0RSdW9XTEVpRFJvMG9HM2J0bmRkaHc0ZE9xQldxeGsyYkJnYWpZYlkyRmdtVDU2TWs1TVRvMGVQWnYzNjlXemF0SW5RMEZBYU5teG9kNzVLcGNKa01pbGpLZkp6K3pUQjR1R3dhOWN1WW1KaWlJeU14Tm5aT2Q5dzdjaVZLMWNBeU1qSVlNeVlNYmk1dVhINjlHbE9uejZOczdNemE5ZXU1Y1VYWDdRN3ovcnpXMUJYVTJzOUpBQUxVWFFTYW9RUUQ1UjFVYzE2b1lHRmxIeTByRml4Z2xPblRoRVdGa2E5ZXZVd0dBeE1talNKeU1oSUFnTURxVktsQ3NlT0hlUHJyNyttUllzV1ZLNWNHVzl2Yjl6YzNOQnF0Y3BnWWExV2E5ZUtZemFiSFE1TXQzWVQyNzE3dDgya0JMLy8vanQ2dmQ3aEE3bjFPdFlnbEpPVGcwYWpRYVBSNVB0QVpiRllNSmxNeWl4bzl5bytQcDdZMkZqbFRmanRvcU9qbVRKbENrYWprZGRmZjUwTEZ5NndhTkVpZnZ2dE44TEN3cWhidHk0VksxYWtVcVZLTm1OOTlIbzlhV2xwWkdSa2NQMzZkWjU0NGdubGJiZGVyK2ZNbVRPQTdjTml5NVl0ZWVxcHB3RFl2SGt6UC8zMEV5NHVMb3dkT3hadmIyOWVlZVVWamg0OXl2ejU4NG1JaUhEWVpXbmJ0bTFzMjdidG5yOEw4V0JFUjBmejIyKy9BWG5kSFh2MTZtWFQvVStuMDNIMDZGRXFWcXpJaXkrK2VGY2h3dHZiR3o4L1AvN3YvLzRQVDA5UExseTR3Snc1YzJqVHBnMzE2dFZqM3J4NWhJU0UyRTNiTEVGRmlBZERRbzBRNG9IS3pUV2kxcWp3OUh6MHAyKzJzajcwNjNRNit2VHBBK1E5UEFVSEIxT3BVaVg2OSsrdmpObFl2WG8xMzMvL3ZjUHJsQ3RYanFsVHA5cTkwVFdaVEE3SFZ6VnMySkFOR3pZNHZKNnpzek9kTzNlMjIyOXRQVENaVEdpMVdyNzk5bHRPbkRqaHNENTkrL2ExMlc3U3BBa2ZmUENCdzdMNTJiOS9QOHVYTDhka01uSHIxaTBzRm92ZFFwOEdnNEdaTTJlU21abkpwNTkrU28wYU5YajIyV2RwMjdZdEsxZXVaUDM2OWF4ZnY3N1F6NnBkdXpaTm1qUUI4c1k5ZlBUUlI2U2twT0RwNlVsQVFJQk4yYWlvS0JZdFdrUjBkRFJWcTFabCtQRGhTc3VUaTRzTHI3enlDdXZYcjNjNHNOeHNOdE91WFR0ZWV1bWxBdXV6ZXZWcWR1M2FWZUQ0SEZGOFRwdzR3ZHk1YzZsV3JScFBQLzAwVzdaczRlREJnN1JxMVlvNmRlb1FFQkJBbzBhTmVQTEpKNVh4TURkdTNDQXpNNU8wdERTQ2c0T1Z3ZjVaV1ZtY1BYdldKcEJVcjE2ZHI3NzZDcFZLeGFaTm0xaXpaZzMxNjllbmYvLythRFFhZHV6WXdhSkZpL2p5eXk5dHVwRlpGK1VjTkdoUW9mZHdON1BxQ2ZHNGsxQWpoSGlnVENZeld1M2o5UUNuVXFubzE2OGZUejMxbE0wQTliNTkrNkpTcVpRSG85YXRXOU9xVlNzdVg3N01wVXVYU0VoSUlDMHRqVnUzYnFIWDYybmV2TG5ETGlyV1ZvbzcxYWxUaDIrKytZYms1R1NiaHlHTlJrTmdZS0RENlkrdFl3bHljM1BSYXJYODR4Ly93R3cybzlWcUMyMnB1WmMzenMyYk4yZkRoZzI0dTdzVEZCUkVreVpOcUYrL3ZrMFpuVTdINk5Hak9YZnVuTTBhUHlFaElZU0VoQkFmSDgvbHk1ZEpTMHREcjllVG01dnJzUFVxTkRSVStidVRreE1EQmd6QVlySFFvRUVEdTBrWi9QMzlVYXZWOU9yVmkyN2R1dG1GamxhdFd0R3NXVE9IM1pPTVJpTXVMaTRPMS8yNW5mVmNnOEVnb2VZQnk4ek1aTW1TSlFRRkJURml4QWgwT2gxdDI3YmwxMTkvWmVmT25XemV2TG5BODh1V0xjdjA2ZE9WN2ZuejUzUHk1RWthTldwa1UrNzY5ZXZNbkRtVDJOaFkycmR2VDkrK2ZaVi8yNWRmZnBtMWE5Y3FMYTVXMWxBelpjcVVmRDgvUGo2ZTZkT25LMldGRUlWVFdVcnBhNEQxNjlZUTNyMW5TVmREaUw5VmFmeTUvM1RVYXJDbytPY2srNzdsRDZ2VEo0N1RvRkhqa3E2R0tDWE9uVHVIdDdkM2dXdi9RRjRZTkp2TnhScG8vdTZmMWEyYk5yQnQ4MGFtek1oL2tQdkRJaTR1RGxkWFY3c3hXN201dVZ5OWVwWFUxRlJ5Y25Jd0dvMVlMQmFiVU96dDdXM1RMVElwS1FtejJlendaY0thTld1b1VhTUdEUm8wc0R0MjUvZzJ5SnM2ZlB2Mjdiei8vdnY1MXYzbXpadnMzcjJiRmkxYTNOTllOU0VlZFNvSGI5V2twVVlJOGVDcFN0ZTdFN1ZhbmUvTVJVTGNxVzdkdWtVcXAxS3BpalhReU05b3dZS0NnaHp1ZDNKeW9tclZxbFN0V3JYSTF5b29zUGJzbWYrTEprZXRtZlhxMWFOZXZYb0ZmbDdac21VSkR3OHZjdjJFRUNEL05SUkNpRHZvZEU0WWNuTkx1aHBDRk1pUW00dE9KNHQ0Q2lFRVNLZ1JRZ2c3YnU3dTNMcDFzNlNySVVTQmJ0MjZpWnVEY1ZKQ0NQRTRrbEFqaEJCMzhQVHk1UHIvVnJvWDRtRjFQU1VWVHkvUGtxNkdFRUk4RkNUVUNDSEVIZHc5eXFMUmFFaE51VmJTVlJIQ29kU1VhMmkwR3R3OXlwWjBWWVFRNHFFZ29lWVJrTjhFZGpkdTNKQVZySVc0UjBHVnE1Q1VrRUJHeHEyU3Jvb1FOakp1M1NJcElZR2d5bFZLdWlwQ0NQSFFrTm5QL3VlUFAvNGdKeWVIV3JWcTJhMWZjTGRNSmhQSnlja09qL242K3FMUmFFaE1UTXozL0FvVktqaWNNY1ZrTW5IdTNEbENRa0tVZmZIeDhjeVlNWU5PblRyUnZuMTdtL0kvL1BBRHAwK2ZwbWZQbm5UdDJ2VWU3Nlo0M0xwMWkyKysrWWEwdERRaUlpSWV5SXJLOCtiTjQvZmZmNmRMbHk1MDZ0U3B3TEx4OGZITW5UdVhsMTU2eVdZYXpwNDlleFlwQ0s1WXNjTGgraUhpMGVIczdFeVZxdFdJaVk3Q3YySkZmTXJMdEtxaTVLV21YQ01wSVlFcVZhdmg3T3hjMHRVUlFvaUhob1NhLzVrOWV6WlJVVkVzVzdiTUp0UkVSMGR6NmRJbHUvSk9UazYwYmR2VzRiVXlNako0NjYyM0hCNmJNMmNPUGo0KytSNEgrUG5ubngzK245V01HVFBZczJjUGI3Lzl0dkxRYmphYnVYTGxDblBuenFWbXpacFVxbFFKeUZzUWJOKytmUmlOUnJ5OHZQTDlyTXVYTDdOeDQwYTBXaTBhamFiSTA0T3FWQ3BlZi8zMUlvY1REdzhQVWxOVGlZNk81dlRwMHpiei94ZGs3ZHExdUxxNjJrMkRHaElTWXJOZVFHNXVMbnYyN0NFakk0UExseThYZWwydFZzdUZDeGVZTTJjTzMzNzdMVHFkRHNoYjlLOXg0OFlNSERnUWdJOCsrb2dubjN4U1dTbDg5ZXJWN055NVV5a3ZIbTF1N3U1VXIxV2J1TmdZVWxOUzhQYnh3Y09qTERvbko1bEtWL3d0ekdZemh0eGNidDI2eWZYVVZEUWFEZFZyMVpaQUk0UVFkNUJROHovV2gxUTNOemViL2FkT25XTHg0c1YyNVgxOGZQSU5OZFpyZmZqaGg3UnUzUm9BdlY3UEs2KzhncE9Ua3hLYTNudnZQVHAwNktDY3QzbnpadWJNbVpOdlM5R3JyNzVLWkdRa2MrYk13ZFhWbFRadDJoQVVGTVRnd1lQNTdydnZtRFZyRnBNbVRRTHlIcjROQmdPdnZmWWFMVnUyelBlK1UxSlNsSWQwdFZxTldxMHVOS2hrWm1iaTR1TEM0TUdEYmZhYnpXYmk0K1B6UGE5Qmd3WkVSMGV6ZGV0V3U4WFFyTFJhTFJVcVZGQzJmL3p4UjV5ZG5aVlFZektaeU1yS1lzS0VDVGFoWnVQR2pXUmtaTkM3ZDI5V3JWckY4ODgvWCtBYUJINStmdlRzMlpQbHk1ZXpkdTFhWG43NVpTQnY1ZlV5WmNvbzZ4dW8xV3BsNVhOQVdaSDk5dFdoOC9QTk45OXcrdlJwRmkxYVZHaFo4ZkJ5ZG5hbWVzMWFaTnk2U2RxTk5GS3ZwV0F3NU1wSzMrSnZvVmFyMGVtY2NITjNKeUF3VU1iUUNDRkVQaVRVL0kvMXJldWREL1RXZ0RGNzltd0NBd01CZU8yMTE0cjBVR3N3R05EcjlRREtuN2V2V256N2NldDJRZno5L2Zua2swOFlOMjZjVGZEcDJMRWpmL3p4QjUwN2R3WWdNVEdSelpzMzA3aHhZNldGSVQvTm16ZG56Wm8xaGQ3TDdkNTg4MDJINDNoeWMzTjU5OTEzQ3oxLzM3NTk3TnUzeitHeENoVXFNRy9lUEdYN3pycWRPbldLY2VQRzRlM3RyZXk3ZWZNbXExYXQ0c2tubjZSUG56NWN2SGlSNmRPbk0yWEtsQUxmWm9hSGg3TjI3VnBPbkRoQnIxNjlVS2xVcUZRcXNyS3lpSXVMQS9LQ1drWkdocktka1pFQk9GNVE3WFliTm14ZzU4NmQrWVkzVWZxNGU1U1ZCMG9oaEJEaUlmVlloNXFZbUJnZzcrMTg3djhXMm91TGk4TnNOcVBYNjZsUm80YlNRbkRuUTJ4QnEwSmJyelZqeGd4bXpKaGhkOHg2Zk42OGVUWVA4Rlk1T1RtNHVMZ28yMGFqa1owN2R5cmJMNzc0SXJkdTNXTGJ0bTNLdmxxMWFuSHAwaVV1WGJyRXZuMzdNSmxNMUtsVGgrM2J0eXRsS2xTb1FHaG9xTU02cDZTa1lEQVliRm8vOG1Nd0dDaGIxdjdoemhvZ0FnTURtVDE3ZHFIWHVkTUxMN3hnOTczZXVIR0R6WnMzMDdScFUycldyRWw2ZWpvQTVjcVZVOG9zV0xDQTdPeHNwY3ZZTysrOHcvRGh3L242NjYvNStPT1BiYjdMMjVVcFU0Yng0OGRUdTNadDVkOVhwVkp4OU9oUmpoNDlxcFRidVhPbnpmZGZFTFBaek5LbFMvbmxsMStLZk45Q0NDR0VFT0wrUE5haFpzYU1HWGJqTDI1dmFWaStmTG5Odys3dENucFRYN1pzMlh5N0hLMWZ2eDRQRHcrKysrNDdYRjFkdVg3OU90dTJiU004UEZ3WmVINW42NEpLcFdMV3JGbEZ2N0hiNm4rN3RtM2JPZ3cxRm91RmFkT21jZUhDQmJwMzc4N0xMNzljWUF1SDBXaDAyRVhPYURUYVhmZmd3WU9FaFlYWmZGK3JWcTBpTGk2TzhQQndhdFNvWVhQT25ZUDByMSsvems4Ly9VVFZxbFdwV2JNbU4yL2VSS1BSS04zQU5tL2V6TzdkdStuVnE1ZlNrdWJyNjh1WU1XTVlQMzQ4dzRjUDU3MzMzck9aWE9GMmRlclVzYXR6MjdadEdURmlCSkRYS3RldVhUdUdEQmtDNUFXbzlldlhPN3pXNWN1WG1UbHpKdEhSMFRScTFJZ1RKMDQ0TENlRUVFSUlJWXJYWXgxcXhvMGJoNnVySzJscGFienh4aHNBckZ1M0RxUFJTRTVPRG1YS2xGRWV4b3M2S05oc05wT1RrME81Y3VYUWFEUjI0V2ZMbGkzNCsvdno0b3N2QW5sZHhZNGZQMDcxNnRYcDJMR2pjcjVPcDFOYUxheWZmZnZEOXQxNjRZVVg4ajJtVXFubzA2Y1BjK2ZPWmZYcTFjcGtCSTBiTjNaWTNtQXdPQndvYjdGWTZOKy9QeDRlSGdEczJMR0RtVE5uVXExYU5ZWU1HVUw5K3ZXQnZPNWl1M2J0b2syYk5qYm5qeDA3MWk0c1djY3RlSHJtTFRDWG5wNU91WExsc0Znc3JGbXpoaDkvL0pFeVpjcWcxV3J0V2tlYU5HbENaR1FrWThhTW9WR2pSbno2NmFmRXhzYXlmLzkrZERxZDhtL3ozSFBQS1MxUEpwTUppOFZpRTY1dTM3WjJ1ek9ielhZL0UwZU9IQ0VoSVlHQkF3ZlN2WHQzdW5mdjd2RDd1MThqaDYxNElOZDlrTlRxNHAvdFRnZ2hoQkRDNnJFT05kWUg1ZE9uVHl2N1ZDb1ZPcDFPZVdpM1BsUVgxTjNzZGpFeE1Rd2ZQcnpBTXRIUjBYWWhZL2JzMlRaZHRqNzc3RE1sVk53NTFpWXJLd3VkVG9kV3E3MnJxWkh6Vzg4R0lEUTBsQmt6WnJCcTFTcFdyVnJGNTU5L1RzZU9IWG56bmxCOEFBQWdBRWxFUVZUcnJiZnM3ajIvbGhvbkp5Y2xyQUU4Kyt5enVMdTdzM2p4WWthUEhrM0xsaTBaT25Tb2N2ek9ybTdObWpXenU2WTFUTGk2dWdKL2hacXJWNit5YTljdVBEMDlHVEJnQUxObnowYXIxU3BCdzJ3Mms1dWJ5NXc1YzVnOGVUSnQyclJCbzlGdzllcFZmdnZ0TjNRNkhVYWpFYjFlVDVzMmJaUlFZekFZMkxObkQzdjI3RkhxOE85Ly81dC8vL3ZmaFg0SFR6NzVKSjA3ZDdicEd2Y2dlSG03RlY3b0lYTGplaVp1N2pKVGt4QkNDQ0Vlbk1jNjFGZ2RPblJJK1h0Y1hCeHBhV2xLZHlWcmw2cWlocHFnb0NEbXpadG5GenB1M0xoQlJFUUVlcjJlNXMyYnMyblRKbnIzN2sySERoMlVCM0dMeFpJM2ZhZkJZUE5nck5Gb0dEdDJMT1hMbHdlZ1Q1OCtSYjYzNzc3N2pxQ2dJQ1pQbnV4d0hNenR0Rm90ZmZyMG9XblRwa3llUEZucDZuV24vRnBxckw3Ly9udFVLaFd2dlBJS0xWcTBvSEhqeGl4ZHVwUWJOMjdnNnVwS1RrNE9nSEkvQmJGKy85WUFjZlBtVFR3OVBRa0tDbUxxMUtsY3YzNmRDaFVxOFBUVFQrZDdqVW1USmluZmNhdFdyV2pWcWhVQTI3WnRZOWFzV1RiM2N1ZFUyd3NXTEtCMjdkcktMSFpXamxydXFsZXZYdWo5RklmUm4zWDdXejZudU15WnVhT2txeUNFRUVLSVI5eGpIMnF1WDc5dU0vWWhJaUtDMU5SVXZ2bm1HM3g4ZkpRSDhLS3VDYURUNlpRcGlZMUdJNWN1WGVMUW9VTnMyYklGUHo4L0preVlnTCsvUC83Ky9peGV2Smh0MjdiUnFsVXI2dGF0UzJCZ0lON2Uzbmg1ZWRsMGY5Sm9ORGF0R1AzNzk4ZloyVmxaVytaMng0OGY1K0RCZzFnc0ZqdzhQSlI2MTY1ZHU4amZTYzJhTlltSWlIQVlYS3pkcy9JTE5ibTV1V1JrWkxCbnp4NTI3ZHBGLy83OTZkaXhJNisvL3JyU1VwU2Vuazdac21XTHRNaXBOZFJZUTBSNmVqcCtmbjVBWHRDcFVLRUNlcjBlRnhjWFltSmlPSGJzR0QxNzlrU2xVbkgxNmxYaTQrTUpEUTNOZDdJQTY3V05SaU5tczVuMjdkdmJUR3Y5d3c4L1VMbHlaV1hxYld2d05KbE01T2JtM3ZkQ3JVSUlJWVFRNHY0OTlxRm0vZnIxV0N3V0tsU29RR0ppSW0rKytTYWZmUElKMDZaTlk4S0VDY29VdmtVSk5SYUxoZSsvLzU2a3BDU3VYYnRHZkh3OFJxT1JpaFVyMHFkUEg3cDA2YUtFa1BEd2NFSkRRL25sbDE5WXYzNjkzWGlRbGkxYjh0RkhIem44bk51N2VGbEZSa2J5NDQ4L0Voa1pTVUJBQUsrKytpcFBQZlhVUFM4UWVIdExVV1JrSkNkUG5xUnYzNzVLVjdqOEh1YWRuSndZTVdJRUw3endBak5uem1UMjdObTR1Ym5ScWxVckpTaWtwcWJpNys5ZnBIcFlRNlYxekpPMVBydDI3V0wrL1BrY1BYcVVmLzNyWC96NDQ0OUVSVVd4Wk1rU1dyZHVqWitmSHdjT0hHRDU4dVhNbnorL3dGQURzSDM3ZHViTW1lUHcyUHIxNngxT0RuQS9ZNXlFRUVJSUlVVHhlYXhEVFZwYUdoczNicVJSbzBaa1pXV1JtSmhJM2JwMWVmYlpaN2wrL1RvNU9UbWtwNmZqNXVaV3BPNW5LcFVLUHo4L1RwdzRRZFdxVmVuUW9RT05HaldpVXFWS0Rzc0hCd2Z6d1FjZmtKdWJ5OFdMRjRtS2lpSWhJWUhVMU5RQ0IvWTc4dlBQUHhNWkdjbWJiNzVKcDA2ZGl0eGRMajg1T1RuczI3ZVBmLy83MzBSRlJlSG41MGZmdm4yVmxoTkhMVFZYcjE3Rnlja0pyVmFMdDdjM1k4ZU9aZCsrZmRTdlg1OGJOMjRvNWVMajQyblFvSUhOUHZockhJeVBqNDhTbW9LRGczbnZ2ZmRzeWgwK2ZKaWpSNDlTcmx3NWF0YXNTVzV1THIvLy9ydXkyR1pjWEJ4K2ZuNWN1SENCK3ZYckY2bWJXNHNXTGFoWnM2WXlMc2RzTnZQNTU1K1RtcG9LUU5ldVhYbisrZWR0V21xczQzeUVFRUlJSVVUSmVxeER6WTgvL29oZXJ5YzhQSnlWSzFjcSs0Y01HYUs4MlU5TVRGUzZPeFZGang0OWFOZXVIUU1IRHVUQWdRTjJ4NjFqWEhyMjdHazNmYkhWeXBVcmJWb1c0dUxpV0xkdUhVNU9Udm0ydkNRbEpRRjVnV0h4NHNWMng0MUdJd0VCQVhUclZ2QjRqSXNYTDdKOSszYjI3dDFMVmxZV1FVRkJEQmd3UUJtelVsQkx6VHZ2dk9Qd21vN3FjL0RnUVE0ZVBPaXcvT1RKazVYdWN2Nysva3JYTDZ2NCtIaU9IeitPczdNek5Xdld4TlBUa3pObnp0Q3ZYejlsTW9ER2pSdHo4ZUxGUXU4WDhzSlVXbHFhelppWU5XdldLSUZHcTlXeWFkTW1HalpzNkhBeUF5R0VFRUlJVWJJZTIxQVRGeGZIamgwN3FGT25EbzBhTmJJSk5kWkFZVEtadUh6NU1pMWF0TGlyYTFzZitGOS8vWFdhTkdrQzVMVjhqQmd4UWpubTdPeE1qeDQ5ZU9xcHA1VHo5dTNieDRvVksreGFRZExTMHRpNWM2Y1NhaHpOZUtiWDZ3SFl0V3VYM1RHTHhZTFJhS1JCZ3dZT0gvSmpZbUxZdjM4L2UvZnVKVDQrSHJWYVRZc1dMWGorK2VkcDBLQ0JUVmxycUhIVVV2UCsrKy9qN095TVdxM09OM3d0WExpUTlQUjBoZzBiWnRlYVpCMm5ZaDJUWkRLWlNFdExJems1bWNURVJCSVNFdkQyOWthdjF5dVRIcWhVS2hvM2JzenAwNmZSYURSVXFsU0orUGg0RWhNVFNVOVBwMkhEaGc3cmNidGx5NVp4K1BCaEprNmNTSlVxVlRoLy9qeExseTZsYWRPbW5EOS9uckN3TU02ZE84ZlhYMy9OOE9IRDdTWU5FRUlJSVlRUUpldXhEVFhXRm9nN0g5cHZkK3JVS2JLenM2bFhyOTVkWGR2NlFPL3Q3VTFRVUJEd1YraTRmZTBaTHk4djVUajhOY1gwblEvN0lTRWhoYTVRUDIzYU5IYnYzczNTcFV2dnFxNVRwMDVWcGk4dVU2WU0zYnAxSXp3OFBOL1dxWUs2bnozenpEUDVmbzdGWW1IUm9rVWtKeWN6Y09CQXFsV3J4cUZEaCtqYXRXdStrdzRjUG55WVNaTW1LZHV1cnE3MDdkc1h2VjZ2cklVRFVLOWVQWGJ1M0VsR1JnWmR1M2JGeDhlSDMzLy9IWGQzOXlMTlNMWmp4dzZxVnEyS3Y3OC8wZEhSVEp3NEVVOVBUNFlPSGNxNzc3NkxpNHNMNDhhTlk5U29VVVJFUkhEbXpCa0dEQmlBbTF2cG1scFpDQ0dFRU9KUjlkaUdHc2pyS2xhUVgzNzVCWTFHUS9QbXpmTXRFeDBkemZuejUybmR1cld5eXYzZHJCMVQwdnIwNmNPWk0yZm8zTGt6WGJ0MnBVeVpNZ1dXejh6TUJJbytHeHhBYkd3czMzLy9QV2ZPbk9HWlo1NmhlL2Z1VEpnd2dXUEhqckZ4NDBiNjkrOXZNNUdBVmVQR2pYbnl5U2RwMUtnUjlldlhwM0xseXFoVUtpWk5tbVFUYWtKRFEzbmpqVGRRcTlWS1Y3V3BVNmNTR2hwYTRMK0ZOYUM1dTdzemF0UW9kdS9lemNLRkM5Rm9OSHoyMldkNGVucGlzVml3V0N6NCsvdnoxVmRmOGZubm43Tmx5eFlPSERoQWVIZzQ0ZUhoaFg1blFnZ2hoQkRpd1hxc1E4M3RySXRzV2l3V1ZDb1ZXN1pzNGV6WnM3UnYzOTdoWW9yV0IrS3JWNjh5ZCs1Y1BEMDlDUXNMczdsV1JFUUVFUkVSRGovSGJEWXphOVlzWnMyYVpYZHRheDN1Um43amN3b1RFQkRBb2tXTDh1MHVaakFZbE81a3QyN2RZdDI2ZFFENCt2b1dlTjJjbkJ6Kys5Ly9zbjM3ZG80ZlA0NWFyZWJWVjErbFY2OWVxRlFxUm84ZXpaNDllMWl4WWdVUkVSSDgrdXV2dlA3NjZ6YXRZaTR1TG93Wk04YnUycmR1M2FKczJiS1lUQ1pNSmhQKy92NTA3dHhaT1c0MEdqbDI3QmdEQnc3RVlyR1FuWjF0Rnp6TVpqUC8rYzkvQUhqdnZmZll2bjA3cTFhdHdzZkhoN0ZqeDFLdFdqWGdyeW1jQVNwVXFNQzBhZE5Zc21RSm16ZHZadGV1WFE1bm9oTkNDQ0dFRUg4dkNUWC9ZdzBwQm9PQlk4ZU9NVy9lUE1xVUtjTnJyNzFtVjdaTW1USWtKU1h4N2JmZmN1blNKVFFhamJKWXAvVWE0SGhNamZXWXdXQlFwbDIyc282cE1ScU5CUzV1YWJWbnp4NU9uRGlCMFdqa3lKRWo5N3htU2tIVFBzZkd4dkxCQng4b2E4d0F1TG01MGJoeFk3dXkwZEhSN051M2o0c1hMM0x1M0RrTUJnTWFqWVpXclZyUnUzZHZtNjUyR28yR3A1OSttalp0MnJCaHd3WldyRmpCSjU5OFFwczJiUmcrZkxoZEY3eGR1M2J4My8vK2wrenNiTTZlUFV1WExsMDRkKzZjdzlCak5YdjJiR2JQbmczQXI3LythbmZQTDcvOE11Zk9uU01zTEl5bVRadVNrNVBEU3krOVpCTmlUU2FURW1vZ3J3dmNtMisrU1hoNE9HbHBhV2kxK2Y4SzNmbVpRZ2doaEJEaXdaQlE4eiszaDQzYXRXc1RIQnhNang0OThQSHhzU3Y3ajMvOGd3MGJOaEFmSDQrYm14dURCZzJ5NlE2bDArbm8zYnMzRFJzMlZCN2tUU1lUYjd6eGhqTEEvZlhYWHljME5OVG1RYjlwMDZZMjRhRXcxYXBWWStyVXFjcFUwa1daNmV0dVZhOWVuYVpObTVLWW1JaXZyeTlWcTFhbGZmdjJTbGU3MjFXcFVvVmZmdm1GeU1oSVFrSkNDQXNMSXl3c3pHRkxsNVZHbzZGYnQyNjBhZE9HMmJObjQrenM3SEE2YWo4L1AvYnMyWU9ucHlkTm1qU2hhOWV1bEN0WGptKysrYWJRQUdnZHozU25aczJhS2JPWjZYUTZCZzhlYkZmR2FEUXFQeHUzQ3dnSUlDQWdvTURQRlVJSUlZUVFmdytWNVc2ZW9oOGk2OWV0SWJ4N3p3ZDJmYVBSV09CYitJZEZjbkl5bnA2ZUQ4M0s5dG5aMmFoVXFrSVh1OHlQeVdSeUdHb3NGZ3RaV1ZsLysrRDgxTlJVbkoyZEhZYTRrdkNnZis0ZmhEa3pkd0R3OXREOEo1SVFRcFFPV3pkdFlOdm1qVXlaOFYxSlYwVUk4UmhUT1JpbjhmQS90WmVRMGhCb2dMdGFRK2Z2Y0w4TFV1YTNhS2hLcFNxUjJjWWN0ZFFKSVlRUVFvaUhTLzZES1lRUVFnZ2hoQkNpRkpCUUk0UVFRZ2doaENqVkpOUUlJWVFRNHE2VTB1RzRRb2hIbUlRYUlZUVFRaFNKOC84bWdibWVtbHJDTlJGQ0NGdWxOdFJvdFZwTUptTkpWME9JdjQzSlZEcG01Qk5DUExxcUJGY0Y0R3BjYkFuWFJBZ2hiSlhhVU9QaTRrcDJWblpKVjBPSXYwMTJWall1THZjM3U1d1FRdHlQS3NGVkNRZ01aTWZXTGZKaVVRanhVQ20xb2NiYng0ZHJ5Y2tsWFEwaC9qYkp5VWw0bDVjcHBvVVFKVWVsVXZIS3F3TklTa3pnMXpXckpkZ0lJUjRhcFRiVUJBUUdFUnNUWGRMVkVPSnZFeHR6aFlDQW9KS3VoaERpTVJjUUdFaVBYcTl3NU9BQnZwMDZtVk1uanBPU2NxM1VUQjd3NTU5Lzh0dHZ2OTN6K1RkdTNHRGZ2bjEyKzgrZVBjdlJvMGN4bTgxM2RUMmowVWgyOXIzMVBNbkl5SEM0LzhpUkkzejk5ZGQzVlpmaXZpOGgvbTZsdG9PK3I1OGZXcDBUVjZLakNLNWFyYVNySThRRGRTVTZDaWVkRTc0UDJXS3JRb2pIVS9Pd2xsU3FITXpLWlQrdzlGOExIOWpuZEhpdU14MmY3MUtzMXp4NThpUnIxNjZsUm8wYTFLdFg3NjdQUDN6NE1ELy8vRE4rZm43VXFsVkwyYjk5KzNaaVkyT3BXN2N1N3U3dWR1ZVp6V2JTMHRKSVMwc2pKU1dGaElRRXJseTV3dm56NStuVXFSUGR1M2UvNjdvc1hicVVtemR2OHVHSEg5cnM5L2IyNXNLRkN4dzdkb3ltVFpzcSs5WHEvTjlsMyt0OUNmR3dLTFdoQnFCaG84YnMzN3NiZHc4UHlwZjNMZW5xQ1BGQXBGeTd4c1h6NTJqWnVtMUpWMFVJSVJRQmdZRU1IL2tKc1RGWHVCSWRSWTVlWCt5ZlViMW1yY0lMM2FYbm4zK2VuVHQzc21yVktqNzc3TE1pblpPYm00dE9wME9sVXRHcFV5ZE9uanhKWm1hbWNqd2hJWUhUcDA4emJOZ3c1Y0hmWkRKaHNWaVVDVjV5YzNNWk5Xb1VCb01CVjFkWDlIbzlMVnEwb0VlUEhnUUYzWDByZkU1T0RxZE9uYUpyMTY2Y1BuMmFHVE5tMkpXWk0yZU96ZmJjdVhOeGRuWXUxdnNTNG1HaHNwU1c5dUo4WEU5TjRkaVJ3OVNxVTFkYWJNUWo1MHAwRkJmUG42UHBrODN4OWlsZjB0VzVKM05tN2dEZzdhSFBsSEJOaEJDUEUrdkR1VWFqUWFWUzJSejcvZmZmcVZpeEl0N2UzbmJubVV3bVRDWVRIaDRleXI1Qmd3YmRVeDA2ZE9oQTM3NTlsZTFyMTY3aDd1Nk9xNnNyNzd6ekRwOSsraWtWSzFaVWpnOFpNZ1NUeVdSM25VOC8vWlJxMVd5ZmNYYnUzTWxQUC8zRXRHblRpSTJOWmVuU3BZd2JOODVoUFJJVEV4ay9manlMRmkyeStTNks2NzZFK0x1cDd2eWxwcFMzMUFCNCs1U25aZXUybkR4eG5Kam9LQ3BWQ2NiUHp4L1hNcTVvTktYKzlzUmp4bVF5a3AyVlRYSnlFbi9HWEVHcmM2Smw2N2E0U1pPL0VFTGNsU1ZMbG5Ea3lKRjdPcmRDaFFwODlkVlh5dmJreVpOeGNuSkNvOUVvKzZLam81azJiUnFqUm8waU1ERFE1bnl6Mll6SlpFS24wOW5zOS9VdHVGZUprNU1UTDd6d0FnMGFORkQyalI0OTJxWjFCZktDMTZaTm0zanl5U2R4YzNOVGdvcWpRR1N0anlQRmRWOUNQQXdlaWFkK04zZDNXclp1dzdYa1pPTGo0NGlKamthdno4Wm9sRmxaUk9taTFXcHhjWEhGdTd3UDlVSWF5QmdhSVlTNFI3MTc5K2FsbDE1U1dtcVNrcEtZTkdrU0V5Wk1vRXlaTXZtZVp6S1o3RUtBcjY4dk1URXhTbGN0eUh2NFY2dlZ1TG01Y2V2V0xhV3N4V0xCYkRhajFXcng4dkpTOXVmbTVxTFZhdTNHdFZnc0Znd0dBMXF0Rm8xR2c2ZW5wMDNyRGRpUGhkbTVjeWZYcmwyalo4K2V5clhqNCtONTk5MTNDL3hPY25OemJRSlNjZHlYRUErTFJ5TFVXUG42K2NsRG9CQkNDQ0hzSHJ5dDNkSEtseTl2MS9KUkZCTW1UTURaMlZsNStNL0t5a0t0VmpOcDBpU2JjaGFMQmFQUlNNMmFOZm5nZ3crVS9UTm16Q0F5TXRLbTdPalJvNVcvanh3NXNrajFTRXRMWSszYXRRQktYYkt6c3drT0RpN3lHS0hpdkM4aEhoYVBWS2dSUWdnaGhIQWtKeWNINEo2N1RzMmZQMS81dTlsc1p0aXdZWFRzMkpIdzhQQWluZitQZi93RHlBc2l4NDRkWStuU3BZd2VQUnBmWDErTVJpTmx5NVl0OUJvV2k0VUZDeFlRRUJCQVFrS0Nzajg5UFIwWEZ4ZXlzcklLdllhcnE2dk51SnI3dlM4aEhoWVNhb1FRUWdqeHlMT3U2VEo0OE9COHkxU3BVb1h4NDhmYjdFdEtTa0tsVXRsMEFZdUtpaUlqSTRPZ29DQlNVbEljWHN0c05wT1RrME9sU3BVQThQVDBWSTRkT0hBQXlHdDFPWFBtak5LTnJEQlhyMTRsTGk2T0R6LzgwS1lsSlRFeGtmUG56eGZhL1F6K21nR3R1TzVMaUllRmhCb2hoQkJDUFBKU1UxUHg4dkxLdDV2WDNMbHpIWTRWbVRScEVqZHUzSEI0enJmZmZsdm81eTVldk5obSsrREJnMXk1Y2dXMVdrMUdSZ1liTm16QTA5T1Q5dTNiRjNxdG9LQWd2djc2YTF4Y1hHejJSMGZuTFVZK2NlSkVLbGFzeU9EQmc1azJiUm9HZzRHUkkwZXllUEZpRWhJU0dEMTZ0TkpTVmR6M0pVUkprMUFqaEJCQ2lFZmU1Y3VYcVZLbGl0MGdmQ3U5WGsrNWN1WHM5bi8xMVZmb2REcWxSV1BuenAzOCtPT1BqQmt6aHVyVnErZjdlV2F6R1lQQllMUHZ4bzBiTEZ1MmpJNGRPN0o3OTI3cTFLbERseTVkV0xseUpTRWhJVVc2anpzRFRYcDZPbkZ4Y1VVNkYvNmFkS0E0NzB1SWg0R0VHaUdFRUVJODBuSnljamg1OGlUZHUzZlB0MHg2ZXJyRGxwcmJKeFU0ZS9Zc3k1Y3ZKeVFrQkJjWEY1dHhMVmJXMmN5Q2dvSnN6alVhamN5ZE94ZDNkM2Q2OU9qQjd0MjdBZWphdFN2SnljazRPVG5kMDczdDM3K2Z1blhyY3ViTUdjYU9IUXZrQlk4UkkwWW9aUngxdVN1dSt4TGlZU0doUmdnaGhCQ1B0RTJiTm1Fd0dHamV2TG5ENHprNU9lVGs1QlE0VmZHK2ZmdjQ0WWNmcUYrL1B0ZXVYZVBMTDc5RXJWWmpNcG5RNi9YS2VqSFdsb3lJaUFobDhML1piR2JPbkRsRVIwY3pkdXhZbXdEajVPVEVXMis5cFd6UG5UdVh1WFBuRnVtK2pFWWoyN2R2cDErL2ZwdzVjNFlKRXlaUXNXSkZYbi85ZGFaTm0wWnViaTRmZmZRUkN4Y3VWTHFmRmVkOUNmRXdrVkFqaEJCQ2lFZldsU3RYMkxoeEl4MDdkc3ozWVR3dExRMEFiMjl2dTJOWldWa3NXN2FNQXdjTzBLNWRPL3IxNjJjenVQNzQ4ZVBNbkRtVEw3LzgwbUgzTmNnTE5TNHVMZ3djT0pES2xTdm5XMWV6MmN5cnI3NUt3NFlObFgwalI0N0VZckU0TEI4ZEhZMjd1N3ROZWZoclRSbHJOekZIaTI4V3gzMEo4VENSVUNPRUVFS0lSMUp5Y2pMZmZ2c3RnWUdCK1hZOXk4M05aY3VXTFVEZVlwUzNTMDlQNS9QUFB5Y3pNNVBCZ3dmejVKTlAya3lIbkIrTHhZTEpaTUppc2FEVDZkQnF0Y3FVemdYSnljbkJ3OE9EOHVYTEsvdjgvUHdjaGhLTHhVTE5talhwMWF1WFRaMnNRY1pnTUNnenZobU5ScHRnVkZ6M0pjVERSRUtORUVJSUlSNDVrWkdSekpzM2p6Smx5dkIvLy9kL2FMVzJqenk3ZHUxaTllclZaR1ZsWWJGWUNBa0p3ZC9mMzZaTXVYTGxlUC85OTNGeGNjSFB6Ni9BNmFDSER4OXV0eThzTEl3MzNuakRZWG1UeVlUSlpMTFp0MkRCQXJ0eWR5NkNlZWY1ZDQ1djBXcTFmUFBOTjNoNGVPRHI2OHZDaFF2WnZYczNCdzRjVUlMTGc3d3ZJVXFLaEJvaGhCQkNQSEo4ZlgycFY2OGV2WHYzZHRqdExEUTBsT2pvYUNwVXFFQ05HaldvVWFPR3crc0VCd2NyZjU4OGVUSTZuYTdRVmcxcmk4YWRRZXAyenozM0hHNXVia1c3R1FmVWFyWERibWtxbGNxbXU1aTFybGV1WEtGdDI3YksvZ2QxWDBLVUZKVWx2NDZhUWdoUkRPYk0zQUhBMjBPZktlR2FDQ0hFbzh0c050dU1pYm1kdFV1YWRCa1Rqd3FWZ3dRdVVWc0lJWVFRb3BUTEw5Q0FoQm54ZU1qL04wQUlJWVFRUWdnaFNnRUpOVUlJSVlRUVFvaFNUVUtORUVJSUlZUVFvbFNUVUNPRUVFSUlJWVFvMVNUVUNDR0VFRUlJSVVvMUNUVkNDQ0dFRUVLSVVrMUNqUkJDQ0NHRUVLSlVrMUFqaEJCQ0NDR0VLTlVrMUFnaGhCQkNDQ0ZLTlFrMVFnZ2hoQkJDaUZKTlFvMFFRZ2doaEJDaVZKTlFJNFFRUWdnaGhDalZKTlFJSVlRUVFnZ2hTalVKTlVJSUlZUVFRb2hTVFVLTkVFSUlJWVFRb2xTVFVDT0VFRUlJSVlRbzFTVFVDQ0dFRUVJSUlVbzFDVFZDQ0NHRUVFS0lVazFDalJCQ0NDR0VFS0pVazFBamhCQkNDQ0dFS05VazFBZ2hoQkJDQ0NGS05RazFRZ2doaEJCQ2lGSk5RbzBRUWdnaGhCQ2lWSk5RSTRRUVFnZ2hoQ2pWSk5RSUlZUVFRZ2doU2pVSk5VSUlJWVFRUW9oU1RVS05FRUlJSVlRUW9sU1RVQ09FRUVJSUlZUW8xU1RVQ0NHRUVFSUlJVW8xQ1RWQ0NDR0VFRUtJVWsxQ2pSQkNDQ0dFRUtKVWsxQWpoQkJDQ0NHRUtOVWsxQWdoaEJCQ0NDRktOUWsxUWdnaGhCQkNpRkpOUW8wUVFnZ2hoQkNpVkpOUUk0UVFRZ2doaENqVkpOUUlJWVFRUWdnaFNqVUpOVUlJSVlRUVFvaFNUVUtORUVJSUlZUVFvbFNUVUNPRUVFSUlJWVFvMVNUVUNDR0VFRUlJSVVvMUNUVkNDQ0dFRUVLSVVrMUNqUkJDQ0NHRUVLSlVrMUFqaEJCQ0NDR0VLTlVrMUFnaGhCQkNDQ0ZLTlFrMVFnZ2hoQkJDaUZKTlFvMFFRZ2doaEJDaVZOT1dkQVdFRUVJSUljU2p5MncyYytiTUdZeEdJMDJhTkNtV2E1NDllNWJNekV6cTE2K1B1N3U3M2ZIYzNGeXlzckxRNlhTb1ZLb2lYOWRpc1dBd0dIQjFkY1haMmJuUThzZU9IYU5DaFFvRUJRVUJjUFBtVGNxV0xWdjBHeEhGUmtLTkVFSUlJVVFwY2ViVVNRN3QzMHZNbFdoeWNuS0svZm9kbnV0TXgrZTdGUHQxbHk5ZlRtWm1KcUdob1RnNU9SVllOaVlteGk2TWxDMWJGamMzTjJWNzllclZ4TVRFTUdyVUtHclhybTEzalFzWExqQnQyalFBMU9xL09pYVp6ZVlDdHkwV0N4YUxoVGZlZUlPd3NMQkM3MnYrL1BsMDZ0U0pvS0FncmwyN3h0aXhZd2tMQzZOZnYzNW9OSnBDenhmRlIwS05FRUlJSWNSRExqTXpnN1dyVm5McXhISDhLMVNrZnVnVGVQdjQzRlVyUkZGVXIxbnJucysxV0N5a3BxWTZQTmE0Y1dNMmI5N00zcjE3ZWVLSkoreU91N3E2NHVibWh0bHNac0tFQ1RnNU9TbGhJek16azhHREI5T3laVXNnTDdERXhzYlN2SGx6Tm03YzZERFUxSzlmbi9uejU2UFYyajdxRGhvMGlBa1RKbEN4WWtXSDJ3QW1rNm5JOTZ6VmFwWHc0dXZyeXp2dnZNUHMyYk1CR0Rod1lKR3ZJKzZmaEJvaGhCQkNpSWVZeVdSaS91eFpwTjI0UWI5QmcyblFzSEZKVjhraGs4bkV5SkVqQ3l5emRPbFNsaTVkYXJlL1E0Y085TzNiRjdWYXpmejU4MjJPdmZQT08zaDVlU25iYTlhc29VV0xGZ3dZTUlBeFk4YnduLy84aC9idDI5dWNvMWFyVWF2VnBLYW1ZckZZYkk3ZHVIRURuVTZYNzdhWGw1ZE5LMHRTVWhJR2d5SGZscGZNekV3U0VoSUE4UFB6NDlWWFg4WFgxNWU0dURpY25Kenc4L01yOERzUnhVTkNqUkJDQ0NIRVEyekgxczBreEY5bDJJY2ZFeEFZVk5MVnlaZjFvYjluejU2RWg0YzdMSE5uZHkvSWF5MjVQVEJrWm1ZeWYvNThCZ3dZUUxseTVjak96c2JEd3dPQWZmdjJFUk1UdzF0dnZZV3pzelAvK01jL21EWnRHaXFWaXFlZmZ0cnU4ejc1NUJNTUJvUE52aWxUcGhTNFBXblNKSnNnc21iTkdrNmVQT2t3MU9qMWVuYnQyc1crZmZ2c2pwbE1KaG8xYXNSYmI3M2w4THNReFV0Q2pSQkNDQ0hFUXlvek00TWRXemZUN3BrT0QzV2dBZnR1Vzl1M2I2ZFNwVW8yM2NPbVRwMktUcWRqK1BEaHlqNnRWb3ZaYkZhMkRRWURwMDZkd3RYVmxZeU1EQUE4UER5NGRPa1NTNWN1cFZldlhwUXJWdzZ6MlV6Tm1qVVpQSGd3Q3hZczRQang0M1RyMW8yYU5Xc3ExM0p5Y3FKUG56NUs0QmswYUJBVEowNjA2WDVtM2Y3amp6K1lPSEdpWFplMXQ5OStPOTk3SGpwMEtFODk5UlI5K3ZTNTI2OUxGRE1KTlVJSUlZUVFENm56a1pHWXpXYnExZ3NwNmFvVVNxUFJNRzNhTkZ4ZFhURWFqWnc3ZDQ1bHk1YlJzR0ZEWG43NVpTcFdySWpKWkxKck9ibXp1NW5aYkVhajBlRGk0a0pxYWlvcWxZcnM3R3dpSWlKbzFxeVp3eTVzblRwMTR1alJvNXcrZmRvbTFCU1g1T1JrZnZubEYvcjA2WU9ucDZmTnNYUG56dGxzWjJabXNuMzdkc0xEdysxYXBjU0RJNkZHQ0NHRUVPSWhkVDAxQllBS0FRRWxYSlBDcVZRcXZMeThPSGJzR0tHaG9Rd2RPcFEvL3ZpREgzNzRnZW5UcHpOeDRrUU1CZ1ArL3Y0RlhzZGtNaWt6cEdWa1pGQ21UQmtxVnF6SUJ4OThRSTBhTmVqZXZUczZuUTYxV28zRllzRmtNdUhxNnNvTEw3eGdON05hVGs0T1M1WXNZY21TSmNxKzBhTkgyNVM1Yy92TzBBVjU0MjdPbnovUDU1OS96ckJod3dnT0RsYU8vZm5ubjV3L2Y1NDZkZXBnc1ZpWVAzOCtrWkdSVkt0V2pkRFEwQ0o5ZCtMK1NhZ1JRZ2doaEhoSVdRZTV1N2k0bEhCTml1YkdqUnY4NjEvL1FxdlYwcXRYTDFxMmJNbjQ4ZU81Y2VNR1dxMld6TXhNdkwyOUM3eUd3V0JRV2pneU1qS1VkVjlxMXF5SjBXakV5OHVMeE1SRVltTmphZEdpQlpDM1hreWRPblhzeHIzTW1ESERaanM5UFoySWlBajY5dTFMM2JwMUhYNitxNnVyM2I3YXRXc3pidHc0SWlJaW1ESmxDbDkvL1RXdXJxNllUQ2JLbGkzTHFsV3JHRE5tREV1V0xDRW1Kb2JSbzBmYkJCL3g0RW1ibUJCQ0NDR0VLQlplWGw1TW1qU0p4bzBiczNEaFFuNysrV2UwV2kyK3ZyNUFYdWdwWDc1OGdkZkl6YzBsTXpPVFFZTUdNV3ZXTEJJU0VoZzBhQkRYcmwzajNYZmY1ZUxGaTF5NWNvV2Zmdm9KeUFzKzMzMzNIVWxKU2NvMUVoSVNpSXVMSXowOTNlWi9HelpzNE9iTm0rajFlcnRqMXYvOStlZWZSRVpHMnRYTHg4ZUhVYU5HTVhUb1VGUXFGVk9tVENFN081dFdyVnFSbUpqSXVISGp1SGp4SW1QSGpwVkFVd0trcFVZSUlZUVFRdHkzYTlldWtaV1ZoVTZubzBPSERnUUdCaElVRktSTWQ1eVJrVUZ1Ymk1YXJWYlpCM2xqYUhKeWNxaFdyUm9BQVFFQlRKdzRVVGwrNGNJRmZ2amhCM3g4ZkFnS0NpSXlNcEptelpxUm5wNU9kblkybHk5ZnhzdkxpK3JWcXl2bkxGKytuRC8rK01ObVRFdHVicTdTVlczWnNtWEsvdXpzYkp5Y25KUldIclBaak1GZ1lPSENoWGIzV0s1Y09kTFMwaGcvZmp4ZVhsNDRPenZqNHVKQzE2NWQrZm5ubnhrL2ZqdytQajdGOUkyS3V5R2hSZ2doaEJCQzNMY05Help3OE9CQnRGcXR3d0h5MmRuWnFOVnFWcTVjcWV5eldDeEtxTEdHQ0Njbkp5cFdySWpGWWlFbEpZVXlaY3JnN095TVdxMm1TWk1tbkR4NWttN2R1cUZXcTBsS1NpSXFLb3A2OWVyWmZQQjZNR3dBQUNBQVNVUkJWTllISDN4Z3N4MFZGVVZFUkFUUFAvKzh6WFRUbXpkdlp0MjZkVXlZTUtIUUZpU0FQWHYyc0d6Wk10cTBhVVB2M3IyVldkdzZkT2pBd1lNSCtmNzc3L25razA5d2QzY3YraGNuaW9XRUdpR0VFRUlJY2Q4R0Roekl3SUVESFI1TFRFems4ODgvNTVsbm51SDU1NS9IemMzTllibW9xQ2pXcmwzTGpSczNTRTVPUnExVzgrcXJyeXJyMU5Tdlg1ODFhOVpnTXBsbzBLQUJScU9SOCtmUDA3WnQyM3pyZGVuU0phWk5tMFpPVGc3WHIxL244T0hEMUsxYmx6Ly8vSlBWcTFjemNPREFRZ1BOelpzM1diSmtDV2ZPbkdIZ3dJR0VoWVhaSE5kcXRiejk5dHQ4K2VXWGZQbmxsNHdZTVVMcGNpZitIaEpxaEJCQ0NDSEVBeE1aR2NtOGVmT29VcVVLblRwMTRvc3Z2c0RIeDRkWFhubUZLbFdxMkpUMTkvZEhyOWZUdEdsVGF0U29RWEJ3TUFjUEhsUmFQaXBWcWtUcjFxM1I2L1VNR3phTTdPeHNvcUtpQ2x4TEpqZzRtSTgrK29nclY2NXc2ZElsMXE1ZHk3eDU4MUNyMVVxWE5vdkZna3Fsc2p2WGJEYXpZOGNPMXExYlI1a3laUmc3ZGl5VktsVnkrRGtWSzFia3d3OC9aUHIwNll3Yk40N3c4SENlZnZwcGh4TVBpT0lub1VZSUlZUVFRaFFyazhuRTZkT24rYzkvL3NQWnMyZHAyYklsL2Z2M1I2ZlQ4ZkxMTC9QcnI3L3krZWVmMDZKRkMxNTg4VVZsSElxYm14dGp4b3l4dWRhdFc3ZHdkM2ZuK3ZYcnFGUXF1bmZ2RHVUTlpIYml4QWw4Zkh4UXFWU2twS1E0YkhIUmFyVUVCd2ZqN2UyTlNxVWlOallXblU1SDY5YXRpWXVMNDUvLy9DZnU3dTQwYU5DQUprMmFFQklTb2l6QWFTMGZHQmpJKysrL2I5T3RMQ2NueDI3NjUrRGdZTWFORzhmY3VYTlp0V29WRm91RkxsMjZGT3QzS3h4VFdheHpCUW9oeEFNd1orWU9BTjRlK2t3SjEwUUlJVXFmclpzMnNHM3pScWJNK0s2a3ExS29XN2R1c1h2M2JxS2pvemwzN2h6WjJkblVyVnVYTGwyNlVMOStmWnV5Rm91RlE0Y084ZlBQUDVPWm1VblBuajE1N3JubmJNb3NYYnFVcTFldkVoMGRUZlBtelltTGl5TXFLcXJBT2l4ZXZCaklXd0J6OWVyVjVPVGtjT3ZXTFpLVGs3bDI3UnJseTVlblJZc1dQUFBNTTVRclZ3N0ltOERnMkxGajdOKy9uMHVYTHVIbTVzYm8wYU1KK04vYVFHYXpHYlBackFRZGdPblRwM1A2OUdrQWhnMGJSc09HRFczcVlUYWJPWC8rdk4xWUgxRThWQTZhMWFTbFJnZ2hoQkJDM0RjUER3OVNVMVBKeU1nZ1BEeWNKazJhNE9mbjU3Q3NTcVVpTEN5TVJvMGFzWExsU29mbC9Qejh1SHIxS3UzYXRhTlRwMDdLWkFHT3VvbFpMQmFiVmhNM056ZGNYRnk0ZnYwNi92NytOR25TaEJvMWFoQVVGR1IzcnJ1N08rM2F0YU5kdTNaY3ZYcVZ4TVJFSmRBQXFOVnF1NGtQdW5YclJtaG82UCszZCtkaFVkV0wvOERmTXdNejdNZ21JcVlpTGhtTEtHR0t1U1V1YVpxbG1WcCtYVEpMclp2bFVtSjJ2VjZ6bTF0S21wcWtwcm5rdnFSeXhTVkYxQkRGY0ZjRVVSQlVsbUZZWi8vOXdXOU9ERE1zS2dqVGZiK2VweWZucko4NXpNQjVuOCtHdG0zYnd0dmIyK1NZWXJHWWdlWVpZMDBORWRVcTF0UVFFVDA1UzZxcElYcFd6TlhVY1BKTklpSWlJaUt5YUF3MVJFUkVSRVJrMFJocWlJaUlpSWpJb2pIVUVCRVJFUkdSUldPb0lTSWlJaUlpaThaUVEwUkVSRVJFRm8yaGhvaUlpSWlJTEJwRERSRVJFUkVSV1RTR0dpSWlJaUlpc21nTU5VUkVSRVJFWk5FWWFvaUlpSWlJeUtJeDFCQVJFUkVSa1VWanFDRWlJaUlpSW92R1VFTkVSRVJFUkJiTnFxNExRRVJrQ1FyeUZaRG55bEZZVUFDMVdnV2RUbGZYUlNLaVdpQVdpMkZ0TFlXOWd3TWF1RFNBZzZOVFhSZUppS3FCb1lhSXFCSktwUkpwZDFPaDFXcmg2dVlHajRZTllTMlZRaXhtUlRmUjM1Rk9wNE5hcFVKK3ZnTDMwOU1oa1dTaVNkTm1rTWxrZFYwMElxb0VRdzBSVVFVS0N3cVFtcElNVHk4dnVMbDcxSFZ4aU9nWkVJdkZrTm5ZUUdaakEzZVBoc2pPZW9UYk4yK2dtVThMMkRzNDFIWHhpS2dDZk5SSVJHU0dVcWxFYWtveW12cjRNTkFRL1E5emMvZEFVeDhmcEtZa1E2bFUxblZ4aUtnQ0REVkVSR2FrM1UyRnA1Y1hIQndjNjdvb1JGVEhIQndjNGVubGhiUzdxWFZkRkNLcUFFTU5FVkU1QmZrS2FMVmExdEFRa2NETjNRTmFyUllGK1lxNkxnb1JtY0ZRUTBSVWpqeFhEbGMzdDdvdUJoSFZNNjV1YnBEbnl1dTZHRVJrQmtNTkVWRTVoUVVGY09Rd3JrUlVqcU9qRXdvTEN1cTZHRVJrQmtNTkVWRTVhclVLMWxKcFhSZURpT29aYTZrVWFyV3Fyb3RCUkdZdzFCQVJsYVBUNlRnUERSR1pFSXZGbkhpWHFKN2lYMjBpSWlJaUlySm9ERFZFVkt1c3JNVFFhdmhrazRpSWlHb1BRdzBSMVNvblp6dms1NWZVZFRHSWlJam9iNHloaG9ocWxiT3pMUlI1UmRCcVdWdERSRVJFdFlPaGhvaHFsVy9MaHRCb2RFaSsvYWl1aTBKRVJFUi9Vd3cxUkZTcldyUnNDRnM3S1M3OWVhK3VpMEpFUkVSL1V3dzFSRlNySkJJeFFqcjY0TndmeWNqTEs2N3I0dFFwdlY3LzFNZFFxOVY0OE9BQlNrcHF0NS9TelpzM2EvMGNkY0VTcjkvVnExY1JHUm1Kb3FLaUdqbGVXZW5wNlRoMjdCalMwOU5yNUhnSkNRbElUVTAxV3FiUmFMQmh3d2FUNVVSRU5ZbWhob2hxWGE4K2ZyQ3lFaVBxdHovcnVpaDE2c1NKRTVnN2R5NXUzTGp4eE1kSVNVbkJwNTkraXZQbno1dXMwMmcwK085Ly80dTB0RFJoV1VKQ0FuYnUzSW5Dd3NKcW42T3dzQkNMRnkvR3pKa3pvZFZxbjdpc05VR3BWRlpyTzRWQ2dhVkxseUk2T3JyUzdTengrdDI0Y1FQSGpoM0Q4ZVBIcTcxUFNVbEp0YzU5NHNRSlJFWkdZcytlUFU5VFJNSCsvZnN4YytaTS9QSEhIOEt5UC8vOEUxRlJVZGkwYWRNVFhZOUhqeDVoeFlvVldMVnFsYkJzMTY1ZFdMRmlCZkx6ODJ1azNFUmsrUmhxaUtqVzJkbkw4TnJyN1JFZmw0SS96dHl1NitMVW1kT25UK1BXclZ0d2RYVjk0bU5ZVzFzREFPenM3RXpXcWRWcWJOKytIZHUzYnhlV0pTVWxZZWZPblk5VlM3Umh3d1lVRmhiaTRjT0hpSXVMZStLeVBxMkVoQVI4K3VtbjFYckNMNUZJRUJjWGgzdjNLbS9tYUluWHIzdjM3aENKUkRoNThtUzE5NWs1Y3laR2pScUZrU05IR3YyWGxaVWxiS05XcTNIeTVFbjQrdnJpd29VTDFRb0lLcFVLMDZaTnc0RURCMHpXWldkbjQ4YU5HMmphdENrNmR1d29MRDk5K2pRa0VnbmVlKzg5U0NTU2FyOEhBNzFlajlqWVdGeTRjRUZZbHBTVWhOallXRmhaV1ZXNjc2cFZxN0I0OGVMSFBpY1JXWjdLZnhzUUVkV1FsenI3SXYxZURuWnZqNGRVYW9YMndjM3F1a2pQVkVaR0JxNWN1WUt1WGJ2Q3c4UGppWThqRnBjK2k1SktwY0t5eTVjdjQ4S0ZDM2p6elRjUkZoYUdmZnYyNGM2ZE8yamV2TGx3RXltVHlhcDEvT1BIanlNbUpnYkRodytIVXFuRXFsV3I0T2pvQ0g5Ly95Y3U4NU95dHJaR2ZuNCtsaTlmanZuejV3dUJ4QnpEKzZ2cUpyZStYcitTa2hLTUd6ZXUwbTN1M2J1SGtTTkhtbDNuN3U2T2lJZ0k0ZldYWDM0SmlVUWlsSC8zN3QySWlvcUNvNk9qVVZtTGk0dng2YWVmWXRteVpkaXdZUU1tVDU1Y2FSbTJiOThPdFZxTnZuMzdtcXo3L2ZmZm9kZnJNWGp3WUloRUlnQkFWbFlXNHVMaTBMRmpSM2g2ZXByc285ZnJvZEZvSUJhTEt3dzhUazVPQUFBYkd4dGhtZUhmVmYxY2hnMGJoczgrK3d5eHNiSG8wcVZMcGR0UzdkSm9ORGg5K2pTQ2dvS0VuK25qME9sMEVJbEV3bWVyL0RyRGQ3c3FDUWtKQ0FvS2drZ2tRa2xKQ1hiczJJRk9uVHFoWmN1V1ZlNzc0NDgvd3RIUkVXKy8vYlp3UHNObjJNckt5bXpaNk5saHFDR2laK2IxSWNGUXFUVFl2T0UwMHUvbG9QZXJBWkRKL2pkK0RlM2Z2eDk2dlI3ZHVuV0RYQzZ2Y251eFdHejBoLy9HalJ1d3NiRVJuclRuNU9RZ05UVVZIaDRldUh2M0xxS2lvakIwNkZEMDY5Y1BodzRkd3E1ZHUvRFpaNThKZjNpcjg0UThJU0VCYTlldVJYQndNQVlPSEFnQXlNek14T0xGaXpGdDJqVDQrZms5eVZ0L1l2Nysvbmp6elRleGZmdDIvUHJycjNqMzNYZVJrcElDYTJ0cmt4c1lRMDFLWVdFaDB0UFRvZEZvWUc5dkQzZDNkd0QxLy9vWmJzNDdkT2hRWVhDcHlMUnAwMHdDbjV1Ym05RnJ0Vm9OYTJ0cjRUekZ4Y1hZdFdzWGV2WHFCVmRYVjR3ZVBScGZmZlVWV3JWcWhUNTkrcGc5VDBaR0JxS2lvakIrL0hpVDhLaFVLaEVkSFEwbkp5ZUVoSVFJeTMvNzdUZG90VnFjT1hNR1o4NmNxZkE5ZlBMSkozanBwWmZNcmpPOHQ3THYwZkR6cU9wRzF0WFZGYjE2OWNLbVRadnc0b3N2Vmp1Y1VzM1RhclZZdDI0ZDVzNmRXMldvS1M0dVJsNWVudEhuTERZMkZudjI3REg3M2RmcjlWaTFhbFdWUDkrclY2OGlJaUlDNzcvL1BrSkRReUdUeVhEcjFpMDhlUEFBVTZkT3JYUmZ1VnlPdUxnNERCbzB5S2dNY3JrY24zMzJXWVg3elpzM0Q5N2UzcFVlbTJyRy84YmRCQkhWQ3hLSkdHKy8weGxlalYxd2NQOUZYSWkvZzU1aEw2QmRoNlp3Y3JLdDYrTFZtc3pNVE1URXhBQW8vUU5YSFVGQlFaZ3hZNGJ3K3Z2dnYwZHhjYkh3SkhEZHVuWFE2L1dZT25XcThJZGZKcFBCenM0T1hicDB3WWtUSjVDUmtWSHRKNGZ4OGZINC92dnY0ZVBqZzQ4KytralliK0xFaVZpeVpBbSsvZlpiakJvMUNyMTc5NjcyKzY0Smd3WU53cDkvL2luVU1NeWRPN2ZTZmpZeE1USEN0UjQ0Y0NCR2pCZ0JvUDVmUDBOZkUxdGJXelJ1M0JnNU9UblE2L1ZHNGVUNjllczRkZW9VUWtORDhjSUxMNWpkMzBDdFZ1UFVxVk5vMWFvVm1qUnBnc0xDUXJpNHVBanJmL25sRjJnMEdyenh4aHNBZ0JZdFd1RHR0OS9HenovL2pOemNYQXdkT3RRa3lPM2V2UnUydHJZSURRMDFLZi9odzRlaFVDamc1ZVVsN1BmZ3dRTWNPM1lNWVdGaHNMS3lRbFJVRkJZdFdtUzBuMTZ2aDBxbEVzSm5jWEV4WW1KaTRPWGxoWUNBQUFEVkM1UUFzR1hMRmdCQTM3NTlqWnA0OXVuVEI0Y09IY0xSbzBmUnYzLy9haDJyS3J0M2JzTzF5NWRxNUZoVnljM0pBUUFjUG1UYTVLODIrTFpxRGQrV3JaNzZPQ3FWQ25GeGNRZ09Eb2F0cmEzd2N5ejc4elRVY29oRUlxTUFjLzM2ZGF4Y3VWSllWbHhjakhuejVtSEFnQUY0Ly8zM3NYRGhRcmk3dTJQczJMR1lQMzgrL3Z6elQweWFORW5ZLytPUFAwWlFVSkJKbWZiczJZTkdqUnFoVTZkT0FBQ1JTSVMzM25vTGl4Y3ZGbW9VSzdKdjN6NW90VnJzM3IwYnUzZnZCZ0NFaDRmRDE5Y1hTNWN1Ulh4OFBFNmRPb1hwMDZjREFHN2Z2bzBsUzViQTN0NytTUzhoUFNhR0dpSjZwa1Fpb1Bzcno4TXYwQnVIOWlkaTMrNEwyTGY3QXBvMGRZV0hoeU1jbld6cnZQYW1VYU9hUGQ0dnYvd0NzVmlNYjcvOUZnMGFOS2gwMjBPSERtSG56cDBtelh1V0wxOE9vTFFKMHVlZmY0N1BQLzhjYmRxMEFWQWFtb0MvYmhZR0RCaUF0bTNib2xHWk4xSlI4d3k5WG84REJ3NWd5NVl0OFBYMXhSZGZmR0gwdE5QS3lncWZmZllaVnE5ZWpYWHIxdUhjdVhNWU5Xb1VubnZ1dVNlNEVvOVBJcEhnbi8vOHB4QVNWcTVjQ1psTVpqWnNqQnc1RXYzNjljTzc3NzRMalVaanRLNitYeitkVG9jaFE0YWdhZE9tQUlDMWE5Zml5cFVyZVBQTk45Ry9mMzlJSkJLVWxKVGcyTEZqOFBEd01BbzFIMy84c1ZGek9xRDBKbkRObWpXWVBIbXlFR29NTi9xSERoM0M4ZVBITVh6NGNBQVErdEwwNk5FRG1abVoyTHQzTDg2ZlA0L1hYMzhkb2FHaEVJbEVVQ2dVT0hQbURIcjA2R0ZTSzZSUUtMQjM3MTZUNi9MVFR6L0J5c29LUTRjT3hkR2pSd0VBalJzM05ybUdaZDI1Y3dmcjE2OUhVRkNRRUdxcTYvVHAwOGpOelRYNTduaDZlcUpseTVZNGZQZ3dYbjMxMVJwcEluVHQ4aVVoYkR3cjBWRUhuOW01YWlyVS9QVFRUMmpidGkxc2JXMkY3OCtzV2JOTXRwMHdZUUk2ZCs0c3ZHN2Z2ajErL1BGSDRmWDQ4ZU5oYlcwdGhKelBQLy9jYVArZVBYdWlYNzkrU0UxTnhkeTVjOUc2ZFd1VGMvenh4eCs0ZGVzV0prK2ViUFJkOXZmM1IzQndNSDcrK1djMGI5NGNEUnMyTk5uMzh1WExpSW1Kd2V6WnM5R29VU1BFeDhjakppWUdyVnFWWGlkbloyZGtaR1NnVmF0V1FuODl3NE9Hc2swK3FYWXgxQkJSblhCM2Q4U29zVjJRbXhPRXk1ZlNjT05xQnRMdTVVS1JsdzZsVWxQMUFXclJxREZ0YXV4WWNYRnh1SERoQWw1Ly9YV2pHN3BseTVaQnA5TmgzTGh4Y0haMkJsQjZJM2o2OUdsNGVub2lNRER3aWMvcDdlMHROSGVvcklON1JrWUcxcXhaZyt2WHI2TjE2OWFZTVdPRzJRNzBFb2tFNDhlUFI3Tm16YkI5KzNaODhjVVhDQWtKUWMrZVBlSHY3LzlFbmIrclVsaFlDS2xVYXRKTzNjYkdCZzhmUHNTTkd6ZlF0V3RYcy91S3hXS1RtL3pIVVJmWFR5cVZZc2lRSWNJK0V5Wk13TFp0MjdCbHl4YWNQSGtTSDM3NG9WQ1c4bjFUeXQ0TUd1aDBPZ0IvOVVjcExDeUVwNmNuamh3NWdvMGJOeUl3TUJCNzkrN0YxcTFiVGZZZE8zWXNObXpZZ0N0WHJnajlVT0xpNHFEVmF0R3VYVHVUN2JkczJZS2lvaUtqbjlOdnYvMkd5NWN2WTlpd1lZL1ZmNkp0Mjdidzh2SkNZbUlpNUhKNWxROEJEQjQ4ZUlEczdHd0VCUVdaSFlnaktDZ0lPM2Jzd08zYnQ2dlZkNklxNGYvODkxTWZvN29PSHpxQTZLaURXTGhzeFRNN1owMHdCQWRERURGOFBzTER3NFhnb05mcm9kVnFUV296ZERvZFB2cm9JM3o0NFlkbzNibzF0RnF0VVorcWI3LzlWcWlwQVlDTkd6Y0NLTzByRnhRVVpQSTl6TXZMdzZaTm05QzJiVnU4K09LTEptVWRQWG8wL3ZuUGYyTFJva1dZTVdPR1VITUlBR2xwYVZpOWVqVzZkdTBLYjI5djZQVjZSRWRISXl3c0RFcWxFdGJXMXREcGRMaHc0UUxHakJrajdDZVh5K0hvNkZncnZ4L0pQSVlhSXFwVExxNzI2TnE5RGJwMnI3a2c4YlFTRXk1VXZWRTFQSGp3QUpHUmtmRHc4TURycjc5dXRDNHRMUTBQSHo0MHV1RzdldlVxTWpJeU1HTEVpR285VFk2UGowZXpacFVQdUdDb3NTaGZ5N0J4NDBZY1Bud1lXcTBXL2Z2M3g4R0RCekYrL1BoS2ovWGRkOThoT0RnWW16WnRRbHhjSEc3ZnZvMXZ2dmtHRGc0T1ZaYjFjUzFidGd5WEwxOFdYdmZvMFFNVEprd1ExcVdscGNIUHorK3BScEtyajlkdjFhcFY4UFB6UTlldVhURisvSGgwN05nUjY5YXRnNE9EZzlBZnFEcnYyVkJ1Vzl2U1pwMkZoWVZ3YzNORHo1NDlrWldWaFVHREJ1SG16WnRHZ3dub2REcW9WQ3AwNk5BQnJWcTFNcnF4dTNMbENvRFNabXBsSlNZbTR1VEprK2pTcFF2Ky9QT3ZJZHRWS2hVYU5XcUVBUU1HR0cxLy8vNTk0ZCtHcGtjTkdqUVFnajFRT3RyYjFxMWJFUnNiYTdKL1JRd2pvM1hyMXMzc2VoOGZIK0Y5MUVTb29TZm40T0JnOVBNMnA2U2tCTVhGeFhCMWRSV0dVeThiZk9iTW1XUDBPL0s5OTk3RG1qVnJjUHo0Y2FINWw0Rk9wOFBxMWF1aDFXcngzbnZ2bVQyZm82TWpwaytmamdVTEZ1RGYvLzQzM24vL2ZXRndqeE1uVHNETHl3dkhqeDgzR2xaOS9mcjFXTDkrUFNaUG5vdzdkKzVBSnBQQjM5OGZpWW1KaUltSndjMmJONFhhWUhvMkdHcUlpR3BKUWtJQ05Cb05KaytlYlBTVUVTaHQ4bE8rRnNEUHp3K3JWcTJxZEpRdlExT2g3Nzc3RGtWRlJmajN2eXQvWXF4VUtpR1ZTazF1eXYzOS9mSEhIMzlnL1BqeENBb0t3a3N2dlFRYkd4dXpUeFYxT2gxS1Nrcmc0dUlDcVZTS2FkT21JVGs1R1NVbEpiVVNhSURTMmdMRHFGalRwMDgzcW5rWk9uUW9GaTVjaUQxNzlsUTVZbGg1OWZuNjVlZm5JejA5SFNkUG5rUk1UQXdtVEppQXdNQkFMRnEwQ0JLSlJBZ1dqeE5xREo4bFE1OGFpVVFpTkRzejErZkFvSG56NWthdjc5NjlDeHNiRzZOemE3VmFSRVpHd3NIQkFhTkdqVElLTlVPR0RFSC8vdjFOUHN2VHBrMHpPZGY3NzcrUG5qMTdDcTlEUTBQeDY2Ky9QbGFvT1h2MkxCd2NIQkFjSEd4MnZhSG1qUk9BMXE2c3JDd1VGaGJDMnRwYTZQdjI4T0ZEbzRsakh6MTZaTEtmVHFlRFJxTVJIaklZOW0zUW9BRnljbklnazhtTXZsdFRwa3hCZm40K0lpSWlzSEhqUm93ZE94WXBLU253OFBEQSt2WHJNWFBtVExpNHVFQ3YxeU15TWhMWHIxL0hoQWtUS3EzNTgvTHl3cGRmZm9sbHk1Wmh5WklsQ0EwTnhmRGh3ekZ5NUVpb1ZDcE1talFKVTZkT2hZdUxDOExEdzdGdTNUcU1IVHNXcnE2dVNFNU94cnZ2dmd1eFdJeEdqUnJCMXRZV2d3Y1BOdHYvakdvUFF3MFJVUzNwMTY4ZnVuVHBZdEttV2k2WFE2RlFBQ2p0UTJCNGlnekFiRk1kdFZxTjJOaFl4TWJHNHVyVnF3QktteHk5OGNZYmNISnl3cTFidDR5MlAzejRNSHIxNmdXSlJBS0ZRbUgybU8zYnQ4ZlNwVXVGcGlHR3R1SFZWZjZKZlUzejh2SXllbDAyVkxSdjN4N2UzdDQ0Y2VJRWhnNGRXbVh6Smt1NWZvNk9qcGc3ZHk2aW82T3hlZk5tekowN0Y5OTk5NTF3TTVlYm13dUpSR0xVNGI4aWhsQ1RuWjBOYTJ0ckZCVVZRYS9YSXljbkI2NnVya2hQVDRlTGl3dnk4L09GbXpOUFQwOWN2bndabHk1ZE11bHNuNU9UWTNJZEpCSUpSb3dZQVpsTVp2WWFHV3FKeXRxOGViUHc3N0tkeE10eWQzZEh5NVl0Y2V2V0xhU25wMWM1Y2xSNmVqcHUzYnFGUG4zNlZQaEF3QkFlYzU1eFA1ai9OVkZSVVRoKy9MZ1FRaHdjSEl5R0duZHdjTUNhTld1TTl0SHI5ZERwZExDeHNjR1NKVXNBL0JWcTdPenNjTy9lUGRqYjIrUFdyVnZZdDI4ZkFHRCsvUGxDdnhrL1B6OHNYTGdRenozM0hENzg4RU1zV3JRSVY2OWVSWmN1WGJCdDJ6YWNPWE1HdzRjUFIzUjBORmF2WGwzbGUxaThlREgyN05tRDdPeHMyTmpZUUNRU0NmMzQxR28xVkNxVlVSbHRiR3d3Yk5ndzVPVGtRS1BSWU5hc1daZzZkU3FlZi83NXA3eWE5TGdZYW9pSWFwRzVUcUpsWjFzL2R1eFloVTBpRENRU0NmYnYzdzhiR3hzTUh6NGNXN1pzUWFkT25jemVTSjQ1Y3dZLy8vd3pYRnhjRUJJU2dzek1UTFB6Z3dCL3RYWFB5TWg0ck1rbHZieThLbXdlWjJnalg5VjhNVTlyOE9EQlVLdlYxYW9wc29UclYxUlVCS2xVQ29sRWdqNTkrcUJ0MjdiSXlja3hlanI5OE9GRGVIaDRtTlFHNlhRNnFOVnFTQ1FTb1V5R0c2NnlvNDM5OHNzdnVIMzdOc2FQSDQrWk0yZGkzTGh4Nk5DaEF4SVRFM0gzN2wxNGVub2lNVEVSeDQ0ZEUwWkZNMUNwVkNhMWpZRDUvanpWSlJLSktnd2hMNzMwRW03ZHVvWFkyRmdNR3phczB1TWNQRmphZ2I1NzkrNFZibU1vdTFxdGZzTFNVblVNSHo0Yzc3NzdydGwxS3BVSzI3WnRRNzkrL1l5YU5sYTByVlFxaFZxdGhsd3VoNTJkSFZ4ZFhaR2Ftb3FCQXdlaVc3ZHVjSGQzeDRFREI5Q2pSdyswYnQwYTl2YjJTRXBLd3ZUcDA0WHZ3ZURCZzlHc1dUTjA2dFFKQVFFQjBPbDB1SC8vUGxhdVhJa0pFeVlZMVVnZVBud1lwMCtmaHF1cks4YU5HeWZNUFdPZzArbXdkT2xTNGZXSEgzNElvUFJ6bkorZmo1a3paK0tiYjc2QlJxUGg0QUIxaEtHR2lPZ1pVcWxVT0hEZ0FIeDhmTkNzV1RQOC92dnY2TnUzTDVvMGFWTGhQbUt4R0RObnpvUzd1enZ1M2JzbkRGMWIzdFdyVjdGeTVVcjA2TkVETDc3NElwUktKZTdjdVlOWFgzMjEwako5L3ZubkpxT0ZWV2I5K3ZWbU8rTHJkRHJNbmowYnZyNitqOTBzN0hFOXprU0tsbkQ5cXVxUFUxWkY4OWg4L1BISFFzanc5ZlUxcWhVQlN1ZUNjWFIwaEsydExRSUNBcENZbUlnZVBYb0lOVGNoSVNHNGVmTW1nb09EVFFLTVRDWjdwb0VnSkNRRXNiR3hSaVBRbVdPbzdXbmV2TGxSaldkNWhySnpucHJhVmY1aHhvRURCNUNibTR0aHc0WkJMQmJqNk5Hakp1RXpNek1UYXJYYWFFUkFwVklKbFVvbEJBY0F1SFhyRnBZc1dRSXJLeXNVRmhZaU9Ua1o5dmIyMkxadEc1S1NrbkQvL24wNE9qcmkyMisvTlJxbTNUQjhzMkdnRmtPL3JqWnQyaGpWUnVwME9xUG1hZVVEalY2dnh4ZGZmQUVuSnllajVtZEFhWjh1bFVvbHpIWHo1WmRmQ3Z2T256L2ZwT2FaYWdkRERSSFJNN1Jod3daa1pXVmg3Tml4YU42OE9lTGk0ckI4K1hMTW1UUEg3Sk53ZzhxZWJCcHVxQmN0V29TUWtCQ01IejhlSXBFSU1URXhVS3ZWdUhuekpyUmFiWVdqOEZoYld5TXNMQXovOTMvL1YyWFpvNktpS255NkxoYUwwYkpsU3h3NWNnU2RPblV5bVV1bE5obmE2VmMwR1dOOXYzNFRKa3lBdGJVMUpCS0oyVnF3K1BoNHhNYkdZdmp3NFNZMVI0YWFHbk5OMmpRYURSNCtmQWhiVzFzVUZ4Y0xUY0tDZzRPeGRldFc2UFY2Tkd2V0RQZnYzNGRHbzBGS1NncjY5ZXRuY2h4WFY5Y2FhYnBWZHFBQVE5a05vYVFzRHc4UGZQMzExMVVlVHlRU1llTEVpVlVHTHNPRXQrVW5KYVhhYytuU0plemN1ZE5rR1BDeTN5T1ZTb1ZWcTFiaDRjT0grT2FiYjRRQkJGcTFhb1YxNjlZSjIzM3d3UWR3Y25KQ1RrNE9acytlRFh0N2U3aTZ1c0xOelExeGNYSG8yYk1ueG93WkE3bGNqcEtTRXJOTkh3MlNrNVBoNE9CZzBqY3RMeSt2d3FhZGhpWm54Y1hGd2xETmhvRTdkRG9kb3FPak1YSGlSUGo3KzJQeTVNbjQ2cXV2NE83dURvVkN3Yy9jTThSUVEwVDBET2oxZW16YnRnM0hqaDFEMTY1ZDBiNTlld0Nsby9aOC8vMzMrTTkvL29OcDA2WTlVY2Y3czJmUEFnQ2VmLzU1VEpvMENTS1JDSm1abWRpNmRTc2FOMjZNR3pkdVlQUG16UmcxYXBUWi9hdWFsYjI4eWtabUd6aHdJSTRkTzRhZmZ2cko2SW5wazZwc29rMEEyTGx6SjQ0ZVBTcU1rRlRWazMxejZzUDE2OUdqUjRYYjM3aHhBK2ZQbjBkUVVCREN3c0t3ZCs5ZXZQcnFxeFYyZXM3TXpNVEtsU3VSbTV1TG5Kd2M2SFE2ZlBycHB5Z3BLUkdHdWcwSUNFQmtaQ1NTazVQaDUrZUh2THc4M0x4NUV6cWR6dXh3NG9iZ1kraVQ4NlRNRFJSZ1oyZUh5TWpJSno0bWdFb0gxd0JLUnhzRUlNd0RSTFhyOXUzYldMRmlCVUpEUXpGcTFDaWp6N3poMzJxMUdzdVhMOGU5ZS9mdzhjY2ZtNHlJVmxKU2d2UG56Nk9rcEFScXRScTJ0clpvMkxBaDVzMmJoek5uem1EZ3dJRUFTb2NidjMvL1BteHNiUER6enoralk4ZU9GVDVnME92MWlJK1BOL3ZBUmFGUW1KMmpCZ0FLQ2dvQWxJNjhhR0FZWlUwa0VxRjc5KzVvMzc2OThEbTBzYkdCZzRNRGJHMXRhMlJlSktvZWhob2lvbHFtVUNpd1pzMGFuRDkvSGkrODhJSlJVNlBPblR2ajBhTkgyTHAxSzc3NDRndU1HalVLSFR0MmZLdy9oTDE3OTRaWUxNWW5uM3dDaVVTQ3UzZnZZc0dDQlpCS3BRZ1BEOGYrL2Z0eDZOQWhCQVFFbUIzeFNpUVNRYXZWb3FTa3BOTHpsSisxM2h4M2QzZUVob1lpSmlZR2h3NGRFbTQ4bmtSV1ZoWVdMMTRNQURoKy9EZ2FOMjZNVjE1NXhTaEVCQVFFNE1DQkEvRHk4a0pnWUdDbC9Tb3FVcCt1WDFrbEpTVTRjT0FBOXV6Wmd5Wk5tdUNqano3Qzc3Ly9qdDkrK3cySER4L0dnQUVEOE5wcnI1blU4SGw2ZWtJa0VpRTRPQmpQUC84OGZIMTkwYUJCQTJnMEdtRmJEdzhQdlBMS0s3Q3lza0wvL3YwQmxNNDMwNlpORzdOejdmajUrZUhNbVRPNGVmT20wSnpuU1pSdkVxZlZhcDlKczdha3BDUUFlT3dKUGVueFhiMTZGY3VYTDBkQVFBREdqUnRuOW5kWlFVRUJJaUlpa0pLU2drbVRKcGw4ci9iczJZT0RCdytpY2VQRzZOKy9QL1I2UFd4dGJaR1dsb2FJaUFpMGI5OGVSNDRjUVdKaUlvRFNXcGE1YytmaS9mZmZSOGVPSFNzc1cweE1ETEt6czRWbVkyVXBGSW9LaDJBMjFBVC84TU1Qa012bFJzM1A1SEk1Tm0vZWJQVFpEZzhQRi80OWR1ellDb2NhcDVyRlVFTkVWRXZVYWpXT0hqMktYYnQyb2FDZ0FEMTc5c1RZc1dOTmFpOEdEUm9FTnpjM3JGdTNEc3VXTFlPbnB5ZENRMFBoL1BQUitBQUFGUGRKUkVGVTcrK1BsaTFiQ2svL1NrcEtjT25TSlFER1QvdTdkT2tpREIwYUZSV0ZyVnUzd3NiR0JsOSsrU1ZjWFYzeDl0dHY0OXk1YzFpelpnMFdMVnBrdG1sR2RIUTBvcU9qYStSOTkrL2ZIekV4TWRpelp3OTY5dXo1UkxWUEtTa3BXTGh3SVRRYURjYU5HNGNiTjI1ZzdkcTEyTGR2SHpwMzdpeE0wdmpjYzg4Skl4b1pnb1ZjTGtkQlFRRnljbkxRcmwwNzRYcGJ3dlhUNi9XNGRlc1d6cHc1ZzFPblRxR3dzQkNob2FGNDc3MzNZR3RyaS83OSt5TXdNQkE3ZHV6QTd0MjdjZVRJRVF3ZVBCaTllL2NXbXZXSVJDTE1tVFBINkxpRzVsZTJ0cllvS2lxQ1JDTEI2TkdqQWZ6VjMrVHMyYk1JQ3d1RFNxV0NTcVV5K3JsMTdOZ1I2OWV2UjBKQ1FvV2g1bkVHU3pBb08wOE9BT3phdFF2VzF0YVF5V1FtTldCRlJVVTRjdVFJZ05MYUtBRENhd09sVW9taW9pSU1IRGpRS093bEpDVEF5OHZMcEprYjFieVVsQlFFQkFUZ2d3OCtNRnVMbVpDUWdPam9hT2gwT3N5WU1jUHN5SUYrZm41bzI3WXQyclJwSTlUQ3BxV2xZYzJhTlJnNmRDaTh2YjN4M1hmZm9VK2ZQcmg4K1RLR0R4K09qUnMzNHRLbFN3Z0lDREQ3SFRYMHB3c0lDSUNmbjUvUk9wMU9WMm56cytUa1pMaTR1TURXMWxiNExoazRPenNMSXlHS1JDS2grVm5EaGcyTkhpUlE3V09vSVNLcUJVZVBIc1dPSFR1UWw1Y0hWMWRYVEpzMkRSMDZkS2h3K3k1ZHVzRGYzeDg3ZCs3RWlSTW5zSHYzYm1SbVpncFBEbFVxRldiTW1JR3NyQ3cwYU5CQTZQUnFrSnljakxWcjF5SWxKUVUrUGo2WU1tVUtQRHc4QUpRMmhYajc3YmV4Zi85K28zNFZCanFkRGoxNjlNRFFvVU1yZlU4N2R1ekE3Ny8vWG1uL0VxQzBxVkpZV0JqYXRXdjNSSUZHclZiaisrKy9SMkZoSVdiUG5vMldMVnNpTEN3TTNidDN4NisvL29yOSsvZGovLzc5VlI2blRaczJ3cndsOWYzNjNiNTlHOXUzYjBkU1VoS0tpb29nRW9rUUdCaUlnUU1IbWpTVmFkS2tDYVpNbVlLa3BDUnMyTEFCR3pac3dKRWpSekJ2M2p5VEc2alkyRmpFeGNYaDRjT0hBQUFYRnhjc1dMQUFOMi9lTkZ2R0xWdTJDQU1wbEgzeTdPRGdnTkRRVU1USHgwT3BWSnJ0Y0svVDZhcXNqZExyOVpYV1FoNDhlTkJvVHBPeTh2THlzSGJ0V3FObDVWOGI5TzdkVzdnV2FXbHB1SHYzcnRGczcxUjd6TTB0VkZCUUlFeVF1bjM3ZG9TRWhPQ2RkOTZwY0JKT1E5QlJLQlRDZzRqQXdFRDg2MS8vUW1abUppSWlJakJnd0FDOC92cnJPSGp3SUp5ZG5mSDU1NTlqNmRLbG1ERmpCbWJObW1YVUZEVWhJUUdSa1pGd2RuWVdKdkVGU24vWHFOVnF4TWZIUTZQUkNOLzU4czZkTzJjU2hJcUxpd0dVQm5QRCt6QUVlNWxNWmpSWktEMGJERFZFUkxVZ09EZ1krL2J0dytEQmd6Rm8wS0JxUGExemRuYkd1SEhqTUdUSUVKdzhlUkk5ZS9ZVW5uUktwVktNSGowYWVyMGVnWUdCSnFObmVYcDZRaXdXNDYyMzNzS2dRWU5NYnBwZmZ2bGxoSVNFbUMySDRXbGlWWDBseWc2TFcxbW9BZkJVbzU5Wlcxc2pQRHdjMTY1ZE01cjkzZC9mSC83Ky9yaC8vejV1Mzc0dGRBcFdxVlRDNkVSbGxXMXFWTit2bjYrdnJ6RHhZSWNPSGRDeFk4ZEtKd29FZ0pZdFcrSmYvL29YL3Z2Zi93cnpmSlRuNXVhR2l4Y3ZvbkhqeGhnd1lBRGF0bTJMeVpNblZ4a3V6RFdsR3p4NE1HSmpZM0hxMUNuMDZ0WExaTDFhcmE1d0ZEakQ4cXFHKy83UGYvNERPenM3azhrV3EwT3YxME9sVXFHd3NOQm91TzdEaHcvRHhjV2wwbjVMVkRNZVBIaUFpeGN2UXFsVVFpNlhJeWNuQnhrWkdYajA2QkZzYkd6UXJWczNoSVdGR1kxMFZwbTdkKzhpTWpJU0w3NzRJdlI2UGZiczJZTno1ODdoblhmZXdTdXZ2R0wwdWZMdzhNQlhYMzJGcTFldkNvRkdvVkRncDU5K1FtSmlJbng4ZlBESko1OFlQV2hKVEV6RTh1WExBWlErTENnZlhBRGcyclZyU0UxTnhZZ1JJd0NVRHBveFpjb1ViTnEwQ2ZiMjlrYkJ6QkRxSDdlcEtkVU1rZjVKNm91SmlQN0dFaE11SUxCOXhiVXExYVhUNlI2N0UzbGR1SGJ0R2x4ZFhTdWNqOFhBTUVuZTQ5NXMvdDNWNSt0bitCTmZVNTJWTjI3Y2lQajRlQ3hac3NUa2ZTUWxKVUVpa1pnZFd2bmF0V3U0ZmZzMit2YnRXMlduL3BxVW01dUxLVk9tWVB6NDhlamF0V3VOSExPbWZqOVUxK0ZEQnhBZGRSQUxsNjE0WnVkOFVocU5Cck5uejRaYXJZYTd1enM4UFQzUnBFa1QrUGo0b0VXTEZvLzkrMUN2MXlNdkwwOEkrR2ZQbm9XSGh3ZDhmWDBCbE5iQUhqeDRFQysvL0hLRkl4enUyN2NQZXIwZXI3MzJtc2xuVnEvWFkvLysvV2pldkRuOC9Qd3EvRzZtcHFZS0R4ME1jbk56aFFCdW9GUXFzWHo1Y293Y09aTERPTmN5a1psZmFndzFSRVRsWFA3eklsNElDTFNJUUVMMExDbVZTb1NIaDZOWHIxN0NBQVAxMmFwVnE1Q2ZueStNVlBXMGREb2RybDVLaEg4NzB3RWphb3NsaFJxaVo4VmNxR0h6TXlLaWNxeXRwVkNyVkpDeGd5ZVJFWmxNSm94SVp3bktUdDVZRTlRcUZheXRUU2VlSmFLNng4ZVFSRVRsMkRzNElEOWZVZGZGSUtKNkpqOWZBZnNuR1B5Q2lHb2ZRdzBSVVRrTlhCb2dKenU3cm90QlJQVk1UbFkyR3JoVVBvQURFZFVOaGhvaW9uSWNISjBna1VpUW5mV29yb3RDUlBWRWR0WWpTS3drY0hCMHFucGpJbnJtR0dxSWlNeG8wclFaSG1Sa29LQWd2NjZMUWtSMXJDQS9Idzh5TXRDa2FiT3FOeWFpT3NGUVEwUmtoa3dtUXpPZkZyaWJrc0lhRzZML1lkbFpqM0QzVGdxYStiUXdPK2tvRWRVUEhQMk1pS2dDOWc0TzhHM2RCbWwzVTVHZGxRVlhOemM0T2pyQldpcmxjTTlFZjFNNm5RNXFsUXI1K1Fya1pHZERJcEhBdDNVYkJocWllbzZoaG9pb0VqS1pETDZ0V3FNZ1h3RjVyaHpaajdLZ1ZwZk9ZRTlFZno5aXNSalcxbExZT3ppZ3NiYzMrOUFRV1FpR0dpS2lhbkJ3ZE9MTkRSRVJVVDNGOWhORVJFUkVSR1RSR0dxSWlJaUlpTWlpTWRRUUVSRVJFWkZGWTZnaElpSWlJaUtMeGxCRFJFUkVSRVFXamFHR2lJaUlpSWdzR2tNTkVSRVJFUkZaTklZYUlpSWlJaUt5YUF3MVJFUkVSRVJrMFJocWlJaUlpSWpJb2pIVUVCRVJFUkdSUldPb0lTSWlJaUlpaThaUVEwUkVSRVJFRm8yaGhvaUlpSWlJTEJwRERSRVJFUkVSV1RTR0dpSWlJaUlpc21nTU5VUkVSRVJFWk5FWWFvaUlpSWlJeUtJeDFCQVJFUkVSa1VWanFDRWlJaUtxNS9SNmZWMFhnYWhlWTZnaElpSWlxcWRrTmpZQWdKenM3RG91Q1ZIOXhsQkRSRVJFVkU4MWErNERBRWhQdTF2SEpTR3EzeGhxaUlpSWlPcXBaczE5ME5qYkcwY1AveGRhcmFhdWkwTlViekhVRUJFUkVkVlRJcEVJYjc4ekdnOHlNN0IzMXc0R0c2SUtNTlFRRVJFUjFXT052YjN4eGx0dkkrN01hVVFzWG9BL0V5NGdLK3RSdlI0OFFLRlFJQ1ltQmtxbFVsaDI3ZG8xWkdWbFBkVnhDd3NMb1ZRcXEvM2VkVG9kVkNxVnlYS05Sb09Ta2hLajQ2YW5wME9uMDFWNHJCOS8vQkZidG13eDJrYXYxME90VnRmcm44WC9DcXU2TGdBUkVSRVJWZTZsemwzd1hOUG0rSFhUei9obC9VKzFkcDdlL2Zxano2c0Rudm80MTY5Zng5cTFhK0hrNUlSMjdkb0JBTmF1WFFzZkh4OU1talFKQ29VQ1o4K2VSWjgrZlV6MlRVdExnMVFxaFZqODE3TjNyVllMaVVTQ1hidDI0Y3laTTJiUHVXREJBbmg0ZUJndFc3Tm1EUW9LQ3ZESko1L0F5dXF2Mjk1SGp4NGhQRHdjUzVjdWhiT3pNeTVldklqSXlFaXNYcjBhVXFuVTVOaHl1Unh4Y1hFWU5HaVFVYm5rY2prKysreXpDcS9EdkhuejRPM3RYZUY2cWprTU5VUkVSRVFXb0xHM042Wk1uNG03cVhkd0p5VVp5akkxRFRYRnQxWHJHam5PeFlzWDBiQmhRd1FHQmdyTDdPM3RoVnFPaXhjdllzdVdMWkJLcGVqUm80ZlJ2blBteklGVUtvVk9wNE5hcllhZG5SMjBXaTM4L1B3d1pzd1lqQmd4QW1LeEdDS1JDRUJwYmN3Ly92RVBPRHM3bTVUanBaZGVRa1JFQkZhdlhvMkpFeWNhQlJJQXNMVzFCUUFoeUpnTE5BQ3diOTgrYUxWYTdONjlHN3QzN3dZQWhJZUh3OWZYRjB1WExrVjhmRHhPblRxRjZkT25Bd0J1Mzc2TkpVdVd3TjdlL25FdkhUMGhoaG9pSWlJaUN5RVNpZENzdVk4d0tscDlwRlFxY2VIQ0JRd2FORWdJSGtCcHFERTBCZXZXclJzdVhyeUluVHQzb25QbnpwREpaTUoya1pHUkFJQ29xQ2hjdVhJRlU2ZE9OVHIrbFN0WGtKdWJpNWRmZmhrQWtKV1ZCYWxVYWphUUJBVUY0YlhYWHNQKy9mdXhhOWN1REIwNjFHaTlvZmFtYkRuTHUzejVNbUppWWpCNzltdzBhdFFJOGZIeGlJbUpRYXRXclFBQXpzN095TWpJUUt0V3JXQm5ad2VndEdZSkFCd2RIYXR4eGFnbU1OUVFFUkVSVVkySmpZMkZVcWxFYUdpbzBYSjdlM3ZrNXVZS3IwZU5HZ1dsVW1rVWFNcEtTa3JDODg4L2I3TDgzTGx6dUhmdm5oQnFzck96NGVUa1ZHRjVCZzhlREFCNDlkVlg4ZURCQTJnMEdtVC8vM2wvSGp4NEFBQkN1VEl5TXFEVDZTQVdpK0hsNVlXMHREU3NYcjBhWGJ0MmhiZTNOL1I2UGFLam94RVdGZ2FsVWdscmEydm9kRHBjdUhBQlk4YU1FYzRwbDh2aDZPZ0lpVVJTMWVXaUdzSlFRMFJFUkVRMVFxUFI0T0RCZ3dDQUJnMGFHSzF6Y0hCQWVucTYwYkxVMUZRY09uUUlmZnYyUmVQR2pZWGxLcFVLbHk5ZnhwQWhRMHpPSVpmTDBhSkZDK0YxZG5ZMkhCd2NUTXFoVkNxRm1wZzMzbmdESXBFSWE5ZXV4WlVyVjRTYW1mbno1d3ZiRzE1cnRWcjQrUGhnK3ZUcE9ISGlCTHk4dkhEOCtIRWNQMzVjT1A3NjlldXhmdjE2VEo0OEdYZnUzSUZNSm9PL3Z6OFNFeE1SRXhPRG16ZHZvazJiTm85MzhlaXBNTlFRRVJFUlVZMklqbzRXYWtIS2tzdmxLQ2twUVhaMk5pSWlJcENTa2dLNVhJNEdEUnFnYWRPbUtDd3NOTm8rUGo0ZVNxVVM0ZUhod3JJNWMrYWdXYk5teU1uSmdiKy92N0RjWEtoSlNrckN0OTkrSzd6KzZxdXY0T1BqZzhtVEp3TW9yWkdaTldzV3Z2LytlK0Y4SzFhc0VGNGJqQnc1RWlxVkNwTW1UY0xVcVZQaDR1S0M4UEJ3ckZ1M0RtUEhqb1dycXl1U2s1UHg3cnZ2UWl3V28xR2pSckMxdGNYZ3dZTk5hcXFvZGpIVUVCRVJFZEZUeTh6TXhONjllK0h0N1kzMDlIVG85WG9zV2JJRWQrN2NRVUZCQWF5c3JLRFJhT0RwNlltdVhidkN4OGZIcERiSDRQRGh3d0NBaFFzWEFnQ21UNThPYTJ0ckFLVjlhTnpjM0lSdGMzSnlURHJrdDJ6WkVpdFdySUMxdFRVbVRKaGd0b2xiK1VFRHpCR0pSSkRKWkJDSlJGQ3IxVUtmSU1OUTFUWTJOaGcyYkJoeWNuS2cwV2d3YTlZc1RKMDYxV3l6T2FwZEREVkVSRVJFOUZSME9oMldMMThPZDNkM0RCZ3dBRC8rK0NORUloSDgvZjNSdVhObnRHelpFZ3FGQWw5Ly9UVTZkT2dnZExJM0p5NHVEcW1wcVFBQWQzZDNZYmxJSkVKQlFRR0tpNHNSRVJGaHN0L1pzMmN4ZnZ4NGRPblNCVlpXVmtaRE9Kc2JDS0RzK3VxOHY2Vkxsd3F2UC96d1ErRzQrZm41bURsekpyNzU1aHRvTkJvT0RsQkhHR3FJaUlpSTZLbUl4V0s4OXRwcmFOS2tDVEl6TTRYbGZmdjJGZjd0NnVvS3FWU0s2OWV2VnhocUZBb0ZObTNhaE1EQVFDUW1KcHFzdDdPekUycHZ5cHMxYTFhRk5UOEc5KzdkZzBRaVFWWldGc1JpTVRJeU1nQVlEeFNnMSt1aDBXalFzR0ZEMk5qWVFLZlRRYS9YNDRzdnZvQ1RrNU5SOHpNQXVIRGhBbFFxbFRCSzI1ZGZmaW1jYi83OCtmRHk4cXEwVEZRekdHcUlpSWlJNktsMTZ0UUpBSXhDVFZsV1ZsWm8yN1l0TGw2OGlJRURCMVo0bkJZdFd1Q3R0OTR5RzJvMEdnM2MzTnlNYWw2MFdxM1FOS3lxZVdFaUlpSlFXRmdJc1ZpTTR1SmlmUDMxMXhDSlJFWURCZWoxZXFqVmFreWJOZzJ0V3JVU21wd1ZGeGNMUXpWblpXVUJLSzNCaVk2T3hzU0pFK0h2NzQvSmt5ZmpxNisrZ3J1N094UUtoVkV6T2FwZEREVkVSRVJFOUV5RWhJUWdNaklTOSsvZk54cnR6TURKeVFtZmZQSUo4dkx5ek83L3dRY2ZtRjF1NkROVGZzQ0E4Z3kxUEE4ZVBFQjRlRGdpSWlJZ0Zvc3JIQ2dBQUFvS0NnQUF5NVl0RTVZWkp0a1VpVVRvM3IwNzJyZHZML1Q1c2JHeGdZT0RBMnh0YlN1ZC80WnFGa01ORVJFUkVUMFRJU0VoMkxwMUsvYnQyeWYwUzZtTW9Za1hVRm9yc21EQkFzaGtNcUdUdjA2bmcxYXJSWHA2T2hZdlhseHBmNWJzN0d6azVlV2hSWXNXU0V0TGc3dTdlN1VHQzNqMDZCRUE0SWNmZm9CY0xqZHFmaWFYeTdGNTgyWnMzcnhaMkw3c2lHMWp4NDVGdDI3ZHFqd0hQVDJHR2lJaUlpSjZKcVJTS1FZT0hJZ3RXN2FnWGJ0MjZOeTVNeElTRWhBYkc0c1JJMFlJemJYMGVqMEE0OUhQTkJvTnZMMjl6UjczNGNPSGNIQndxSEFpei9Qbnp5TXFLZ3JCd2NGbzBhSUZFaElTOE1JTEwxU3J6TW5KeVhCeGNZR3RyUzNrY3JuUk9tZG5aeXhkdWhSV1ZsWVFpVVJDODdPR0RSdENvOUhBeHNhbVd1ZWdwMWQxUENVaUlpSWlxaWFkVGdmZ3IyQlNYdS9ldlJFVUZJVEl5RWhFUjBmanlwVXJTRWhJTUFvQWhqNHU3dTd1Y0hkM3gvejU4ODAyVnpOSVRVMkZwNmVueWZMNzkrOERBSGJ1M0luQXdFQ01HREVDcWFtcE9IdjJiTFhua1RsMzdoejgvUHlNbGhVWEZ3TUFKQklKbkoyZFlXOXZEMXRiV3dDbFRlSHM3ZTNoN094Y1ljaWltc2VhR2lJaUlpS3FNWWJPOUJxTlJ1aG5VcFpJSk1MRWlST3hjdVZLb2RsV3UzYnRqRHI1UzZWUzlPalJRM2hkMFFoaVVWRlJTRTlQeDhXTEYvSEtLNitZck0vSXlJQkVJc0U3Nzd5RG5qMTdJanM3R3ovODhJUEpzTktHSUtiVDZZeWFwRjI3ZGcycHFha1lNV0lFZ05JUjNLWk1tWUpObXpZSndhWDgremI4bjU0dGhob2lJaUlpcWpGT1RrNW8zNzY5RUJUTWtVcWwrTWMvL29HRWhBUWtKU1VaQlJqRE1VYVBIbDNsdWJSYUxhNWN1WUwyN2R1alg3OStKdXVEZzRNeGQrNWNvWmJuOU9uVEVJdkZHRE5tak5GMmhoSE8xR3ExVWUxSzI3WnRNV2ZPSERScjFneEFhUzFNdTNidDBMUnBVNHdhTmNwb1c2MVdDMzkvLzhlYS80WnFqa2hmVWQwZ0VSRVJFZEhmVEZGUkVlenM3SXlXS1pWSzVPZm5td3dYVGZXVHlNd1BpYUdHaUlpSWlJZ3NocmxRdzRFQ2lJaUlpSWpJb2pIVUVCRVJFUkdSUldPb0lTSWlJaUlpaThaUVEwUkVSRVJFRm8yaGhvaUlpSWlJTEJwRERSRVJFUkVSV1RTR0dpSWlJaUlpc21nTU5VUkVSRVJFWk5FWWFvaUlpSWlJeUtJeDFCQVJFUkVSa1VWanFDRWlJaUlpSW92R1VFTkVSRVJFUkJhTm9ZYUlpSWlJaUN3YVF3MFJFUkVSRVZrMGhob2lJaUlpSXJKb0REVkVSRVJFUkdUUkdHcUlpSWlJaU1paU1kUVFFUkVSRVpGRlk2Z2hJaUlpSWlLTHhsQkRSRVJFUkVRV2phR0dpSWlJaUlnc0drTU5FUkVSRVJGWk5JWWFJaUlpSWlLeWFBdzFSRVJFUkVSazBSaHFpSWlJaUlqSW9qSFVFQkVSRVJHUlJXT29JU0lpSWlJaWk4WlFRMFJFUkVSRUZvMmhob2lJaUlpSUxCcEREUkVSRVJFUldUU0dHaUlpSWlJaXNtZ01OVVJFUkVSRVpORVlhb2lJaUlpSXlLSXgxQkFSRVJFUmtVVmpxQ0VpSWlJaUlvdkdVRU5FUkVSRVJCYU5vWWFJaUlpSWlDd2FRdzBSRVJFUkVWazBoaG9pSWlJaUlySm9ERFZFUkVSRVJHVFJHR3FJaUlpSWlNaWlNZFFRRVJFUkVaRkZZNmdoSWlJaUlpS0x4bEJEUkVSRVJFUVdqYUdHaUlpSWlJZ3NHa01ORVJFUkVSRlpOSVlhSWlJaUlpSWlJaUlpSWlJaUlpSWlJaUlpSWlJaUlpSWkrbC96L3dCcHFKWGNscE5DOVFBQUFBQkpSVTVFcmtKZ2dnPT0iLAoJIlRoZW1lIiA6ICIiLAoJIlR5cGUiIDogIm1pbmQiLAoJIlZlcnNpb24iIDogIjYiCn0K"/>
    </extobj>
  </extobjs>
</s:customData>
</file>

<file path=customXml/itemProps10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3578</Words>
  <Application>WPS 演示</Application>
  <PresentationFormat>On-screen Show (4:3)</PresentationFormat>
  <Paragraphs>450</Paragraphs>
  <Slides>34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51" baseType="lpstr">
      <vt:lpstr>Arial</vt:lpstr>
      <vt:lpstr>宋体</vt:lpstr>
      <vt:lpstr>Wingdings</vt:lpstr>
      <vt:lpstr>微软雅黑</vt:lpstr>
      <vt:lpstr>Palatino Linotype</vt:lpstr>
      <vt:lpstr>Times New Roman</vt:lpstr>
      <vt:lpstr>΢</vt:lpstr>
      <vt:lpstr>Segoe Print</vt:lpstr>
      <vt:lpstr>Calibri</vt:lpstr>
      <vt:lpstr>Arial Unicode MS</vt:lpstr>
      <vt:lpstr>Consolas</vt:lpstr>
      <vt:lpstr>Consolas</vt:lpstr>
      <vt:lpstr>Arial</vt:lpstr>
      <vt:lpstr>Tahoma</vt:lpstr>
      <vt:lpstr>Office Theme</vt:lpstr>
      <vt:lpstr>1_Office Theme</vt:lpstr>
      <vt:lpstr>Package</vt:lpstr>
      <vt:lpstr>机器学习实验课1</vt:lpstr>
      <vt:lpstr>PowerPoint 演示文稿</vt:lpstr>
      <vt:lpstr>Python基本开发环境</vt:lpstr>
      <vt:lpstr>Python安装</vt:lpstr>
      <vt:lpstr>Python高级开发环境VSCode</vt:lpstr>
      <vt:lpstr>Python的两种编程方式</vt:lpstr>
      <vt:lpstr>Python其它开发环境</vt:lpstr>
      <vt:lpstr>sklearn库的简介</vt:lpstr>
      <vt:lpstr>Sklearn库</vt:lpstr>
      <vt:lpstr>相关依赖库</vt:lpstr>
      <vt:lpstr>sklearn库的安装</vt:lpstr>
      <vt:lpstr>安装顺序</vt:lpstr>
      <vt:lpstr>安装步骤：</vt:lpstr>
      <vt:lpstr>PowerPoint 演示文稿</vt:lpstr>
      <vt:lpstr>sklearn库的基本功能</vt:lpstr>
      <vt:lpstr>sklearn库的基本功能</vt:lpstr>
      <vt:lpstr>PowerPoint 演示文稿</vt:lpstr>
      <vt:lpstr>PowerPoint 演示文稿</vt:lpstr>
      <vt:lpstr>PowerPoint 演示文稿</vt:lpstr>
      <vt:lpstr>降维任务</vt:lpstr>
      <vt:lpstr>模型泛化性和过拟合</vt:lpstr>
      <vt:lpstr>PowerPoint 演示文稿</vt:lpstr>
      <vt:lpstr>PowerPoint 演示文稿</vt:lpstr>
      <vt:lpstr>PowerPoint 演示文稿</vt:lpstr>
      <vt:lpstr>偏差和方差</vt:lpstr>
      <vt:lpstr>PowerPoint 演示文稿</vt:lpstr>
      <vt:lpstr>PowerPoint 演示文稿</vt:lpstr>
      <vt:lpstr>复现回归任务中的拟合</vt:lpstr>
      <vt:lpstr>实验步骤：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sklearn库的安装</dc:title>
  <dc:creator>QW</dc:creator>
  <cp:lastModifiedBy>Bin</cp:lastModifiedBy>
  <cp:revision>41</cp:revision>
  <dcterms:created xsi:type="dcterms:W3CDTF">2022-02-24T06:40:00Z</dcterms:created>
  <dcterms:modified xsi:type="dcterms:W3CDTF">2024-03-06T06:55:41Z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2017-05-17T08:00:00Z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2022-02-26T08:00:00Z</vt:filetime>
  </property>
  <property fmtid="{D5CDD505-2E9C-101B-9397-08002B2CF9AE}" pid="5" name="KSOProductBuildVer">
    <vt:lpwstr>2052-12.1.0.16399</vt:lpwstr>
  </property>
  <property fmtid="{D5CDD505-2E9C-101B-9397-08002B2CF9AE}" pid="6" name="ICV">
    <vt:lpwstr>A0BE8518CB5444FFA1E2856BD6CF4324</vt:lpwstr>
  </property>
</Properties>
</file>