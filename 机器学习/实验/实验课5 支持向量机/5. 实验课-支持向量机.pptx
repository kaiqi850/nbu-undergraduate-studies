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443" r:id="rId3"/>
    <p:sldId id="428" r:id="rId4"/>
    <p:sldId id="445" r:id="rId5"/>
    <p:sldId id="447" r:id="rId6"/>
    <p:sldId id="429" r:id="rId7"/>
    <p:sldId id="444" r:id="rId8"/>
    <p:sldId id="430" r:id="rId9"/>
    <p:sldId id="449" r:id="rId10"/>
    <p:sldId id="450" r:id="rId11"/>
    <p:sldId id="452" r:id="rId12"/>
    <p:sldId id="453" r:id="rId13"/>
    <p:sldId id="454" r:id="rId14"/>
    <p:sldId id="455" r:id="rId15"/>
    <p:sldId id="457" r:id="rId16"/>
    <p:sldId id="458" r:id="rId17"/>
    <p:sldId id="456" r:id="rId18"/>
  </p:sldIdLst>
  <p:sldSz cx="12192000" cy="6858000"/>
  <p:notesSz cx="12192000" cy="6858000"/>
  <p:custDataLst>
    <p:tags r:id="rId2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40" userDrawn="1">
          <p15:clr>
            <a:srgbClr val="A4A3A4"/>
          </p15:clr>
        </p15:guide>
        <p15:guide id="2" pos="210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940"/>
        <p:guide pos="210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6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543555" y="1412747"/>
            <a:ext cx="6624828" cy="3977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109216" y="1519427"/>
            <a:ext cx="7973568" cy="47807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C0167-E855-4D17-BF35-432B61D5C6E4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F989F-8D12-475D-9C50-23F49E8F416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0129" y="438734"/>
            <a:ext cx="5031740" cy="838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99412" y="1832435"/>
            <a:ext cx="9393174" cy="459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8.png"/><Relationship Id="rId3" Type="http://schemas.openxmlformats.org/officeDocument/2006/relationships/tags" Target="../tags/tag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3583" y="4036314"/>
            <a:ext cx="9715500" cy="0"/>
          </a:xfrm>
          <a:custGeom>
            <a:avLst/>
            <a:gdLst/>
            <a:ahLst/>
            <a:cxnLst/>
            <a:rect l="l" t="t" r="r" b="b"/>
            <a:pathLst>
              <a:path w="9715500">
                <a:moveTo>
                  <a:pt x="0" y="0"/>
                </a:moveTo>
                <a:lnTo>
                  <a:pt x="9715500" y="0"/>
                </a:lnTo>
              </a:path>
            </a:pathLst>
          </a:custGeom>
          <a:ln w="16763">
            <a:solidFill>
              <a:srgbClr val="C199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48200" y="152400"/>
            <a:ext cx="2821305" cy="444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800" spc="15" dirty="0">
                <a:ea typeface="微软雅黑" panose="020B0503020204020204" charset="-122"/>
              </a:rPr>
              <a:t>机器学习实验课</a:t>
            </a:r>
            <a:r>
              <a:rPr lang="en-US" altLang="zh-CN" sz="2800" spc="15" dirty="0">
                <a:ea typeface="微软雅黑" panose="020B0503020204020204" charset="-122"/>
              </a:rPr>
              <a:t>5</a:t>
            </a:r>
            <a:endParaRPr lang="en-US" altLang="zh-CN" sz="2800" spc="15" dirty="0">
              <a:ea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12290" y="4835024"/>
            <a:ext cx="2404664" cy="79448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7" name="object 3"/>
          <p:cNvSpPr txBox="1">
            <a:spLocks noGrp="1"/>
          </p:cNvSpPr>
          <p:nvPr/>
        </p:nvSpPr>
        <p:spPr>
          <a:xfrm>
            <a:off x="2712085" y="2971800"/>
            <a:ext cx="7226300" cy="937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altLang="zh-CN" sz="6000" b="1" spc="15" dirty="0">
                <a:ea typeface="微软雅黑" panose="020B0503020204020204" charset="-122"/>
              </a:rPr>
              <a:t>       SVM</a:t>
            </a:r>
            <a:r>
              <a:rPr lang="zh-CN" sz="6000" b="1" spc="15" dirty="0">
                <a:ea typeface="微软雅黑" panose="020B0503020204020204" charset="-122"/>
              </a:rPr>
              <a:t>支持向量机</a:t>
            </a:r>
            <a:endParaRPr lang="zh-CN" altLang="zh-CN" sz="6000" b="1" spc="15" dirty="0"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3923665" y="630936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1304290" algn="ctr">
              <a:lnSpc>
                <a:spcPct val="100000"/>
              </a:lnSpc>
              <a:buClrTx/>
              <a:buSzTx/>
              <a:buFontTx/>
            </a:pPr>
            <a:r>
              <a:rPr lang="zh-CN" sz="200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 致谢：梁威鹏</a:t>
            </a: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5730" y="3048000"/>
            <a:ext cx="463423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>
                <a:sym typeface="+mn-ea"/>
              </a:rPr>
              <a:t>SVM支持向量机</a:t>
            </a:r>
            <a:endParaRPr sz="4800" b="1" spc="25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56590"/>
            <a:ext cx="4714875" cy="28917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510280"/>
            <a:ext cx="4692650" cy="3462655"/>
          </a:xfrm>
          <a:prstGeom prst="rect">
            <a:avLst/>
          </a:prstGeom>
        </p:spPr>
      </p:pic>
      <p:sp>
        <p:nvSpPr>
          <p:cNvPr id="12" name="Rectangle 1"/>
          <p:cNvSpPr/>
          <p:nvPr/>
        </p:nvSpPr>
        <p:spPr>
          <a:xfrm>
            <a:off x="271780" y="71755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2718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alt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SVM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支持向量机</a:t>
            </a:r>
            <a:endParaRPr lang="zh-CN" altLang="en-US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643890"/>
            <a:ext cx="4791075" cy="29375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3713480"/>
            <a:ext cx="4791075" cy="29229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38200"/>
            <a:ext cx="5130165" cy="45999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15000" y="990600"/>
            <a:ext cx="62655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支持向量机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是一种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二分类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算法，通过在高维空间中构造超平面实现对样本的分类。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"/>
          <p:cNvSpPr/>
          <p:nvPr/>
        </p:nvSpPr>
        <p:spPr>
          <a:xfrm>
            <a:off x="271780" y="71755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2718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alt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SVM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支持向量机</a:t>
            </a:r>
            <a:endParaRPr lang="zh-CN" altLang="en-US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819910"/>
            <a:ext cx="2835275" cy="28295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39765" y="4724400"/>
            <a:ext cx="62407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SVM 就是帮我们找到一个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超平面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，这个超平面能将不同的样本划分开，同时使得样本集中的点到这个分类超平面的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最小距离（即分类间隔）最大化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3048000"/>
            <a:ext cx="290957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/>
              <a:t>实验任务</a:t>
            </a:r>
            <a:endParaRPr sz="4800" b="1" spc="25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100" name="文本框 99"/>
          <p:cNvSpPr txBox="1"/>
          <p:nvPr/>
        </p:nvSpPr>
        <p:spPr>
          <a:xfrm>
            <a:off x="533400" y="762000"/>
            <a:ext cx="663575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sz="1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SVM 进行乳腺癌检测,要求掌握分类任务的从头到尾的流程。</a:t>
            </a:r>
            <a:endParaRPr sz="18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要求准确率达到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以上，即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92.1058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"/>
          <p:cNvSpPr/>
          <p:nvPr/>
        </p:nvSpPr>
        <p:spPr>
          <a:xfrm>
            <a:off x="271780" y="71755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2718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实验任务</a:t>
            </a:r>
            <a:endParaRPr lang="zh-CN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05"/>
            <a:ext cx="4140200" cy="6811010"/>
          </a:xfrm>
          <a:prstGeom prst="rect">
            <a:avLst/>
          </a:prstGeom>
        </p:spPr>
      </p:pic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96000" y="7175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2" imgW="971550" imgH="666750" progId="Excel.Sheet.8">
                  <p:embed/>
                </p:oleObj>
              </mc:Choice>
              <mc:Fallback>
                <p:oleObj name="" showAsIcon="1" r:id="rId2" imgW="971550" imgH="666750" progId="Excel.Sheet.8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00" y="7175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65125" y="2590800"/>
            <a:ext cx="69723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mean 代表平均值，se 代表标准差，worst 代表最大值（3 个最大值的平均值）。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每张图像都计算了相应的特征，得出了这 30 个特征值（不包括 ID 字段和分类标识结果字段 diagnosis）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实际上是 10 个特征值（radius、texture、perimeter、area、smoothness、compactness、concavity、concave points、symmetry 和fractal_dimension_mean）的 3 个维度，平均、标准差和最大值。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71780" y="2418080"/>
            <a:ext cx="7043420" cy="318897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3048000"/>
            <a:ext cx="290957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/>
              <a:t>实验步骤</a:t>
            </a:r>
            <a:endParaRPr sz="4800" b="1" spc="25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100" name="文本框 99"/>
          <p:cNvSpPr txBox="1"/>
          <p:nvPr/>
        </p:nvSpPr>
        <p:spPr>
          <a:xfrm>
            <a:off x="533400" y="762000"/>
            <a:ext cx="663575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sz="1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SVM 进行乳腺癌检测,要求掌握分类任务的从头到尾的流程。</a:t>
            </a:r>
            <a:endParaRPr sz="18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要求准确率达到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以上，即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92.1058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"/>
          <p:cNvSpPr/>
          <p:nvPr/>
        </p:nvSpPr>
        <p:spPr>
          <a:xfrm>
            <a:off x="271780" y="71755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2718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实验步骤</a:t>
            </a:r>
            <a:endParaRPr lang="zh-CN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1974850"/>
            <a:ext cx="1071562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加载数据 2. 数据探索(数据可视化) 3. 特征选择 4. 使用SVM模型对训练集进行训练 5. 对验证集进行预测并计算准确率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9600" y="1749425"/>
            <a:ext cx="7543165" cy="335915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381000" y="1866900"/>
            <a:ext cx="3898900" cy="324993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63000" y="6400800"/>
            <a:ext cx="2804160" cy="342900"/>
          </a:xfrm>
        </p:spPr>
        <p:txBody>
          <a:bodyPr/>
          <a:p>
            <a:fld id="{B6F15528-21DE-4FAA-801E-634DDDAF4B2B}" type="slidenum">
              <a:rPr/>
            </a:fld>
            <a:endParaRPr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533400"/>
            <a:ext cx="5572125" cy="23526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098800"/>
            <a:ext cx="5998845" cy="23399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670" y="671830"/>
            <a:ext cx="5331460" cy="4752975"/>
          </a:xfrm>
          <a:prstGeom prst="rect">
            <a:avLst/>
          </a:prstGeom>
        </p:spPr>
      </p:pic>
      <p:sp>
        <p:nvSpPr>
          <p:cNvPr id="12" name="Rectangle 1"/>
          <p:cNvSpPr/>
          <p:nvPr/>
        </p:nvSpPr>
        <p:spPr>
          <a:xfrm>
            <a:off x="228600" y="76200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37820" y="157163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加载数据</a:t>
            </a:r>
            <a:endParaRPr lang="zh-CN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324600" y="457200"/>
            <a:ext cx="5821045" cy="5309235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63000" y="6400800"/>
            <a:ext cx="2804160" cy="342900"/>
          </a:xfrm>
        </p:spPr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12" name="Rectangle 1"/>
          <p:cNvSpPr/>
          <p:nvPr/>
        </p:nvSpPr>
        <p:spPr>
          <a:xfrm>
            <a:off x="228600" y="76200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37820" y="157163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数据清洗</a:t>
            </a:r>
            <a:endParaRPr lang="en-US" altLang="zh-CN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41045"/>
            <a:ext cx="4586605" cy="1316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81200"/>
            <a:ext cx="5945505" cy="15532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066800"/>
            <a:ext cx="4861560" cy="389699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6400800" y="664845"/>
            <a:ext cx="5592445" cy="4439920"/>
          </a:xfrm>
          <a:prstGeom prst="roundRect">
            <a:avLst/>
          </a:prstGeom>
          <a:noFill/>
          <a:ln w="28575" cmpd="sng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63000" y="6400800"/>
            <a:ext cx="2804160" cy="342900"/>
          </a:xfrm>
        </p:spPr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12" name="Rectangle 1"/>
          <p:cNvSpPr/>
          <p:nvPr/>
        </p:nvSpPr>
        <p:spPr>
          <a:xfrm>
            <a:off x="228600" y="76200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37820" y="157163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数据可视化</a:t>
            </a:r>
            <a:endParaRPr lang="en-US" altLang="zh-CN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85800"/>
            <a:ext cx="5762625" cy="2124075"/>
          </a:xfrm>
          <a:prstGeom prst="rect">
            <a:avLst/>
          </a:prstGeom>
        </p:spPr>
      </p:pic>
      <p:pic>
        <p:nvPicPr>
          <p:cNvPr id="11" name="图片 10" descr="inde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609600"/>
            <a:ext cx="6298565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63000" y="6400800"/>
            <a:ext cx="2804160" cy="342900"/>
          </a:xfrm>
        </p:spPr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12" name="Rectangle 1"/>
          <p:cNvSpPr/>
          <p:nvPr/>
        </p:nvSpPr>
        <p:spPr>
          <a:xfrm>
            <a:off x="228600" y="76200"/>
            <a:ext cx="2625090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37820" y="157163"/>
            <a:ext cx="240538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特征选择</a:t>
            </a:r>
            <a:r>
              <a:rPr lang="en-US" alt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数据划分</a:t>
            </a:r>
            <a:endParaRPr lang="zh-CN" altLang="en-US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685800"/>
            <a:ext cx="9853295" cy="5886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65885"/>
            <a:ext cx="5695950" cy="20478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20" y="3505200"/>
            <a:ext cx="6858000" cy="1295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1752600"/>
            <a:ext cx="1676400" cy="876300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8153400" y="1676400"/>
            <a:ext cx="2085340" cy="1128395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63000" y="6400800"/>
            <a:ext cx="2804160" cy="342900"/>
          </a:xfrm>
        </p:spPr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12" name="Rectangle 1"/>
          <p:cNvSpPr/>
          <p:nvPr/>
        </p:nvSpPr>
        <p:spPr>
          <a:xfrm>
            <a:off x="228600" y="76200"/>
            <a:ext cx="2625090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37820" y="157163"/>
            <a:ext cx="240538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模型训练</a:t>
            </a:r>
            <a:r>
              <a:rPr lang="en-US" alt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模型预测</a:t>
            </a:r>
            <a:endParaRPr lang="zh-CN" altLang="en-US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85800"/>
            <a:ext cx="9820275" cy="24193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4800" y="3235325"/>
            <a:ext cx="1038161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中文文档：</a:t>
            </a:r>
            <a:r>
              <a:rPr lang="zh-CN" altLang="en-US">
                <a:sym typeface="+mn-ea"/>
              </a:rPr>
              <a:t>https://www.sklearncn.cn/5/#141</a:t>
            </a:r>
            <a:endParaRPr lang="zh-CN" altLang="en-US"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官方文档：</a:t>
            </a:r>
            <a:r>
              <a:rPr lang="zh-CN" altLang="en-US">
                <a:sym typeface="+mn-ea"/>
              </a:rPr>
              <a:t>https://scikit-learn.org/stable/modules/generated/sklearn.svm.SVC.html#sklearn.svm.SVC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05435" y="4876800"/>
            <a:ext cx="11464925" cy="112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 C 代表目标函数的惩罚系数，惩罚系数指的是分错样本时的惩罚程度，默认情况下为1.0。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 C 越大的时候，分类器的准确性越高，但同样容错率会越低，泛化能力会变差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。相反，C 越小，泛化能力越强，但是准确性会降低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12" name="Rectangle 1"/>
          <p:cNvSpPr/>
          <p:nvPr/>
        </p:nvSpPr>
        <p:spPr>
          <a:xfrm>
            <a:off x="228600" y="76200"/>
            <a:ext cx="2625090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37820" y="157163"/>
            <a:ext cx="240538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SVM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核函数</a:t>
            </a:r>
            <a:endParaRPr lang="zh-CN" altLang="en-US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2400" y="728345"/>
            <a:ext cx="637349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SVM 是通过核函数将样本从原始空间映射到一个更高维的特质空间中，这样就使得样本在新的空间中线性可分。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最常用的核函数有线性核、多项式核、高斯核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sigmoid核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 descr="6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57400"/>
            <a:ext cx="6958965" cy="25520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728345"/>
            <a:ext cx="5183505" cy="37922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81000" y="4419600"/>
            <a:ext cx="3530600" cy="2407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12" name="Rectangle 1"/>
          <p:cNvSpPr/>
          <p:nvPr/>
        </p:nvSpPr>
        <p:spPr>
          <a:xfrm>
            <a:off x="228600" y="76200"/>
            <a:ext cx="2625090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37820" y="157163"/>
            <a:ext cx="240538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SVM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总结</a:t>
            </a:r>
            <a:endParaRPr lang="zh-CN" altLang="en-US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2400" y="728345"/>
            <a:ext cx="63734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3400" y="3962400"/>
            <a:ext cx="1127252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关于 SVM 分类器的三个程度：</a:t>
            </a:r>
            <a:endParaRPr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完全线性可分情况下的线性分类器，也就是线性可分的情况，是最原始的 SVM，它最核心的思想就是找到最大的分类间隔；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大部分线性可分情况下的线性分类器，引入了软间隔的概念。软间隔，就是允许一定量的样本分类错误；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线性不可分情况下的非线性分类器，引入了核函数。它让原有的样本空间通过核函数投射到了一个高维的空间中，从而变得线性可分。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4800" y="728345"/>
            <a:ext cx="1104011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线性核函数，是在数据线性可分的情况下使用的，运算速度快，效果好。不足在于它不能处理线性不可分的数据。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多项式核函数可以将数据从低维空间映射到高维空间，但参数比较多，计算量大。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高斯核函数同样可以将样本映射到高维空间，但相比于多项式核函数来说所需的参数比较少，通常性能不错，所以是默认使用的核函数。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了解深度学习的同学应该知道 sigmoid 经常用在神经网络的映射中。因此当选用 sigmoid核函数时，SVM 实现的是多层神经网络。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-1" y="76412"/>
            <a:ext cx="12204701" cy="347616"/>
          </a:xfrm>
          <a:custGeom>
            <a:avLst/>
            <a:gdLst>
              <a:gd name="connsiteX0" fmla="*/ 0 w 9153526"/>
              <a:gd name="connsiteY0" fmla="*/ 0 h 260712"/>
              <a:gd name="connsiteX1" fmla="*/ 9153526 w 9153526"/>
              <a:gd name="connsiteY1" fmla="*/ 0 h 260712"/>
              <a:gd name="connsiteX2" fmla="*/ 9153526 w 9153526"/>
              <a:gd name="connsiteY2" fmla="*/ 60325 h 260712"/>
              <a:gd name="connsiteX3" fmla="*/ 5009013 w 9153526"/>
              <a:gd name="connsiteY3" fmla="*/ 60325 h 260712"/>
              <a:gd name="connsiteX4" fmla="*/ 4576763 w 9153526"/>
              <a:gd name="connsiteY4" fmla="*/ 260712 h 260712"/>
              <a:gd name="connsiteX5" fmla="*/ 4144513 w 9153526"/>
              <a:gd name="connsiteY5" fmla="*/ 60325 h 260712"/>
              <a:gd name="connsiteX6" fmla="*/ 0 w 9153526"/>
              <a:gd name="connsiteY6" fmla="*/ 60325 h 260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526" h="260712">
                <a:moveTo>
                  <a:pt x="0" y="0"/>
                </a:moveTo>
                <a:lnTo>
                  <a:pt x="9153526" y="0"/>
                </a:lnTo>
                <a:lnTo>
                  <a:pt x="9153526" y="60325"/>
                </a:lnTo>
                <a:lnTo>
                  <a:pt x="5009013" y="60325"/>
                </a:lnTo>
                <a:cubicBezTo>
                  <a:pt x="4904129" y="181194"/>
                  <a:pt x="4748392" y="260712"/>
                  <a:pt x="4576763" y="260712"/>
                </a:cubicBezTo>
                <a:cubicBezTo>
                  <a:pt x="4405136" y="260712"/>
                  <a:pt x="4249399" y="181194"/>
                  <a:pt x="4144513" y="60325"/>
                </a:cubicBezTo>
                <a:cubicBezTo>
                  <a:pt x="0" y="60325"/>
                  <a:pt x="0" y="60325"/>
                  <a:pt x="0" y="6032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7" name="Rectangle 5"/>
          <p:cNvSpPr>
            <a:spLocks noChangeArrowheads="1"/>
          </p:cNvSpPr>
          <p:nvPr/>
        </p:nvSpPr>
        <p:spPr bwMode="auto">
          <a:xfrm>
            <a:off x="5098120" y="5465199"/>
            <a:ext cx="20955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000">
              <a:solidFill>
                <a:srgbClr val="44546A"/>
              </a:solidFill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</p:txBody>
      </p:sp>
      <p:sp>
        <p:nvSpPr>
          <p:cNvPr id="98" name="Freeform 6"/>
          <p:cNvSpPr>
            <a:spLocks noEditPoints="1"/>
          </p:cNvSpPr>
          <p:nvPr/>
        </p:nvSpPr>
        <p:spPr bwMode="auto">
          <a:xfrm>
            <a:off x="5558775" y="5763966"/>
            <a:ext cx="147638" cy="147638"/>
          </a:xfrm>
          <a:custGeom>
            <a:avLst/>
            <a:gdLst>
              <a:gd name="T0" fmla="*/ 2899 w 3290"/>
              <a:gd name="T1" fmla="*/ 2617 h 3421"/>
              <a:gd name="T2" fmla="*/ 2623 w 3290"/>
              <a:gd name="T3" fmla="*/ 2363 h 3421"/>
              <a:gd name="T4" fmla="*/ 2299 w 3290"/>
              <a:gd name="T5" fmla="*/ 2176 h 3421"/>
              <a:gd name="T6" fmla="*/ 2173 w 3290"/>
              <a:gd name="T7" fmla="*/ 2073 h 3421"/>
              <a:gd name="T8" fmla="*/ 2404 w 3290"/>
              <a:gd name="T9" fmla="*/ 1891 h 3421"/>
              <a:gd name="T10" fmla="*/ 2587 w 3290"/>
              <a:gd name="T11" fmla="*/ 1637 h 3421"/>
              <a:gd name="T12" fmla="*/ 2693 w 3290"/>
              <a:gd name="T13" fmla="*/ 1345 h 3421"/>
              <a:gd name="T14" fmla="*/ 2714 w 3290"/>
              <a:gd name="T15" fmla="*/ 1028 h 3421"/>
              <a:gd name="T16" fmla="*/ 2650 w 3290"/>
              <a:gd name="T17" fmla="*/ 720 h 3421"/>
              <a:gd name="T18" fmla="*/ 2505 w 3290"/>
              <a:gd name="T19" fmla="*/ 445 h 3421"/>
              <a:gd name="T20" fmla="*/ 2288 w 3290"/>
              <a:gd name="T21" fmla="*/ 220 h 3421"/>
              <a:gd name="T22" fmla="*/ 2023 w 3290"/>
              <a:gd name="T23" fmla="*/ 69 h 3421"/>
              <a:gd name="T24" fmla="*/ 1727 w 3290"/>
              <a:gd name="T25" fmla="*/ 2 h 3421"/>
              <a:gd name="T26" fmla="*/ 1422 w 3290"/>
              <a:gd name="T27" fmla="*/ 25 h 3421"/>
              <a:gd name="T28" fmla="*/ 1139 w 3290"/>
              <a:gd name="T29" fmla="*/ 134 h 3421"/>
              <a:gd name="T30" fmla="*/ 895 w 3290"/>
              <a:gd name="T31" fmla="*/ 325 h 3421"/>
              <a:gd name="T32" fmla="*/ 712 w 3290"/>
              <a:gd name="T33" fmla="*/ 577 h 3421"/>
              <a:gd name="T34" fmla="*/ 607 w 3290"/>
              <a:gd name="T35" fmla="*/ 871 h 3421"/>
              <a:gd name="T36" fmla="*/ 585 w 3290"/>
              <a:gd name="T37" fmla="*/ 1188 h 3421"/>
              <a:gd name="T38" fmla="*/ 649 w 3290"/>
              <a:gd name="T39" fmla="*/ 1495 h 3421"/>
              <a:gd name="T40" fmla="*/ 794 w 3290"/>
              <a:gd name="T41" fmla="*/ 1770 h 3421"/>
              <a:gd name="T42" fmla="*/ 1004 w 3290"/>
              <a:gd name="T43" fmla="*/ 1990 h 3421"/>
              <a:gd name="T44" fmla="*/ 1132 w 3290"/>
              <a:gd name="T45" fmla="*/ 2123 h 3421"/>
              <a:gd name="T46" fmla="*/ 825 w 3290"/>
              <a:gd name="T47" fmla="*/ 2261 h 3421"/>
              <a:gd name="T48" fmla="*/ 521 w 3290"/>
              <a:gd name="T49" fmla="*/ 2484 h 3421"/>
              <a:gd name="T50" fmla="*/ 275 w 3290"/>
              <a:gd name="T51" fmla="*/ 2767 h 3421"/>
              <a:gd name="T52" fmla="*/ 89 w 3290"/>
              <a:gd name="T53" fmla="*/ 3103 h 3421"/>
              <a:gd name="T54" fmla="*/ 165 w 3290"/>
              <a:gd name="T55" fmla="*/ 3421 h 3421"/>
              <a:gd name="T56" fmla="*/ 294 w 3290"/>
              <a:gd name="T57" fmla="*/ 3068 h 3421"/>
              <a:gd name="T58" fmla="*/ 500 w 3290"/>
              <a:gd name="T59" fmla="*/ 2756 h 3421"/>
              <a:gd name="T60" fmla="*/ 765 w 3290"/>
              <a:gd name="T61" fmla="*/ 2508 h 3421"/>
              <a:gd name="T62" fmla="*/ 1057 w 3290"/>
              <a:gd name="T63" fmla="*/ 2339 h 3421"/>
              <a:gd name="T64" fmla="*/ 1386 w 3290"/>
              <a:gd name="T65" fmla="*/ 2240 h 3421"/>
              <a:gd name="T66" fmla="*/ 1733 w 3290"/>
              <a:gd name="T67" fmla="*/ 2220 h 3421"/>
              <a:gd name="T68" fmla="*/ 2073 w 3290"/>
              <a:gd name="T69" fmla="*/ 2280 h 3421"/>
              <a:gd name="T70" fmla="*/ 2383 w 3290"/>
              <a:gd name="T71" fmla="*/ 2415 h 3421"/>
              <a:gd name="T72" fmla="*/ 2662 w 3290"/>
              <a:gd name="T73" fmla="*/ 2621 h 3421"/>
              <a:gd name="T74" fmla="*/ 2902 w 3290"/>
              <a:gd name="T75" fmla="*/ 2905 h 3421"/>
              <a:gd name="T76" fmla="*/ 3071 w 3290"/>
              <a:gd name="T77" fmla="*/ 3238 h 3421"/>
              <a:gd name="T78" fmla="*/ 3265 w 3290"/>
              <a:gd name="T79" fmla="*/ 3282 h 3421"/>
              <a:gd name="T80" fmla="*/ 3117 w 3290"/>
              <a:gd name="T81" fmla="*/ 2927 h 3421"/>
              <a:gd name="T82" fmla="*/ 764 w 3290"/>
              <a:gd name="T83" fmla="*/ 957 h 3421"/>
              <a:gd name="T84" fmla="*/ 853 w 3290"/>
              <a:gd name="T85" fmla="*/ 680 h 3421"/>
              <a:gd name="T86" fmla="*/ 1016 w 3290"/>
              <a:gd name="T87" fmla="*/ 449 h 3421"/>
              <a:gd name="T88" fmla="*/ 1237 w 3290"/>
              <a:gd name="T89" fmla="*/ 280 h 3421"/>
              <a:gd name="T90" fmla="*/ 1505 w 3290"/>
              <a:gd name="T91" fmla="*/ 188 h 3421"/>
              <a:gd name="T92" fmla="*/ 1795 w 3290"/>
              <a:gd name="T93" fmla="*/ 188 h 3421"/>
              <a:gd name="T94" fmla="*/ 2062 w 3290"/>
              <a:gd name="T95" fmla="*/ 280 h 3421"/>
              <a:gd name="T96" fmla="*/ 2284 w 3290"/>
              <a:gd name="T97" fmla="*/ 449 h 3421"/>
              <a:gd name="T98" fmla="*/ 2446 w 3290"/>
              <a:gd name="T99" fmla="*/ 680 h 3421"/>
              <a:gd name="T100" fmla="*/ 2535 w 3290"/>
              <a:gd name="T101" fmla="*/ 957 h 3421"/>
              <a:gd name="T102" fmla="*/ 2535 w 3290"/>
              <a:gd name="T103" fmla="*/ 1259 h 3421"/>
              <a:gd name="T104" fmla="*/ 2446 w 3290"/>
              <a:gd name="T105" fmla="*/ 1535 h 3421"/>
              <a:gd name="T106" fmla="*/ 2284 w 3290"/>
              <a:gd name="T107" fmla="*/ 1766 h 3421"/>
              <a:gd name="T108" fmla="*/ 2062 w 3290"/>
              <a:gd name="T109" fmla="*/ 1935 h 3421"/>
              <a:gd name="T110" fmla="*/ 1795 w 3290"/>
              <a:gd name="T111" fmla="*/ 2026 h 3421"/>
              <a:gd name="T112" fmla="*/ 1505 w 3290"/>
              <a:gd name="T113" fmla="*/ 2026 h 3421"/>
              <a:gd name="T114" fmla="*/ 1237 w 3290"/>
              <a:gd name="T115" fmla="*/ 1935 h 3421"/>
              <a:gd name="T116" fmla="*/ 1016 w 3290"/>
              <a:gd name="T117" fmla="*/ 1766 h 3421"/>
              <a:gd name="T118" fmla="*/ 853 w 3290"/>
              <a:gd name="T119" fmla="*/ 1535 h 3421"/>
              <a:gd name="T120" fmla="*/ 764 w 3290"/>
              <a:gd name="T121" fmla="*/ 1259 h 34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290" h="3421">
                <a:moveTo>
                  <a:pt x="3068" y="2844"/>
                </a:moveTo>
                <a:lnTo>
                  <a:pt x="3015" y="2765"/>
                </a:lnTo>
                <a:lnTo>
                  <a:pt x="2959" y="2690"/>
                </a:lnTo>
                <a:lnTo>
                  <a:pt x="2899" y="2617"/>
                </a:lnTo>
                <a:lnTo>
                  <a:pt x="2836" y="2548"/>
                </a:lnTo>
                <a:lnTo>
                  <a:pt x="2768" y="2483"/>
                </a:lnTo>
                <a:lnTo>
                  <a:pt x="2698" y="2421"/>
                </a:lnTo>
                <a:lnTo>
                  <a:pt x="2623" y="2363"/>
                </a:lnTo>
                <a:lnTo>
                  <a:pt x="2546" y="2309"/>
                </a:lnTo>
                <a:lnTo>
                  <a:pt x="2465" y="2260"/>
                </a:lnTo>
                <a:lnTo>
                  <a:pt x="2383" y="2216"/>
                </a:lnTo>
                <a:lnTo>
                  <a:pt x="2299" y="2176"/>
                </a:lnTo>
                <a:lnTo>
                  <a:pt x="2212" y="2142"/>
                </a:lnTo>
                <a:lnTo>
                  <a:pt x="2161" y="2124"/>
                </a:lnTo>
                <a:lnTo>
                  <a:pt x="2110" y="2107"/>
                </a:lnTo>
                <a:lnTo>
                  <a:pt x="2173" y="2073"/>
                </a:lnTo>
                <a:lnTo>
                  <a:pt x="2235" y="2034"/>
                </a:lnTo>
                <a:lnTo>
                  <a:pt x="2294" y="1991"/>
                </a:lnTo>
                <a:lnTo>
                  <a:pt x="2350" y="1943"/>
                </a:lnTo>
                <a:lnTo>
                  <a:pt x="2404" y="1891"/>
                </a:lnTo>
                <a:lnTo>
                  <a:pt x="2456" y="1832"/>
                </a:lnTo>
                <a:lnTo>
                  <a:pt x="2506" y="1770"/>
                </a:lnTo>
                <a:lnTo>
                  <a:pt x="2549" y="1705"/>
                </a:lnTo>
                <a:lnTo>
                  <a:pt x="2587" y="1637"/>
                </a:lnTo>
                <a:lnTo>
                  <a:pt x="2621" y="1567"/>
                </a:lnTo>
                <a:lnTo>
                  <a:pt x="2650" y="1495"/>
                </a:lnTo>
                <a:lnTo>
                  <a:pt x="2674" y="1421"/>
                </a:lnTo>
                <a:lnTo>
                  <a:pt x="2693" y="1345"/>
                </a:lnTo>
                <a:lnTo>
                  <a:pt x="2706" y="1267"/>
                </a:lnTo>
                <a:lnTo>
                  <a:pt x="2714" y="1188"/>
                </a:lnTo>
                <a:lnTo>
                  <a:pt x="2717" y="1108"/>
                </a:lnTo>
                <a:lnTo>
                  <a:pt x="2714" y="1028"/>
                </a:lnTo>
                <a:lnTo>
                  <a:pt x="2706" y="948"/>
                </a:lnTo>
                <a:lnTo>
                  <a:pt x="2693" y="871"/>
                </a:lnTo>
                <a:lnTo>
                  <a:pt x="2674" y="794"/>
                </a:lnTo>
                <a:lnTo>
                  <a:pt x="2650" y="720"/>
                </a:lnTo>
                <a:lnTo>
                  <a:pt x="2621" y="647"/>
                </a:lnTo>
                <a:lnTo>
                  <a:pt x="2587" y="577"/>
                </a:lnTo>
                <a:lnTo>
                  <a:pt x="2549" y="510"/>
                </a:lnTo>
                <a:lnTo>
                  <a:pt x="2505" y="445"/>
                </a:lnTo>
                <a:lnTo>
                  <a:pt x="2456" y="383"/>
                </a:lnTo>
                <a:lnTo>
                  <a:pt x="2404" y="325"/>
                </a:lnTo>
                <a:lnTo>
                  <a:pt x="2347" y="270"/>
                </a:lnTo>
                <a:lnTo>
                  <a:pt x="2288" y="220"/>
                </a:lnTo>
                <a:lnTo>
                  <a:pt x="2225" y="174"/>
                </a:lnTo>
                <a:lnTo>
                  <a:pt x="2160" y="134"/>
                </a:lnTo>
                <a:lnTo>
                  <a:pt x="2093" y="99"/>
                </a:lnTo>
                <a:lnTo>
                  <a:pt x="2023" y="69"/>
                </a:lnTo>
                <a:lnTo>
                  <a:pt x="1952" y="44"/>
                </a:lnTo>
                <a:lnTo>
                  <a:pt x="1878" y="25"/>
                </a:lnTo>
                <a:lnTo>
                  <a:pt x="1803" y="11"/>
                </a:lnTo>
                <a:lnTo>
                  <a:pt x="1727" y="2"/>
                </a:lnTo>
                <a:lnTo>
                  <a:pt x="1650" y="0"/>
                </a:lnTo>
                <a:lnTo>
                  <a:pt x="1572" y="2"/>
                </a:lnTo>
                <a:lnTo>
                  <a:pt x="1496" y="11"/>
                </a:lnTo>
                <a:lnTo>
                  <a:pt x="1422" y="25"/>
                </a:lnTo>
                <a:lnTo>
                  <a:pt x="1347" y="44"/>
                </a:lnTo>
                <a:lnTo>
                  <a:pt x="1276" y="69"/>
                </a:lnTo>
                <a:lnTo>
                  <a:pt x="1206" y="99"/>
                </a:lnTo>
                <a:lnTo>
                  <a:pt x="1139" y="134"/>
                </a:lnTo>
                <a:lnTo>
                  <a:pt x="1074" y="174"/>
                </a:lnTo>
                <a:lnTo>
                  <a:pt x="1011" y="220"/>
                </a:lnTo>
                <a:lnTo>
                  <a:pt x="952" y="270"/>
                </a:lnTo>
                <a:lnTo>
                  <a:pt x="895" y="325"/>
                </a:lnTo>
                <a:lnTo>
                  <a:pt x="843" y="383"/>
                </a:lnTo>
                <a:lnTo>
                  <a:pt x="794" y="445"/>
                </a:lnTo>
                <a:lnTo>
                  <a:pt x="750" y="510"/>
                </a:lnTo>
                <a:lnTo>
                  <a:pt x="712" y="577"/>
                </a:lnTo>
                <a:lnTo>
                  <a:pt x="678" y="647"/>
                </a:lnTo>
                <a:lnTo>
                  <a:pt x="649" y="720"/>
                </a:lnTo>
                <a:lnTo>
                  <a:pt x="625" y="794"/>
                </a:lnTo>
                <a:lnTo>
                  <a:pt x="607" y="871"/>
                </a:lnTo>
                <a:lnTo>
                  <a:pt x="593" y="948"/>
                </a:lnTo>
                <a:lnTo>
                  <a:pt x="585" y="1028"/>
                </a:lnTo>
                <a:lnTo>
                  <a:pt x="582" y="1108"/>
                </a:lnTo>
                <a:lnTo>
                  <a:pt x="585" y="1188"/>
                </a:lnTo>
                <a:lnTo>
                  <a:pt x="593" y="1267"/>
                </a:lnTo>
                <a:lnTo>
                  <a:pt x="607" y="1345"/>
                </a:lnTo>
                <a:lnTo>
                  <a:pt x="625" y="1421"/>
                </a:lnTo>
                <a:lnTo>
                  <a:pt x="649" y="1495"/>
                </a:lnTo>
                <a:lnTo>
                  <a:pt x="678" y="1567"/>
                </a:lnTo>
                <a:lnTo>
                  <a:pt x="712" y="1637"/>
                </a:lnTo>
                <a:lnTo>
                  <a:pt x="750" y="1705"/>
                </a:lnTo>
                <a:lnTo>
                  <a:pt x="794" y="1770"/>
                </a:lnTo>
                <a:lnTo>
                  <a:pt x="843" y="1832"/>
                </a:lnTo>
                <a:lnTo>
                  <a:pt x="895" y="1891"/>
                </a:lnTo>
                <a:lnTo>
                  <a:pt x="948" y="1943"/>
                </a:lnTo>
                <a:lnTo>
                  <a:pt x="1004" y="1990"/>
                </a:lnTo>
                <a:lnTo>
                  <a:pt x="1063" y="2033"/>
                </a:lnTo>
                <a:lnTo>
                  <a:pt x="1123" y="2072"/>
                </a:lnTo>
                <a:lnTo>
                  <a:pt x="1186" y="2106"/>
                </a:lnTo>
                <a:lnTo>
                  <a:pt x="1132" y="2123"/>
                </a:lnTo>
                <a:lnTo>
                  <a:pt x="1078" y="2142"/>
                </a:lnTo>
                <a:lnTo>
                  <a:pt x="991" y="2177"/>
                </a:lnTo>
                <a:lnTo>
                  <a:pt x="907" y="2216"/>
                </a:lnTo>
                <a:lnTo>
                  <a:pt x="825" y="2261"/>
                </a:lnTo>
                <a:lnTo>
                  <a:pt x="744" y="2310"/>
                </a:lnTo>
                <a:lnTo>
                  <a:pt x="667" y="2363"/>
                </a:lnTo>
                <a:lnTo>
                  <a:pt x="592" y="2421"/>
                </a:lnTo>
                <a:lnTo>
                  <a:pt x="521" y="2484"/>
                </a:lnTo>
                <a:lnTo>
                  <a:pt x="454" y="2549"/>
                </a:lnTo>
                <a:lnTo>
                  <a:pt x="391" y="2618"/>
                </a:lnTo>
                <a:lnTo>
                  <a:pt x="331" y="2691"/>
                </a:lnTo>
                <a:lnTo>
                  <a:pt x="275" y="2767"/>
                </a:lnTo>
                <a:lnTo>
                  <a:pt x="221" y="2846"/>
                </a:lnTo>
                <a:lnTo>
                  <a:pt x="173" y="2929"/>
                </a:lnTo>
                <a:lnTo>
                  <a:pt x="129" y="3015"/>
                </a:lnTo>
                <a:lnTo>
                  <a:pt x="89" y="3103"/>
                </a:lnTo>
                <a:lnTo>
                  <a:pt x="55" y="3193"/>
                </a:lnTo>
                <a:lnTo>
                  <a:pt x="25" y="3285"/>
                </a:lnTo>
                <a:lnTo>
                  <a:pt x="0" y="3379"/>
                </a:lnTo>
                <a:lnTo>
                  <a:pt x="165" y="3421"/>
                </a:lnTo>
                <a:lnTo>
                  <a:pt x="189" y="3329"/>
                </a:lnTo>
                <a:lnTo>
                  <a:pt x="219" y="3240"/>
                </a:lnTo>
                <a:lnTo>
                  <a:pt x="254" y="3152"/>
                </a:lnTo>
                <a:lnTo>
                  <a:pt x="294" y="3068"/>
                </a:lnTo>
                <a:lnTo>
                  <a:pt x="339" y="2985"/>
                </a:lnTo>
                <a:lnTo>
                  <a:pt x="388" y="2906"/>
                </a:lnTo>
                <a:lnTo>
                  <a:pt x="442" y="2830"/>
                </a:lnTo>
                <a:lnTo>
                  <a:pt x="500" y="2756"/>
                </a:lnTo>
                <a:lnTo>
                  <a:pt x="562" y="2687"/>
                </a:lnTo>
                <a:lnTo>
                  <a:pt x="628" y="2621"/>
                </a:lnTo>
                <a:lnTo>
                  <a:pt x="698" y="2560"/>
                </a:lnTo>
                <a:lnTo>
                  <a:pt x="765" y="2508"/>
                </a:lnTo>
                <a:lnTo>
                  <a:pt x="835" y="2460"/>
                </a:lnTo>
                <a:lnTo>
                  <a:pt x="907" y="2415"/>
                </a:lnTo>
                <a:lnTo>
                  <a:pt x="981" y="2376"/>
                </a:lnTo>
                <a:lnTo>
                  <a:pt x="1057" y="2339"/>
                </a:lnTo>
                <a:lnTo>
                  <a:pt x="1135" y="2308"/>
                </a:lnTo>
                <a:lnTo>
                  <a:pt x="1217" y="2281"/>
                </a:lnTo>
                <a:lnTo>
                  <a:pt x="1301" y="2258"/>
                </a:lnTo>
                <a:lnTo>
                  <a:pt x="1386" y="2240"/>
                </a:lnTo>
                <a:lnTo>
                  <a:pt x="1472" y="2228"/>
                </a:lnTo>
                <a:lnTo>
                  <a:pt x="1558" y="2220"/>
                </a:lnTo>
                <a:lnTo>
                  <a:pt x="1645" y="2217"/>
                </a:lnTo>
                <a:lnTo>
                  <a:pt x="1733" y="2220"/>
                </a:lnTo>
                <a:lnTo>
                  <a:pt x="1819" y="2228"/>
                </a:lnTo>
                <a:lnTo>
                  <a:pt x="1904" y="2240"/>
                </a:lnTo>
                <a:lnTo>
                  <a:pt x="1990" y="2258"/>
                </a:lnTo>
                <a:lnTo>
                  <a:pt x="2073" y="2280"/>
                </a:lnTo>
                <a:lnTo>
                  <a:pt x="2155" y="2308"/>
                </a:lnTo>
                <a:lnTo>
                  <a:pt x="2233" y="2339"/>
                </a:lnTo>
                <a:lnTo>
                  <a:pt x="2309" y="2375"/>
                </a:lnTo>
                <a:lnTo>
                  <a:pt x="2383" y="2415"/>
                </a:lnTo>
                <a:lnTo>
                  <a:pt x="2455" y="2459"/>
                </a:lnTo>
                <a:lnTo>
                  <a:pt x="2525" y="2507"/>
                </a:lnTo>
                <a:lnTo>
                  <a:pt x="2592" y="2560"/>
                </a:lnTo>
                <a:lnTo>
                  <a:pt x="2662" y="2621"/>
                </a:lnTo>
                <a:lnTo>
                  <a:pt x="2728" y="2687"/>
                </a:lnTo>
                <a:lnTo>
                  <a:pt x="2790" y="2755"/>
                </a:lnTo>
                <a:lnTo>
                  <a:pt x="2848" y="2828"/>
                </a:lnTo>
                <a:lnTo>
                  <a:pt x="2902" y="2905"/>
                </a:lnTo>
                <a:lnTo>
                  <a:pt x="2951" y="2984"/>
                </a:lnTo>
                <a:lnTo>
                  <a:pt x="2996" y="3066"/>
                </a:lnTo>
                <a:lnTo>
                  <a:pt x="3036" y="3151"/>
                </a:lnTo>
                <a:lnTo>
                  <a:pt x="3071" y="3238"/>
                </a:lnTo>
                <a:lnTo>
                  <a:pt x="3101" y="3327"/>
                </a:lnTo>
                <a:lnTo>
                  <a:pt x="3125" y="3419"/>
                </a:lnTo>
                <a:lnTo>
                  <a:pt x="3290" y="3376"/>
                </a:lnTo>
                <a:lnTo>
                  <a:pt x="3265" y="3282"/>
                </a:lnTo>
                <a:lnTo>
                  <a:pt x="3235" y="3191"/>
                </a:lnTo>
                <a:lnTo>
                  <a:pt x="3201" y="3100"/>
                </a:lnTo>
                <a:lnTo>
                  <a:pt x="3161" y="3013"/>
                </a:lnTo>
                <a:lnTo>
                  <a:pt x="3117" y="2927"/>
                </a:lnTo>
                <a:lnTo>
                  <a:pt x="3068" y="2844"/>
                </a:lnTo>
                <a:close/>
                <a:moveTo>
                  <a:pt x="752" y="1108"/>
                </a:moveTo>
                <a:lnTo>
                  <a:pt x="755" y="1031"/>
                </a:lnTo>
                <a:lnTo>
                  <a:pt x="764" y="957"/>
                </a:lnTo>
                <a:lnTo>
                  <a:pt x="778" y="884"/>
                </a:lnTo>
                <a:lnTo>
                  <a:pt x="798" y="813"/>
                </a:lnTo>
                <a:lnTo>
                  <a:pt x="824" y="745"/>
                </a:lnTo>
                <a:lnTo>
                  <a:pt x="853" y="680"/>
                </a:lnTo>
                <a:lnTo>
                  <a:pt x="888" y="617"/>
                </a:lnTo>
                <a:lnTo>
                  <a:pt x="926" y="558"/>
                </a:lnTo>
                <a:lnTo>
                  <a:pt x="969" y="501"/>
                </a:lnTo>
                <a:lnTo>
                  <a:pt x="1016" y="449"/>
                </a:lnTo>
                <a:lnTo>
                  <a:pt x="1066" y="401"/>
                </a:lnTo>
                <a:lnTo>
                  <a:pt x="1120" y="356"/>
                </a:lnTo>
                <a:lnTo>
                  <a:pt x="1177" y="316"/>
                </a:lnTo>
                <a:lnTo>
                  <a:pt x="1237" y="280"/>
                </a:lnTo>
                <a:lnTo>
                  <a:pt x="1300" y="250"/>
                </a:lnTo>
                <a:lnTo>
                  <a:pt x="1366" y="224"/>
                </a:lnTo>
                <a:lnTo>
                  <a:pt x="1435" y="203"/>
                </a:lnTo>
                <a:lnTo>
                  <a:pt x="1505" y="188"/>
                </a:lnTo>
                <a:lnTo>
                  <a:pt x="1576" y="179"/>
                </a:lnTo>
                <a:lnTo>
                  <a:pt x="1650" y="176"/>
                </a:lnTo>
                <a:lnTo>
                  <a:pt x="1723" y="179"/>
                </a:lnTo>
                <a:lnTo>
                  <a:pt x="1795" y="188"/>
                </a:lnTo>
                <a:lnTo>
                  <a:pt x="1865" y="203"/>
                </a:lnTo>
                <a:lnTo>
                  <a:pt x="1933" y="224"/>
                </a:lnTo>
                <a:lnTo>
                  <a:pt x="1999" y="250"/>
                </a:lnTo>
                <a:lnTo>
                  <a:pt x="2062" y="280"/>
                </a:lnTo>
                <a:lnTo>
                  <a:pt x="2122" y="316"/>
                </a:lnTo>
                <a:lnTo>
                  <a:pt x="2179" y="356"/>
                </a:lnTo>
                <a:lnTo>
                  <a:pt x="2233" y="401"/>
                </a:lnTo>
                <a:lnTo>
                  <a:pt x="2284" y="449"/>
                </a:lnTo>
                <a:lnTo>
                  <a:pt x="2330" y="501"/>
                </a:lnTo>
                <a:lnTo>
                  <a:pt x="2373" y="558"/>
                </a:lnTo>
                <a:lnTo>
                  <a:pt x="2412" y="617"/>
                </a:lnTo>
                <a:lnTo>
                  <a:pt x="2446" y="680"/>
                </a:lnTo>
                <a:lnTo>
                  <a:pt x="2477" y="745"/>
                </a:lnTo>
                <a:lnTo>
                  <a:pt x="2501" y="813"/>
                </a:lnTo>
                <a:lnTo>
                  <a:pt x="2521" y="884"/>
                </a:lnTo>
                <a:lnTo>
                  <a:pt x="2535" y="957"/>
                </a:lnTo>
                <a:lnTo>
                  <a:pt x="2544" y="1031"/>
                </a:lnTo>
                <a:lnTo>
                  <a:pt x="2547" y="1108"/>
                </a:lnTo>
                <a:lnTo>
                  <a:pt x="2544" y="1184"/>
                </a:lnTo>
                <a:lnTo>
                  <a:pt x="2535" y="1259"/>
                </a:lnTo>
                <a:lnTo>
                  <a:pt x="2521" y="1331"/>
                </a:lnTo>
                <a:lnTo>
                  <a:pt x="2501" y="1401"/>
                </a:lnTo>
                <a:lnTo>
                  <a:pt x="2477" y="1470"/>
                </a:lnTo>
                <a:lnTo>
                  <a:pt x="2446" y="1535"/>
                </a:lnTo>
                <a:lnTo>
                  <a:pt x="2412" y="1598"/>
                </a:lnTo>
                <a:lnTo>
                  <a:pt x="2373" y="1657"/>
                </a:lnTo>
                <a:lnTo>
                  <a:pt x="2330" y="1713"/>
                </a:lnTo>
                <a:lnTo>
                  <a:pt x="2284" y="1766"/>
                </a:lnTo>
                <a:lnTo>
                  <a:pt x="2233" y="1814"/>
                </a:lnTo>
                <a:lnTo>
                  <a:pt x="2179" y="1859"/>
                </a:lnTo>
                <a:lnTo>
                  <a:pt x="2122" y="1899"/>
                </a:lnTo>
                <a:lnTo>
                  <a:pt x="2062" y="1935"/>
                </a:lnTo>
                <a:lnTo>
                  <a:pt x="1999" y="1966"/>
                </a:lnTo>
                <a:lnTo>
                  <a:pt x="1933" y="1991"/>
                </a:lnTo>
                <a:lnTo>
                  <a:pt x="1865" y="2012"/>
                </a:lnTo>
                <a:lnTo>
                  <a:pt x="1795" y="2026"/>
                </a:lnTo>
                <a:lnTo>
                  <a:pt x="1723" y="2035"/>
                </a:lnTo>
                <a:lnTo>
                  <a:pt x="1650" y="2039"/>
                </a:lnTo>
                <a:lnTo>
                  <a:pt x="1576" y="2035"/>
                </a:lnTo>
                <a:lnTo>
                  <a:pt x="1505" y="2026"/>
                </a:lnTo>
                <a:lnTo>
                  <a:pt x="1435" y="2012"/>
                </a:lnTo>
                <a:lnTo>
                  <a:pt x="1366" y="1991"/>
                </a:lnTo>
                <a:lnTo>
                  <a:pt x="1300" y="1966"/>
                </a:lnTo>
                <a:lnTo>
                  <a:pt x="1237" y="1935"/>
                </a:lnTo>
                <a:lnTo>
                  <a:pt x="1177" y="1899"/>
                </a:lnTo>
                <a:lnTo>
                  <a:pt x="1120" y="1859"/>
                </a:lnTo>
                <a:lnTo>
                  <a:pt x="1066" y="1814"/>
                </a:lnTo>
                <a:lnTo>
                  <a:pt x="1016" y="1766"/>
                </a:lnTo>
                <a:lnTo>
                  <a:pt x="969" y="1713"/>
                </a:lnTo>
                <a:lnTo>
                  <a:pt x="926" y="1657"/>
                </a:lnTo>
                <a:lnTo>
                  <a:pt x="888" y="1598"/>
                </a:lnTo>
                <a:lnTo>
                  <a:pt x="853" y="1535"/>
                </a:lnTo>
                <a:lnTo>
                  <a:pt x="824" y="1470"/>
                </a:lnTo>
                <a:lnTo>
                  <a:pt x="798" y="1401"/>
                </a:lnTo>
                <a:lnTo>
                  <a:pt x="778" y="1331"/>
                </a:lnTo>
                <a:lnTo>
                  <a:pt x="764" y="1259"/>
                </a:lnTo>
                <a:lnTo>
                  <a:pt x="755" y="1184"/>
                </a:lnTo>
                <a:lnTo>
                  <a:pt x="752" y="1108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000">
              <a:solidFill>
                <a:srgbClr val="44546A"/>
              </a:solidFill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5791200" y="5638800"/>
            <a:ext cx="11074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pc="300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  <a:sym typeface="+mn-ea"/>
              </a:rPr>
              <a:t>梁威鹏</a:t>
            </a:r>
            <a:r>
              <a:rPr lang="zh-CN" altLang="en-US" sz="2000" spc="300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 </a:t>
            </a:r>
            <a:endParaRPr lang="zh-CN" altLang="en-US" sz="2000" spc="300" dirty="0">
              <a:solidFill>
                <a:srgbClr val="44546A"/>
              </a:solidFill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F3F989F-8D12-475D-9C50-23F49E8F4161}" type="slidenum">
              <a:rPr lang="zh-CN" altLang="en-US"/>
            </a:fld>
            <a:endParaRPr lang="zh-CN" altLang="en-US"/>
          </a:p>
        </p:txBody>
      </p:sp>
      <p:sp>
        <p:nvSpPr>
          <p:cNvPr id="2" name="任意多边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43814" y="6401012"/>
            <a:ext cx="12204701" cy="347616"/>
          </a:xfrm>
          <a:custGeom>
            <a:avLst/>
            <a:gdLst>
              <a:gd name="connsiteX0" fmla="*/ 0 w 9153526"/>
              <a:gd name="connsiteY0" fmla="*/ 0 h 260712"/>
              <a:gd name="connsiteX1" fmla="*/ 9153526 w 9153526"/>
              <a:gd name="connsiteY1" fmla="*/ 0 h 260712"/>
              <a:gd name="connsiteX2" fmla="*/ 9153526 w 9153526"/>
              <a:gd name="connsiteY2" fmla="*/ 60325 h 260712"/>
              <a:gd name="connsiteX3" fmla="*/ 5009013 w 9153526"/>
              <a:gd name="connsiteY3" fmla="*/ 60325 h 260712"/>
              <a:gd name="connsiteX4" fmla="*/ 4576763 w 9153526"/>
              <a:gd name="connsiteY4" fmla="*/ 260712 h 260712"/>
              <a:gd name="connsiteX5" fmla="*/ 4144513 w 9153526"/>
              <a:gd name="connsiteY5" fmla="*/ 60325 h 260712"/>
              <a:gd name="connsiteX6" fmla="*/ 0 w 9153526"/>
              <a:gd name="connsiteY6" fmla="*/ 60325 h 260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526" h="260712">
                <a:moveTo>
                  <a:pt x="0" y="0"/>
                </a:moveTo>
                <a:lnTo>
                  <a:pt x="9153526" y="0"/>
                </a:lnTo>
                <a:lnTo>
                  <a:pt x="9153526" y="60325"/>
                </a:lnTo>
                <a:lnTo>
                  <a:pt x="5009013" y="60325"/>
                </a:lnTo>
                <a:cubicBezTo>
                  <a:pt x="4904129" y="181194"/>
                  <a:pt x="4748392" y="260712"/>
                  <a:pt x="4576763" y="260712"/>
                </a:cubicBezTo>
                <a:cubicBezTo>
                  <a:pt x="4405136" y="260712"/>
                  <a:pt x="4249399" y="181194"/>
                  <a:pt x="4144513" y="60325"/>
                </a:cubicBezTo>
                <a:cubicBezTo>
                  <a:pt x="0" y="60325"/>
                  <a:pt x="0" y="60325"/>
                  <a:pt x="0" y="6032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" name="PA_圆角矩形 11"/>
          <p:cNvSpPr/>
          <p:nvPr>
            <p:custDataLst>
              <p:tags r:id="rId3"/>
            </p:custDataLst>
          </p:nvPr>
        </p:nvSpPr>
        <p:spPr>
          <a:xfrm>
            <a:off x="1984799" y="3044826"/>
            <a:ext cx="8235951" cy="76834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0">
            <a:spAutoFit/>
          </a:bodyPr>
          <a:p>
            <a:pPr algn="di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THANK YOU FOR WATCHING</a:t>
            </a:r>
            <a:endParaRPr lang="en-US" altLang="zh-CN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nimBg="1"/>
      <p:bldP spid="97" grpId="0"/>
      <p:bldP spid="98" grpId="0" bldLvl="0" animBg="1"/>
      <p:bldP spid="103" grpId="0"/>
      <p:bldP spid="2" grpId="0" bldLvl="0" animBg="1"/>
      <p:bldP spid="12" grpId="0" bldLvl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PLACING_PICTURE_USER_VIEWPORT" val="{&quot;height&quot;:6495,&quot;width&quot;:9525}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KSO_WPP_MARK_KEY" val="930284f1-4cb9-443d-b849-3d90996fb394"/>
  <p:tag name="COMMONDATA" val="eyJoZGlkIjoiZmM5MzI1YTRjNGNiNTEyMDQ5OTAwYmFmMmE0NWM1Zjg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1405</Words>
  <Application>WPS 演示</Application>
  <PresentationFormat>On-screen Show (4:3)</PresentationFormat>
  <Paragraphs>126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Palatino Linotype</vt:lpstr>
      <vt:lpstr>Times New Roman</vt:lpstr>
      <vt:lpstr>Calibri</vt:lpstr>
      <vt:lpstr>方正宋刻本秀楷简体</vt:lpstr>
      <vt:lpstr>Arial Unicode MS</vt:lpstr>
      <vt:lpstr>Malgun Gothic</vt:lpstr>
      <vt:lpstr>Office Theme</vt:lpstr>
      <vt:lpstr>Excel.Sheet.8</vt:lpstr>
      <vt:lpstr>机器学习实验课5</vt:lpstr>
      <vt:lpstr>SVM支持向量机</vt:lpstr>
      <vt:lpstr>PowerPoint 演示文稿</vt:lpstr>
      <vt:lpstr>PowerPoint 演示文稿</vt:lpstr>
      <vt:lpstr>实验任务</vt:lpstr>
      <vt:lpstr>PowerPoint 演示文稿</vt:lpstr>
      <vt:lpstr>实验步骤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sklearn库的安装</dc:title>
  <dc:creator>QW</dc:creator>
  <cp:lastModifiedBy>Bin</cp:lastModifiedBy>
  <cp:revision>105</cp:revision>
  <dcterms:created xsi:type="dcterms:W3CDTF">2022-02-24T06:40:00Z</dcterms:created>
  <dcterms:modified xsi:type="dcterms:W3CDTF">2023-03-23T02:19:29Z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2017-05-19T00:00:00Z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2022-02-28T00:00:00Z</vt:filetime>
  </property>
  <property fmtid="{D5CDD505-2E9C-101B-9397-08002B2CF9AE}" pid="5" name="KSOProductBuildVer">
    <vt:lpwstr>2052-11.1.0.13703</vt:lpwstr>
  </property>
  <property fmtid="{D5CDD505-2E9C-101B-9397-08002B2CF9AE}" pid="6" name="ICV">
    <vt:lpwstr>30EAA01A05464D609DB49A848DAD7CC0</vt:lpwstr>
  </property>
</Properties>
</file>